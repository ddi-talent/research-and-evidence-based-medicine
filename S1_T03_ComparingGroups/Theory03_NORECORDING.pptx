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272" r:id="rId2"/>
    <p:sldId id="273" r:id="rId3"/>
    <p:sldId id="278" r:id="rId4"/>
    <p:sldId id="279" r:id="rId5"/>
    <p:sldId id="290" r:id="rId6"/>
    <p:sldId id="293" r:id="rId7"/>
    <p:sldId id="294" r:id="rId8"/>
    <p:sldId id="314" r:id="rId9"/>
    <p:sldId id="315" r:id="rId10"/>
    <p:sldId id="316" r:id="rId11"/>
    <p:sldId id="282" r:id="rId12"/>
    <p:sldId id="283" r:id="rId13"/>
    <p:sldId id="284" r:id="rId14"/>
    <p:sldId id="280" r:id="rId15"/>
    <p:sldId id="267" r:id="rId16"/>
    <p:sldId id="317" r:id="rId17"/>
    <p:sldId id="318" r:id="rId18"/>
    <p:sldId id="295" r:id="rId19"/>
    <p:sldId id="297" r:id="rId20"/>
    <p:sldId id="296" r:id="rId21"/>
    <p:sldId id="319" r:id="rId22"/>
    <p:sldId id="299" r:id="rId23"/>
    <p:sldId id="300" r:id="rId24"/>
    <p:sldId id="301" r:id="rId25"/>
    <p:sldId id="302" r:id="rId26"/>
    <p:sldId id="303" r:id="rId27"/>
    <p:sldId id="304" r:id="rId28"/>
    <p:sldId id="306" r:id="rId29"/>
    <p:sldId id="307" r:id="rId30"/>
    <p:sldId id="308" r:id="rId31"/>
    <p:sldId id="311" r:id="rId32"/>
    <p:sldId id="312" r:id="rId33"/>
    <p:sldId id="259" r:id="rId34"/>
    <p:sldId id="260" r:id="rId35"/>
    <p:sldId id="261" r:id="rId36"/>
    <p:sldId id="264" r:id="rId37"/>
    <p:sldId id="320" r:id="rId38"/>
    <p:sldId id="321" r:id="rId39"/>
    <p:sldId id="281" r:id="rId40"/>
    <p:sldId id="257" r:id="rId41"/>
    <p:sldId id="322" r:id="rId42"/>
    <p:sldId id="323" r:id="rId43"/>
    <p:sldId id="324" r:id="rId44"/>
    <p:sldId id="262" r:id="rId45"/>
    <p:sldId id="263" r:id="rId46"/>
    <p:sldId id="325" r:id="rId47"/>
    <p:sldId id="265" r:id="rId48"/>
    <p:sldId id="266" r:id="rId49"/>
    <p:sldId id="326" r:id="rId50"/>
    <p:sldId id="286" r:id="rId51"/>
    <p:sldId id="327" r:id="rId52"/>
    <p:sldId id="328" r:id="rId53"/>
    <p:sldId id="329" r:id="rId54"/>
    <p:sldId id="330" r:id="rId55"/>
    <p:sldId id="331" r:id="rId56"/>
    <p:sldId id="336" r:id="rId57"/>
    <p:sldId id="332" r:id="rId58"/>
    <p:sldId id="334" r:id="rId59"/>
    <p:sldId id="335" r:id="rId60"/>
    <p:sldId id="313"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1D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80"/>
    <p:restoredTop sz="94832"/>
  </p:normalViewPr>
  <p:slideViewPr>
    <p:cSldViewPr snapToGrid="0">
      <p:cViewPr varScale="1">
        <p:scale>
          <a:sx n="118" d="100"/>
          <a:sy n="118" d="100"/>
        </p:scale>
        <p:origin x="68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1FE25-85C4-1244-BCDC-A22C8126A90B}" type="datetimeFigureOut">
              <a:rPr lang="en-GB" smtClean="0"/>
              <a:t>06/08/2026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FE25D-C5C3-B245-93C4-8392A840C482}" type="slidenum">
              <a:rPr lang="en-GB" smtClean="0"/>
              <a:t>‹#›</a:t>
            </a:fld>
            <a:endParaRPr lang="en-GB"/>
          </a:p>
        </p:txBody>
      </p:sp>
    </p:spTree>
    <p:extLst>
      <p:ext uri="{BB962C8B-B14F-4D97-AF65-F5344CB8AC3E}">
        <p14:creationId xmlns:p14="http://schemas.microsoft.com/office/powerpoint/2010/main" val="173517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7FE25D-C5C3-B245-93C4-8392A840C482}" type="slidenum">
              <a:rPr lang="en-GB" smtClean="0"/>
              <a:t>2</a:t>
            </a:fld>
            <a:endParaRPr lang="en-GB"/>
          </a:p>
        </p:txBody>
      </p:sp>
    </p:spTree>
    <p:extLst>
      <p:ext uri="{BB962C8B-B14F-4D97-AF65-F5344CB8AC3E}">
        <p14:creationId xmlns:p14="http://schemas.microsoft.com/office/powerpoint/2010/main" val="1267575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724C2-0F7E-4A4D-9A68-1E539ADB8D40}" type="slidenum">
              <a:rPr lang="en-GB" smtClean="0"/>
              <a:t>10</a:t>
            </a:fld>
            <a:endParaRPr lang="en-GB"/>
          </a:p>
        </p:txBody>
      </p:sp>
    </p:spTree>
    <p:extLst>
      <p:ext uri="{BB962C8B-B14F-4D97-AF65-F5344CB8AC3E}">
        <p14:creationId xmlns:p14="http://schemas.microsoft.com/office/powerpoint/2010/main" val="670861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67FE25D-C5C3-B245-93C4-8392A840C482}" type="slidenum">
              <a:rPr lang="en-GB" smtClean="0"/>
              <a:t>11</a:t>
            </a:fld>
            <a:endParaRPr lang="en-GB"/>
          </a:p>
        </p:txBody>
      </p:sp>
    </p:spTree>
    <p:extLst>
      <p:ext uri="{BB962C8B-B14F-4D97-AF65-F5344CB8AC3E}">
        <p14:creationId xmlns:p14="http://schemas.microsoft.com/office/powerpoint/2010/main" val="3326265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724C2-0F7E-4A4D-9A68-1E539ADB8D40}" type="slidenum">
              <a:rPr lang="en-GB" smtClean="0"/>
              <a:t>13</a:t>
            </a:fld>
            <a:endParaRPr lang="en-GB"/>
          </a:p>
        </p:txBody>
      </p:sp>
    </p:spTree>
    <p:extLst>
      <p:ext uri="{BB962C8B-B14F-4D97-AF65-F5344CB8AC3E}">
        <p14:creationId xmlns:p14="http://schemas.microsoft.com/office/powerpoint/2010/main" val="307676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D98E08-512E-ED41-9CDC-EC4543D8F086}" type="slidenum">
              <a:rPr lang="en-US" smtClean="0"/>
              <a:t>17</a:t>
            </a:fld>
            <a:endParaRPr lang="en-US"/>
          </a:p>
        </p:txBody>
      </p:sp>
    </p:spTree>
    <p:extLst>
      <p:ext uri="{BB962C8B-B14F-4D97-AF65-F5344CB8AC3E}">
        <p14:creationId xmlns:p14="http://schemas.microsoft.com/office/powerpoint/2010/main" val="30275484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4AD4DEE-B673-45B6-84D3-EC282A289697}" type="slidenum">
              <a:rPr lang="en-GB" smtClean="0"/>
              <a:t>33</a:t>
            </a:fld>
            <a:endParaRPr lang="en-GB"/>
          </a:p>
        </p:txBody>
      </p:sp>
    </p:spTree>
    <p:extLst>
      <p:ext uri="{BB962C8B-B14F-4D97-AF65-F5344CB8AC3E}">
        <p14:creationId xmlns:p14="http://schemas.microsoft.com/office/powerpoint/2010/main" val="25922277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4AD4DEE-B673-45B6-84D3-EC282A289697}" type="slidenum">
              <a:rPr lang="en-GB" smtClean="0"/>
              <a:t>34</a:t>
            </a:fld>
            <a:endParaRPr lang="en-GB"/>
          </a:p>
        </p:txBody>
      </p:sp>
    </p:spTree>
    <p:extLst>
      <p:ext uri="{BB962C8B-B14F-4D97-AF65-F5344CB8AC3E}">
        <p14:creationId xmlns:p14="http://schemas.microsoft.com/office/powerpoint/2010/main" val="967008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4AD4DEE-B673-45B6-84D3-EC282A289697}" type="slidenum">
              <a:rPr lang="en-GB" smtClean="0"/>
              <a:t>35</a:t>
            </a:fld>
            <a:endParaRPr lang="en-GB"/>
          </a:p>
        </p:txBody>
      </p:sp>
    </p:spTree>
    <p:extLst>
      <p:ext uri="{BB962C8B-B14F-4D97-AF65-F5344CB8AC3E}">
        <p14:creationId xmlns:p14="http://schemas.microsoft.com/office/powerpoint/2010/main" val="2528226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4AD4DEE-B673-45B6-84D3-EC282A289697}" type="slidenum">
              <a:rPr lang="en-GB" smtClean="0"/>
              <a:t>36</a:t>
            </a:fld>
            <a:endParaRPr lang="en-GB"/>
          </a:p>
        </p:txBody>
      </p:sp>
    </p:spTree>
    <p:extLst>
      <p:ext uri="{BB962C8B-B14F-4D97-AF65-F5344CB8AC3E}">
        <p14:creationId xmlns:p14="http://schemas.microsoft.com/office/powerpoint/2010/main" val="8792092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40</a:t>
            </a:fld>
            <a:endParaRPr lang="en-GB"/>
          </a:p>
        </p:txBody>
      </p:sp>
    </p:spTree>
    <p:extLst>
      <p:ext uri="{BB962C8B-B14F-4D97-AF65-F5344CB8AC3E}">
        <p14:creationId xmlns:p14="http://schemas.microsoft.com/office/powerpoint/2010/main" val="122967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41</a:t>
            </a:fld>
            <a:endParaRPr lang="en-GB"/>
          </a:p>
        </p:txBody>
      </p:sp>
    </p:spTree>
    <p:extLst>
      <p:ext uri="{BB962C8B-B14F-4D97-AF65-F5344CB8AC3E}">
        <p14:creationId xmlns:p14="http://schemas.microsoft.com/office/powerpoint/2010/main" val="22486513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42</a:t>
            </a:fld>
            <a:endParaRPr lang="en-GB"/>
          </a:p>
        </p:txBody>
      </p:sp>
    </p:spTree>
    <p:extLst>
      <p:ext uri="{BB962C8B-B14F-4D97-AF65-F5344CB8AC3E}">
        <p14:creationId xmlns:p14="http://schemas.microsoft.com/office/powerpoint/2010/main" val="2155332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43</a:t>
            </a:fld>
            <a:endParaRPr lang="en-GB"/>
          </a:p>
        </p:txBody>
      </p:sp>
    </p:spTree>
    <p:extLst>
      <p:ext uri="{BB962C8B-B14F-4D97-AF65-F5344CB8AC3E}">
        <p14:creationId xmlns:p14="http://schemas.microsoft.com/office/powerpoint/2010/main" val="3413868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44</a:t>
            </a:fld>
            <a:endParaRPr lang="en-GB"/>
          </a:p>
        </p:txBody>
      </p:sp>
    </p:spTree>
    <p:extLst>
      <p:ext uri="{BB962C8B-B14F-4D97-AF65-F5344CB8AC3E}">
        <p14:creationId xmlns:p14="http://schemas.microsoft.com/office/powerpoint/2010/main" val="6371808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45</a:t>
            </a:fld>
            <a:endParaRPr lang="en-GB"/>
          </a:p>
        </p:txBody>
      </p:sp>
    </p:spTree>
    <p:extLst>
      <p:ext uri="{BB962C8B-B14F-4D97-AF65-F5344CB8AC3E}">
        <p14:creationId xmlns:p14="http://schemas.microsoft.com/office/powerpoint/2010/main" val="4015128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46</a:t>
            </a:fld>
            <a:endParaRPr lang="en-GB"/>
          </a:p>
        </p:txBody>
      </p:sp>
    </p:spTree>
    <p:extLst>
      <p:ext uri="{BB962C8B-B14F-4D97-AF65-F5344CB8AC3E}">
        <p14:creationId xmlns:p14="http://schemas.microsoft.com/office/powerpoint/2010/main" val="23791422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47</a:t>
            </a:fld>
            <a:endParaRPr lang="en-GB"/>
          </a:p>
        </p:txBody>
      </p:sp>
    </p:spTree>
    <p:extLst>
      <p:ext uri="{BB962C8B-B14F-4D97-AF65-F5344CB8AC3E}">
        <p14:creationId xmlns:p14="http://schemas.microsoft.com/office/powerpoint/2010/main" val="2427376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48</a:t>
            </a:fld>
            <a:endParaRPr lang="en-GB"/>
          </a:p>
        </p:txBody>
      </p:sp>
    </p:spTree>
    <p:extLst>
      <p:ext uri="{BB962C8B-B14F-4D97-AF65-F5344CB8AC3E}">
        <p14:creationId xmlns:p14="http://schemas.microsoft.com/office/powerpoint/2010/main" val="3652291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CC724C2-0F7E-4A4D-9A68-1E539ADB8D40}" type="slidenum">
              <a:rPr lang="en-GB" smtClean="0"/>
              <a:t>49</a:t>
            </a:fld>
            <a:endParaRPr lang="en-GB"/>
          </a:p>
        </p:txBody>
      </p:sp>
    </p:spTree>
    <p:extLst>
      <p:ext uri="{BB962C8B-B14F-4D97-AF65-F5344CB8AC3E}">
        <p14:creationId xmlns:p14="http://schemas.microsoft.com/office/powerpoint/2010/main" val="3692794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B4DE3-3F83-06DA-F18E-6D715BA7C4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0106D-C094-4B45-69C7-34B1FF3BBDA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0D2C00E-A924-EBB9-37E6-92EC0F8F89C2}"/>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F8D45665-ADA1-BF74-A19B-CD71C0FE85D6}"/>
              </a:ext>
            </a:extLst>
          </p:cNvPr>
          <p:cNvSpPr>
            <a:spLocks noGrp="1"/>
          </p:cNvSpPr>
          <p:nvPr>
            <p:ph type="sldNum" sz="quarter" idx="5"/>
          </p:nvPr>
        </p:nvSpPr>
        <p:spPr/>
        <p:txBody>
          <a:bodyPr/>
          <a:lstStyle/>
          <a:p>
            <a:fld id="{567FE25D-C5C3-B245-93C4-8392A840C482}" type="slidenum">
              <a:rPr lang="en-GB" smtClean="0"/>
              <a:t>51</a:t>
            </a:fld>
            <a:endParaRPr lang="en-GB"/>
          </a:p>
        </p:txBody>
      </p:sp>
    </p:spTree>
    <p:extLst>
      <p:ext uri="{BB962C8B-B14F-4D97-AF65-F5344CB8AC3E}">
        <p14:creationId xmlns:p14="http://schemas.microsoft.com/office/powerpoint/2010/main" val="4178757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216EF-E196-BDC6-2D77-A83DE09FB0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4839CD-912F-383E-F2F9-46AB2C54225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33E1D46-6FD9-D2B9-690E-D98F6C79B0E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B8F8D09-4E3A-55AE-73AE-D35E1CCFCAEC}"/>
              </a:ext>
            </a:extLst>
          </p:cNvPr>
          <p:cNvSpPr>
            <a:spLocks noGrp="1"/>
          </p:cNvSpPr>
          <p:nvPr>
            <p:ph type="sldNum" sz="quarter" idx="5"/>
          </p:nvPr>
        </p:nvSpPr>
        <p:spPr/>
        <p:txBody>
          <a:bodyPr/>
          <a:lstStyle/>
          <a:p>
            <a:fld id="{567FE25D-C5C3-B245-93C4-8392A840C482}" type="slidenum">
              <a:rPr lang="en-GB" smtClean="0"/>
              <a:t>52</a:t>
            </a:fld>
            <a:endParaRPr lang="en-GB"/>
          </a:p>
        </p:txBody>
      </p:sp>
    </p:spTree>
    <p:extLst>
      <p:ext uri="{BB962C8B-B14F-4D97-AF65-F5344CB8AC3E}">
        <p14:creationId xmlns:p14="http://schemas.microsoft.com/office/powerpoint/2010/main" val="27112088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23AE4-A732-F076-A846-234C54823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5DB0E-BCC8-4455-6428-9253F9E090F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AC7F8980-B2D3-1347-AAC0-9885C7E6C62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4B44DC4D-5F90-1958-7AFB-8C940CA46B25}"/>
              </a:ext>
            </a:extLst>
          </p:cNvPr>
          <p:cNvSpPr>
            <a:spLocks noGrp="1"/>
          </p:cNvSpPr>
          <p:nvPr>
            <p:ph type="sldNum" sz="quarter" idx="5"/>
          </p:nvPr>
        </p:nvSpPr>
        <p:spPr/>
        <p:txBody>
          <a:bodyPr/>
          <a:lstStyle/>
          <a:p>
            <a:fld id="{567FE25D-C5C3-B245-93C4-8392A840C482}" type="slidenum">
              <a:rPr lang="en-GB" smtClean="0"/>
              <a:t>53</a:t>
            </a:fld>
            <a:endParaRPr lang="en-GB"/>
          </a:p>
        </p:txBody>
      </p:sp>
    </p:spTree>
    <p:extLst>
      <p:ext uri="{BB962C8B-B14F-4D97-AF65-F5344CB8AC3E}">
        <p14:creationId xmlns:p14="http://schemas.microsoft.com/office/powerpoint/2010/main" val="38135126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88195-B08B-054D-0D24-41C81DECBE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E4A08-D552-19C9-075B-D4531971DAA9}"/>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B81D1DF-8D2E-78FF-4750-A043A6DCBAC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4508DA6-A7ED-0D6F-31AB-5BBBEA7CEC1F}"/>
              </a:ext>
            </a:extLst>
          </p:cNvPr>
          <p:cNvSpPr>
            <a:spLocks noGrp="1"/>
          </p:cNvSpPr>
          <p:nvPr>
            <p:ph type="sldNum" sz="quarter" idx="5"/>
          </p:nvPr>
        </p:nvSpPr>
        <p:spPr/>
        <p:txBody>
          <a:bodyPr/>
          <a:lstStyle/>
          <a:p>
            <a:fld id="{567FE25D-C5C3-B245-93C4-8392A840C482}" type="slidenum">
              <a:rPr lang="en-GB" smtClean="0"/>
              <a:t>54</a:t>
            </a:fld>
            <a:endParaRPr lang="en-GB"/>
          </a:p>
        </p:txBody>
      </p:sp>
    </p:spTree>
    <p:extLst>
      <p:ext uri="{BB962C8B-B14F-4D97-AF65-F5344CB8AC3E}">
        <p14:creationId xmlns:p14="http://schemas.microsoft.com/office/powerpoint/2010/main" val="2800255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20B24-3825-0066-1268-B4642FB67D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95E7A0-B2F1-3458-6790-224CEB04D4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BD4BD6F-EFA7-CA09-CD7D-123B48F9BD6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C1BDA2D-8775-F0D0-F9F6-A603E1668F2A}"/>
              </a:ext>
            </a:extLst>
          </p:cNvPr>
          <p:cNvSpPr>
            <a:spLocks noGrp="1"/>
          </p:cNvSpPr>
          <p:nvPr>
            <p:ph type="sldNum" sz="quarter" idx="5"/>
          </p:nvPr>
        </p:nvSpPr>
        <p:spPr/>
        <p:txBody>
          <a:bodyPr/>
          <a:lstStyle/>
          <a:p>
            <a:fld id="{567FE25D-C5C3-B245-93C4-8392A840C482}" type="slidenum">
              <a:rPr lang="en-GB" smtClean="0"/>
              <a:t>55</a:t>
            </a:fld>
            <a:endParaRPr lang="en-GB"/>
          </a:p>
        </p:txBody>
      </p:sp>
    </p:spTree>
    <p:extLst>
      <p:ext uri="{BB962C8B-B14F-4D97-AF65-F5344CB8AC3E}">
        <p14:creationId xmlns:p14="http://schemas.microsoft.com/office/powerpoint/2010/main" val="1401436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6D5A8-AD85-0A74-6C81-2EA5BA419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8DFC55-ABEC-C813-0086-3B1DD1B713B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125CC6F-F7A2-9021-9268-588CDAFE7048}"/>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29E8894-3B8D-D3E0-04DA-9D9C7AE20692}"/>
              </a:ext>
            </a:extLst>
          </p:cNvPr>
          <p:cNvSpPr>
            <a:spLocks noGrp="1"/>
          </p:cNvSpPr>
          <p:nvPr>
            <p:ph type="sldNum" sz="quarter" idx="5"/>
          </p:nvPr>
        </p:nvSpPr>
        <p:spPr/>
        <p:txBody>
          <a:bodyPr/>
          <a:lstStyle/>
          <a:p>
            <a:fld id="{567FE25D-C5C3-B245-93C4-8392A840C482}" type="slidenum">
              <a:rPr lang="en-GB" smtClean="0"/>
              <a:t>56</a:t>
            </a:fld>
            <a:endParaRPr lang="en-GB"/>
          </a:p>
        </p:txBody>
      </p:sp>
    </p:spTree>
    <p:extLst>
      <p:ext uri="{BB962C8B-B14F-4D97-AF65-F5344CB8AC3E}">
        <p14:creationId xmlns:p14="http://schemas.microsoft.com/office/powerpoint/2010/main" val="16162532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F2A4D-EA94-6263-BC24-046DAA001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E32A3-F5AE-C7C8-89F1-51F08D1D79A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7243373-1E22-4F43-2D18-B0A57B9D7B6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65972A5C-5FDD-8716-8604-7ECE07EACB82}"/>
              </a:ext>
            </a:extLst>
          </p:cNvPr>
          <p:cNvSpPr>
            <a:spLocks noGrp="1"/>
          </p:cNvSpPr>
          <p:nvPr>
            <p:ph type="sldNum" sz="quarter" idx="5"/>
          </p:nvPr>
        </p:nvSpPr>
        <p:spPr/>
        <p:txBody>
          <a:bodyPr/>
          <a:lstStyle/>
          <a:p>
            <a:fld id="{567FE25D-C5C3-B245-93C4-8392A840C482}" type="slidenum">
              <a:rPr lang="en-GB" smtClean="0"/>
              <a:t>57</a:t>
            </a:fld>
            <a:endParaRPr lang="en-GB"/>
          </a:p>
        </p:txBody>
      </p:sp>
    </p:spTree>
    <p:extLst>
      <p:ext uri="{BB962C8B-B14F-4D97-AF65-F5344CB8AC3E}">
        <p14:creationId xmlns:p14="http://schemas.microsoft.com/office/powerpoint/2010/main" val="25768842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3CA8-572A-F2AF-4F54-97A62BE3C1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B3A6FD-8E23-6A9B-74D7-4574D85AC55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382086F0-AC99-92A0-B5FA-50553004DA7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70F80DF-E989-5842-8F7E-53CF34CE55AD}"/>
              </a:ext>
            </a:extLst>
          </p:cNvPr>
          <p:cNvSpPr>
            <a:spLocks noGrp="1"/>
          </p:cNvSpPr>
          <p:nvPr>
            <p:ph type="sldNum" sz="quarter" idx="5"/>
          </p:nvPr>
        </p:nvSpPr>
        <p:spPr/>
        <p:txBody>
          <a:bodyPr/>
          <a:lstStyle/>
          <a:p>
            <a:fld id="{567FE25D-C5C3-B245-93C4-8392A840C482}" type="slidenum">
              <a:rPr lang="en-GB" smtClean="0"/>
              <a:t>58</a:t>
            </a:fld>
            <a:endParaRPr lang="en-GB"/>
          </a:p>
        </p:txBody>
      </p:sp>
    </p:spTree>
    <p:extLst>
      <p:ext uri="{BB962C8B-B14F-4D97-AF65-F5344CB8AC3E}">
        <p14:creationId xmlns:p14="http://schemas.microsoft.com/office/powerpoint/2010/main" val="3540427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E3958-E5A1-6204-02B7-573591AD65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0CF8E7-0239-54E3-33F7-EBCE62C3A9A1}"/>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5B6A69F0-E38C-D9BF-58C2-F9BCAC834E9A}"/>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2ACA353-89A2-4755-DA70-240E51E34935}"/>
              </a:ext>
            </a:extLst>
          </p:cNvPr>
          <p:cNvSpPr>
            <a:spLocks noGrp="1"/>
          </p:cNvSpPr>
          <p:nvPr>
            <p:ph type="sldNum" sz="quarter" idx="5"/>
          </p:nvPr>
        </p:nvSpPr>
        <p:spPr/>
        <p:txBody>
          <a:bodyPr/>
          <a:lstStyle/>
          <a:p>
            <a:fld id="{567FE25D-C5C3-B245-93C4-8392A840C482}" type="slidenum">
              <a:rPr lang="en-GB" smtClean="0"/>
              <a:t>59</a:t>
            </a:fld>
            <a:endParaRPr lang="en-GB"/>
          </a:p>
        </p:txBody>
      </p:sp>
    </p:spTree>
    <p:extLst>
      <p:ext uri="{BB962C8B-B14F-4D97-AF65-F5344CB8AC3E}">
        <p14:creationId xmlns:p14="http://schemas.microsoft.com/office/powerpoint/2010/main" val="3053851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05C6-39F5-4F27-D40D-0C552DF32F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CB1C3FD-A143-13ED-C3DE-44269DB222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580D406-68E3-A6FF-0717-9682B50F9BCA}"/>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5" name="Footer Placeholder 4">
            <a:extLst>
              <a:ext uri="{FF2B5EF4-FFF2-40B4-BE49-F238E27FC236}">
                <a16:creationId xmlns:a16="http://schemas.microsoft.com/office/drawing/2014/main" id="{6D3C4169-2998-760E-F009-BA73C15FB6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CD6149-715F-CBD8-1BC1-252FDECF185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46645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0FC7-4CB5-1110-8068-A272DE621E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82B6E31-BCA2-19C4-F10D-E116793D1E1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BAA4E93-D777-2A92-CC0B-8E93D4CC3A7F}"/>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5" name="Footer Placeholder 4">
            <a:extLst>
              <a:ext uri="{FF2B5EF4-FFF2-40B4-BE49-F238E27FC236}">
                <a16:creationId xmlns:a16="http://schemas.microsoft.com/office/drawing/2014/main" id="{C7674C13-0EDE-16CA-1A7F-A3081BB797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6B55D2-EA13-82B7-61DD-36323F20797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52140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0CC5-DAAD-5017-7875-018654CB477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0123382-1E94-3453-4D25-9D42A769D0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EFC57F6-8D3F-49A9-0449-5DCF99AC0F19}"/>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5" name="Footer Placeholder 4">
            <a:extLst>
              <a:ext uri="{FF2B5EF4-FFF2-40B4-BE49-F238E27FC236}">
                <a16:creationId xmlns:a16="http://schemas.microsoft.com/office/drawing/2014/main" id="{0E1602CD-213C-78F1-9445-9442CD9E5F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39E4FD-7B5C-A4EC-CDE4-934A146EBE4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73189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2C21-3C92-73D8-73F7-5A7F635333C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626CE01-0E6F-9333-9288-5177AAB216A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AEAE897-528F-B3AB-369F-8F922D5DA6E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F4A2E7C-3000-46E3-1557-0A2A59899294}"/>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6" name="Footer Placeholder 5">
            <a:extLst>
              <a:ext uri="{FF2B5EF4-FFF2-40B4-BE49-F238E27FC236}">
                <a16:creationId xmlns:a16="http://schemas.microsoft.com/office/drawing/2014/main" id="{F9EC56C4-1833-19A9-A856-1362253B89E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B17E1E-D416-F9E1-AA74-7A63174E220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58274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7B0F-AF3B-22D6-59DA-1878357030D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51EFC78-D38A-CD38-4C31-12AD35B53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5DF4DE-FFB5-E407-7FDD-317522B9BC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58658F7-4D59-1FC7-B0D5-D814BFB54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B149413-0679-DAD6-D1A8-7984ECDCA4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2B7FDA1-F7BD-9471-B19E-0F3380F22A04}"/>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8" name="Footer Placeholder 7">
            <a:extLst>
              <a:ext uri="{FF2B5EF4-FFF2-40B4-BE49-F238E27FC236}">
                <a16:creationId xmlns:a16="http://schemas.microsoft.com/office/drawing/2014/main" id="{EA6E888D-6D81-9C6F-CBB7-3BD89D5A7C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E89F34B-BC78-7478-2C5C-05DFF5BF84A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86100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98A18-8C50-2B7C-124F-FC2D75B8E2E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3FCB492-845D-F323-F212-4ABE54B0AB82}"/>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4" name="Footer Placeholder 3">
            <a:extLst>
              <a:ext uri="{FF2B5EF4-FFF2-40B4-BE49-F238E27FC236}">
                <a16:creationId xmlns:a16="http://schemas.microsoft.com/office/drawing/2014/main" id="{14933A63-D9EE-8652-2DB1-2F724A0F3AB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FAB4C0-8DCE-9C75-29FC-A2B90EEC132B}"/>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3527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AC090E-1783-2F69-2F60-354C5B1FC552}"/>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3" name="Footer Placeholder 2">
            <a:extLst>
              <a:ext uri="{FF2B5EF4-FFF2-40B4-BE49-F238E27FC236}">
                <a16:creationId xmlns:a16="http://schemas.microsoft.com/office/drawing/2014/main" id="{ED191562-6997-5ADA-B8AD-237FD96426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334520F-211E-9BBA-C4D4-EC317AFF384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92077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2A3C-FEC4-3066-32AD-66066DE30F5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7D78B6-3242-CFA7-AD59-D982A2F222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9AB09B6-B1DE-85B8-9FDF-DD7E79B60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CEF645-FB11-0E66-BEC1-1F5E9C0C4423}"/>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6" name="Footer Placeholder 5">
            <a:extLst>
              <a:ext uri="{FF2B5EF4-FFF2-40B4-BE49-F238E27FC236}">
                <a16:creationId xmlns:a16="http://schemas.microsoft.com/office/drawing/2014/main" id="{6AB95CB1-8DEA-15F4-C397-F8224C5A46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E42B52-20D6-2E65-938B-960A5C559DFD}"/>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877065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6B90-FC20-FA7D-3342-B206F308DB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064BBA3-031C-687D-BEE1-D7E4912E8C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1E0E133-E815-97FC-CA2D-322B2AACD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F53E93-530E-54E2-FA19-BBF652B1FE4A}"/>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6" name="Footer Placeholder 5">
            <a:extLst>
              <a:ext uri="{FF2B5EF4-FFF2-40B4-BE49-F238E27FC236}">
                <a16:creationId xmlns:a16="http://schemas.microsoft.com/office/drawing/2014/main" id="{E3A4B090-851C-580D-F20E-3362428397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0ABAEBB-FEE3-D746-FA37-DE33B8486F0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869473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F3C5-9215-5C7B-D4F0-F26B882CC711}"/>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5F610E7-A0D9-CF06-B540-497A781685E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BB22E8-0BDA-D4B9-84B0-029693CD3956}"/>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5" name="Footer Placeholder 4">
            <a:extLst>
              <a:ext uri="{FF2B5EF4-FFF2-40B4-BE49-F238E27FC236}">
                <a16:creationId xmlns:a16="http://schemas.microsoft.com/office/drawing/2014/main" id="{F8FDA19D-4A77-4412-B6B5-9BF62B8267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5E568E-0D09-699C-341E-7FBE1E8A5EF9}"/>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617976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82FBFA-D8C3-8A98-5DE5-6BF9F295125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FB89761-4252-46DF-BE0E-D4F201C4E97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A735D4C-5533-2CC4-1F64-BD58C2420B36}"/>
              </a:ext>
            </a:extLst>
          </p:cNvPr>
          <p:cNvSpPr>
            <a:spLocks noGrp="1"/>
          </p:cNvSpPr>
          <p:nvPr>
            <p:ph type="dt" sz="half" idx="10"/>
          </p:nvPr>
        </p:nvSpPr>
        <p:spPr/>
        <p:txBody>
          <a:bodyPr/>
          <a:lstStyle/>
          <a:p>
            <a:fld id="{C50F6BED-B3FB-8548-A220-F135D64A6F38}" type="datetimeFigureOut">
              <a:rPr lang="en-GB" smtClean="0"/>
              <a:t>06/08/2026</a:t>
            </a:fld>
            <a:endParaRPr lang="en-GB"/>
          </a:p>
        </p:txBody>
      </p:sp>
      <p:sp>
        <p:nvSpPr>
          <p:cNvPr id="5" name="Footer Placeholder 4">
            <a:extLst>
              <a:ext uri="{FF2B5EF4-FFF2-40B4-BE49-F238E27FC236}">
                <a16:creationId xmlns:a16="http://schemas.microsoft.com/office/drawing/2014/main" id="{B3636BBC-1218-5CF6-5FBD-4A0B58533F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6CCAA5-73AC-5BD8-340C-A97B105ACAF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930880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6271B1-6719-4EB1-EAE0-3C9E560E98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12D6A9E-EA6D-5B12-1AFD-5663E3A6A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B40E9A7-AABF-56CA-B7EE-B52C7F5FE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0F6BED-B3FB-8548-A220-F135D64A6F38}" type="datetimeFigureOut">
              <a:rPr lang="en-GB" smtClean="0"/>
              <a:t>06/08/2026</a:t>
            </a:fld>
            <a:endParaRPr lang="en-GB"/>
          </a:p>
        </p:txBody>
      </p:sp>
      <p:sp>
        <p:nvSpPr>
          <p:cNvPr id="5" name="Footer Placeholder 4">
            <a:extLst>
              <a:ext uri="{FF2B5EF4-FFF2-40B4-BE49-F238E27FC236}">
                <a16:creationId xmlns:a16="http://schemas.microsoft.com/office/drawing/2014/main" id="{64E888E3-25B4-73F3-4668-8B2ED1101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5594BD5-47DC-7819-F9FA-149765A0EA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804DBB-899E-664F-A9D1-6118EFCEA42B}" type="slidenum">
              <a:rPr lang="en-GB" smtClean="0"/>
              <a:t>‹#›</a:t>
            </a:fld>
            <a:endParaRPr lang="en-GB"/>
          </a:p>
        </p:txBody>
      </p:sp>
    </p:spTree>
    <p:extLst>
      <p:ext uri="{BB962C8B-B14F-4D97-AF65-F5344CB8AC3E}">
        <p14:creationId xmlns:p14="http://schemas.microsoft.com/office/powerpoint/2010/main" val="421367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5" Type="http://schemas.openxmlformats.org/officeDocument/2006/relationships/image" Target="NUL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6" Type="http://schemas.openxmlformats.org/officeDocument/2006/relationships/image" Target="NULL"/><Relationship Id="rId5" Type="http://schemas.openxmlformats.org/officeDocument/2006/relationships/image" Target="NUL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5" Type="http://schemas.openxmlformats.org/officeDocument/2006/relationships/image" Target="NUL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NUL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NUL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F5E2EF-FD9E-B482-DEAD-AB4626EE6F93}"/>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Topic 3: Comparing Groups</a:t>
            </a:r>
          </a:p>
        </p:txBody>
      </p:sp>
      <p:pic>
        <p:nvPicPr>
          <p:cNvPr id="9" name="Picture 8" descr="A black background with white text&#10;&#10;AI-generated content may be incorrect.">
            <a:extLst>
              <a:ext uri="{FF2B5EF4-FFF2-40B4-BE49-F238E27FC236}">
                <a16:creationId xmlns:a16="http://schemas.microsoft.com/office/drawing/2014/main" id="{369DFD77-03D5-E162-AFB9-0D5714BC634C}"/>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4077492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5;p26">
            <a:extLst>
              <a:ext uri="{FF2B5EF4-FFF2-40B4-BE49-F238E27FC236}">
                <a16:creationId xmlns:a16="http://schemas.microsoft.com/office/drawing/2014/main" id="{9CDCC65B-C285-5408-6FD6-A502E5C0AE3D}"/>
              </a:ext>
            </a:extLst>
          </p:cNvPr>
          <p:cNvSpPr txBox="1">
            <a:spLocks/>
          </p:cNvSpPr>
          <p:nvPr/>
        </p:nvSpPr>
        <p:spPr>
          <a:xfrm>
            <a:off x="416822" y="384347"/>
            <a:ext cx="10117640" cy="669901"/>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Why do we want to compare groups?</a:t>
            </a:r>
          </a:p>
        </p:txBody>
      </p:sp>
      <p:sp>
        <p:nvSpPr>
          <p:cNvPr id="5" name="TextBox 4">
            <a:extLst>
              <a:ext uri="{FF2B5EF4-FFF2-40B4-BE49-F238E27FC236}">
                <a16:creationId xmlns:a16="http://schemas.microsoft.com/office/drawing/2014/main" id="{74768708-309E-85E8-D513-913B4FDBDC39}"/>
              </a:ext>
            </a:extLst>
          </p:cNvPr>
          <p:cNvSpPr txBox="1"/>
          <p:nvPr/>
        </p:nvSpPr>
        <p:spPr>
          <a:xfrm>
            <a:off x="416822" y="1333263"/>
            <a:ext cx="6096000" cy="4893647"/>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In medicine, we are often interested in whether an intervention, exposure, or characteristic is associated with a difference in an outcome.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Examples: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Blood pressure by treatment group</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Depression score by therapy type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Recovery time by ward type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Here, we want to compare mean outcomes across groups, while accounting for natural variability between individuals.</a:t>
            </a:r>
          </a:p>
        </p:txBody>
      </p:sp>
    </p:spTree>
    <p:extLst>
      <p:ext uri="{BB962C8B-B14F-4D97-AF65-F5344CB8AC3E}">
        <p14:creationId xmlns:p14="http://schemas.microsoft.com/office/powerpoint/2010/main" val="112734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A4882-6016-04E4-C16B-380D29551A36}"/>
              </a:ext>
            </a:extLst>
          </p:cNvPr>
          <p:cNvSpPr txBox="1"/>
          <p:nvPr/>
        </p:nvSpPr>
        <p:spPr>
          <a:xfrm>
            <a:off x="500743" y="463485"/>
            <a:ext cx="5878287"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This topic…</a:t>
            </a:r>
            <a:endParaRPr lang="en-GB" sz="2800" noProof="1">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1368F128-6E60-8FCA-F828-497A6279C073}"/>
              </a:ext>
            </a:extLst>
          </p:cNvPr>
          <p:cNvSpPr txBox="1"/>
          <p:nvPr/>
        </p:nvSpPr>
        <p:spPr>
          <a:xfrm>
            <a:off x="500744" y="1328577"/>
            <a:ext cx="83608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Comparing two groups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Comparing multiple groups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Comparing categorical variables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Exploring group differences in R</a:t>
            </a:r>
          </a:p>
        </p:txBody>
      </p:sp>
      <p:cxnSp>
        <p:nvCxnSpPr>
          <p:cNvPr id="7" name="Straight Arrow Connector 6">
            <a:extLst>
              <a:ext uri="{FF2B5EF4-FFF2-40B4-BE49-F238E27FC236}">
                <a16:creationId xmlns:a16="http://schemas.microsoft.com/office/drawing/2014/main" id="{6F4201F3-6770-3B8B-D596-D8E7D2E3DDAE}"/>
              </a:ext>
            </a:extLst>
          </p:cNvPr>
          <p:cNvCxnSpPr>
            <a:cxnSpLocks/>
          </p:cNvCxnSpPr>
          <p:nvPr/>
        </p:nvCxnSpPr>
        <p:spPr>
          <a:xfrm>
            <a:off x="6596743" y="6232360"/>
            <a:ext cx="4718029"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E6219C6-14A1-1B48-5A50-CB68B1A38433}"/>
              </a:ext>
            </a:extLst>
          </p:cNvPr>
          <p:cNvSpPr txBox="1"/>
          <p:nvPr/>
        </p:nvSpPr>
        <p:spPr>
          <a:xfrm>
            <a:off x="6466114" y="5669037"/>
            <a:ext cx="4575960"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3.1 Comparing two groups</a:t>
            </a:r>
          </a:p>
        </p:txBody>
      </p:sp>
    </p:spTree>
    <p:extLst>
      <p:ext uri="{BB962C8B-B14F-4D97-AF65-F5344CB8AC3E}">
        <p14:creationId xmlns:p14="http://schemas.microsoft.com/office/powerpoint/2010/main" val="183901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2C532147-E62F-27A8-8B11-1F8CEC7B53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AE7D90-F368-4DD5-59E2-07DE50455E82}"/>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3.1 Comparing two groups</a:t>
            </a:r>
          </a:p>
        </p:txBody>
      </p:sp>
      <p:pic>
        <p:nvPicPr>
          <p:cNvPr id="9" name="Picture 8" descr="A black background with white text&#10;&#10;AI-generated content may be incorrect.">
            <a:extLst>
              <a:ext uri="{FF2B5EF4-FFF2-40B4-BE49-F238E27FC236}">
                <a16:creationId xmlns:a16="http://schemas.microsoft.com/office/drawing/2014/main" id="{230686E1-B47B-B70D-9591-65F8A3DEFE65}"/>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91816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F5E23-91A8-F27E-1AF1-10FA7484EA7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31D0BA2-C81D-1F3E-8837-92D13DEF7DA3}"/>
              </a:ext>
            </a:extLst>
          </p:cNvPr>
          <p:cNvSpPr txBox="1">
            <a:spLocks/>
          </p:cNvSpPr>
          <p:nvPr/>
        </p:nvSpPr>
        <p:spPr>
          <a:xfrm>
            <a:off x="838200" y="534205"/>
            <a:ext cx="10515600" cy="199696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Lets think about blood pressure and lifestyle intervention.</a:t>
            </a:r>
          </a:p>
        </p:txBody>
      </p:sp>
      <p:pic>
        <p:nvPicPr>
          <p:cNvPr id="7" name="Picture 6" descr="A graph with different colored rectangles&#10;&#10;AI-generated content may be incorrect.">
            <a:extLst>
              <a:ext uri="{FF2B5EF4-FFF2-40B4-BE49-F238E27FC236}">
                <a16:creationId xmlns:a16="http://schemas.microsoft.com/office/drawing/2014/main" id="{0955EAE1-F884-874A-AE07-C6F830230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682" y="2390727"/>
            <a:ext cx="5486400" cy="3657600"/>
          </a:xfrm>
          <a:prstGeom prst="rect">
            <a:avLst/>
          </a:prstGeom>
        </p:spPr>
      </p:pic>
    </p:spTree>
    <p:extLst>
      <p:ext uri="{BB962C8B-B14F-4D97-AF65-F5344CB8AC3E}">
        <p14:creationId xmlns:p14="http://schemas.microsoft.com/office/powerpoint/2010/main" val="1364585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F1D3E-73B2-EAAE-4F01-B1339EB93BC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A3FC0BD-B574-83A6-BF05-FBEDA604EDA4}"/>
              </a:ext>
            </a:extLst>
          </p:cNvPr>
          <p:cNvSpPr txBox="1">
            <a:spLocks/>
          </p:cNvSpPr>
          <p:nvPr/>
        </p:nvSpPr>
        <p:spPr>
          <a:xfrm>
            <a:off x="838200" y="674137"/>
            <a:ext cx="10515600" cy="7645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What does “difference” really mean?</a:t>
            </a:r>
          </a:p>
        </p:txBody>
      </p:sp>
      <p:sp>
        <p:nvSpPr>
          <p:cNvPr id="2" name="TextBox 1">
            <a:extLst>
              <a:ext uri="{FF2B5EF4-FFF2-40B4-BE49-F238E27FC236}">
                <a16:creationId xmlns:a16="http://schemas.microsoft.com/office/drawing/2014/main" id="{5AB80706-46B9-ABD2-6F40-FF5E465BFC1A}"/>
              </a:ext>
            </a:extLst>
          </p:cNvPr>
          <p:cNvSpPr txBox="1"/>
          <p:nvPr/>
        </p:nvSpPr>
        <p:spPr>
          <a:xfrm>
            <a:off x="838200" y="1802296"/>
            <a:ext cx="6096000" cy="3046988"/>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Differences always involve variability.</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Visual differences ≠ statistical evidence.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When we compare groups, we almost always see some difference in averages.</a:t>
            </a:r>
          </a:p>
          <a:p>
            <a:r>
              <a:rPr lang="en-US" sz="2400" dirty="0">
                <a:latin typeface="Source Sans Pro" panose="020B0503030403020204" pitchFamily="34" charset="0"/>
                <a:ea typeface="Source Sans Pro" panose="020B0503030403020204" pitchFamily="34" charset="0"/>
              </a:rPr>
              <a:t>But people vary naturally — even within the same group.</a:t>
            </a:r>
          </a:p>
        </p:txBody>
      </p:sp>
      <p:sp>
        <p:nvSpPr>
          <p:cNvPr id="7" name="TextBox 6">
            <a:extLst>
              <a:ext uri="{FF2B5EF4-FFF2-40B4-BE49-F238E27FC236}">
                <a16:creationId xmlns:a16="http://schemas.microsoft.com/office/drawing/2014/main" id="{02B33EC5-4FB7-7BB6-9DD7-9CF6F2F4D1A1}"/>
              </a:ext>
            </a:extLst>
          </p:cNvPr>
          <p:cNvSpPr txBox="1"/>
          <p:nvPr/>
        </p:nvSpPr>
        <p:spPr>
          <a:xfrm>
            <a:off x="838200" y="5352866"/>
            <a:ext cx="6096000" cy="830997"/>
          </a:xfrm>
          <a:prstGeom prst="rect">
            <a:avLst/>
          </a:prstGeom>
          <a:noFill/>
        </p:spPr>
        <p:txBody>
          <a:bodyPr wrap="square">
            <a:spAutoFit/>
          </a:bodyPr>
          <a:lstStyle/>
          <a:p>
            <a:pPr>
              <a:buNone/>
            </a:pPr>
            <a:r>
              <a:rPr lang="en-GB" sz="2400" b="1" dirty="0">
                <a:solidFill>
                  <a:srgbClr val="0E0E0E"/>
                </a:solidFill>
                <a:effectLst/>
                <a:latin typeface="Source Sans Pro" panose="020B0503030403020204" pitchFamily="34" charset="0"/>
                <a:ea typeface="Source Sans Pro" panose="020B0503030403020204" pitchFamily="34" charset="0"/>
              </a:rPr>
              <a:t>Is the observed difference larger than we would expect just by chance?</a:t>
            </a:r>
          </a:p>
        </p:txBody>
      </p:sp>
    </p:spTree>
    <p:extLst>
      <p:ext uri="{BB962C8B-B14F-4D97-AF65-F5344CB8AC3E}">
        <p14:creationId xmlns:p14="http://schemas.microsoft.com/office/powerpoint/2010/main" val="1545460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35C865-FBAC-D9B8-43F5-4A65F06392E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A8C1E10-539A-C6BF-EB1A-F28903613A71}"/>
              </a:ext>
            </a:extLst>
          </p:cNvPr>
          <p:cNvSpPr txBox="1">
            <a:spLocks/>
          </p:cNvSpPr>
          <p:nvPr/>
        </p:nvSpPr>
        <p:spPr>
          <a:xfrm>
            <a:off x="838200" y="534206"/>
            <a:ext cx="10515600" cy="76450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t>From description to inference</a:t>
            </a:r>
          </a:p>
        </p:txBody>
      </p:sp>
      <p:sp>
        <p:nvSpPr>
          <p:cNvPr id="2" name="TextBox 1">
            <a:extLst>
              <a:ext uri="{FF2B5EF4-FFF2-40B4-BE49-F238E27FC236}">
                <a16:creationId xmlns:a16="http://schemas.microsoft.com/office/drawing/2014/main" id="{2035DEA1-3EDD-9E6A-1377-DD1564F9731E}"/>
              </a:ext>
            </a:extLst>
          </p:cNvPr>
          <p:cNvSpPr txBox="1"/>
          <p:nvPr/>
        </p:nvSpPr>
        <p:spPr>
          <a:xfrm>
            <a:off x="838200" y="1802296"/>
            <a:ext cx="6096000" cy="4154984"/>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Describe → Compare → Test</a:t>
            </a:r>
          </a:p>
          <a:p>
            <a:r>
              <a:rPr lang="en-US" sz="2400" dirty="0">
                <a:latin typeface="Source Sans Pro" panose="020B0503030403020204" pitchFamily="34" charset="0"/>
                <a:ea typeface="Source Sans Pro" panose="020B0503030403020204" pitchFamily="34" charset="0"/>
              </a:rPr>
              <a:t>Data → Evidence → Decision</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We typically move through three stages:</a:t>
            </a:r>
          </a:p>
          <a:p>
            <a:r>
              <a:rPr lang="en-US" sz="2400" dirty="0">
                <a:latin typeface="Source Sans Pro" panose="020B0503030403020204" pitchFamily="34" charset="0"/>
                <a:ea typeface="Source Sans Pro" panose="020B0503030403020204" pitchFamily="34" charset="0"/>
              </a:rPr>
              <a:t>	</a:t>
            </a:r>
          </a:p>
          <a:p>
            <a:pPr marL="457200" indent="-457200">
              <a:buAutoNum type="arabicPeriod"/>
            </a:pPr>
            <a:r>
              <a:rPr lang="en-US" sz="2400" dirty="0">
                <a:latin typeface="Source Sans Pro" panose="020B0503030403020204" pitchFamily="34" charset="0"/>
                <a:ea typeface="Source Sans Pro" panose="020B0503030403020204" pitchFamily="34" charset="0"/>
              </a:rPr>
              <a:t>Describe the data</a:t>
            </a:r>
          </a:p>
          <a:p>
            <a:pPr marL="457200" indent="-457200">
              <a:buAutoNum type="arabicPeriod"/>
            </a:pPr>
            <a:endParaRPr lang="en-US" sz="2400" dirty="0">
              <a:latin typeface="Source Sans Pro" panose="020B0503030403020204" pitchFamily="34" charset="0"/>
              <a:ea typeface="Source Sans Pro" panose="020B0503030403020204" pitchFamily="34" charset="0"/>
            </a:endParaRPr>
          </a:p>
          <a:p>
            <a:pPr marL="457200" indent="-457200">
              <a:buAutoNum type="arabicPeriod"/>
            </a:pPr>
            <a:r>
              <a:rPr lang="en-US" sz="2400" dirty="0">
                <a:latin typeface="Source Sans Pro" panose="020B0503030403020204" pitchFamily="34" charset="0"/>
                <a:ea typeface="Source Sans Pro" panose="020B0503030403020204" pitchFamily="34" charset="0"/>
              </a:rPr>
              <a:t>Compare groups visually and numerically</a:t>
            </a:r>
          </a:p>
          <a:p>
            <a:pPr marL="457200" indent="-457200">
              <a:buAutoNum type="arabicPeriod"/>
            </a:pPr>
            <a:endParaRPr lang="en-US" sz="2400" dirty="0">
              <a:latin typeface="Source Sans Pro" panose="020B0503030403020204" pitchFamily="34" charset="0"/>
              <a:ea typeface="Source Sans Pro" panose="020B0503030403020204" pitchFamily="34" charset="0"/>
            </a:endParaRPr>
          </a:p>
          <a:p>
            <a:pPr marL="457200" indent="-457200">
              <a:buAutoNum type="arabicPeriod"/>
            </a:pPr>
            <a:r>
              <a:rPr lang="en-US" sz="2400" dirty="0">
                <a:latin typeface="Source Sans Pro" panose="020B0503030403020204" pitchFamily="34" charset="0"/>
                <a:ea typeface="Source Sans Pro" panose="020B0503030403020204" pitchFamily="34" charset="0"/>
              </a:rPr>
              <a:t>Use statistical tests to make formal inferences</a:t>
            </a:r>
          </a:p>
        </p:txBody>
      </p:sp>
    </p:spTree>
    <p:extLst>
      <p:ext uri="{BB962C8B-B14F-4D97-AF65-F5344CB8AC3E}">
        <p14:creationId xmlns:p14="http://schemas.microsoft.com/office/powerpoint/2010/main" val="15800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ABC6A-8713-7FE2-FC6A-6DAFDA12275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5B9F2BC-1BFA-8B76-C162-131647369A44}"/>
              </a:ext>
            </a:extLst>
          </p:cNvPr>
          <p:cNvSpPr txBox="1">
            <a:spLocks/>
          </p:cNvSpPr>
          <p:nvPr/>
        </p:nvSpPr>
        <p:spPr>
          <a:xfrm>
            <a:off x="838200" y="428188"/>
            <a:ext cx="10515600" cy="75125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The Z-Test</a:t>
            </a:r>
          </a:p>
        </p:txBody>
      </p:sp>
      <p:sp>
        <p:nvSpPr>
          <p:cNvPr id="3" name="TextBox 2">
            <a:extLst>
              <a:ext uri="{FF2B5EF4-FFF2-40B4-BE49-F238E27FC236}">
                <a16:creationId xmlns:a16="http://schemas.microsoft.com/office/drawing/2014/main" id="{871335F5-019F-1970-1357-B0F1945ECD4B}"/>
              </a:ext>
            </a:extLst>
          </p:cNvPr>
          <p:cNvSpPr txBox="1"/>
          <p:nvPr/>
        </p:nvSpPr>
        <p:spPr>
          <a:xfrm>
            <a:off x="710052" y="1282188"/>
            <a:ext cx="7470913" cy="5262979"/>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The z-test compares a sample mean to a known population mean when the </a:t>
            </a:r>
            <a:r>
              <a:rPr lang="en-US" sz="2400" b="1" dirty="0">
                <a:latin typeface="Source Sans Pro" panose="020B0503030403020204" pitchFamily="34" charset="0"/>
                <a:ea typeface="Source Sans Pro" panose="020B0503030403020204" pitchFamily="34" charset="0"/>
              </a:rPr>
              <a:t>population variance is known</a:t>
            </a:r>
            <a:r>
              <a:rPr lang="en-US" sz="2400" dirty="0">
                <a:latin typeface="Source Sans Pro" panose="020B0503030403020204" pitchFamily="34" charset="0"/>
                <a:ea typeface="Source Sans Pro" panose="020B0503030403020204" pitchFamily="34" charset="0"/>
              </a:rPr>
              <a:t>.</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health and social care, this situation is uncommon, but it helps illustrate the logic of hypothesis testing.</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Suppose national surveillance data tells us: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Mean systolic BP in adults = 140 mmHg</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Population SD = 15 mmHg</a:t>
            </a:r>
          </a:p>
          <a:p>
            <a:pPr marL="285750" indent="-285750">
              <a:buFont typeface="Arial" panose="020B0604020202020204" pitchFamily="34" charset="0"/>
              <a:buChar char="•"/>
            </a:pPr>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We may collect a small clinic sample to see if their mean differs from this, using the population SD are ground truth and doing a Z-Test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65CF54D-E64D-5366-A23A-08D66C893BA5}"/>
                  </a:ext>
                </a:extLst>
              </p:cNvPr>
              <p:cNvSpPr txBox="1"/>
              <p:nvPr/>
            </p:nvSpPr>
            <p:spPr>
              <a:xfrm>
                <a:off x="8418974" y="1006008"/>
                <a:ext cx="2696817" cy="1693477"/>
              </a:xfrm>
              <a:prstGeom prst="rect">
                <a:avLst/>
              </a:prstGeom>
              <a:noFill/>
            </p:spPr>
            <p:txBody>
              <a:bodyPr wrap="square" lIns="0" tIns="0" rIns="0" bIns="0" rtlCol="0">
                <a:spAutoFit/>
              </a:bodyPr>
              <a:lstStyle/>
              <a:p>
                <a:pPr/>
                <a14:m>
                  <m:oMathPara xmlns:m="http://schemas.openxmlformats.org/officeDocument/2006/math">
                    <m:oMath>
                      <m:r>
                        <a:rPr lang="en-GB" sz="3600" b="0" i="1" smtClean="0">
                          <a:latin typeface="Cambria Math" panose="02040503050406030204" pitchFamily="18" charset="0"/>
                        </a:rPr>
                        <m:t>𝑍</m:t>
                      </m:r>
                      <m:r>
                        <a:rPr lang="en-GB" sz="3600" b="0" i="1" smtClean="0">
                          <a:latin typeface="Cambria Math" panose="02040503050406030204" pitchFamily="18" charset="0"/>
                        </a:rPr>
                        <m:t>=</m:t>
                      </m:r>
                      <m:f>
                        <m:fPr>
                          <m:ctrlPr>
                            <a:rPr lang="en-GB" sz="3600" b="0" i="1" smtClean="0">
                              <a:latin typeface="Cambria Math" panose="02040503050406030204" pitchFamily="18" charset="0"/>
                            </a:rPr>
                          </m:ctrlPr>
                        </m:fPr>
                        <m:num>
                          <m:acc>
                            <m:accPr>
                              <m:chr m:val="̅"/>
                              <m:ctrlPr>
                                <a:rPr lang="en-GB" sz="3600" b="0" i="1" smtClean="0">
                                  <a:latin typeface="Cambria Math" panose="02040503050406030204" pitchFamily="18" charset="0"/>
                                </a:rPr>
                              </m:ctrlPr>
                            </m:accPr>
                            <m:e>
                              <m:r>
                                <a:rPr lang="en-GB" sz="3600" b="0" i="1" smtClean="0">
                                  <a:latin typeface="Cambria Math" panose="02040503050406030204" pitchFamily="18" charset="0"/>
                                </a:rPr>
                                <m:t>𝑥</m:t>
                              </m:r>
                            </m:e>
                          </m:acc>
                          <m:r>
                            <a:rPr lang="en-GB" sz="3600" b="0" i="1" smtClean="0">
                              <a:latin typeface="Cambria Math" panose="02040503050406030204" pitchFamily="18" charset="0"/>
                            </a:rPr>
                            <m:t>−</m:t>
                          </m:r>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𝜇</m:t>
                              </m:r>
                            </m:e>
                            <m:sub>
                              <m:r>
                                <a:rPr lang="en-GB" sz="3600" b="0" i="1" smtClean="0">
                                  <a:latin typeface="Cambria Math" panose="02040503050406030204" pitchFamily="18" charset="0"/>
                                </a:rPr>
                                <m:t>0</m:t>
                              </m:r>
                            </m:sub>
                          </m:sSub>
                        </m:num>
                        <m:den>
                          <m:r>
                            <a:rPr lang="en-GB" sz="3600" b="0" i="1" smtClean="0">
                              <a:latin typeface="Cambria Math" panose="02040503050406030204" pitchFamily="18" charset="0"/>
                            </a:rPr>
                            <m:t>𝜎</m:t>
                          </m:r>
                          <m:r>
                            <m:rPr>
                              <m:lit/>
                            </m:rPr>
                            <a:rPr lang="en-GB" sz="3600" b="0" i="1" smtClean="0">
                              <a:latin typeface="Cambria Math" panose="02040503050406030204" pitchFamily="18" charset="0"/>
                            </a:rPr>
                            <m:t>/</m:t>
                          </m:r>
                          <m:rad>
                            <m:radPr>
                              <m:degHide m:val="on"/>
                              <m:ctrlPr>
                                <a:rPr lang="en-GB" sz="3600" b="0" i="1" smtClean="0">
                                  <a:latin typeface="Cambria Math" panose="02040503050406030204" pitchFamily="18" charset="0"/>
                                </a:rPr>
                              </m:ctrlPr>
                            </m:radPr>
                            <m:deg/>
                            <m:e>
                              <m:r>
                                <a:rPr lang="en-GB" sz="3600" b="0" i="1" smtClean="0">
                                  <a:latin typeface="Cambria Math" panose="02040503050406030204" pitchFamily="18" charset="0"/>
                                </a:rPr>
                                <m:t>𝑛</m:t>
                              </m:r>
                            </m:e>
                          </m:rad>
                        </m:den>
                      </m:f>
                    </m:oMath>
                  </m:oMathPara>
                </a14:m>
                <a:endParaRPr lang="en-GB" sz="3600" b="0" dirty="0"/>
              </a:p>
              <a:p>
                <a:endParaRPr lang="en-US" sz="3600" dirty="0"/>
              </a:p>
            </p:txBody>
          </p:sp>
        </mc:Choice>
        <mc:Fallback xmlns="">
          <p:sp>
            <p:nvSpPr>
              <p:cNvPr id="9" name="TextBox 8">
                <a:extLst>
                  <a:ext uri="{FF2B5EF4-FFF2-40B4-BE49-F238E27FC236}">
                    <a16:creationId xmlns:a16="http://schemas.microsoft.com/office/drawing/2014/main" id="{765CF54D-E64D-5366-A23A-08D66C893BA5}"/>
                  </a:ext>
                </a:extLst>
              </p:cNvPr>
              <p:cNvSpPr txBox="1">
                <a:spLocks noRot="1" noChangeAspect="1" noMove="1" noResize="1" noEditPoints="1" noAdjustHandles="1" noChangeArrowheads="1" noChangeShapeType="1" noTextEdit="1"/>
              </p:cNvSpPr>
              <p:nvPr/>
            </p:nvSpPr>
            <p:spPr>
              <a:xfrm>
                <a:off x="8418974" y="1006008"/>
                <a:ext cx="2696817" cy="1693477"/>
              </a:xfrm>
              <a:prstGeom prst="rect">
                <a:avLst/>
              </a:prstGeom>
              <a:blipFill>
                <a:blip r:embed="rId5"/>
                <a:stretch>
                  <a:fillRect t="-746"/>
                </a:stretch>
              </a:blipFill>
            </p:spPr>
            <p:txBody>
              <a:bodyPr/>
              <a:lstStyle/>
              <a:p>
                <a:r>
                  <a:rPr lang="en-US">
                    <a:noFill/>
                  </a:rPr>
                  <a:t> </a:t>
                </a:r>
              </a:p>
            </p:txBody>
          </p:sp>
        </mc:Fallback>
      </mc:AlternateContent>
    </p:spTree>
    <p:extLst>
      <p:ext uri="{BB962C8B-B14F-4D97-AF65-F5344CB8AC3E}">
        <p14:creationId xmlns:p14="http://schemas.microsoft.com/office/powerpoint/2010/main" val="346071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577CE-C358-2020-F245-428D43B88F74}"/>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9E65A1E-F6EA-D59E-173A-3F5142365E40}"/>
              </a:ext>
            </a:extLst>
          </p:cNvPr>
          <p:cNvSpPr txBox="1">
            <a:spLocks/>
          </p:cNvSpPr>
          <p:nvPr/>
        </p:nvSpPr>
        <p:spPr>
          <a:xfrm>
            <a:off x="736600" y="580587"/>
            <a:ext cx="10515600" cy="145362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What happens when the population variance is unknown? (very likely)</a:t>
            </a:r>
          </a:p>
        </p:txBody>
      </p:sp>
      <p:sp>
        <p:nvSpPr>
          <p:cNvPr id="3" name="TextBox 2">
            <a:extLst>
              <a:ext uri="{FF2B5EF4-FFF2-40B4-BE49-F238E27FC236}">
                <a16:creationId xmlns:a16="http://schemas.microsoft.com/office/drawing/2014/main" id="{BA3468A3-3F2F-27D6-6A02-7DA505B7C6B4}"/>
              </a:ext>
            </a:extLst>
          </p:cNvPr>
          <p:cNvSpPr txBox="1"/>
          <p:nvPr/>
        </p:nvSpPr>
        <p:spPr>
          <a:xfrm>
            <a:off x="736600" y="2381184"/>
            <a:ext cx="7129669" cy="3785652"/>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In practice, we do not know the population variance.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Instead, we estimate it from the sample: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Adds uncertainty</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Requires a different reference distribution</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Leads to the t-distribution</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The smaller the sample, the more important this adjustment becomes, which is common in health and social care studies.</a:t>
            </a:r>
          </a:p>
        </p:txBody>
      </p:sp>
    </p:spTree>
    <p:extLst>
      <p:ext uri="{BB962C8B-B14F-4D97-AF65-F5344CB8AC3E}">
        <p14:creationId xmlns:p14="http://schemas.microsoft.com/office/powerpoint/2010/main" val="40146426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43A68-DB68-3E7E-38E3-31DC4AE65D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E30B7D8-C3D9-272B-4185-4CDE277F58B6}"/>
              </a:ext>
            </a:extLst>
          </p:cNvPr>
          <p:cNvSpPr txBox="1">
            <a:spLocks/>
          </p:cNvSpPr>
          <p:nvPr/>
        </p:nvSpPr>
        <p:spPr>
          <a:xfrm>
            <a:off x="838200" y="428187"/>
            <a:ext cx="10515600" cy="7288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The one-sample t-test.</a:t>
            </a:r>
          </a:p>
        </p:txBody>
      </p:sp>
      <p:sp>
        <p:nvSpPr>
          <p:cNvPr id="3" name="TextBox 2">
            <a:extLst>
              <a:ext uri="{FF2B5EF4-FFF2-40B4-BE49-F238E27FC236}">
                <a16:creationId xmlns:a16="http://schemas.microsoft.com/office/drawing/2014/main" id="{8AD7E44F-9C1F-2F2A-9858-8CBC5547E134}"/>
              </a:ext>
            </a:extLst>
          </p:cNvPr>
          <p:cNvSpPr txBox="1"/>
          <p:nvPr/>
        </p:nvSpPr>
        <p:spPr>
          <a:xfrm>
            <a:off x="354496" y="1378226"/>
            <a:ext cx="8703895" cy="4154984"/>
          </a:xfrm>
          <a:prstGeom prst="rect">
            <a:avLst/>
          </a:prstGeom>
          <a:noFill/>
        </p:spPr>
        <p:txBody>
          <a:bodyPr wrap="square" rtlCol="0">
            <a:spAutoFit/>
          </a:bodyPr>
          <a:lstStyle/>
          <a:p>
            <a:r>
              <a:rPr lang="en-US" sz="2400" b="1" dirty="0">
                <a:latin typeface="Source Sans Pro" panose="020B0503030403020204" pitchFamily="34" charset="0"/>
                <a:ea typeface="Source Sans Pro" panose="020B0503030403020204" pitchFamily="34" charset="0"/>
              </a:rPr>
              <a:t>Used when comparing one sample mean to a known reference value.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our example...</a:t>
            </a:r>
          </a:p>
          <a:p>
            <a:r>
              <a:rPr lang="en-US" sz="2400" dirty="0">
                <a:latin typeface="Source Sans Pro" panose="020B0503030403020204" pitchFamily="34" charset="0"/>
                <a:ea typeface="Source Sans Pro" panose="020B0503030403020204" pitchFamily="34" charset="0"/>
              </a:rPr>
              <a:t>A guideline suggests systolic BP should average ≤ 135 mmHg after an intervention. We want to test whether our intervention group meets this target.</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Hypotheses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H₀: </a:t>
            </a:r>
            <a:r>
              <a:rPr lang="el-GR" sz="2400" dirty="0">
                <a:latin typeface="Source Sans Pro" panose="020B0503030403020204" pitchFamily="34" charset="0"/>
                <a:ea typeface="Source Sans Pro" panose="020B0503030403020204" pitchFamily="34" charset="0"/>
              </a:rPr>
              <a:t>μ = 135</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H₁: </a:t>
            </a:r>
            <a:r>
              <a:rPr lang="el-GR" sz="2400" dirty="0">
                <a:latin typeface="Source Sans Pro" panose="020B0503030403020204" pitchFamily="34" charset="0"/>
                <a:ea typeface="Source Sans Pro" panose="020B0503030403020204" pitchFamily="34" charset="0"/>
              </a:rPr>
              <a:t>μ ≠ 135</a:t>
            </a:r>
            <a:endParaRPr lang="en-US" sz="2400" dirty="0">
              <a:latin typeface="Source Sans Pro" panose="020B0503030403020204" pitchFamily="34" charset="0"/>
              <a:ea typeface="Source Sans Pro" panose="020B0503030403020204" pitchFamily="34" charset="0"/>
            </a:endParaRPr>
          </a:p>
        </p:txBody>
      </p:sp>
      <p:pic>
        <p:nvPicPr>
          <p:cNvPr id="6" name="Picture 5" descr="A screenshot of a computer&#10;&#10;AI-generated content may be incorrect.">
            <a:extLst>
              <a:ext uri="{FF2B5EF4-FFF2-40B4-BE49-F238E27FC236}">
                <a16:creationId xmlns:a16="http://schemas.microsoft.com/office/drawing/2014/main" id="{73A81927-A814-E552-39F9-F108CB7B9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5925" y="4282680"/>
            <a:ext cx="5804038" cy="205740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A0C22C9-C2A5-52DA-7DFE-D97B72121C82}"/>
                  </a:ext>
                </a:extLst>
              </p:cNvPr>
              <p:cNvSpPr txBox="1"/>
              <p:nvPr/>
            </p:nvSpPr>
            <p:spPr>
              <a:xfrm>
                <a:off x="9353252" y="1517374"/>
                <a:ext cx="1472134" cy="1417055"/>
              </a:xfrm>
              <a:prstGeom prst="rect">
                <a:avLst/>
              </a:prstGeom>
              <a:noFill/>
            </p:spPr>
            <p:txBody>
              <a:bodyPr wrap="none" lIns="0" tIns="0" rIns="0" bIns="0" rtlCol="0">
                <a:spAutoFit/>
              </a:bodyPr>
              <a:lstStyle/>
              <a:p>
                <a:r>
                  <a:rPr lang="en-GB" sz="3600" dirty="0">
                    <a:latin typeface="Source Sans Pro" panose="020B0503030403020204" pitchFamily="34" charset="0"/>
                    <a:ea typeface="Source Sans Pro" panose="020B0503030403020204" pitchFamily="34" charset="0"/>
                  </a:rPr>
                  <a:t>t</a:t>
                </a:r>
                <a14:m>
                  <m:oMath xmlns:m="http://schemas.openxmlformats.org/officeDocument/2006/math">
                    <m:r>
                      <a:rPr lang="en-GB" sz="3600" b="0" i="1" smtClean="0">
                        <a:latin typeface="Cambria Math" panose="02040503050406030204" pitchFamily="18" charset="0"/>
                      </a:rPr>
                      <m:t>=</m:t>
                    </m:r>
                    <m:f>
                      <m:fPr>
                        <m:ctrlPr>
                          <a:rPr lang="en-GB" sz="3600" b="0" i="1" smtClean="0">
                            <a:latin typeface="Cambria Math" panose="02040503050406030204" pitchFamily="18" charset="0"/>
                          </a:rPr>
                        </m:ctrlPr>
                      </m:fPr>
                      <m:num>
                        <m:acc>
                          <m:accPr>
                            <m:chr m:val="̅"/>
                            <m:ctrlPr>
                              <a:rPr lang="en-GB" sz="3600" b="0" i="1" smtClean="0">
                                <a:latin typeface="Cambria Math" panose="02040503050406030204" pitchFamily="18" charset="0"/>
                              </a:rPr>
                            </m:ctrlPr>
                          </m:accPr>
                          <m:e>
                            <m:r>
                              <a:rPr lang="en-GB" sz="3600" b="0" i="1" smtClean="0">
                                <a:latin typeface="Cambria Math" panose="02040503050406030204" pitchFamily="18" charset="0"/>
                              </a:rPr>
                              <m:t>𝑥</m:t>
                            </m:r>
                          </m:e>
                        </m:acc>
                        <m:r>
                          <a:rPr lang="en-GB" sz="3600" b="0" i="1" smtClean="0">
                            <a:latin typeface="Cambria Math" panose="02040503050406030204" pitchFamily="18" charset="0"/>
                          </a:rPr>
                          <m:t>−</m:t>
                        </m:r>
                        <m:sSub>
                          <m:sSubPr>
                            <m:ctrlPr>
                              <a:rPr lang="en-GB" sz="3600" b="0" i="1" smtClean="0">
                                <a:latin typeface="Cambria Math" panose="02040503050406030204" pitchFamily="18" charset="0"/>
                              </a:rPr>
                            </m:ctrlPr>
                          </m:sSubPr>
                          <m:e>
                            <m:r>
                              <a:rPr lang="en-GB" sz="3600" b="0" i="1" smtClean="0">
                                <a:latin typeface="Cambria Math" panose="02040503050406030204" pitchFamily="18" charset="0"/>
                              </a:rPr>
                              <m:t>𝜇</m:t>
                            </m:r>
                          </m:e>
                          <m:sub>
                            <m:r>
                              <a:rPr lang="en-GB" sz="3600" b="0" i="1" smtClean="0">
                                <a:latin typeface="Cambria Math" panose="02040503050406030204" pitchFamily="18" charset="0"/>
                              </a:rPr>
                              <m:t>0</m:t>
                            </m:r>
                          </m:sub>
                        </m:sSub>
                      </m:num>
                      <m:den>
                        <m:r>
                          <a:rPr lang="en-GB" sz="3600" b="0" i="1" smtClean="0">
                            <a:latin typeface="Cambria Math" panose="02040503050406030204" pitchFamily="18" charset="0"/>
                          </a:rPr>
                          <m:t>𝑠</m:t>
                        </m:r>
                        <m:r>
                          <m:rPr>
                            <m:lit/>
                          </m:rPr>
                          <a:rPr lang="en-GB" sz="3600" b="0" i="1" smtClean="0">
                            <a:latin typeface="Cambria Math" panose="02040503050406030204" pitchFamily="18" charset="0"/>
                          </a:rPr>
                          <m:t>/</m:t>
                        </m:r>
                        <m:rad>
                          <m:radPr>
                            <m:degHide m:val="on"/>
                            <m:ctrlPr>
                              <a:rPr lang="en-GB" sz="3600" i="1" smtClean="0">
                                <a:latin typeface="Cambria Math" panose="02040503050406030204" pitchFamily="18" charset="0"/>
                              </a:rPr>
                            </m:ctrlPr>
                          </m:radPr>
                          <m:deg/>
                          <m:e>
                            <m:r>
                              <a:rPr lang="en-GB" sz="3600" b="0" i="1" smtClean="0">
                                <a:latin typeface="Cambria Math" panose="02040503050406030204" pitchFamily="18" charset="0"/>
                              </a:rPr>
                              <m:t>𝑛</m:t>
                            </m:r>
                          </m:e>
                        </m:rad>
                      </m:den>
                    </m:f>
                  </m:oMath>
                </a14:m>
                <a:endParaRPr lang="en-GB" sz="3600" dirty="0">
                  <a:latin typeface="Source Sans Pro" panose="020B0503030403020204" pitchFamily="34" charset="0"/>
                  <a:ea typeface="Source Sans Pro" panose="020B0503030403020204" pitchFamily="34" charset="0"/>
                </a:endParaRPr>
              </a:p>
              <a:p>
                <a:endParaRPr lang="en-US" sz="3600" dirty="0">
                  <a:latin typeface="Source Sans Pro" panose="020B0503030403020204" pitchFamily="34" charset="0"/>
                  <a:ea typeface="Source Sans Pro" panose="020B0503030403020204" pitchFamily="34" charset="0"/>
                </a:endParaRPr>
              </a:p>
            </p:txBody>
          </p:sp>
        </mc:Choice>
        <mc:Fallback xmlns="">
          <p:sp>
            <p:nvSpPr>
              <p:cNvPr id="7" name="TextBox 6">
                <a:extLst>
                  <a:ext uri="{FF2B5EF4-FFF2-40B4-BE49-F238E27FC236}">
                    <a16:creationId xmlns:a16="http://schemas.microsoft.com/office/drawing/2014/main" id="{BA0C22C9-C2A5-52DA-7DFE-D97B72121C82}"/>
                  </a:ext>
                </a:extLst>
              </p:cNvPr>
              <p:cNvSpPr txBox="1">
                <a:spLocks noRot="1" noChangeAspect="1" noMove="1" noResize="1" noEditPoints="1" noAdjustHandles="1" noChangeArrowheads="1" noChangeShapeType="1" noTextEdit="1"/>
              </p:cNvSpPr>
              <p:nvPr/>
            </p:nvSpPr>
            <p:spPr>
              <a:xfrm>
                <a:off x="9353252" y="1517374"/>
                <a:ext cx="1472134" cy="1417055"/>
              </a:xfrm>
              <a:prstGeom prst="rect">
                <a:avLst/>
              </a:prstGeom>
              <a:blipFill>
                <a:blip r:embed="rId8"/>
                <a:stretch>
                  <a:fillRect l="-18803" t="-893" r="-4274"/>
                </a:stretch>
              </a:blipFill>
            </p:spPr>
            <p:txBody>
              <a:bodyPr/>
              <a:lstStyle/>
              <a:p>
                <a:r>
                  <a:rPr lang="en-US">
                    <a:noFill/>
                  </a:rPr>
                  <a:t> </a:t>
                </a:r>
              </a:p>
            </p:txBody>
          </p:sp>
        </mc:Fallback>
      </mc:AlternateContent>
    </p:spTree>
    <p:extLst>
      <p:ext uri="{BB962C8B-B14F-4D97-AF65-F5344CB8AC3E}">
        <p14:creationId xmlns:p14="http://schemas.microsoft.com/office/powerpoint/2010/main" val="3298998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4F6B7-0F09-4DB9-252E-0E29E89D828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2BC10D3-EBC8-9D68-957F-2E13D431BC95}"/>
              </a:ext>
            </a:extLst>
          </p:cNvPr>
          <p:cNvSpPr txBox="1">
            <a:spLocks/>
          </p:cNvSpPr>
          <p:nvPr/>
        </p:nvSpPr>
        <p:spPr>
          <a:xfrm>
            <a:off x="838200" y="428187"/>
            <a:ext cx="10515600" cy="7288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The independent samples t-test.</a:t>
            </a:r>
          </a:p>
        </p:txBody>
      </p:sp>
      <p:sp>
        <p:nvSpPr>
          <p:cNvPr id="2" name="TextBox 1">
            <a:extLst>
              <a:ext uri="{FF2B5EF4-FFF2-40B4-BE49-F238E27FC236}">
                <a16:creationId xmlns:a16="http://schemas.microsoft.com/office/drawing/2014/main" id="{07211FE9-E367-66FB-7D06-B5266D27E5BC}"/>
              </a:ext>
            </a:extLst>
          </p:cNvPr>
          <p:cNvSpPr txBox="1"/>
          <p:nvPr/>
        </p:nvSpPr>
        <p:spPr>
          <a:xfrm>
            <a:off x="3180522" y="2054087"/>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6E215780-8BD6-584F-2E23-71FE97090437}"/>
              </a:ext>
            </a:extLst>
          </p:cNvPr>
          <p:cNvSpPr txBox="1"/>
          <p:nvPr/>
        </p:nvSpPr>
        <p:spPr>
          <a:xfrm>
            <a:off x="354496" y="1378226"/>
            <a:ext cx="9107556" cy="4524315"/>
          </a:xfrm>
          <a:prstGeom prst="rect">
            <a:avLst/>
          </a:prstGeom>
          <a:noFill/>
        </p:spPr>
        <p:txBody>
          <a:bodyPr wrap="square" rtlCol="0">
            <a:spAutoFit/>
          </a:bodyPr>
          <a:lstStyle/>
          <a:p>
            <a:r>
              <a:rPr lang="en-US" sz="2400" b="1" dirty="0">
                <a:latin typeface="Source Sans Pro" panose="020B0503030403020204" pitchFamily="34" charset="0"/>
                <a:ea typeface="Source Sans Pro" panose="020B0503030403020204" pitchFamily="34" charset="0"/>
              </a:rPr>
              <a:t>Used when comparing the means of two independent groups.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This is one of the most common tests in health and social care research.</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our example...</a:t>
            </a:r>
          </a:p>
          <a:p>
            <a:r>
              <a:rPr lang="en-US" sz="2400" dirty="0">
                <a:latin typeface="Source Sans Pro" panose="020B0503030403020204" pitchFamily="34" charset="0"/>
                <a:ea typeface="Source Sans Pro" panose="020B0503030403020204" pitchFamily="34" charset="0"/>
              </a:rPr>
              <a:t>Do patients receiving a lifestyle intervention have lower systolic BP than those who do not?</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Hypotheses</a:t>
            </a:r>
          </a:p>
          <a:p>
            <a:r>
              <a:rPr lang="en-GB" sz="2400" b="1" dirty="0"/>
              <a:t>H₀</a:t>
            </a:r>
            <a:r>
              <a:rPr lang="en-GB" sz="2400" dirty="0"/>
              <a:t>: </a:t>
            </a:r>
            <a:r>
              <a:rPr lang="el-GR" sz="2400" dirty="0"/>
              <a:t>μ₁ = μ₂</a:t>
            </a:r>
          </a:p>
          <a:p>
            <a:r>
              <a:rPr lang="en-GB" sz="2400" b="1" dirty="0"/>
              <a:t>H₁</a:t>
            </a:r>
            <a:r>
              <a:rPr lang="en-GB" sz="2400" dirty="0"/>
              <a:t>: </a:t>
            </a:r>
            <a:r>
              <a:rPr lang="el-GR" sz="2400" dirty="0"/>
              <a:t>μ₁ ≠ μ₂</a:t>
            </a:r>
          </a:p>
        </p:txBody>
      </p:sp>
      <p:pic>
        <p:nvPicPr>
          <p:cNvPr id="7" name="Picture 6" descr="A screenshot of a test results&#10;&#10;AI-generated content may be incorrect.">
            <a:extLst>
              <a:ext uri="{FF2B5EF4-FFF2-40B4-BE49-F238E27FC236}">
                <a16:creationId xmlns:a16="http://schemas.microsoft.com/office/drawing/2014/main" id="{0CC09269-84BE-6D34-A060-F680AEEB5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8903" y="4219527"/>
            <a:ext cx="4784035" cy="2221902"/>
          </a:xfrm>
          <a:prstGeom prst="rect">
            <a:avLst/>
          </a:prstGeom>
        </p:spPr>
      </p:pic>
      <p:pic>
        <p:nvPicPr>
          <p:cNvPr id="1026" name="Picture 2">
            <a:extLst>
              <a:ext uri="{FF2B5EF4-FFF2-40B4-BE49-F238E27FC236}">
                <a16:creationId xmlns:a16="http://schemas.microsoft.com/office/drawing/2014/main" id="{0836BE0B-C386-7061-24BB-27C2A54AF4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0188" y="1899111"/>
            <a:ext cx="2042728" cy="950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413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964F7-755E-42AE-E95E-0A20188D278F}"/>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4232DCF-84DD-BD95-1F4B-5A2E3B48E5B2}"/>
              </a:ext>
            </a:extLst>
          </p:cNvPr>
          <p:cNvSpPr txBox="1">
            <a:spLocks/>
          </p:cNvSpPr>
          <p:nvPr/>
        </p:nvSpPr>
        <p:spPr>
          <a:xfrm>
            <a:off x="838200" y="428187"/>
            <a:ext cx="10515600" cy="7288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The paired samples t-test.</a:t>
            </a:r>
          </a:p>
        </p:txBody>
      </p:sp>
      <p:sp>
        <p:nvSpPr>
          <p:cNvPr id="2" name="TextBox 1">
            <a:extLst>
              <a:ext uri="{FF2B5EF4-FFF2-40B4-BE49-F238E27FC236}">
                <a16:creationId xmlns:a16="http://schemas.microsoft.com/office/drawing/2014/main" id="{5544F9E1-1A0D-3C51-B01E-F3094F79A2A2}"/>
              </a:ext>
            </a:extLst>
          </p:cNvPr>
          <p:cNvSpPr txBox="1"/>
          <p:nvPr/>
        </p:nvSpPr>
        <p:spPr>
          <a:xfrm>
            <a:off x="3180522" y="2054087"/>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E9E39969-230D-5C93-BC3E-AB51DB457A8B}"/>
              </a:ext>
            </a:extLst>
          </p:cNvPr>
          <p:cNvSpPr txBox="1"/>
          <p:nvPr/>
        </p:nvSpPr>
        <p:spPr>
          <a:xfrm>
            <a:off x="838200" y="1696277"/>
            <a:ext cx="5529469" cy="2677656"/>
          </a:xfrm>
          <a:prstGeom prst="rect">
            <a:avLst/>
          </a:prstGeom>
          <a:noFill/>
        </p:spPr>
        <p:txBody>
          <a:bodyPr wrap="square" rtlCol="0">
            <a:spAutoFit/>
          </a:bodyPr>
          <a:lstStyle/>
          <a:p>
            <a:r>
              <a:rPr lang="en-US" sz="2400" b="1" dirty="0">
                <a:latin typeface="Source Sans Pro" panose="020B0503030403020204" pitchFamily="34" charset="0"/>
                <a:ea typeface="Source Sans Pro" panose="020B0503030403020204" pitchFamily="34" charset="0"/>
              </a:rPr>
              <a:t>Used when measurements are taken on the same individuals twice.</a:t>
            </a:r>
            <a:br>
              <a:rPr lang="en-US" sz="2400" b="1" dirty="0">
                <a:latin typeface="Source Sans Pro" panose="020B0503030403020204" pitchFamily="34" charset="0"/>
                <a:ea typeface="Source Sans Pro" panose="020B0503030403020204" pitchFamily="34" charset="0"/>
              </a:rPr>
            </a:br>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Typical health contexts:</a:t>
            </a:r>
          </a:p>
          <a:p>
            <a:pPr marL="342900" indent="-34290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Before vs after treatment</a:t>
            </a:r>
          </a:p>
          <a:p>
            <a:pPr marL="342900" indent="-34290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Admission vs discharge</a:t>
            </a:r>
          </a:p>
          <a:p>
            <a:pPr marL="342900" indent="-34290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Baseline vs follow-up scores</a:t>
            </a:r>
            <a:endParaRPr lang="el-GR" sz="2400"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94B2EC9-61D8-2D14-2378-A571D834B116}"/>
                  </a:ext>
                </a:extLst>
              </p:cNvPr>
              <p:cNvSpPr txBox="1"/>
              <p:nvPr/>
            </p:nvSpPr>
            <p:spPr>
              <a:xfrm>
                <a:off x="7925485" y="1696277"/>
                <a:ext cx="2265812" cy="326628"/>
              </a:xfrm>
              <a:prstGeom prst="rect">
                <a:avLst/>
              </a:prstGeom>
              <a:noFill/>
            </p:spPr>
            <p:txBody>
              <a:bodyPr wrap="none" lIns="0" tIns="0" rIns="0" bIns="0" rtlCol="0">
                <a:spAutoFit/>
              </a:bodyPr>
              <a:lstStyle/>
              <a:p>
                <a:pPr/>
                <a14:m>
                  <m:oMathPara xmlns:m="http://schemas.openxmlformats.org/officeDocument/2006/math">
                    <m:oMath>
                      <m:sSub>
                        <m:sSubPr>
                          <m:ctrlPr>
                            <a:rPr lang="en-GB" i="0" smtClean="0">
                              <a:latin typeface="Cambria Math" panose="02040503050406030204" pitchFamily="18" charset="0"/>
                            </a:rPr>
                          </m:ctrlPr>
                        </m:sSubPr>
                        <m:e>
                          <m:r>
                            <m:rPr>
                              <m:nor/>
                            </m:rPr>
                            <a:rPr lang="en-GB" i="0" smtClean="0">
                              <a:latin typeface="Cambria Math" panose="02040503050406030204" pitchFamily="18" charset="0"/>
                            </a:rPr>
                            <m:t>d</m:t>
                          </m:r>
                        </m:e>
                        <m:sub>
                          <m:r>
                            <m:rPr>
                              <m:nor/>
                            </m:rPr>
                            <a:rPr lang="en-GB" i="0" smtClean="0">
                              <a:latin typeface="Cambria Math" panose="02040503050406030204" pitchFamily="18" charset="0"/>
                            </a:rPr>
                            <m:t>i</m:t>
                          </m:r>
                        </m:sub>
                      </m:sSub>
                      <m:r>
                        <m:rPr>
                          <m:nor/>
                        </m:rPr>
                        <a:rPr lang="en-GB" i="0" smtClean="0">
                          <a:latin typeface="Cambria Math" panose="02040503050406030204" pitchFamily="18" charset="0"/>
                        </a:rPr>
                        <m:t> = </m:t>
                      </m:r>
                      <m:sSub>
                        <m:sSubPr>
                          <m:ctrlPr>
                            <a:rPr lang="en-GB" i="0" smtClean="0">
                              <a:latin typeface="Cambria Math" panose="02040503050406030204" pitchFamily="18" charset="0"/>
                            </a:rPr>
                          </m:ctrlPr>
                        </m:sSubPr>
                        <m:e>
                          <m:r>
                            <m:rPr>
                              <m:nor/>
                            </m:rPr>
                            <a:rPr lang="en-GB" i="0" smtClean="0">
                              <a:latin typeface="Cambria Math" panose="02040503050406030204" pitchFamily="18" charset="0"/>
                            </a:rPr>
                            <m:t>x</m:t>
                          </m:r>
                        </m:e>
                        <m:sub>
                          <m:r>
                            <m:rPr>
                              <m:nor/>
                            </m:rPr>
                            <a:rPr lang="en-GB" i="0" smtClean="0">
                              <a:latin typeface="Cambria Math" panose="02040503050406030204" pitchFamily="18" charset="0"/>
                            </a:rPr>
                            <m:t>i,before</m:t>
                          </m:r>
                        </m:sub>
                      </m:sSub>
                      <m:r>
                        <m:rPr>
                          <m:nor/>
                        </m:rPr>
                        <a:rPr lang="en-GB" i="0" smtClean="0">
                          <a:latin typeface="Cambria Math" panose="02040503050406030204" pitchFamily="18" charset="0"/>
                        </a:rPr>
                        <m:t> − </m:t>
                      </m:r>
                      <m:sSub>
                        <m:sSubPr>
                          <m:ctrlPr>
                            <a:rPr lang="en-GB" i="0" smtClean="0">
                              <a:latin typeface="Cambria Math" panose="02040503050406030204" pitchFamily="18" charset="0"/>
                            </a:rPr>
                          </m:ctrlPr>
                        </m:sSubPr>
                        <m:e>
                          <m:r>
                            <m:rPr>
                              <m:nor/>
                            </m:rPr>
                            <a:rPr lang="en-GB" i="0" smtClean="0">
                              <a:latin typeface="Cambria Math" panose="02040503050406030204" pitchFamily="18" charset="0"/>
                            </a:rPr>
                            <m:t>x</m:t>
                          </m:r>
                        </m:e>
                        <m:sub>
                          <m:r>
                            <m:rPr>
                              <m:nor/>
                            </m:rPr>
                            <a:rPr lang="en-GB" i="0" smtClean="0">
                              <a:latin typeface="Cambria Math" panose="02040503050406030204" pitchFamily="18" charset="0"/>
                            </a:rPr>
                            <m:t>i,after</m:t>
                          </m:r>
                        </m:sub>
                      </m:sSub>
                    </m:oMath>
                  </m:oMathPara>
                </a14:m>
                <a:endParaRPr lang="en-US" dirty="0"/>
              </a:p>
            </p:txBody>
          </p:sp>
        </mc:Choice>
        <mc:Fallback xmlns="">
          <p:sp>
            <p:nvSpPr>
              <p:cNvPr id="6" name="TextBox 5">
                <a:extLst>
                  <a:ext uri="{FF2B5EF4-FFF2-40B4-BE49-F238E27FC236}">
                    <a16:creationId xmlns:a16="http://schemas.microsoft.com/office/drawing/2014/main" id="{594B2EC9-61D8-2D14-2378-A571D834B116}"/>
                  </a:ext>
                </a:extLst>
              </p:cNvPr>
              <p:cNvSpPr txBox="1">
                <a:spLocks noRot="1" noChangeAspect="1" noMove="1" noResize="1" noEditPoints="1" noAdjustHandles="1" noChangeArrowheads="1" noChangeShapeType="1" noTextEdit="1"/>
              </p:cNvSpPr>
              <p:nvPr/>
            </p:nvSpPr>
            <p:spPr>
              <a:xfrm>
                <a:off x="7925485" y="1696277"/>
                <a:ext cx="2265812" cy="326628"/>
              </a:xfrm>
              <a:prstGeom prst="rect">
                <a:avLst/>
              </a:prstGeom>
              <a:blipFill>
                <a:blip r:embed="rId5"/>
                <a:stretch>
                  <a:fillRect l="-2235" t="-3704" r="-1676" b="-148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B9A3980-1167-015E-AD8D-7BDB635C2C26}"/>
                  </a:ext>
                </a:extLst>
              </p:cNvPr>
              <p:cNvSpPr txBox="1"/>
              <p:nvPr/>
            </p:nvSpPr>
            <p:spPr>
              <a:xfrm>
                <a:off x="8169966" y="2426761"/>
                <a:ext cx="1399422" cy="926857"/>
              </a:xfrm>
              <a:prstGeom prst="rect">
                <a:avLst/>
              </a:prstGeom>
              <a:noFill/>
            </p:spPr>
            <p:txBody>
              <a:bodyPr wrap="none" lIns="0" tIns="0" rIns="0" bIns="0" rtlCol="0">
                <a:spAutoFit/>
              </a:bodyPr>
              <a:lstStyle/>
              <a:p>
                <a:pPr/>
                <a14:m>
                  <m:oMathPara xmlns:m="http://schemas.openxmlformats.org/officeDocument/2006/math">
                    <m:oMath>
                      <m:r>
                        <m:rPr>
                          <m:nor/>
                        </m:rPr>
                        <a:rPr lang="en-GB" i="0" smtClean="0">
                          <a:latin typeface="Cambria Math" panose="02040503050406030204" pitchFamily="18" charset="0"/>
                        </a:rPr>
                        <m:t>t  =  </m:t>
                      </m:r>
                      <m:f>
                        <m:fPr>
                          <m:ctrlPr>
                            <a:rPr lang="en-GB" b="0" i="1" smtClean="0">
                              <a:latin typeface="Cambria Math" panose="02040503050406030204" pitchFamily="18" charset="0"/>
                            </a:rPr>
                          </m:ctrlPr>
                        </m:fPr>
                        <m:num>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𝑑</m:t>
                              </m:r>
                            </m:e>
                          </m:acc>
                        </m:num>
                        <m:den>
                          <m:sSub>
                            <m:sSubPr>
                              <m:ctrlPr>
                                <a:rPr lang="en-GB" i="0" smtClean="0">
                                  <a:latin typeface="Cambria Math" panose="02040503050406030204" pitchFamily="18" charset="0"/>
                                </a:rPr>
                              </m:ctrlPr>
                            </m:sSubPr>
                            <m:e>
                              <m:r>
                                <m:rPr>
                                  <m:nor/>
                                </m:rPr>
                                <a:rPr lang="en-GB" i="0" smtClean="0">
                                  <a:latin typeface="Cambria Math" panose="02040503050406030204" pitchFamily="18" charset="0"/>
                                </a:rPr>
                                <m:t>s</m:t>
                              </m:r>
                            </m:e>
                            <m:sub>
                              <m:r>
                                <m:rPr>
                                  <m:nor/>
                                </m:rPr>
                                <a:rPr lang="en-GB" i="0" smtClean="0">
                                  <a:latin typeface="Cambria Math" panose="02040503050406030204" pitchFamily="18" charset="0"/>
                                </a:rPr>
                                <m:t>d</m:t>
                              </m:r>
                            </m:sub>
                          </m:sSub>
                          <m:r>
                            <m:rPr>
                              <m:nor/>
                            </m:rPr>
                            <a:rPr lang="en-GB" i="0" smtClean="0">
                              <a:latin typeface="Cambria Math" panose="02040503050406030204" pitchFamily="18" charset="0"/>
                            </a:rPr>
                            <m:t> </m:t>
                          </m:r>
                          <m:r>
                            <m:rPr>
                              <m:lit/>
                              <m:nor/>
                            </m:rPr>
                            <a:rPr lang="en-GB" i="0" smtClean="0">
                              <a:latin typeface="Cambria Math" panose="02040503050406030204" pitchFamily="18" charset="0"/>
                            </a:rPr>
                            <m:t>/</m:t>
                          </m:r>
                          <m:r>
                            <m:rPr>
                              <m:nor/>
                            </m:rPr>
                            <a:rPr lang="en-GB" i="0" smtClean="0">
                              <a:latin typeface="Cambria Math" panose="02040503050406030204" pitchFamily="18" charset="0"/>
                            </a:rPr>
                            <m:t> </m:t>
                          </m:r>
                          <m:rad>
                            <m:radPr>
                              <m:degHide m:val="on"/>
                              <m:ctrlPr>
                                <a:rPr lang="en-GB" b="0" i="1" smtClean="0">
                                  <a:latin typeface="Cambria Math" panose="02040503050406030204" pitchFamily="18" charset="0"/>
                                </a:rPr>
                              </m:ctrlPr>
                            </m:radPr>
                            <m:deg/>
                            <m:e>
                              <m:r>
                                <a:rPr lang="en-GB" b="0" i="1" smtClean="0">
                                  <a:latin typeface="Cambria Math" panose="02040503050406030204" pitchFamily="18" charset="0"/>
                                </a:rPr>
                                <m:t>𝑛</m:t>
                              </m:r>
                            </m:e>
                          </m:rad>
                        </m:den>
                      </m:f>
                    </m:oMath>
                  </m:oMathPara>
                </a14:m>
                <a:endParaRPr lang="en-GB" dirty="0"/>
              </a:p>
              <a:p>
                <a:endParaRPr lang="en-GB" dirty="0"/>
              </a:p>
            </p:txBody>
          </p:sp>
        </mc:Choice>
        <mc:Fallback xmlns="">
          <p:sp>
            <p:nvSpPr>
              <p:cNvPr id="7" name="TextBox 6">
                <a:extLst>
                  <a:ext uri="{FF2B5EF4-FFF2-40B4-BE49-F238E27FC236}">
                    <a16:creationId xmlns:a16="http://schemas.microsoft.com/office/drawing/2014/main" id="{DB9A3980-1167-015E-AD8D-7BDB635C2C26}"/>
                  </a:ext>
                </a:extLst>
              </p:cNvPr>
              <p:cNvSpPr txBox="1">
                <a:spLocks noRot="1" noChangeAspect="1" noMove="1" noResize="1" noEditPoints="1" noAdjustHandles="1" noChangeArrowheads="1" noChangeShapeType="1" noTextEdit="1"/>
              </p:cNvSpPr>
              <p:nvPr/>
            </p:nvSpPr>
            <p:spPr>
              <a:xfrm>
                <a:off x="8169966" y="2426761"/>
                <a:ext cx="1399422" cy="92685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39342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29497-D6C1-F79C-815D-5A7290AC0F5B}"/>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76FDCBB-9C89-D09B-2F79-1EFD8D21589F}"/>
              </a:ext>
            </a:extLst>
          </p:cNvPr>
          <p:cNvSpPr txBox="1">
            <a:spLocks/>
          </p:cNvSpPr>
          <p:nvPr/>
        </p:nvSpPr>
        <p:spPr>
          <a:xfrm>
            <a:off x="591378" y="548408"/>
            <a:ext cx="10515600" cy="72880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latin typeface="Source Sans Pro" panose="020B0503030403020204" pitchFamily="34" charset="0"/>
                <a:ea typeface="Source Sans Pro" panose="020B0503030403020204" pitchFamily="34" charset="0"/>
              </a:rPr>
              <a:t>Assumptions of the z/t-tests.</a:t>
            </a:r>
          </a:p>
        </p:txBody>
      </p:sp>
      <p:sp>
        <p:nvSpPr>
          <p:cNvPr id="2" name="TextBox 1">
            <a:extLst>
              <a:ext uri="{FF2B5EF4-FFF2-40B4-BE49-F238E27FC236}">
                <a16:creationId xmlns:a16="http://schemas.microsoft.com/office/drawing/2014/main" id="{B930EA82-2E32-F843-405B-28464C2B7DDE}"/>
              </a:ext>
            </a:extLst>
          </p:cNvPr>
          <p:cNvSpPr txBox="1"/>
          <p:nvPr/>
        </p:nvSpPr>
        <p:spPr>
          <a:xfrm>
            <a:off x="3180522" y="2054087"/>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918ACEF8-709E-9645-E17A-08ECEA30481E}"/>
              </a:ext>
            </a:extLst>
          </p:cNvPr>
          <p:cNvSpPr txBox="1"/>
          <p:nvPr/>
        </p:nvSpPr>
        <p:spPr>
          <a:xfrm>
            <a:off x="692979" y="1625074"/>
            <a:ext cx="7193722" cy="4893647"/>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In health and social care, assumptions matter because violations can affect conclusions.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Key assumptions</a:t>
            </a:r>
          </a:p>
          <a:p>
            <a:pPr marL="457200" indent="-457200">
              <a:buAutoNum type="arabicPeriod"/>
            </a:pPr>
            <a:r>
              <a:rPr lang="en-US" sz="2400" dirty="0">
                <a:latin typeface="Source Sans Pro" panose="020B0503030403020204" pitchFamily="34" charset="0"/>
                <a:ea typeface="Source Sans Pro" panose="020B0503030403020204" pitchFamily="34" charset="0"/>
              </a:rPr>
              <a:t>Independence: Each patient contributes one observation (unless paired)</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2. The distribution of the sample mean is approximately normal: Guaranteed by the CLT for groups with n &gt; 30.</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3. Equal variances (for classical independent t-tests: Welch’s t-test relaxes this assumption</a:t>
            </a:r>
          </a:p>
        </p:txBody>
      </p:sp>
    </p:spTree>
    <p:extLst>
      <p:ext uri="{BB962C8B-B14F-4D97-AF65-F5344CB8AC3E}">
        <p14:creationId xmlns:p14="http://schemas.microsoft.com/office/powerpoint/2010/main" val="3920582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1D84D1A1-4766-28B4-B84C-B00BC312E7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718EE5A-8EAF-D775-559F-62EBE5883B70}"/>
              </a:ext>
            </a:extLst>
          </p:cNvPr>
          <p:cNvSpPr txBox="1"/>
          <p:nvPr/>
        </p:nvSpPr>
        <p:spPr>
          <a:xfrm>
            <a:off x="594044" y="2688102"/>
            <a:ext cx="8082817"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3.2 Comparing multiple groups</a:t>
            </a:r>
          </a:p>
        </p:txBody>
      </p:sp>
      <p:pic>
        <p:nvPicPr>
          <p:cNvPr id="9" name="Picture 8" descr="A black background with white text&#10;&#10;AI-generated content may be incorrect.">
            <a:extLst>
              <a:ext uri="{FF2B5EF4-FFF2-40B4-BE49-F238E27FC236}">
                <a16:creationId xmlns:a16="http://schemas.microsoft.com/office/drawing/2014/main" id="{B9801A6C-1B88-9796-06C1-B2575F81E2E8}"/>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3415045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F718E-6F47-6FA1-14CB-2D43B38C00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FF9A39-CA6C-D4A7-9640-6BDDDE71B8FB}"/>
              </a:ext>
            </a:extLst>
          </p:cNvPr>
          <p:cNvSpPr txBox="1"/>
          <p:nvPr/>
        </p:nvSpPr>
        <p:spPr>
          <a:xfrm>
            <a:off x="315684" y="483656"/>
            <a:ext cx="11134193"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The Problem: </a:t>
            </a:r>
            <a:br>
              <a:rPr lang="en-GB" sz="4400" b="1" noProof="0" dirty="0">
                <a:latin typeface="Source Sans Pro" panose="020B0503030403020204" pitchFamily="34" charset="0"/>
                <a:ea typeface="Source Sans Pro" panose="020B0503030403020204" pitchFamily="34" charset="0"/>
                <a:cs typeface="Calibri" panose="020F0502020204030204"/>
              </a:rPr>
            </a:br>
            <a:r>
              <a:rPr lang="en-GB" sz="4400" b="1" noProof="0" dirty="0">
                <a:latin typeface="Source Sans Pro" panose="020B0503030403020204" pitchFamily="34" charset="0"/>
                <a:ea typeface="Source Sans Pro" panose="020B0503030403020204" pitchFamily="34" charset="0"/>
                <a:cs typeface="Calibri" panose="020F0502020204030204"/>
              </a:rPr>
              <a:t>Comparing more than two means.</a:t>
            </a:r>
          </a:p>
        </p:txBody>
      </p:sp>
      <p:sp>
        <p:nvSpPr>
          <p:cNvPr id="4" name="TextBox 3">
            <a:extLst>
              <a:ext uri="{FF2B5EF4-FFF2-40B4-BE49-F238E27FC236}">
                <a16:creationId xmlns:a16="http://schemas.microsoft.com/office/drawing/2014/main" id="{105C4DE6-2A56-494E-252C-EE4BBAAC15F9}"/>
              </a:ext>
            </a:extLst>
          </p:cNvPr>
          <p:cNvSpPr txBox="1"/>
          <p:nvPr/>
        </p:nvSpPr>
        <p:spPr>
          <a:xfrm>
            <a:off x="452846" y="2307771"/>
            <a:ext cx="7802880" cy="3139321"/>
          </a:xfrm>
          <a:prstGeom prst="rect">
            <a:avLst/>
          </a:prstGeom>
          <a:noFill/>
        </p:spPr>
        <p:txBody>
          <a:bodyPr wrap="square" rtlCol="0">
            <a:spAutoFit/>
          </a:bodyPr>
          <a:lstStyle/>
          <a:p>
            <a:r>
              <a:rPr lang="en-US" dirty="0">
                <a:latin typeface="Source Sans Pro" panose="020B0503030403020204" pitchFamily="34" charset="0"/>
                <a:ea typeface="Source Sans Pro" panose="020B0503030403020204" pitchFamily="34" charset="0"/>
              </a:rPr>
              <a:t>In health and social care, we often want to compare outcomes across more than two groups.</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In our latest running example, we are interested in whether average sleep duration differs by working status among adults:</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Working full-time</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Working part-time</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Not working / retired / unable to work</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Each group has its own mean sleep duration, and we want to know whether these differences are larger than we would expect by chance.</a:t>
            </a:r>
          </a:p>
        </p:txBody>
      </p:sp>
    </p:spTree>
    <p:extLst>
      <p:ext uri="{BB962C8B-B14F-4D97-AF65-F5344CB8AC3E}">
        <p14:creationId xmlns:p14="http://schemas.microsoft.com/office/powerpoint/2010/main" val="1829098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58E72-DB24-CAD4-E5BF-BDDAE828D78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D07D6F6-40F2-8D49-87C0-76C13DDDDFB2}"/>
              </a:ext>
            </a:extLst>
          </p:cNvPr>
          <p:cNvSpPr txBox="1"/>
          <p:nvPr/>
        </p:nvSpPr>
        <p:spPr>
          <a:xfrm>
            <a:off x="315684" y="343807"/>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Motivating this in health and social care.</a:t>
            </a:r>
          </a:p>
        </p:txBody>
      </p:sp>
      <p:pic>
        <p:nvPicPr>
          <p:cNvPr id="5" name="Picture 4" descr="A graph of work status&#10;&#10;AI-generated content may be incorrect.">
            <a:extLst>
              <a:ext uri="{FF2B5EF4-FFF2-40B4-BE49-F238E27FC236}">
                <a16:creationId xmlns:a16="http://schemas.microsoft.com/office/drawing/2014/main" id="{B4A882C9-A6C3-DDA2-3BF9-7794A724CF8F}"/>
              </a:ext>
            </a:extLst>
          </p:cNvPr>
          <p:cNvPicPr>
            <a:picLocks noChangeAspect="1"/>
          </p:cNvPicPr>
          <p:nvPr/>
        </p:nvPicPr>
        <p:blipFill>
          <a:blip r:embed="rId2"/>
          <a:stretch>
            <a:fillRect/>
          </a:stretch>
        </p:blipFill>
        <p:spPr>
          <a:xfrm>
            <a:off x="609600" y="1957251"/>
            <a:ext cx="5486400" cy="3657600"/>
          </a:xfrm>
          <a:prstGeom prst="rect">
            <a:avLst/>
          </a:prstGeom>
        </p:spPr>
      </p:pic>
      <p:sp>
        <p:nvSpPr>
          <p:cNvPr id="6" name="TextBox 5">
            <a:extLst>
              <a:ext uri="{FF2B5EF4-FFF2-40B4-BE49-F238E27FC236}">
                <a16:creationId xmlns:a16="http://schemas.microsoft.com/office/drawing/2014/main" id="{C0A1D7B7-907B-FB0F-1D9F-111891A038BA}"/>
              </a:ext>
            </a:extLst>
          </p:cNvPr>
          <p:cNvSpPr txBox="1"/>
          <p:nvPr/>
        </p:nvSpPr>
        <p:spPr>
          <a:xfrm>
            <a:off x="6392091" y="1622810"/>
            <a:ext cx="5486400" cy="2031325"/>
          </a:xfrm>
          <a:prstGeom prst="rect">
            <a:avLst/>
          </a:prstGeom>
          <a:noFill/>
        </p:spPr>
        <p:txBody>
          <a:bodyPr wrap="square" rtlCol="0">
            <a:spAutoFit/>
          </a:bodyPr>
          <a:lstStyle/>
          <a:p>
            <a:r>
              <a:rPr lang="en-US" dirty="0"/>
              <a:t>The boxplot produced visually shows:</a:t>
            </a:r>
          </a:p>
          <a:p>
            <a:endParaRPr lang="en-US" dirty="0"/>
          </a:p>
          <a:p>
            <a:pPr marL="285750" indent="-285750">
              <a:buFont typeface="Arial" panose="020B0604020202020204" pitchFamily="34" charset="0"/>
              <a:buChar char="•"/>
            </a:pPr>
            <a:r>
              <a:rPr lang="en-US" dirty="0"/>
              <a:t>Differences in central tendency</a:t>
            </a:r>
          </a:p>
          <a:p>
            <a:pPr marL="285750" indent="-285750">
              <a:buFont typeface="Arial" panose="020B0604020202020204" pitchFamily="34" charset="0"/>
              <a:buChar char="•"/>
            </a:pPr>
            <a:r>
              <a:rPr lang="en-US" dirty="0"/>
              <a:t>Overlap between groups</a:t>
            </a:r>
          </a:p>
          <a:p>
            <a:pPr marL="285750" indent="-285750">
              <a:buFont typeface="Arial" panose="020B0604020202020204" pitchFamily="34" charset="0"/>
              <a:buChar char="•"/>
            </a:pPr>
            <a:r>
              <a:rPr lang="en-US" dirty="0"/>
              <a:t>Within-group variability</a:t>
            </a:r>
          </a:p>
          <a:p>
            <a:endParaRPr lang="en-US" dirty="0"/>
          </a:p>
          <a:p>
            <a:r>
              <a:rPr lang="en-US" dirty="0"/>
              <a:t>This motivates the need for a formal statistical test.</a:t>
            </a:r>
          </a:p>
        </p:txBody>
      </p:sp>
    </p:spTree>
    <p:extLst>
      <p:ext uri="{BB962C8B-B14F-4D97-AF65-F5344CB8AC3E}">
        <p14:creationId xmlns:p14="http://schemas.microsoft.com/office/powerpoint/2010/main" val="3588460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54ADA-7AA1-2697-7692-C6F4C3593EA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4FFE74-351B-57DF-2F1C-6E4644D3AE96}"/>
              </a:ext>
            </a:extLst>
          </p:cNvPr>
          <p:cNvSpPr txBox="1"/>
          <p:nvPr/>
        </p:nvSpPr>
        <p:spPr>
          <a:xfrm>
            <a:off x="315684" y="343807"/>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Why two-sample t-tests are not enough.</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A3AB08A-2411-2A69-3837-B2FB3839E3C2}"/>
                  </a:ext>
                </a:extLst>
              </p:cNvPr>
              <p:cNvSpPr txBox="1"/>
              <p:nvPr/>
            </p:nvSpPr>
            <p:spPr>
              <a:xfrm>
                <a:off x="315684" y="1383280"/>
                <a:ext cx="8116388" cy="4093428"/>
              </a:xfrm>
              <a:prstGeom prst="rect">
                <a:avLst/>
              </a:prstGeom>
              <a:noFill/>
            </p:spPr>
            <p:txBody>
              <a:bodyPr wrap="square" rtlCol="0">
                <a:spAutoFit/>
              </a:bodyPr>
              <a:lstStyle/>
              <a:p>
                <a:r>
                  <a:rPr lang="en-US" sz="2000" dirty="0"/>
                  <a:t>One option would be to perform multiple two-sample t-tests between each pair of working-status groups.</a:t>
                </a:r>
              </a:p>
              <a:p>
                <a:endParaRPr lang="en-US" sz="2000" dirty="0"/>
              </a:p>
              <a:p>
                <a:r>
                  <a:rPr lang="en-US" sz="2000" dirty="0"/>
                  <a:t>However, this approach has a serious problem:</a:t>
                </a:r>
              </a:p>
              <a:p>
                <a:endParaRPr lang="en-US" sz="2000" dirty="0"/>
              </a:p>
              <a:p>
                <a:pPr marL="285750" indent="-285750">
                  <a:buFont typeface="Arial" panose="020B0604020202020204" pitchFamily="34" charset="0"/>
                  <a:buChar char="•"/>
                </a:pPr>
                <a:r>
                  <a:rPr lang="en-US" sz="2000" dirty="0"/>
                  <a:t>Each additional test increases the chance of a Type I error.</a:t>
                </a:r>
              </a:p>
              <a:p>
                <a:pPr marL="285750" indent="-285750">
                  <a:buFont typeface="Arial" panose="020B0604020202020204" pitchFamily="34" charset="0"/>
                  <a:buChar char="•"/>
                </a:pPr>
                <a:r>
                  <a:rPr lang="en-US" sz="2000" dirty="0"/>
                  <a:t>The probability of at least one false positive across m tests is:</a:t>
                </a:r>
              </a:p>
              <a:p>
                <a:pPr/>
                <a14:m>
                  <m:oMathPara xmlns:m="http://schemas.openxmlformats.org/officeDocument/2006/math">
                    <m:oMath>
                      <m:r>
                        <a:rPr lang="en-US" sz="2000" i="1" dirty="0" smtClean="0">
                          <a:latin typeface="Cambria Math" panose="02040503050406030204" pitchFamily="18" charset="0"/>
                        </a:rPr>
                        <m:t>1−</m:t>
                      </m:r>
                      <m:sSup>
                        <m:sSupPr>
                          <m:ctrlPr>
                            <a:rPr lang="en-US" sz="2000" i="1" dirty="0" smtClean="0">
                              <a:latin typeface="Cambria Math" panose="02040503050406030204" pitchFamily="18" charset="0"/>
                            </a:rPr>
                          </m:ctrlPr>
                        </m:sSupPr>
                        <m:e>
                          <m:d>
                            <m:dPr>
                              <m:ctrlPr>
                                <a:rPr lang="en-US" sz="2000" i="1" dirty="0" smtClean="0">
                                  <a:latin typeface="Cambria Math" panose="02040503050406030204" pitchFamily="18" charset="0"/>
                                </a:rPr>
                              </m:ctrlPr>
                            </m:dPr>
                            <m:e>
                              <m:r>
                                <a:rPr lang="en-US" sz="2000" i="1" dirty="0" smtClean="0">
                                  <a:latin typeface="Cambria Math" panose="02040503050406030204" pitchFamily="18" charset="0"/>
                                </a:rPr>
                                <m:t>1−</m:t>
                              </m:r>
                              <m:r>
                                <a:rPr lang="en-US" sz="2000" i="1" dirty="0" smtClean="0">
                                  <a:latin typeface="Cambria Math" panose="02040503050406030204" pitchFamily="18" charset="0"/>
                                </a:rPr>
                                <m:t>𝛼</m:t>
                              </m:r>
                            </m:e>
                          </m:d>
                        </m:e>
                        <m:sup>
                          <m:r>
                            <a:rPr lang="en-US" sz="2000" i="1" dirty="0" smtClean="0">
                              <a:latin typeface="Cambria Math" panose="02040503050406030204" pitchFamily="18" charset="0"/>
                            </a:rPr>
                            <m:t>𝑚</m:t>
                          </m:r>
                        </m:sup>
                      </m:sSup>
                    </m:oMath>
                  </m:oMathPara>
                </a14:m>
                <a:endParaRPr lang="en-GB" sz="2000" dirty="0"/>
              </a:p>
              <a:p>
                <a:pPr marL="285750" indent="-285750">
                  <a:buFont typeface="Arial" panose="020B0604020202020204" pitchFamily="34" charset="0"/>
                  <a:buChar char="•"/>
                </a:pPr>
                <a:r>
                  <a:rPr lang="en-US" sz="2000" dirty="0"/>
                  <a:t>As m increases, this probability approaches 1.</a:t>
                </a:r>
                <a:br>
                  <a:rPr lang="en-US" sz="2000" dirty="0"/>
                </a:br>
                <a:endParaRPr lang="en-US" sz="2000" dirty="0"/>
              </a:p>
              <a:p>
                <a:r>
                  <a:rPr lang="en-US" sz="2000" dirty="0"/>
                  <a:t>This is especially problematic in health research, where false positives can lead to; Incorrect conclusions, poor policy decisions and misguided interventions</a:t>
                </a:r>
              </a:p>
            </p:txBody>
          </p:sp>
        </mc:Choice>
        <mc:Fallback xmlns="">
          <p:sp>
            <p:nvSpPr>
              <p:cNvPr id="4" name="TextBox 3">
                <a:extLst>
                  <a:ext uri="{FF2B5EF4-FFF2-40B4-BE49-F238E27FC236}">
                    <a16:creationId xmlns:a16="http://schemas.microsoft.com/office/drawing/2014/main" id="{3A3AB08A-2411-2A69-3837-B2FB3839E3C2}"/>
                  </a:ext>
                </a:extLst>
              </p:cNvPr>
              <p:cNvSpPr txBox="1">
                <a:spLocks noRot="1" noChangeAspect="1" noMove="1" noResize="1" noEditPoints="1" noAdjustHandles="1" noChangeArrowheads="1" noChangeShapeType="1" noTextEdit="1"/>
              </p:cNvSpPr>
              <p:nvPr/>
            </p:nvSpPr>
            <p:spPr>
              <a:xfrm>
                <a:off x="315684" y="1383280"/>
                <a:ext cx="8116388" cy="4093428"/>
              </a:xfrm>
              <a:prstGeom prst="rect">
                <a:avLst/>
              </a:prstGeom>
              <a:blipFill>
                <a:blip r:embed="rId5"/>
                <a:stretch>
                  <a:fillRect l="-781" t="-617" r="-312" b="-1543"/>
                </a:stretch>
              </a:blipFill>
            </p:spPr>
            <p:txBody>
              <a:bodyPr/>
              <a:lstStyle/>
              <a:p>
                <a:r>
                  <a:rPr lang="en-GB">
                    <a:noFill/>
                  </a:rPr>
                  <a:t> </a:t>
                </a:r>
              </a:p>
            </p:txBody>
          </p:sp>
        </mc:Fallback>
      </mc:AlternateContent>
    </p:spTree>
    <p:extLst>
      <p:ext uri="{BB962C8B-B14F-4D97-AF65-F5344CB8AC3E}">
        <p14:creationId xmlns:p14="http://schemas.microsoft.com/office/powerpoint/2010/main" val="3839299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CD1BD-8763-CEEA-E9D8-9D5C8B77AA1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335216D-186E-F1E8-4355-E74C93F20CF3}"/>
              </a:ext>
            </a:extLst>
          </p:cNvPr>
          <p:cNvSpPr txBox="1"/>
          <p:nvPr/>
        </p:nvSpPr>
        <p:spPr>
          <a:xfrm>
            <a:off x="315684" y="343807"/>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Type 1 error and multiple comparisons.</a:t>
            </a:r>
          </a:p>
        </p:txBody>
      </p:sp>
      <p:sp>
        <p:nvSpPr>
          <p:cNvPr id="4" name="TextBox 3">
            <a:extLst>
              <a:ext uri="{FF2B5EF4-FFF2-40B4-BE49-F238E27FC236}">
                <a16:creationId xmlns:a16="http://schemas.microsoft.com/office/drawing/2014/main" id="{9F2AE40F-C467-9D83-91F5-B7738FFD2273}"/>
              </a:ext>
            </a:extLst>
          </p:cNvPr>
          <p:cNvSpPr txBox="1"/>
          <p:nvPr/>
        </p:nvSpPr>
        <p:spPr>
          <a:xfrm>
            <a:off x="315684" y="1411812"/>
            <a:ext cx="8662853" cy="3046988"/>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If we perform many hypothesis tests: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Each test has a probability </a:t>
            </a:r>
            <a:r>
              <a:rPr lang="el-GR" sz="2400" dirty="0">
                <a:latin typeface="Source Sans Pro" panose="020B0503030403020204" pitchFamily="34" charset="0"/>
                <a:ea typeface="Source Sans Pro" panose="020B0503030403020204" pitchFamily="34" charset="0"/>
              </a:rPr>
              <a:t>α (</a:t>
            </a:r>
            <a:r>
              <a:rPr lang="en-US" sz="2400" dirty="0">
                <a:latin typeface="Source Sans Pro" panose="020B0503030403020204" pitchFamily="34" charset="0"/>
                <a:ea typeface="Source Sans Pro" panose="020B0503030403020204" pitchFamily="34" charset="0"/>
              </a:rPr>
              <a:t>often 0.05) of a false positive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The overall probability of at least one false positive increases rapidly</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ANOVA solves this problem by:</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Performing one global test</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Controlling the Type I error rate at the chosen significance level</a:t>
            </a:r>
          </a:p>
        </p:txBody>
      </p:sp>
    </p:spTree>
    <p:extLst>
      <p:ext uri="{BB962C8B-B14F-4D97-AF65-F5344CB8AC3E}">
        <p14:creationId xmlns:p14="http://schemas.microsoft.com/office/powerpoint/2010/main" val="18144740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79D7C-5CC7-5640-1383-C625795D0D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63FF0D0-EDDF-7465-3ECE-BFA3CF17142F}"/>
              </a:ext>
            </a:extLst>
          </p:cNvPr>
          <p:cNvSpPr txBox="1"/>
          <p:nvPr/>
        </p:nvSpPr>
        <p:spPr>
          <a:xfrm>
            <a:off x="315684" y="343807"/>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Between-group vs within-group variation.</a:t>
            </a:r>
          </a:p>
        </p:txBody>
      </p:sp>
      <p:sp>
        <p:nvSpPr>
          <p:cNvPr id="4" name="TextBox 3">
            <a:extLst>
              <a:ext uri="{FF2B5EF4-FFF2-40B4-BE49-F238E27FC236}">
                <a16:creationId xmlns:a16="http://schemas.microsoft.com/office/drawing/2014/main" id="{6B9047B4-DEE7-2911-40B8-D8E1AF9CF1C1}"/>
              </a:ext>
            </a:extLst>
          </p:cNvPr>
          <p:cNvSpPr txBox="1"/>
          <p:nvPr/>
        </p:nvSpPr>
        <p:spPr>
          <a:xfrm>
            <a:off x="431031" y="1615049"/>
            <a:ext cx="6844937" cy="4524315"/>
          </a:xfrm>
          <a:prstGeom prst="rect">
            <a:avLst/>
          </a:prstGeom>
          <a:noFill/>
        </p:spPr>
        <p:txBody>
          <a:bodyPr wrap="square" rtlCol="0">
            <a:spAutoFit/>
          </a:bodyPr>
          <a:lstStyle/>
          <a:p>
            <a:r>
              <a:rPr lang="en-US" sz="2400" dirty="0"/>
              <a:t>ANOVA evaluates whether between-group variation is large relative to within-group variation:</a:t>
            </a:r>
          </a:p>
          <a:p>
            <a:endParaRPr lang="en-US" sz="2400" dirty="0"/>
          </a:p>
          <a:p>
            <a:pPr algn="ctr"/>
            <a:r>
              <a:rPr lang="en-US" sz="2400" b="1" dirty="0"/>
              <a:t>Signal vs Noise</a:t>
            </a:r>
          </a:p>
          <a:p>
            <a:endParaRPr lang="en-US" sz="2400" dirty="0"/>
          </a:p>
          <a:p>
            <a:r>
              <a:rPr lang="en-US" sz="2400" dirty="0"/>
              <a:t>ANOVA assumes everyone in the same group shares the same mean. It then asks how far is their outcome from their group’s mean.</a:t>
            </a:r>
          </a:p>
          <a:p>
            <a:endParaRPr lang="en-US" sz="2400" dirty="0"/>
          </a:p>
          <a:p>
            <a:pPr marL="342900" indent="-342900">
              <a:buFont typeface="Arial" panose="020B0604020202020204" pitchFamily="34" charset="0"/>
              <a:buChar char="•"/>
            </a:pPr>
            <a:r>
              <a:rPr lang="en-US" sz="2400" dirty="0"/>
              <a:t>Observed value = actual outcome</a:t>
            </a:r>
          </a:p>
          <a:p>
            <a:pPr marL="342900" indent="-342900">
              <a:buFont typeface="Arial" panose="020B0604020202020204" pitchFamily="34" charset="0"/>
              <a:buChar char="•"/>
            </a:pPr>
            <a:r>
              <a:rPr lang="en-US" sz="2400" dirty="0"/>
              <a:t>Expected value = group mean</a:t>
            </a:r>
          </a:p>
          <a:p>
            <a:pPr marL="342900" indent="-342900">
              <a:buFont typeface="Arial" panose="020B0604020202020204" pitchFamily="34" charset="0"/>
              <a:buChar char="•"/>
            </a:pPr>
            <a:r>
              <a:rPr lang="en-US" sz="2400" dirty="0"/>
              <a:t>Residual = observed − expected</a:t>
            </a:r>
          </a:p>
        </p:txBody>
      </p:sp>
    </p:spTree>
    <p:extLst>
      <p:ext uri="{BB962C8B-B14F-4D97-AF65-F5344CB8AC3E}">
        <p14:creationId xmlns:p14="http://schemas.microsoft.com/office/powerpoint/2010/main" val="1511670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4B9DF-598B-D39F-1D13-A31E37D9FC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1DEEA5-1B6D-7748-DCD3-23008724EEF8}"/>
              </a:ext>
            </a:extLst>
          </p:cNvPr>
          <p:cNvSpPr txBox="1"/>
          <p:nvPr/>
        </p:nvSpPr>
        <p:spPr>
          <a:xfrm>
            <a:off x="525886" y="587416"/>
            <a:ext cx="11134193"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400" b="1" noProof="0" dirty="0">
                <a:latin typeface="Source Sans Pro" panose="020B0503030403020204" pitchFamily="34" charset="0"/>
                <a:ea typeface="Source Sans Pro" panose="020B0503030403020204" pitchFamily="34" charset="0"/>
                <a:cs typeface="Calibri" panose="020F0502020204030204"/>
              </a:rPr>
              <a:t>What is an ANOVA test?</a:t>
            </a:r>
          </a:p>
        </p:txBody>
      </p:sp>
      <p:sp>
        <p:nvSpPr>
          <p:cNvPr id="4" name="TextBox 3">
            <a:extLst>
              <a:ext uri="{FF2B5EF4-FFF2-40B4-BE49-F238E27FC236}">
                <a16:creationId xmlns:a16="http://schemas.microsoft.com/office/drawing/2014/main" id="{BC565A4C-84A3-816B-1B3F-8568E427A150}"/>
              </a:ext>
            </a:extLst>
          </p:cNvPr>
          <p:cNvSpPr txBox="1"/>
          <p:nvPr/>
        </p:nvSpPr>
        <p:spPr>
          <a:xfrm>
            <a:off x="525886" y="1730879"/>
            <a:ext cx="6914606" cy="4154984"/>
          </a:xfrm>
          <a:prstGeom prst="rect">
            <a:avLst/>
          </a:prstGeom>
          <a:noFill/>
        </p:spPr>
        <p:txBody>
          <a:bodyPr wrap="square" rtlCol="0">
            <a:spAutoFit/>
          </a:bodyPr>
          <a:lstStyle/>
          <a:p>
            <a:r>
              <a:rPr lang="en-US" sz="2400" dirty="0"/>
              <a:t>ANOVA (Analysis of Variance) tests the hypothesis:</a:t>
            </a:r>
          </a:p>
          <a:p>
            <a:endParaRPr lang="en-US" sz="2400" dirty="0"/>
          </a:p>
          <a:p>
            <a:pPr lvl="2"/>
            <a:r>
              <a:rPr lang="en-US" sz="2400" b="1" dirty="0"/>
              <a:t>H₀: All group means are equal</a:t>
            </a:r>
          </a:p>
          <a:p>
            <a:pPr lvl="2"/>
            <a:r>
              <a:rPr lang="en-US" sz="2400" b="1" dirty="0"/>
              <a:t>H₁: At least one group mean differs</a:t>
            </a:r>
          </a:p>
          <a:p>
            <a:endParaRPr lang="en-US" sz="2400" dirty="0"/>
          </a:p>
          <a:p>
            <a:r>
              <a:rPr lang="en-US" sz="2400" dirty="0"/>
              <a:t>Importantly:</a:t>
            </a:r>
          </a:p>
          <a:p>
            <a:pPr marL="285750" indent="-285750">
              <a:buFont typeface="Arial" panose="020B0604020202020204" pitchFamily="34" charset="0"/>
              <a:buChar char="•"/>
            </a:pPr>
            <a:r>
              <a:rPr lang="en-US" sz="2400" dirty="0"/>
              <a:t>ANOVA does not tell us which groups differ</a:t>
            </a:r>
          </a:p>
          <a:p>
            <a:pPr marL="285750" indent="-285750">
              <a:buFont typeface="Arial" panose="020B0604020202020204" pitchFamily="34" charset="0"/>
              <a:buChar char="•"/>
            </a:pPr>
            <a:r>
              <a:rPr lang="en-US" sz="2400" dirty="0"/>
              <a:t>It only tells us whether any difference exists</a:t>
            </a:r>
          </a:p>
          <a:p>
            <a:endParaRPr lang="en-US" sz="2400" dirty="0"/>
          </a:p>
          <a:p>
            <a:r>
              <a:rPr lang="en-US" sz="2400" dirty="0"/>
              <a:t>The output shown later in the ANOVA table slide is the formal result of this global test.</a:t>
            </a:r>
          </a:p>
        </p:txBody>
      </p:sp>
    </p:spTree>
    <p:extLst>
      <p:ext uri="{BB962C8B-B14F-4D97-AF65-F5344CB8AC3E}">
        <p14:creationId xmlns:p14="http://schemas.microsoft.com/office/powerpoint/2010/main" val="14739910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309D4-1F7E-A9C2-B2B8-9BCA9A6B8CD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BC208D-4C56-1505-B13D-C0698B6B4A1D}"/>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What do we mean by “variation”?</a:t>
            </a:r>
          </a:p>
        </p:txBody>
      </p:sp>
      <p:sp>
        <p:nvSpPr>
          <p:cNvPr id="4" name="TextBox 3">
            <a:extLst>
              <a:ext uri="{FF2B5EF4-FFF2-40B4-BE49-F238E27FC236}">
                <a16:creationId xmlns:a16="http://schemas.microsoft.com/office/drawing/2014/main" id="{4B1F6D98-A7AB-B43E-DBBC-530F7964534E}"/>
              </a:ext>
            </a:extLst>
          </p:cNvPr>
          <p:cNvSpPr txBox="1"/>
          <p:nvPr/>
        </p:nvSpPr>
        <p:spPr>
          <a:xfrm>
            <a:off x="705394" y="1637211"/>
            <a:ext cx="7010400" cy="4524315"/>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ANOVA is built around the idea of variation in the outcome variable.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our example: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Individuals differ in how many hours they sleep</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Some of this variation is due to working status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Some is due to individual differences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ANOVA asks:</a:t>
            </a:r>
          </a:p>
          <a:p>
            <a:endParaRPr lang="en-US" sz="2400" dirty="0">
              <a:latin typeface="Source Sans Pro" panose="020B0503030403020204" pitchFamily="34" charset="0"/>
              <a:ea typeface="Source Sans Pro" panose="020B0503030403020204" pitchFamily="34" charset="0"/>
            </a:endParaRPr>
          </a:p>
          <a:p>
            <a:r>
              <a:rPr lang="en-US" sz="2400" b="1" dirty="0">
                <a:latin typeface="Source Sans Pro" panose="020B0503030403020204" pitchFamily="34" charset="0"/>
                <a:ea typeface="Source Sans Pro" panose="020B0503030403020204" pitchFamily="34" charset="0"/>
              </a:rPr>
              <a:t>Is the variation between groups large relative to the variation within groups?</a:t>
            </a:r>
          </a:p>
        </p:txBody>
      </p:sp>
    </p:spTree>
    <p:extLst>
      <p:ext uri="{BB962C8B-B14F-4D97-AF65-F5344CB8AC3E}">
        <p14:creationId xmlns:p14="http://schemas.microsoft.com/office/powerpoint/2010/main" val="36680225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094A1-862A-83C4-CE7F-42F650D309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E043E4-782B-8296-9E08-32676FF8C7C8}"/>
              </a:ext>
            </a:extLst>
          </p:cNvPr>
          <p:cNvSpPr txBox="1"/>
          <p:nvPr/>
        </p:nvSpPr>
        <p:spPr>
          <a:xfrm>
            <a:off x="820051" y="899011"/>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Total variation in the data.</a:t>
            </a:r>
          </a:p>
        </p:txBody>
      </p:sp>
      <p:sp>
        <p:nvSpPr>
          <p:cNvPr id="3" name="TextBox 2">
            <a:extLst>
              <a:ext uri="{FF2B5EF4-FFF2-40B4-BE49-F238E27FC236}">
                <a16:creationId xmlns:a16="http://schemas.microsoft.com/office/drawing/2014/main" id="{F58434E8-712D-BA91-06DA-58F8F0FAF09F}"/>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76C32E0B-FF7D-A404-8B89-BAF8FC431685}"/>
              </a:ext>
            </a:extLst>
          </p:cNvPr>
          <p:cNvSpPr txBox="1"/>
          <p:nvPr/>
        </p:nvSpPr>
        <p:spPr>
          <a:xfrm>
            <a:off x="575128" y="2188753"/>
            <a:ext cx="6836229" cy="2677656"/>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The total variation represents how much individual sleep durations vary around the overall mean sleep duration.</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Conceptually:</a:t>
            </a:r>
          </a:p>
          <a:p>
            <a:r>
              <a:rPr lang="en-US" sz="2400" b="1" dirty="0">
                <a:latin typeface="Source Sans Pro" panose="020B0503030403020204" pitchFamily="34" charset="0"/>
                <a:ea typeface="Source Sans Pro" panose="020B0503030403020204" pitchFamily="34" charset="0"/>
              </a:rPr>
              <a:t>This is what we would see if we ignored working status entirely</a:t>
            </a:r>
          </a:p>
        </p:txBody>
      </p:sp>
    </p:spTree>
    <p:extLst>
      <p:ext uri="{BB962C8B-B14F-4D97-AF65-F5344CB8AC3E}">
        <p14:creationId xmlns:p14="http://schemas.microsoft.com/office/powerpoint/2010/main" val="7376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DD165-0E55-8707-0CC2-BB0AE3F42B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789425-C24B-7610-31A1-C232090A3868}"/>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Within-group variation.</a:t>
            </a:r>
          </a:p>
        </p:txBody>
      </p:sp>
      <p:sp>
        <p:nvSpPr>
          <p:cNvPr id="3" name="TextBox 2">
            <a:extLst>
              <a:ext uri="{FF2B5EF4-FFF2-40B4-BE49-F238E27FC236}">
                <a16:creationId xmlns:a16="http://schemas.microsoft.com/office/drawing/2014/main" id="{96FC2111-247F-8581-A806-8E4FD688B790}"/>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1404CEE7-93FD-689A-F76C-0C602122FBE1}"/>
              </a:ext>
            </a:extLst>
          </p:cNvPr>
          <p:cNvSpPr txBox="1"/>
          <p:nvPr/>
        </p:nvSpPr>
        <p:spPr>
          <a:xfrm>
            <a:off x="499655" y="1895979"/>
            <a:ext cx="8011886" cy="4154984"/>
          </a:xfrm>
          <a:prstGeom prst="rect">
            <a:avLst/>
          </a:prstGeom>
          <a:noFill/>
        </p:spPr>
        <p:txBody>
          <a:bodyPr wrap="square" rtlCol="0">
            <a:spAutoFit/>
          </a:bodyPr>
          <a:lstStyle/>
          <a:p>
            <a:r>
              <a:rPr lang="en-US" sz="2400" dirty="0"/>
              <a:t>Within-group variation measures:</a:t>
            </a:r>
          </a:p>
          <a:p>
            <a:r>
              <a:rPr lang="en-US" sz="2400" dirty="0"/>
              <a:t>How much sleep duration varies within each working-status group</a:t>
            </a:r>
          </a:p>
          <a:p>
            <a:endParaRPr lang="en-US" sz="2400" dirty="0"/>
          </a:p>
          <a:p>
            <a:r>
              <a:rPr lang="en-US" sz="2400" dirty="0"/>
              <a:t>This captures:</a:t>
            </a:r>
          </a:p>
          <a:p>
            <a:pPr marL="285750" indent="-285750">
              <a:buFont typeface="Arial" panose="020B0604020202020204" pitchFamily="34" charset="0"/>
              <a:buChar char="•"/>
            </a:pPr>
            <a:r>
              <a:rPr lang="en-US" sz="2400" dirty="0"/>
              <a:t>Natural biological variation</a:t>
            </a:r>
          </a:p>
          <a:p>
            <a:pPr marL="285750" indent="-285750">
              <a:buFont typeface="Arial" panose="020B0604020202020204" pitchFamily="34" charset="0"/>
              <a:buChar char="•"/>
            </a:pPr>
            <a:r>
              <a:rPr lang="en-US" sz="2400" dirty="0"/>
              <a:t>Lifestyle differences</a:t>
            </a:r>
          </a:p>
          <a:p>
            <a:pPr marL="285750" indent="-285750">
              <a:buFont typeface="Arial" panose="020B0604020202020204" pitchFamily="34" charset="0"/>
              <a:buChar char="•"/>
            </a:pPr>
            <a:r>
              <a:rPr lang="en-US" sz="2400" dirty="0"/>
              <a:t>Measurement noise</a:t>
            </a:r>
          </a:p>
          <a:p>
            <a:endParaRPr lang="en-US" sz="2400" dirty="0"/>
          </a:p>
          <a:p>
            <a:r>
              <a:rPr lang="en-US" sz="2400" dirty="0"/>
              <a:t>Large within-group variation makes it harder to detect real group differences.</a:t>
            </a:r>
          </a:p>
        </p:txBody>
      </p:sp>
    </p:spTree>
    <p:extLst>
      <p:ext uri="{BB962C8B-B14F-4D97-AF65-F5344CB8AC3E}">
        <p14:creationId xmlns:p14="http://schemas.microsoft.com/office/powerpoint/2010/main" val="2652700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F8A3B-6A4E-E481-FFFD-0F8D0082C28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2792DC-AB0B-9E93-7EFA-21D3F19209F0}"/>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Decomposing variation: sum of squares.</a:t>
            </a:r>
          </a:p>
        </p:txBody>
      </p:sp>
      <p:sp>
        <p:nvSpPr>
          <p:cNvPr id="3" name="TextBox 2">
            <a:extLst>
              <a:ext uri="{FF2B5EF4-FFF2-40B4-BE49-F238E27FC236}">
                <a16:creationId xmlns:a16="http://schemas.microsoft.com/office/drawing/2014/main" id="{DAFF489B-9FB5-8112-26AE-44BF8B32865F}"/>
              </a:ext>
            </a:extLst>
          </p:cNvPr>
          <p:cNvSpPr txBox="1"/>
          <p:nvPr/>
        </p:nvSpPr>
        <p:spPr>
          <a:xfrm>
            <a:off x="11608904" y="914400"/>
            <a:ext cx="184731" cy="369332"/>
          </a:xfrm>
          <a:prstGeom prst="rect">
            <a:avLst/>
          </a:prstGeom>
          <a:noFill/>
        </p:spPr>
        <p:txBody>
          <a:bodyPr wrap="none" rtlCol="0">
            <a:spAutoFit/>
          </a:bodyPr>
          <a:lstStyle/>
          <a:p>
            <a:endParaRPr lang="en-US" dirty="0"/>
          </a:p>
        </p:txBody>
      </p:sp>
      <p:pic>
        <p:nvPicPr>
          <p:cNvPr id="1026" name="Picture 2">
            <a:extLst>
              <a:ext uri="{FF2B5EF4-FFF2-40B4-BE49-F238E27FC236}">
                <a16:creationId xmlns:a16="http://schemas.microsoft.com/office/drawing/2014/main" id="{B85A8829-994B-DDDA-9D1A-92C8549D0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653" y="1946017"/>
            <a:ext cx="4659086" cy="117751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8B1827A-7AB7-C3C0-B98E-2CCB8CB24DCD}"/>
              </a:ext>
            </a:extLst>
          </p:cNvPr>
          <p:cNvSpPr txBox="1"/>
          <p:nvPr/>
        </p:nvSpPr>
        <p:spPr>
          <a:xfrm>
            <a:off x="632653" y="1428070"/>
            <a:ext cx="5338355" cy="369332"/>
          </a:xfrm>
          <a:prstGeom prst="rect">
            <a:avLst/>
          </a:prstGeom>
          <a:noFill/>
        </p:spPr>
        <p:txBody>
          <a:bodyPr wrap="square">
            <a:spAutoFit/>
          </a:bodyPr>
          <a:lstStyle/>
          <a:p>
            <a:pPr>
              <a:buNone/>
            </a:pPr>
            <a:r>
              <a:rPr lang="en-GB" dirty="0">
                <a:latin typeface="Source Sans Pro" panose="020B0503030403020204" pitchFamily="34" charset="0"/>
                <a:ea typeface="Source Sans Pro" panose="020B0503030403020204" pitchFamily="34" charset="0"/>
              </a:rPr>
              <a:t>This represents </a:t>
            </a:r>
            <a:r>
              <a:rPr lang="en-GB" b="1" dirty="0">
                <a:latin typeface="Source Sans Pro" panose="020B0503030403020204" pitchFamily="34" charset="0"/>
                <a:ea typeface="Source Sans Pro" panose="020B0503030403020204" pitchFamily="34" charset="0"/>
              </a:rPr>
              <a:t>overall variability</a:t>
            </a:r>
            <a:r>
              <a:rPr lang="en-GB" dirty="0">
                <a:latin typeface="Source Sans Pro" panose="020B0503030403020204" pitchFamily="34" charset="0"/>
                <a:ea typeface="Source Sans Pro" panose="020B0503030403020204" pitchFamily="34" charset="0"/>
              </a:rPr>
              <a:t> in the outcome.</a:t>
            </a:r>
          </a:p>
        </p:txBody>
      </p:sp>
      <p:pic>
        <p:nvPicPr>
          <p:cNvPr id="1028" name="Picture 4">
            <a:extLst>
              <a:ext uri="{FF2B5EF4-FFF2-40B4-BE49-F238E27FC236}">
                <a16:creationId xmlns:a16="http://schemas.microsoft.com/office/drawing/2014/main" id="{FD9EC5A4-0B1F-971E-D783-7C62781AD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653" y="3429000"/>
            <a:ext cx="3939345" cy="94687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58EB5C27-3C32-2B34-FB7E-53764ED8831C}"/>
              </a:ext>
            </a:extLst>
          </p:cNvPr>
          <p:cNvSpPr txBox="1"/>
          <p:nvPr/>
        </p:nvSpPr>
        <p:spPr>
          <a:xfrm>
            <a:off x="513090" y="4491837"/>
            <a:ext cx="6096000" cy="369332"/>
          </a:xfrm>
          <a:prstGeom prst="rect">
            <a:avLst/>
          </a:prstGeom>
          <a:noFill/>
        </p:spPr>
        <p:txBody>
          <a:bodyPr wrap="square">
            <a:spAutoFit/>
          </a:bodyPr>
          <a:lstStyle/>
          <a:p>
            <a:pPr>
              <a:buNone/>
            </a:pPr>
            <a:r>
              <a:rPr lang="en-GB" dirty="0">
                <a:latin typeface="Source Sans Pro" panose="020B0503030403020204" pitchFamily="34" charset="0"/>
                <a:ea typeface="Source Sans Pro" panose="020B0503030403020204" pitchFamily="34" charset="0"/>
              </a:rPr>
              <a:t>This captures individual-level variability </a:t>
            </a:r>
            <a:r>
              <a:rPr lang="en-GB" i="1" dirty="0">
                <a:latin typeface="Source Sans Pro" panose="020B0503030403020204" pitchFamily="34" charset="0"/>
                <a:ea typeface="Source Sans Pro" panose="020B0503030403020204" pitchFamily="34" charset="0"/>
              </a:rPr>
              <a:t>within</a:t>
            </a:r>
            <a:r>
              <a:rPr lang="en-GB" dirty="0">
                <a:latin typeface="Source Sans Pro" panose="020B0503030403020204" pitchFamily="34" charset="0"/>
                <a:ea typeface="Source Sans Pro" panose="020B0503030403020204" pitchFamily="34" charset="0"/>
              </a:rPr>
              <a:t> groups.</a:t>
            </a:r>
          </a:p>
        </p:txBody>
      </p:sp>
      <p:pic>
        <p:nvPicPr>
          <p:cNvPr id="1030" name="Picture 6">
            <a:extLst>
              <a:ext uri="{FF2B5EF4-FFF2-40B4-BE49-F238E27FC236}">
                <a16:creationId xmlns:a16="http://schemas.microsoft.com/office/drawing/2014/main" id="{9EE59924-0794-8B28-0367-B87E942D50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4781" y="3425922"/>
            <a:ext cx="3939345" cy="94995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06E296AA-910D-6125-AAE0-DE213D9A2113}"/>
              </a:ext>
            </a:extLst>
          </p:cNvPr>
          <p:cNvSpPr txBox="1"/>
          <p:nvPr/>
        </p:nvSpPr>
        <p:spPr>
          <a:xfrm>
            <a:off x="6754781" y="4491837"/>
            <a:ext cx="3213463" cy="369332"/>
          </a:xfrm>
          <a:prstGeom prst="rect">
            <a:avLst/>
          </a:prstGeom>
          <a:noFill/>
        </p:spPr>
        <p:txBody>
          <a:bodyPr wrap="square">
            <a:spAutoFit/>
          </a:bodyPr>
          <a:lstStyle/>
          <a:p>
            <a:pPr>
              <a:buNone/>
            </a:pPr>
            <a:r>
              <a:rPr lang="en-GB" dirty="0">
                <a:latin typeface="Source Sans Pro" panose="020B0503030403020204" pitchFamily="34" charset="0"/>
                <a:ea typeface="Source Sans Pro" panose="020B0503030403020204" pitchFamily="34" charset="0"/>
              </a:rPr>
              <a:t>Between-group sum of squares:</a:t>
            </a:r>
          </a:p>
        </p:txBody>
      </p:sp>
      <p:pic>
        <p:nvPicPr>
          <p:cNvPr id="1032" name="Picture 8">
            <a:extLst>
              <a:ext uri="{FF2B5EF4-FFF2-40B4-BE49-F238E27FC236}">
                <a16:creationId xmlns:a16="http://schemas.microsoft.com/office/drawing/2014/main" id="{7A255CDB-0C81-9B54-B1FC-B57D0C43C7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7396" y="5501520"/>
            <a:ext cx="9267224" cy="6286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950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629AE-6754-733A-9694-803A4C3DFD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7A4E9A9-45BE-48FD-C2E5-3DFDB8EC91E0}"/>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From sums of squares to mean squares.</a:t>
            </a:r>
          </a:p>
        </p:txBody>
      </p:sp>
      <p:sp>
        <p:nvSpPr>
          <p:cNvPr id="3" name="TextBox 2">
            <a:extLst>
              <a:ext uri="{FF2B5EF4-FFF2-40B4-BE49-F238E27FC236}">
                <a16:creationId xmlns:a16="http://schemas.microsoft.com/office/drawing/2014/main" id="{1222DD8F-1187-3022-2E42-9705485E6E00}"/>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0B97BC8E-FE09-CC16-467B-43AE3BF75745}"/>
              </a:ext>
            </a:extLst>
          </p:cNvPr>
          <p:cNvSpPr txBox="1"/>
          <p:nvPr/>
        </p:nvSpPr>
        <p:spPr>
          <a:xfrm>
            <a:off x="653142" y="1283732"/>
            <a:ext cx="7515497" cy="1323439"/>
          </a:xfrm>
          <a:prstGeom prst="rect">
            <a:avLst/>
          </a:prstGeom>
          <a:noFill/>
        </p:spPr>
        <p:txBody>
          <a:bodyPr wrap="square">
            <a:spAutoFit/>
          </a:bodyPr>
          <a:lstStyle/>
          <a:p>
            <a:r>
              <a:rPr lang="en-GB" sz="2000" dirty="0">
                <a:latin typeface="Source Sans Pro" panose="020B0503030403020204" pitchFamily="34" charset="0"/>
                <a:ea typeface="Source Sans Pro" panose="020B0503030403020204" pitchFamily="34" charset="0"/>
              </a:rPr>
              <a:t>Because sums of squares depend on sample size, ANOVA converts them into </a:t>
            </a:r>
            <a:r>
              <a:rPr lang="en-GB" sz="2000" b="1" dirty="0">
                <a:latin typeface="Source Sans Pro" panose="020B0503030403020204" pitchFamily="34" charset="0"/>
                <a:ea typeface="Source Sans Pro" panose="020B0503030403020204" pitchFamily="34" charset="0"/>
              </a:rPr>
              <a:t>mean squares</a:t>
            </a:r>
            <a:r>
              <a:rPr lang="en-GB" sz="2000" dirty="0">
                <a:latin typeface="Source Sans Pro" panose="020B0503030403020204" pitchFamily="34" charset="0"/>
                <a:ea typeface="Source Sans Pro" panose="020B0503030403020204" pitchFamily="34" charset="0"/>
              </a:rPr>
              <a:t> by dividing by degrees of freedom. This standardisation allows fair comparison between, between-group variation and within-group variation.</a:t>
            </a:r>
          </a:p>
        </p:txBody>
      </p:sp>
      <p:pic>
        <p:nvPicPr>
          <p:cNvPr id="2052" name="Picture 4">
            <a:extLst>
              <a:ext uri="{FF2B5EF4-FFF2-40B4-BE49-F238E27FC236}">
                <a16:creationId xmlns:a16="http://schemas.microsoft.com/office/drawing/2014/main" id="{B16F4AAE-ED4D-D276-136B-AA61FAD858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3142" y="3013458"/>
            <a:ext cx="6370366" cy="3018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5944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0F50F-3E1F-8B0B-28B4-7B873155C22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7724D59-114E-E823-0664-0E2FE23A0691}"/>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Degrees of freedom explained.</a:t>
            </a:r>
          </a:p>
        </p:txBody>
      </p:sp>
      <p:sp>
        <p:nvSpPr>
          <p:cNvPr id="3" name="TextBox 2">
            <a:extLst>
              <a:ext uri="{FF2B5EF4-FFF2-40B4-BE49-F238E27FC236}">
                <a16:creationId xmlns:a16="http://schemas.microsoft.com/office/drawing/2014/main" id="{7A968072-AF91-9FA3-9AF8-C5DD3B993678}"/>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F9EBC34F-D91A-383A-CE3B-F8975787F7DA}"/>
              </a:ext>
            </a:extLst>
          </p:cNvPr>
          <p:cNvSpPr txBox="1"/>
          <p:nvPr/>
        </p:nvSpPr>
        <p:spPr>
          <a:xfrm>
            <a:off x="599441" y="2407031"/>
            <a:ext cx="7428411" cy="3046988"/>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Degrees of freedom reflect the number of independent pieces of information available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 ANOVA:</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Between-group </a:t>
            </a:r>
            <a:r>
              <a:rPr lang="en-US" sz="2400" dirty="0" err="1">
                <a:latin typeface="Source Sans Pro" panose="020B0503030403020204" pitchFamily="34" charset="0"/>
                <a:ea typeface="Source Sans Pro" panose="020B0503030403020204" pitchFamily="34" charset="0"/>
              </a:rPr>
              <a:t>df</a:t>
            </a:r>
            <a:r>
              <a:rPr lang="en-US" sz="2400" dirty="0">
                <a:latin typeface="Source Sans Pro" panose="020B0503030403020204" pitchFamily="34" charset="0"/>
                <a:ea typeface="Source Sans Pro" panose="020B0503030403020204" pitchFamily="34" charset="0"/>
              </a:rPr>
              <a:t> depends on the number of groups</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Within-group </a:t>
            </a:r>
            <a:r>
              <a:rPr lang="en-US" sz="2400" dirty="0" err="1">
                <a:latin typeface="Source Sans Pro" panose="020B0503030403020204" pitchFamily="34" charset="0"/>
                <a:ea typeface="Source Sans Pro" panose="020B0503030403020204" pitchFamily="34" charset="0"/>
              </a:rPr>
              <a:t>df</a:t>
            </a:r>
            <a:r>
              <a:rPr lang="en-US" sz="2400" dirty="0">
                <a:latin typeface="Source Sans Pro" panose="020B0503030403020204" pitchFamily="34" charset="0"/>
                <a:ea typeface="Source Sans Pro" panose="020B0503030403020204" pitchFamily="34" charset="0"/>
              </a:rPr>
              <a:t> depends on total sample size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These values appear explicitly in the ANOVA table.</a:t>
            </a:r>
          </a:p>
        </p:txBody>
      </p:sp>
    </p:spTree>
    <p:extLst>
      <p:ext uri="{BB962C8B-B14F-4D97-AF65-F5344CB8AC3E}">
        <p14:creationId xmlns:p14="http://schemas.microsoft.com/office/powerpoint/2010/main" val="40040327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5039C-D649-139E-0F3D-93A3EB09593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4222C39-E1DF-0B16-C657-960141D54B00}"/>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The F-ratio: comparing signal to noise.</a:t>
            </a:r>
          </a:p>
        </p:txBody>
      </p:sp>
      <p:sp>
        <p:nvSpPr>
          <p:cNvPr id="3" name="TextBox 2">
            <a:extLst>
              <a:ext uri="{FF2B5EF4-FFF2-40B4-BE49-F238E27FC236}">
                <a16:creationId xmlns:a16="http://schemas.microsoft.com/office/drawing/2014/main" id="{8D045F32-1965-1B68-3A56-7B58EE5DA89A}"/>
              </a:ext>
            </a:extLst>
          </p:cNvPr>
          <p:cNvSpPr txBox="1"/>
          <p:nvPr/>
        </p:nvSpPr>
        <p:spPr>
          <a:xfrm>
            <a:off x="11608904" y="914400"/>
            <a:ext cx="184731" cy="369332"/>
          </a:xfrm>
          <a:prstGeom prst="rect">
            <a:avLst/>
          </a:prstGeom>
          <a:noFill/>
        </p:spPr>
        <p:txBody>
          <a:bodyPr wrap="none" rtlCol="0">
            <a:spAutoFit/>
          </a:bodyPr>
          <a:lstStyle/>
          <a:p>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D5FC468-6AEF-21FE-ABEC-84EEB871F36C}"/>
                  </a:ext>
                </a:extLst>
              </p:cNvPr>
              <p:cNvSpPr txBox="1"/>
              <p:nvPr/>
            </p:nvSpPr>
            <p:spPr>
              <a:xfrm>
                <a:off x="531222" y="1846217"/>
                <a:ext cx="7672251" cy="4172553"/>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The F-statistic is calculated as:</a:t>
                </a:r>
              </a:p>
              <a:p>
                <a:endParaRPr lang="en-US" sz="2400" dirty="0">
                  <a:latin typeface="Source Sans Pro" panose="020B0503030403020204" pitchFamily="34" charset="0"/>
                  <a:ea typeface="Source Sans Pro" panose="020B0503030403020204" pitchFamily="34" charset="0"/>
                </a:endParaRPr>
              </a:p>
              <a:p>
                <a:pPr/>
                <a14:m>
                  <m:oMathPara xmlns:m="http://schemas.openxmlformats.org/officeDocument/2006/math">
                    <m:oMath>
                      <m:r>
                        <a:rPr lang="en-US" sz="2400" i="1" dirty="0" smtClean="0">
                          <a:latin typeface="Cambria Math" panose="02040503050406030204" pitchFamily="18" charset="0"/>
                        </a:rPr>
                        <m:t>𝐹</m:t>
                      </m:r>
                      <m:r>
                        <a:rPr lang="en-US" sz="2400" i="1" dirty="0" smtClean="0">
                          <a:latin typeface="Cambria Math" panose="02040503050406030204" pitchFamily="18" charset="0"/>
                        </a:rPr>
                        <m:t>=</m:t>
                      </m:r>
                      <m:f>
                        <m:fPr>
                          <m:ctrlPr>
                            <a:rPr lang="en-US" sz="2400" i="0" dirty="0" smtClean="0">
                              <a:latin typeface="Source Sans Pro" panose="020B0503030403020204" pitchFamily="34" charset="0"/>
                              <a:ea typeface="Source Sans Pro" panose="020B0503030403020204" pitchFamily="34" charset="0"/>
                            </a:rPr>
                          </m:ctrlPr>
                        </m:fPr>
                        <m:num>
                          <m:r>
                            <m:rPr>
                              <m:nor/>
                            </m:rPr>
                            <a:rPr lang="en-US" sz="2400" i="0" dirty="0" smtClean="0">
                              <a:latin typeface="Source Sans Pro" panose="020B0503030403020204" pitchFamily="34" charset="0"/>
                              <a:ea typeface="Source Sans Pro" panose="020B0503030403020204" pitchFamily="34" charset="0"/>
                            </a:rPr>
                            <m:t>Between−group mean square</m:t>
                          </m:r>
                        </m:num>
                        <m:den>
                          <m:r>
                            <m:rPr>
                              <m:nor/>
                            </m:rPr>
                            <a:rPr lang="en-US" sz="2400" i="0" dirty="0" smtClean="0">
                              <a:latin typeface="Source Sans Pro" panose="020B0503030403020204" pitchFamily="34" charset="0"/>
                              <a:ea typeface="Source Sans Pro" panose="020B0503030403020204" pitchFamily="34" charset="0"/>
                            </a:rPr>
                            <m:t>Within−group mean square</m:t>
                          </m:r>
                        </m:den>
                      </m:f>
                    </m:oMath>
                  </m:oMathPara>
                </a14:m>
                <a:endParaRPr lang="en-US" sz="2400" dirty="0">
                  <a:latin typeface="Source Sans Pro" panose="020B0503030403020204" pitchFamily="34" charset="0"/>
                  <a:ea typeface="Source Sans Pro" panose="020B0503030403020204" pitchFamily="34" charset="0"/>
                </a:endParaRP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Interpretation:</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Large F → group differences dominate random variation</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Small F → differences are consistent with chance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The F-value and associated p-value are shown in the ANOVA table output.</a:t>
                </a:r>
              </a:p>
            </p:txBody>
          </p:sp>
        </mc:Choice>
        <mc:Fallback xmlns="">
          <p:sp>
            <p:nvSpPr>
              <p:cNvPr id="5" name="TextBox 4">
                <a:extLst>
                  <a:ext uri="{FF2B5EF4-FFF2-40B4-BE49-F238E27FC236}">
                    <a16:creationId xmlns:a16="http://schemas.microsoft.com/office/drawing/2014/main" id="{6D5FC468-6AEF-21FE-ABEC-84EEB871F36C}"/>
                  </a:ext>
                </a:extLst>
              </p:cNvPr>
              <p:cNvSpPr txBox="1">
                <a:spLocks noRot="1" noChangeAspect="1" noMove="1" noResize="1" noEditPoints="1" noAdjustHandles="1" noChangeArrowheads="1" noChangeShapeType="1" noTextEdit="1"/>
              </p:cNvSpPr>
              <p:nvPr/>
            </p:nvSpPr>
            <p:spPr>
              <a:xfrm>
                <a:off x="531222" y="1846217"/>
                <a:ext cx="7672251" cy="4172553"/>
              </a:xfrm>
              <a:prstGeom prst="rect">
                <a:avLst/>
              </a:prstGeom>
              <a:blipFill>
                <a:blip r:embed="rId5"/>
                <a:stretch>
                  <a:fillRect l="-1155" t="-1216" b="-2432"/>
                </a:stretch>
              </a:blipFill>
            </p:spPr>
            <p:txBody>
              <a:bodyPr/>
              <a:lstStyle/>
              <a:p>
                <a:r>
                  <a:rPr lang="en-US">
                    <a:noFill/>
                  </a:rPr>
                  <a:t> </a:t>
                </a:r>
              </a:p>
            </p:txBody>
          </p:sp>
        </mc:Fallback>
      </mc:AlternateContent>
    </p:spTree>
    <p:extLst>
      <p:ext uri="{BB962C8B-B14F-4D97-AF65-F5344CB8AC3E}">
        <p14:creationId xmlns:p14="http://schemas.microsoft.com/office/powerpoint/2010/main" val="4145811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2B853-C3BA-E65A-0973-02C21DD8597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192C2B5-06F8-B7CE-4FC0-DD6A7ACB3512}"/>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Interpreting the ANOVA table.</a:t>
            </a:r>
          </a:p>
        </p:txBody>
      </p:sp>
      <p:sp>
        <p:nvSpPr>
          <p:cNvPr id="3" name="TextBox 2">
            <a:extLst>
              <a:ext uri="{FF2B5EF4-FFF2-40B4-BE49-F238E27FC236}">
                <a16:creationId xmlns:a16="http://schemas.microsoft.com/office/drawing/2014/main" id="{3292DE68-DAEE-6CCE-3E17-CE471B20EABB}"/>
              </a:ext>
            </a:extLst>
          </p:cNvPr>
          <p:cNvSpPr txBox="1"/>
          <p:nvPr/>
        </p:nvSpPr>
        <p:spPr>
          <a:xfrm>
            <a:off x="11608904" y="914400"/>
            <a:ext cx="184731" cy="369332"/>
          </a:xfrm>
          <a:prstGeom prst="rect">
            <a:avLst/>
          </a:prstGeom>
          <a:noFill/>
        </p:spPr>
        <p:txBody>
          <a:bodyPr wrap="none" rtlCol="0">
            <a:spAutoFit/>
          </a:bodyPr>
          <a:lstStyle/>
          <a:p>
            <a:endParaRPr lang="en-US" dirty="0"/>
          </a:p>
        </p:txBody>
      </p:sp>
      <p:pic>
        <p:nvPicPr>
          <p:cNvPr id="6" name="Picture 5" descr="A screenshot of a phone&#10;&#10;AI-generated content may be incorrect.">
            <a:extLst>
              <a:ext uri="{FF2B5EF4-FFF2-40B4-BE49-F238E27FC236}">
                <a16:creationId xmlns:a16="http://schemas.microsoft.com/office/drawing/2014/main" id="{B9559DD9-8FC9-E87D-26D8-0A0D355220EE}"/>
              </a:ext>
            </a:extLst>
          </p:cNvPr>
          <p:cNvPicPr>
            <a:picLocks noChangeAspect="1"/>
          </p:cNvPicPr>
          <p:nvPr/>
        </p:nvPicPr>
        <p:blipFill>
          <a:blip r:embed="rId2"/>
          <a:stretch>
            <a:fillRect/>
          </a:stretch>
        </p:blipFill>
        <p:spPr>
          <a:xfrm>
            <a:off x="787399" y="1587499"/>
            <a:ext cx="5930985" cy="2057399"/>
          </a:xfrm>
          <a:prstGeom prst="rect">
            <a:avLst/>
          </a:prstGeom>
        </p:spPr>
      </p:pic>
      <p:sp>
        <p:nvSpPr>
          <p:cNvPr id="8" name="TextBox 7">
            <a:extLst>
              <a:ext uri="{FF2B5EF4-FFF2-40B4-BE49-F238E27FC236}">
                <a16:creationId xmlns:a16="http://schemas.microsoft.com/office/drawing/2014/main" id="{907D030E-1B50-4278-407D-AE4FCD37E6E0}"/>
              </a:ext>
            </a:extLst>
          </p:cNvPr>
          <p:cNvSpPr txBox="1"/>
          <p:nvPr/>
        </p:nvSpPr>
        <p:spPr>
          <a:xfrm>
            <a:off x="787400" y="4042342"/>
            <a:ext cx="6096000" cy="1938992"/>
          </a:xfrm>
          <a:prstGeom prst="rect">
            <a:avLst/>
          </a:prstGeom>
          <a:noFill/>
        </p:spPr>
        <p:txBody>
          <a:bodyPr wrap="square">
            <a:spAutoFit/>
          </a:bodyPr>
          <a:lstStyle/>
          <a:p>
            <a:pPr>
              <a:buNone/>
            </a:pPr>
            <a:r>
              <a:rPr lang="en-GB" sz="2400" dirty="0">
                <a:latin typeface="Source Sans Pro" panose="020B0503030403020204" pitchFamily="34" charset="0"/>
                <a:ea typeface="Source Sans Pro" panose="020B0503030403020204" pitchFamily="34" charset="0"/>
              </a:rPr>
              <a:t>The p-value answers:</a:t>
            </a:r>
            <a:br>
              <a:rPr lang="en-GB" sz="2400" dirty="0">
                <a:latin typeface="Source Sans Pro" panose="020B0503030403020204" pitchFamily="34" charset="0"/>
                <a:ea typeface="Source Sans Pro" panose="020B0503030403020204" pitchFamily="34" charset="0"/>
              </a:rPr>
            </a:br>
            <a:endParaRPr lang="en-GB" sz="2400" dirty="0">
              <a:latin typeface="Source Sans Pro" panose="020B0503030403020204" pitchFamily="34" charset="0"/>
              <a:ea typeface="Source Sans Pro" panose="020B0503030403020204" pitchFamily="34" charset="0"/>
            </a:endParaRPr>
          </a:p>
          <a:p>
            <a:pPr>
              <a:buNone/>
            </a:pPr>
            <a:r>
              <a:rPr lang="en-GB" sz="2400" dirty="0">
                <a:solidFill>
                  <a:srgbClr val="0E0E0E"/>
                </a:solidFill>
                <a:effectLst/>
                <a:latin typeface="Source Sans Pro" panose="020B0503030403020204" pitchFamily="34" charset="0"/>
                <a:ea typeface="Source Sans Pro" panose="020B0503030403020204" pitchFamily="34" charset="0"/>
              </a:rPr>
              <a:t>If all group means were truly equal, how likely would we be to observe an F-statistic this large?</a:t>
            </a:r>
          </a:p>
        </p:txBody>
      </p:sp>
    </p:spTree>
    <p:extLst>
      <p:ext uri="{BB962C8B-B14F-4D97-AF65-F5344CB8AC3E}">
        <p14:creationId xmlns:p14="http://schemas.microsoft.com/office/powerpoint/2010/main" val="5539608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844DF-B005-5C3D-2B60-B01025C244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0B02C3-B42D-BCAA-C812-7F551232B9E3}"/>
              </a:ext>
            </a:extLst>
          </p:cNvPr>
          <p:cNvSpPr txBox="1"/>
          <p:nvPr/>
        </p:nvSpPr>
        <p:spPr>
          <a:xfrm>
            <a:off x="607784" y="560457"/>
            <a:ext cx="10551897"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What a significant F-test tells us</a:t>
            </a:r>
            <a:br>
              <a:rPr lang="en-GB" sz="4400" b="1" noProof="0" dirty="0">
                <a:latin typeface="Source Sans Pro" panose="020B0503030403020204" pitchFamily="34" charset="0"/>
                <a:ea typeface="Source Sans Pro" panose="020B0503030403020204" pitchFamily="34" charset="0"/>
                <a:cs typeface="Calibri" panose="020F0502020204030204"/>
              </a:rPr>
            </a:br>
            <a:r>
              <a:rPr lang="en-GB" sz="4400" b="1" noProof="0" dirty="0">
                <a:latin typeface="Source Sans Pro" panose="020B0503030403020204" pitchFamily="34" charset="0"/>
                <a:ea typeface="Source Sans Pro" panose="020B0503030403020204" pitchFamily="34" charset="0"/>
                <a:cs typeface="Calibri" panose="020F0502020204030204"/>
              </a:rPr>
              <a:t>(and what it doesn’t)</a:t>
            </a:r>
          </a:p>
        </p:txBody>
      </p:sp>
      <p:sp>
        <p:nvSpPr>
          <p:cNvPr id="3" name="TextBox 2">
            <a:extLst>
              <a:ext uri="{FF2B5EF4-FFF2-40B4-BE49-F238E27FC236}">
                <a16:creationId xmlns:a16="http://schemas.microsoft.com/office/drawing/2014/main" id="{BA2BBD31-2D4A-F6AE-50FA-B9ADFA59DE9E}"/>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85575F7A-2137-C848-4B2A-3073E4A51849}"/>
              </a:ext>
            </a:extLst>
          </p:cNvPr>
          <p:cNvSpPr txBox="1"/>
          <p:nvPr/>
        </p:nvSpPr>
        <p:spPr>
          <a:xfrm>
            <a:off x="1001486" y="2560320"/>
            <a:ext cx="6270171" cy="3108543"/>
          </a:xfrm>
          <a:prstGeom prst="rect">
            <a:avLst/>
          </a:prstGeom>
          <a:noFill/>
        </p:spPr>
        <p:txBody>
          <a:bodyPr wrap="square" rtlCol="0">
            <a:spAutoFit/>
          </a:bodyPr>
          <a:lstStyle/>
          <a:p>
            <a:r>
              <a:rPr lang="en-US" sz="2800" dirty="0">
                <a:latin typeface="Source Sans Pro" panose="020B0503030403020204" pitchFamily="34" charset="0"/>
                <a:ea typeface="Source Sans Pro" panose="020B0503030403020204" pitchFamily="34" charset="0"/>
              </a:rPr>
              <a:t>A significant F-test tells us:</a:t>
            </a:r>
          </a:p>
          <a:p>
            <a:r>
              <a:rPr lang="en-US" sz="2800" dirty="0">
                <a:latin typeface="Source Sans Pro" panose="020B0503030403020204" pitchFamily="34" charset="0"/>
                <a:ea typeface="Source Sans Pro" panose="020B0503030403020204" pitchFamily="34" charset="0"/>
              </a:rPr>
              <a:t>There is evidence that not all group means are equal</a:t>
            </a:r>
          </a:p>
          <a:p>
            <a:endParaRPr lang="en-US" sz="2800" dirty="0">
              <a:latin typeface="Source Sans Pro" panose="020B0503030403020204" pitchFamily="34" charset="0"/>
              <a:ea typeface="Source Sans Pro" panose="020B0503030403020204" pitchFamily="34" charset="0"/>
            </a:endParaRPr>
          </a:p>
          <a:p>
            <a:r>
              <a:rPr lang="en-US" sz="2800" dirty="0">
                <a:latin typeface="Source Sans Pro" panose="020B0503030403020204" pitchFamily="34" charset="0"/>
                <a:ea typeface="Source Sans Pro" panose="020B0503030403020204" pitchFamily="34" charset="0"/>
              </a:rPr>
              <a:t>It does not tell us:</a:t>
            </a:r>
          </a:p>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Which groups differ</a:t>
            </a:r>
          </a:p>
          <a:p>
            <a:pPr marL="285750" indent="-285750">
              <a:buFont typeface="Arial" panose="020B0604020202020204" pitchFamily="34" charset="0"/>
              <a:buChar char="•"/>
            </a:pPr>
            <a:r>
              <a:rPr lang="en-US" sz="2800" dirty="0">
                <a:latin typeface="Source Sans Pro" panose="020B0503030403020204" pitchFamily="34" charset="0"/>
                <a:ea typeface="Source Sans Pro" panose="020B0503030403020204" pitchFamily="34" charset="0"/>
              </a:rPr>
              <a:t>How large the differences are</a:t>
            </a:r>
          </a:p>
        </p:txBody>
      </p:sp>
    </p:spTree>
    <p:extLst>
      <p:ext uri="{BB962C8B-B14F-4D97-AF65-F5344CB8AC3E}">
        <p14:creationId xmlns:p14="http://schemas.microsoft.com/office/powerpoint/2010/main" val="1612507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C7184-3BA1-3BA9-4D76-9CC3AC5FE0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E0415FE-0B72-53B4-E1DC-8464B02A60B5}"/>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Why post-hoc tests are needed.</a:t>
            </a:r>
          </a:p>
        </p:txBody>
      </p:sp>
      <p:sp>
        <p:nvSpPr>
          <p:cNvPr id="3" name="TextBox 2">
            <a:extLst>
              <a:ext uri="{FF2B5EF4-FFF2-40B4-BE49-F238E27FC236}">
                <a16:creationId xmlns:a16="http://schemas.microsoft.com/office/drawing/2014/main" id="{62E2898A-9B25-5463-6482-63ACCB4FD4A7}"/>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62B0D19C-71FD-D987-8CBA-51B67136EC42}"/>
              </a:ext>
            </a:extLst>
          </p:cNvPr>
          <p:cNvSpPr txBox="1"/>
          <p:nvPr/>
        </p:nvSpPr>
        <p:spPr>
          <a:xfrm>
            <a:off x="792480" y="1537624"/>
            <a:ext cx="6096000" cy="2554545"/>
          </a:xfrm>
          <a:prstGeom prst="rect">
            <a:avLst/>
          </a:prstGeom>
          <a:noFill/>
        </p:spPr>
        <p:txBody>
          <a:bodyPr wrap="square">
            <a:spAutoFit/>
          </a:bodyPr>
          <a:lstStyle/>
          <a:p>
            <a:pPr>
              <a:buNone/>
            </a:pPr>
            <a:r>
              <a:rPr lang="en-GB" sz="2000" dirty="0">
                <a:latin typeface="Source Sans Pro" panose="020B0503030403020204" pitchFamily="34" charset="0"/>
                <a:ea typeface="Source Sans Pro" panose="020B0503030403020204" pitchFamily="34" charset="0"/>
              </a:rPr>
              <a:t>Once ANOVA indicates a difference exists, we perform </a:t>
            </a:r>
            <a:r>
              <a:rPr lang="en-GB" sz="2000" b="1" dirty="0">
                <a:latin typeface="Source Sans Pro" panose="020B0503030403020204" pitchFamily="34" charset="0"/>
                <a:ea typeface="Source Sans Pro" panose="020B0503030403020204" pitchFamily="34" charset="0"/>
              </a:rPr>
              <a:t>controlled pairwise comparisons</a:t>
            </a:r>
            <a:r>
              <a:rPr lang="en-GB" sz="2000" dirty="0">
                <a:latin typeface="Source Sans Pro" panose="020B0503030403020204" pitchFamily="34" charset="0"/>
                <a:ea typeface="Source Sans Pro" panose="020B0503030403020204" pitchFamily="34" charset="0"/>
              </a:rPr>
              <a:t>.</a:t>
            </a:r>
            <a:br>
              <a:rPr lang="en-GB" sz="2000" dirty="0">
                <a:latin typeface="Source Sans Pro" panose="020B0503030403020204" pitchFamily="34" charset="0"/>
                <a:ea typeface="Source Sans Pro" panose="020B0503030403020204" pitchFamily="34" charset="0"/>
              </a:rPr>
            </a:br>
            <a:endParaRPr lang="en-GB" sz="2000" dirty="0">
              <a:latin typeface="Source Sans Pro" panose="020B0503030403020204" pitchFamily="34" charset="0"/>
              <a:ea typeface="Source Sans Pro" panose="020B0503030403020204" pitchFamily="34" charset="0"/>
            </a:endParaRPr>
          </a:p>
          <a:p>
            <a:pPr>
              <a:buNone/>
            </a:pPr>
            <a:r>
              <a:rPr lang="en-GB" sz="2000" dirty="0">
                <a:latin typeface="Source Sans Pro" panose="020B0503030403020204" pitchFamily="34" charset="0"/>
                <a:ea typeface="Source Sans Pro" panose="020B0503030403020204" pitchFamily="34" charset="0"/>
              </a:rPr>
              <a:t>The Tukey HSD results show:</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Mean differences between pairs of working-status groups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Confidence intervals</a:t>
            </a:r>
          </a:p>
          <a:p>
            <a:pPr marL="285750" indent="-285750">
              <a:buFont typeface="Arial" panose="020B0604020202020204" pitchFamily="34" charset="0"/>
              <a:buChar char="•"/>
            </a:pPr>
            <a:r>
              <a:rPr lang="en-GB" sz="2000" dirty="0">
                <a:latin typeface="Source Sans Pro" panose="020B0503030403020204" pitchFamily="34" charset="0"/>
                <a:ea typeface="Source Sans Pro" panose="020B0503030403020204" pitchFamily="34" charset="0"/>
              </a:rPr>
              <a:t>Adjusted p-values that control for multiple testing</a:t>
            </a:r>
          </a:p>
        </p:txBody>
      </p:sp>
      <p:pic>
        <p:nvPicPr>
          <p:cNvPr id="8" name="Picture 7" descr="A screenshot of a test&#10;&#10;AI-generated content may be incorrect.">
            <a:extLst>
              <a:ext uri="{FF2B5EF4-FFF2-40B4-BE49-F238E27FC236}">
                <a16:creationId xmlns:a16="http://schemas.microsoft.com/office/drawing/2014/main" id="{C7C4CB18-24AF-0423-3C80-E6217037B464}"/>
              </a:ext>
            </a:extLst>
          </p:cNvPr>
          <p:cNvPicPr>
            <a:picLocks noChangeAspect="1"/>
          </p:cNvPicPr>
          <p:nvPr/>
        </p:nvPicPr>
        <p:blipFill>
          <a:blip r:embed="rId2"/>
          <a:stretch>
            <a:fillRect/>
          </a:stretch>
        </p:blipFill>
        <p:spPr>
          <a:xfrm>
            <a:off x="792480" y="4219527"/>
            <a:ext cx="6642100" cy="2286000"/>
          </a:xfrm>
          <a:prstGeom prst="rect">
            <a:avLst/>
          </a:prstGeom>
        </p:spPr>
      </p:pic>
    </p:spTree>
    <p:extLst>
      <p:ext uri="{BB962C8B-B14F-4D97-AF65-F5344CB8AC3E}">
        <p14:creationId xmlns:p14="http://schemas.microsoft.com/office/powerpoint/2010/main" val="11805914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494D-891F-203D-3485-4B06997116F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F64E38-13EB-2E03-B814-A0CEA272762E}"/>
              </a:ext>
            </a:extLst>
          </p:cNvPr>
          <p:cNvSpPr txBox="1"/>
          <p:nvPr/>
        </p:nvSpPr>
        <p:spPr>
          <a:xfrm>
            <a:off x="582384" y="982614"/>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Assumption 1: Independence</a:t>
            </a:r>
          </a:p>
        </p:txBody>
      </p:sp>
      <p:sp>
        <p:nvSpPr>
          <p:cNvPr id="3" name="TextBox 2">
            <a:extLst>
              <a:ext uri="{FF2B5EF4-FFF2-40B4-BE49-F238E27FC236}">
                <a16:creationId xmlns:a16="http://schemas.microsoft.com/office/drawing/2014/main" id="{672C1EB0-05DE-5684-43A8-959B44641CE5}"/>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6D131B90-5516-0156-0C6C-C3613C25CDF3}"/>
              </a:ext>
            </a:extLst>
          </p:cNvPr>
          <p:cNvSpPr txBox="1"/>
          <p:nvPr/>
        </p:nvSpPr>
        <p:spPr>
          <a:xfrm>
            <a:off x="878865" y="2443677"/>
            <a:ext cx="6563335" cy="3046988"/>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Observations must be independent:</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Each NHANES participant contributes one sleep measurement</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No clustering or repeated measures are present here</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This assumption comes from the study design, not the data.</a:t>
            </a:r>
          </a:p>
        </p:txBody>
      </p:sp>
    </p:spTree>
    <p:extLst>
      <p:ext uri="{BB962C8B-B14F-4D97-AF65-F5344CB8AC3E}">
        <p14:creationId xmlns:p14="http://schemas.microsoft.com/office/powerpoint/2010/main" val="41640820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5A665-34F1-039F-51FC-48972CCF6F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93E2BC-6A2C-077D-1325-A9EB6D6EB96C}"/>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Assumption 2: Homogeneity </a:t>
            </a:r>
            <a:r>
              <a:rPr lang="en-GB" sz="4400" b="1" dirty="0">
                <a:latin typeface="Source Sans Pro" panose="020B0503030403020204" pitchFamily="34" charset="0"/>
                <a:ea typeface="Source Sans Pro" panose="020B0503030403020204" pitchFamily="34" charset="0"/>
                <a:cs typeface="Calibri" panose="020F0502020204030204"/>
              </a:rPr>
              <a:t>of Variance</a:t>
            </a:r>
            <a:endParaRPr lang="en-GB" sz="4400" b="1" noProof="0" dirty="0">
              <a:latin typeface="Source Sans Pro" panose="020B0503030403020204" pitchFamily="34" charset="0"/>
              <a:ea typeface="Source Sans Pro" panose="020B0503030403020204" pitchFamily="34" charset="0"/>
              <a:cs typeface="Calibri" panose="020F0502020204030204"/>
            </a:endParaRPr>
          </a:p>
        </p:txBody>
      </p:sp>
      <p:sp>
        <p:nvSpPr>
          <p:cNvPr id="3" name="TextBox 2">
            <a:extLst>
              <a:ext uri="{FF2B5EF4-FFF2-40B4-BE49-F238E27FC236}">
                <a16:creationId xmlns:a16="http://schemas.microsoft.com/office/drawing/2014/main" id="{54F98EA6-91F5-F628-FEB7-FE891B32E88C}"/>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8994CF77-75EC-1630-DFC6-959D495CF7C6}"/>
              </a:ext>
            </a:extLst>
          </p:cNvPr>
          <p:cNvSpPr txBox="1"/>
          <p:nvPr/>
        </p:nvSpPr>
        <p:spPr>
          <a:xfrm>
            <a:off x="557349" y="1463040"/>
            <a:ext cx="6766560" cy="2677656"/>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ANOVA assumes similar variance across groups.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Levene’s test formally assesses this.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Interpretation:</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Non-significant result → assumption reasonable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Significant result → consider robust alternatives</a:t>
            </a:r>
          </a:p>
        </p:txBody>
      </p:sp>
      <p:pic>
        <p:nvPicPr>
          <p:cNvPr id="7" name="Picture 6" descr="A screenshot of a cell phone&#10;&#10;AI-generated content may be incorrect.">
            <a:extLst>
              <a:ext uri="{FF2B5EF4-FFF2-40B4-BE49-F238E27FC236}">
                <a16:creationId xmlns:a16="http://schemas.microsoft.com/office/drawing/2014/main" id="{8AC16EC6-617F-12B1-55BC-29F44B21557D}"/>
              </a:ext>
            </a:extLst>
          </p:cNvPr>
          <p:cNvPicPr>
            <a:picLocks noChangeAspect="1"/>
          </p:cNvPicPr>
          <p:nvPr/>
        </p:nvPicPr>
        <p:blipFill>
          <a:blip r:embed="rId2"/>
          <a:stretch>
            <a:fillRect/>
          </a:stretch>
        </p:blipFill>
        <p:spPr>
          <a:xfrm>
            <a:off x="638060" y="4585528"/>
            <a:ext cx="4991100" cy="1841500"/>
          </a:xfrm>
          <a:prstGeom prst="rect">
            <a:avLst/>
          </a:prstGeom>
        </p:spPr>
      </p:pic>
    </p:spTree>
    <p:extLst>
      <p:ext uri="{BB962C8B-B14F-4D97-AF65-F5344CB8AC3E}">
        <p14:creationId xmlns:p14="http://schemas.microsoft.com/office/powerpoint/2010/main" val="35098390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13CFD-DCEB-9825-7229-99B249B221C7}"/>
              </a:ext>
            </a:extLst>
          </p:cNvPr>
          <p:cNvSpPr>
            <a:spLocks noGrp="1"/>
          </p:cNvSpPr>
          <p:nvPr>
            <p:ph type="title"/>
          </p:nvPr>
        </p:nvSpPr>
        <p:spPr>
          <a:xfrm>
            <a:off x="604024" y="543545"/>
            <a:ext cx="3622288" cy="850358"/>
          </a:xfrm>
        </p:spPr>
        <p:txBody>
          <a:bodyPr/>
          <a:lstStyle/>
          <a:p>
            <a:r>
              <a:rPr lang="en-GB" b="1" dirty="0">
                <a:latin typeface="Source Sans Pro" panose="020B0503030403020204" pitchFamily="34" charset="0"/>
                <a:ea typeface="Source Sans Pro" panose="020B0503030403020204" pitchFamily="34" charset="0"/>
              </a:rPr>
              <a:t>Levene’s test</a:t>
            </a:r>
          </a:p>
        </p:txBody>
      </p:sp>
      <p:sp>
        <p:nvSpPr>
          <p:cNvPr id="3" name="Content Placeholder 2">
            <a:extLst>
              <a:ext uri="{FF2B5EF4-FFF2-40B4-BE49-F238E27FC236}">
                <a16:creationId xmlns:a16="http://schemas.microsoft.com/office/drawing/2014/main" id="{CD43CF35-1CD9-818F-FA2D-DA958B703E3B}"/>
              </a:ext>
            </a:extLst>
          </p:cNvPr>
          <p:cNvSpPr>
            <a:spLocks noGrp="1"/>
          </p:cNvSpPr>
          <p:nvPr>
            <p:ph idx="1"/>
          </p:nvPr>
        </p:nvSpPr>
        <p:spPr>
          <a:xfrm>
            <a:off x="604024" y="1602601"/>
            <a:ext cx="10515600" cy="1965789"/>
          </a:xfrm>
        </p:spPr>
        <p:txBody>
          <a:bodyPr/>
          <a:lstStyle/>
          <a:p>
            <a:pPr marL="0" indent="0">
              <a:buNone/>
            </a:pPr>
            <a:r>
              <a:rPr lang="en-GB" dirty="0"/>
              <a:t>Assess the equality of variances across multiple groups.</a:t>
            </a:r>
          </a:p>
          <a:p>
            <a:endParaRPr lang="en-GB" dirty="0"/>
          </a:p>
          <a:p>
            <a:pPr lvl="1"/>
            <a:r>
              <a:rPr lang="en-GB" dirty="0"/>
              <a:t>H</a:t>
            </a:r>
            <a:r>
              <a:rPr lang="en-GB" baseline="-25000" dirty="0"/>
              <a:t>0</a:t>
            </a:r>
            <a:r>
              <a:rPr lang="en-GB" dirty="0"/>
              <a:t> = the variances in different groups are equal</a:t>
            </a:r>
          </a:p>
          <a:p>
            <a:pPr lvl="1"/>
            <a:r>
              <a:rPr lang="en-GB" dirty="0"/>
              <a:t>H</a:t>
            </a:r>
            <a:r>
              <a:rPr lang="en-GB" baseline="-25000" dirty="0"/>
              <a:t>1</a:t>
            </a:r>
            <a:r>
              <a:rPr lang="en-GB" dirty="0"/>
              <a:t> = the variances in different groups are different</a:t>
            </a:r>
          </a:p>
        </p:txBody>
      </p:sp>
      <p:pic>
        <p:nvPicPr>
          <p:cNvPr id="4" name="Picture 2">
            <a:extLst>
              <a:ext uri="{FF2B5EF4-FFF2-40B4-BE49-F238E27FC236}">
                <a16:creationId xmlns:a16="http://schemas.microsoft.com/office/drawing/2014/main" id="{841284EB-E4FE-D335-15B1-F27130E45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8116" y="3895995"/>
            <a:ext cx="2152650" cy="2124075"/>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78868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A6E02-2516-B2C5-23D9-2BED81550649}"/>
              </a:ext>
            </a:extLst>
          </p:cNvPr>
          <p:cNvSpPr>
            <a:spLocks noGrp="1"/>
          </p:cNvSpPr>
          <p:nvPr>
            <p:ph type="title"/>
          </p:nvPr>
        </p:nvSpPr>
        <p:spPr>
          <a:xfrm>
            <a:off x="702230" y="450910"/>
            <a:ext cx="3854655" cy="806318"/>
          </a:xfrm>
        </p:spPr>
        <p:txBody>
          <a:bodyPr/>
          <a:lstStyle/>
          <a:p>
            <a:r>
              <a:rPr lang="en-GB" b="1" dirty="0">
                <a:latin typeface="Source Sans Pro" panose="020B0503030403020204" pitchFamily="34" charset="0"/>
                <a:ea typeface="Source Sans Pro" panose="020B0503030403020204" pitchFamily="34" charset="0"/>
                <a:cs typeface="ADLaM Display" panose="02010000000000000000" pitchFamily="2" charset="77"/>
              </a:rPr>
              <a:t>Levene’s test</a:t>
            </a:r>
          </a:p>
        </p:txBody>
      </p:sp>
      <p:grpSp>
        <p:nvGrpSpPr>
          <p:cNvPr id="13" name="Group 12">
            <a:extLst>
              <a:ext uri="{FF2B5EF4-FFF2-40B4-BE49-F238E27FC236}">
                <a16:creationId xmlns:a16="http://schemas.microsoft.com/office/drawing/2014/main" id="{09A5B117-19E9-AF7E-AE33-802523A32AA0}"/>
              </a:ext>
            </a:extLst>
          </p:cNvPr>
          <p:cNvGrpSpPr/>
          <p:nvPr/>
        </p:nvGrpSpPr>
        <p:grpSpPr>
          <a:xfrm>
            <a:off x="621574" y="1741868"/>
            <a:ext cx="8339279" cy="2477659"/>
            <a:chOff x="1889224" y="2501901"/>
            <a:chExt cx="8339279" cy="2477659"/>
          </a:xfrm>
        </p:grpSpPr>
        <p:sp>
          <p:nvSpPr>
            <p:cNvPr id="12" name="Oval 11">
              <a:extLst>
                <a:ext uri="{FF2B5EF4-FFF2-40B4-BE49-F238E27FC236}">
                  <a16:creationId xmlns:a16="http://schemas.microsoft.com/office/drawing/2014/main" id="{9A41CEB4-6309-7F9B-9474-574B38F5D778}"/>
                </a:ext>
              </a:extLst>
            </p:cNvPr>
            <p:cNvSpPr/>
            <p:nvPr/>
          </p:nvSpPr>
          <p:spPr>
            <a:xfrm>
              <a:off x="4977865" y="4718304"/>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4" name="Group 3">
              <a:extLst>
                <a:ext uri="{FF2B5EF4-FFF2-40B4-BE49-F238E27FC236}">
                  <a16:creationId xmlns:a16="http://schemas.microsoft.com/office/drawing/2014/main" id="{AE6C25DA-6510-806F-B166-EFCE355847C4}"/>
                </a:ext>
              </a:extLst>
            </p:cNvPr>
            <p:cNvGrpSpPr/>
            <p:nvPr/>
          </p:nvGrpSpPr>
          <p:grpSpPr>
            <a:xfrm>
              <a:off x="1889224" y="2501901"/>
              <a:ext cx="8339279" cy="2216403"/>
              <a:chOff x="1889224" y="2501901"/>
              <a:chExt cx="8339279" cy="2216403"/>
            </a:xfrm>
          </p:grpSpPr>
          <p:cxnSp>
            <p:nvCxnSpPr>
              <p:cNvPr id="5" name="Straight Connector 4">
                <a:extLst>
                  <a:ext uri="{FF2B5EF4-FFF2-40B4-BE49-F238E27FC236}">
                    <a16:creationId xmlns:a16="http://schemas.microsoft.com/office/drawing/2014/main" id="{B97EDCFC-8253-C2B5-C33D-9E2D09F1F9AF}"/>
                  </a:ext>
                </a:extLst>
              </p:cNvPr>
              <p:cNvCxnSpPr>
                <a:cxnSpLocks/>
              </p:cNvCxnSpPr>
              <p:nvPr/>
            </p:nvCxnSpPr>
            <p:spPr>
              <a:xfrm>
                <a:off x="2640404" y="3839526"/>
                <a:ext cx="2921330" cy="0"/>
              </a:xfrm>
              <a:prstGeom prst="line">
                <a:avLst/>
              </a:prstGeom>
              <a:ln w="76200"/>
            </p:spPr>
            <p:style>
              <a:lnRef idx="2">
                <a:schemeClr val="accent1"/>
              </a:lnRef>
              <a:fillRef idx="0">
                <a:schemeClr val="accent1"/>
              </a:fillRef>
              <a:effectRef idx="1">
                <a:schemeClr val="accent1"/>
              </a:effectRef>
              <a:fontRef idx="minor">
                <a:schemeClr val="tx1"/>
              </a:fontRef>
            </p:style>
          </p:cxnSp>
          <p:sp>
            <p:nvSpPr>
              <p:cNvPr id="6" name="Oval 5">
                <a:extLst>
                  <a:ext uri="{FF2B5EF4-FFF2-40B4-BE49-F238E27FC236}">
                    <a16:creationId xmlns:a16="http://schemas.microsoft.com/office/drawing/2014/main" id="{DF5D06F3-85F3-C494-32DF-E18BFBB92D5C}"/>
                  </a:ext>
                </a:extLst>
              </p:cNvPr>
              <p:cNvSpPr/>
              <p:nvPr/>
            </p:nvSpPr>
            <p:spPr>
              <a:xfrm>
                <a:off x="3317298" y="2830123"/>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4A587FEE-33AB-4599-52C2-0052BF8D4AD0}"/>
                  </a:ext>
                </a:extLst>
              </p:cNvPr>
              <p:cNvSpPr/>
              <p:nvPr/>
            </p:nvSpPr>
            <p:spPr>
              <a:xfrm>
                <a:off x="3778456" y="3037941"/>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ECA15CFA-5BAE-089C-0148-F3E4A3DAE948}"/>
                  </a:ext>
                </a:extLst>
              </p:cNvPr>
              <p:cNvSpPr/>
              <p:nvPr/>
            </p:nvSpPr>
            <p:spPr>
              <a:xfrm>
                <a:off x="4455350" y="2568865"/>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7F3AFF0C-4CE9-5932-4821-526859C389AF}"/>
                  </a:ext>
                </a:extLst>
              </p:cNvPr>
              <p:cNvSpPr/>
              <p:nvPr/>
            </p:nvSpPr>
            <p:spPr>
              <a:xfrm>
                <a:off x="5096618" y="3204197"/>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a:extLst>
                  <a:ext uri="{FF2B5EF4-FFF2-40B4-BE49-F238E27FC236}">
                    <a16:creationId xmlns:a16="http://schemas.microsoft.com/office/drawing/2014/main" id="{278BA768-2F77-84E1-281E-E546E014D267}"/>
                  </a:ext>
                </a:extLst>
              </p:cNvPr>
              <p:cNvSpPr/>
              <p:nvPr/>
            </p:nvSpPr>
            <p:spPr>
              <a:xfrm>
                <a:off x="3151042" y="4249228"/>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a:extLst>
                  <a:ext uri="{FF2B5EF4-FFF2-40B4-BE49-F238E27FC236}">
                    <a16:creationId xmlns:a16="http://schemas.microsoft.com/office/drawing/2014/main" id="{AD72772A-FC13-698A-DCFD-5800258C1D39}"/>
                  </a:ext>
                </a:extLst>
              </p:cNvPr>
              <p:cNvSpPr/>
              <p:nvPr/>
            </p:nvSpPr>
            <p:spPr>
              <a:xfrm>
                <a:off x="4217845" y="4213600"/>
                <a:ext cx="237505" cy="261256"/>
              </a:xfrm>
              <a:prstGeom prst="ellipse">
                <a:avLst/>
              </a:prstGeom>
              <a:solidFill>
                <a:srgbClr val="1C82B0"/>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id="{C251C9F7-6A3E-DF7C-B006-29A731ED1754}"/>
                  </a:ext>
                </a:extLst>
              </p:cNvPr>
              <p:cNvCxnSpPr>
                <a:cxnSpLocks/>
                <a:stCxn id="6" idx="4"/>
              </p:cNvCxnSpPr>
              <p:nvPr/>
            </p:nvCxnSpPr>
            <p:spPr>
              <a:xfrm>
                <a:off x="3436051" y="3091379"/>
                <a:ext cx="0" cy="706336"/>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5CE08C8E-1555-F7D0-BDD2-527154ADEE3D}"/>
                  </a:ext>
                </a:extLst>
              </p:cNvPr>
              <p:cNvCxnSpPr>
                <a:cxnSpLocks/>
              </p:cNvCxnSpPr>
              <p:nvPr/>
            </p:nvCxnSpPr>
            <p:spPr>
              <a:xfrm>
                <a:off x="3897208" y="3299197"/>
                <a:ext cx="0" cy="498518"/>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389E8784-709C-BD51-92DF-9ED0E749FDE6}"/>
                  </a:ext>
                </a:extLst>
              </p:cNvPr>
              <p:cNvCxnSpPr>
                <a:cxnSpLocks/>
                <a:stCxn id="8" idx="4"/>
              </p:cNvCxnSpPr>
              <p:nvPr/>
            </p:nvCxnSpPr>
            <p:spPr>
              <a:xfrm>
                <a:off x="4574103" y="2830121"/>
                <a:ext cx="0" cy="967594"/>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B829777-695D-FE6D-2A10-F2006110EA4D}"/>
                  </a:ext>
                </a:extLst>
              </p:cNvPr>
              <p:cNvCxnSpPr>
                <a:stCxn id="9" idx="4"/>
              </p:cNvCxnSpPr>
              <p:nvPr/>
            </p:nvCxnSpPr>
            <p:spPr>
              <a:xfrm flipH="1">
                <a:off x="5215370" y="3465453"/>
                <a:ext cx="1" cy="374073"/>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F04E91BF-8A00-8E7F-B435-BB7AB968286D}"/>
                  </a:ext>
                </a:extLst>
              </p:cNvPr>
              <p:cNvCxnSpPr>
                <a:cxnSpLocks/>
                <a:endCxn id="10" idx="0"/>
              </p:cNvCxnSpPr>
              <p:nvPr/>
            </p:nvCxnSpPr>
            <p:spPr>
              <a:xfrm>
                <a:off x="3269795" y="3875154"/>
                <a:ext cx="0" cy="374074"/>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A2DAAD15-B2EC-B83D-5A89-5CAE511ABFD8}"/>
                  </a:ext>
                </a:extLst>
              </p:cNvPr>
              <p:cNvCxnSpPr>
                <a:stCxn id="11" idx="0"/>
              </p:cNvCxnSpPr>
              <p:nvPr/>
            </p:nvCxnSpPr>
            <p:spPr>
              <a:xfrm flipH="1" flipV="1">
                <a:off x="4336597" y="3875154"/>
                <a:ext cx="1" cy="338446"/>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EB4A05D1-A7BD-0FA4-1775-3091E918A310}"/>
                  </a:ext>
                </a:extLst>
              </p:cNvPr>
              <p:cNvCxnSpPr>
                <a:cxnSpLocks/>
                <a:stCxn id="12" idx="0"/>
              </p:cNvCxnSpPr>
              <p:nvPr/>
            </p:nvCxnSpPr>
            <p:spPr>
              <a:xfrm flipV="1">
                <a:off x="5096618" y="3875154"/>
                <a:ext cx="0" cy="843150"/>
              </a:xfrm>
              <a:prstGeom prst="line">
                <a:avLst/>
              </a:prstGeom>
              <a:ln>
                <a:solidFill>
                  <a:srgbClr val="E96736"/>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4CC9173E-444A-9E6F-9A95-7A5454D75C82}"/>
                  </a:ext>
                </a:extLst>
              </p:cNvPr>
              <p:cNvSpPr txBox="1"/>
              <p:nvPr/>
            </p:nvSpPr>
            <p:spPr>
              <a:xfrm>
                <a:off x="8265337" y="2501901"/>
                <a:ext cx="1963166" cy="769441"/>
              </a:xfrm>
              <a:prstGeom prst="rect">
                <a:avLst/>
              </a:prstGeom>
              <a:noFill/>
            </p:spPr>
            <p:txBody>
              <a:bodyPr wrap="none" rtlCol="0">
                <a:spAutoFit/>
              </a:bodyPr>
              <a:lstStyle/>
              <a:p>
                <a:r>
                  <a:rPr lang="en-GB" sz="4400" dirty="0">
                    <a:solidFill>
                      <a:srgbClr val="E96736"/>
                    </a:solidFill>
                  </a:rPr>
                  <a:t>ANOVA</a:t>
                </a:r>
              </a:p>
            </p:txBody>
          </p:sp>
          <p:cxnSp>
            <p:nvCxnSpPr>
              <p:cNvPr id="35" name="Connector: Curved 34">
                <a:extLst>
                  <a:ext uri="{FF2B5EF4-FFF2-40B4-BE49-F238E27FC236}">
                    <a16:creationId xmlns:a16="http://schemas.microsoft.com/office/drawing/2014/main" id="{4B82729D-628F-7598-5253-8798B7989954}"/>
                  </a:ext>
                </a:extLst>
              </p:cNvPr>
              <p:cNvCxnSpPr>
                <a:cxnSpLocks/>
                <a:stCxn id="32" idx="1"/>
              </p:cNvCxnSpPr>
              <p:nvPr/>
            </p:nvCxnSpPr>
            <p:spPr>
              <a:xfrm rot="10800000" flipV="1">
                <a:off x="5995059" y="2886622"/>
                <a:ext cx="2270278" cy="952996"/>
              </a:xfrm>
              <a:prstGeom prst="curvedConnector3">
                <a:avLst/>
              </a:prstGeom>
              <a:ln>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3D34541E-010E-668E-C79D-18E2EAE7CFF9}"/>
                  </a:ext>
                </a:extLst>
              </p:cNvPr>
              <p:cNvSpPr txBox="1"/>
              <p:nvPr/>
            </p:nvSpPr>
            <p:spPr>
              <a:xfrm>
                <a:off x="1889224" y="3613049"/>
                <a:ext cx="739305" cy="369332"/>
              </a:xfrm>
              <a:prstGeom prst="rect">
                <a:avLst/>
              </a:prstGeom>
              <a:noFill/>
            </p:spPr>
            <p:txBody>
              <a:bodyPr wrap="none" rtlCol="0">
                <a:spAutoFit/>
              </a:bodyPr>
              <a:lstStyle/>
              <a:p>
                <a:r>
                  <a:rPr lang="en-GB" dirty="0"/>
                  <a:t>Mean</a:t>
                </a:r>
              </a:p>
            </p:txBody>
          </p:sp>
        </p:grpSp>
      </p:grpSp>
      <p:sp>
        <p:nvSpPr>
          <p:cNvPr id="14" name="TextBox 13">
            <a:extLst>
              <a:ext uri="{FF2B5EF4-FFF2-40B4-BE49-F238E27FC236}">
                <a16:creationId xmlns:a16="http://schemas.microsoft.com/office/drawing/2014/main" id="{1E3ECB8B-F289-E8DF-7BBE-52F98A0B06C1}"/>
              </a:ext>
            </a:extLst>
          </p:cNvPr>
          <p:cNvSpPr txBox="1"/>
          <p:nvPr/>
        </p:nvSpPr>
        <p:spPr>
          <a:xfrm>
            <a:off x="621574" y="4837048"/>
            <a:ext cx="8051181" cy="1200329"/>
          </a:xfrm>
          <a:prstGeom prst="rect">
            <a:avLst/>
          </a:prstGeom>
          <a:noFill/>
        </p:spPr>
        <p:txBody>
          <a:bodyPr wrap="square" rtlCol="0">
            <a:spAutoFit/>
          </a:bodyPr>
          <a:lstStyle/>
          <a:p>
            <a:r>
              <a:rPr lang="en-US" dirty="0">
                <a:latin typeface="Source Sans Pro" panose="020B0503030403020204" pitchFamily="34" charset="0"/>
                <a:ea typeface="Source Sans Pro" panose="020B0503030403020204" pitchFamily="34" charset="0"/>
              </a:rPr>
              <a:t>Rather than comparing variances directly, Levene’s test works by:</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Measuring how far each observation is from its group’s </a:t>
            </a:r>
            <a:r>
              <a:rPr lang="en-US" dirty="0" err="1">
                <a:latin typeface="Source Sans Pro" panose="020B0503030403020204" pitchFamily="34" charset="0"/>
                <a:ea typeface="Source Sans Pro" panose="020B0503030403020204" pitchFamily="34" charset="0"/>
              </a:rPr>
              <a:t>centre</a:t>
            </a:r>
            <a:endParaRPr lang="en-US"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Taking the absolute size of these deviations</a:t>
            </a:r>
          </a:p>
          <a:p>
            <a:pPr marL="285750" indent="-285750">
              <a:buFont typeface="Arial" panose="020B0604020202020204" pitchFamily="34" charset="0"/>
              <a:buChar char="•"/>
            </a:pPr>
            <a:r>
              <a:rPr lang="en-US" dirty="0">
                <a:latin typeface="Source Sans Pro" panose="020B0503030403020204" pitchFamily="34" charset="0"/>
                <a:ea typeface="Source Sans Pro" panose="020B0503030403020204" pitchFamily="34" charset="0"/>
              </a:rPr>
              <a:t>Comparing these deviations across groups using an ANOVA framework</a:t>
            </a:r>
          </a:p>
        </p:txBody>
      </p:sp>
    </p:spTree>
    <p:extLst>
      <p:ext uri="{BB962C8B-B14F-4D97-AF65-F5344CB8AC3E}">
        <p14:creationId xmlns:p14="http://schemas.microsoft.com/office/powerpoint/2010/main" val="39013980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6141E-A771-E635-0774-573B1D7C59EB}"/>
              </a:ext>
            </a:extLst>
          </p:cNvPr>
          <p:cNvSpPr>
            <a:spLocks noGrp="1"/>
          </p:cNvSpPr>
          <p:nvPr>
            <p:ph type="title"/>
          </p:nvPr>
        </p:nvSpPr>
        <p:spPr>
          <a:xfrm>
            <a:off x="658851" y="698307"/>
            <a:ext cx="4092498" cy="838084"/>
          </a:xfrm>
        </p:spPr>
        <p:txBody>
          <a:bodyPr/>
          <a:lstStyle/>
          <a:p>
            <a:r>
              <a:rPr lang="en-GB" b="1" dirty="0">
                <a:latin typeface="Source Sans Pro" panose="020B0503030403020204" pitchFamily="34" charset="0"/>
                <a:ea typeface="Source Sans Pro" panose="020B0503030403020204" pitchFamily="34" charset="0"/>
              </a:rPr>
              <a:t>Interpretation</a:t>
            </a:r>
          </a:p>
        </p:txBody>
      </p:sp>
      <p:sp>
        <p:nvSpPr>
          <p:cNvPr id="3" name="Content Placeholder 2">
            <a:extLst>
              <a:ext uri="{FF2B5EF4-FFF2-40B4-BE49-F238E27FC236}">
                <a16:creationId xmlns:a16="http://schemas.microsoft.com/office/drawing/2014/main" id="{A5CC6816-892A-4E6B-C047-DEAAB39FE667}"/>
              </a:ext>
            </a:extLst>
          </p:cNvPr>
          <p:cNvSpPr>
            <a:spLocks noGrp="1"/>
          </p:cNvSpPr>
          <p:nvPr>
            <p:ph idx="1"/>
          </p:nvPr>
        </p:nvSpPr>
        <p:spPr>
          <a:xfrm>
            <a:off x="531851" y="1946933"/>
            <a:ext cx="7429500" cy="4466760"/>
          </a:xfrm>
        </p:spPr>
        <p:txBody>
          <a:bodyPr>
            <a:normAutofit/>
          </a:bodyPr>
          <a:lstStyle/>
          <a:p>
            <a:r>
              <a:rPr lang="en-US" dirty="0">
                <a:latin typeface="Source Sans Pro" panose="020B0503030403020204" pitchFamily="34" charset="0"/>
                <a:ea typeface="Source Sans Pro" panose="020B0503030403020204" pitchFamily="34" charset="0"/>
              </a:rPr>
              <a:t>Levene’s test produces a p-value. If the p-value is </a:t>
            </a:r>
            <a:r>
              <a:rPr lang="en-US" b="1" dirty="0">
                <a:solidFill>
                  <a:srgbClr val="E96736"/>
                </a:solidFill>
                <a:latin typeface="Source Sans Pro" panose="020B0503030403020204" pitchFamily="34" charset="0"/>
                <a:ea typeface="Source Sans Pro" panose="020B0503030403020204" pitchFamily="34" charset="0"/>
              </a:rPr>
              <a:t>less than 0.05 </a:t>
            </a:r>
            <a:r>
              <a:rPr lang="en-US" dirty="0">
                <a:latin typeface="Source Sans Pro" panose="020B0503030403020204" pitchFamily="34" charset="0"/>
                <a:ea typeface="Source Sans Pro" panose="020B0503030403020204" pitchFamily="34" charset="0"/>
              </a:rPr>
              <a:t>(p &lt; 0.05), this indicates that the variances are significantly different, and the assumption of equal variances is violated. </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If the p-value is </a:t>
            </a:r>
            <a:r>
              <a:rPr lang="en-US" b="1" dirty="0">
                <a:solidFill>
                  <a:srgbClr val="E96736"/>
                </a:solidFill>
                <a:latin typeface="Source Sans Pro" panose="020B0503030403020204" pitchFamily="34" charset="0"/>
                <a:ea typeface="Source Sans Pro" panose="020B0503030403020204" pitchFamily="34" charset="0"/>
              </a:rPr>
              <a:t>greater than or equal to 0.05 </a:t>
            </a:r>
            <a:r>
              <a:rPr lang="en-US" dirty="0">
                <a:latin typeface="Source Sans Pro" panose="020B0503030403020204" pitchFamily="34" charset="0"/>
                <a:ea typeface="Source Sans Pro" panose="020B0503030403020204" pitchFamily="34" charset="0"/>
              </a:rPr>
              <a:t>(p ≥ 0.05), the test suggests that the variances are equal, and the assumption holds.</a:t>
            </a:r>
          </a:p>
          <a:p>
            <a:endParaRPr lang="en-GB"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2822508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86CB2E-EB4D-14BA-4146-768F43E54917}"/>
              </a:ext>
            </a:extLst>
          </p:cNvPr>
          <p:cNvSpPr>
            <a:spLocks noGrp="1"/>
          </p:cNvSpPr>
          <p:nvPr>
            <p:ph idx="1"/>
          </p:nvPr>
        </p:nvSpPr>
        <p:spPr>
          <a:xfrm>
            <a:off x="704385" y="1095375"/>
            <a:ext cx="6688873" cy="4667250"/>
          </a:xfrm>
        </p:spPr>
        <p:txBody>
          <a:bodyPr>
            <a:normAutofit fontScale="92500"/>
          </a:bodyPr>
          <a:lstStyle/>
          <a:p>
            <a:r>
              <a:rPr lang="en-US" dirty="0">
                <a:latin typeface="Source Sans Pro" panose="020B0503030403020204" pitchFamily="34" charset="0"/>
                <a:ea typeface="Source Sans Pro" panose="020B0503030403020204" pitchFamily="34" charset="0"/>
              </a:rPr>
              <a:t>Levene’s test is a key tool for ensuring the validity of parametric tests like ANOVA and t-tests. </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By checking the equality of variances, we can ensure that our statistical tests are reliable and that we draw accurate conclusions from the data. </a:t>
            </a:r>
          </a:p>
          <a:p>
            <a:endParaRPr lang="en-US" dirty="0">
              <a:latin typeface="Source Sans Pro" panose="020B0503030403020204" pitchFamily="34" charset="0"/>
              <a:ea typeface="Source Sans Pro" panose="020B0503030403020204" pitchFamily="34" charset="0"/>
            </a:endParaRPr>
          </a:p>
          <a:p>
            <a:pPr marL="0" indent="0">
              <a:buNone/>
            </a:pPr>
            <a:r>
              <a:rPr lang="en-US" b="1" dirty="0">
                <a:latin typeface="Source Sans Pro" panose="020B0503030403020204" pitchFamily="34" charset="0"/>
                <a:ea typeface="Source Sans Pro" panose="020B0503030403020204" pitchFamily="34" charset="0"/>
              </a:rPr>
              <a:t>Always run Levene’s test before assuming equal variances in your analysis.</a:t>
            </a:r>
            <a:endParaRPr lang="en-GB" b="1"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955282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EDA8DE-7C08-EF6F-D7D0-507C9F0CB9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039B39A-F5CD-D34C-2865-AEF1CF9F8D83}"/>
              </a:ext>
            </a:extLst>
          </p:cNvPr>
          <p:cNvSpPr txBox="1"/>
          <p:nvPr/>
        </p:nvSpPr>
        <p:spPr>
          <a:xfrm>
            <a:off x="315684" y="343807"/>
            <a:ext cx="10551897" cy="769441"/>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Assumption 3: Normality of Residuals</a:t>
            </a:r>
          </a:p>
        </p:txBody>
      </p:sp>
      <p:sp>
        <p:nvSpPr>
          <p:cNvPr id="3" name="TextBox 2">
            <a:extLst>
              <a:ext uri="{FF2B5EF4-FFF2-40B4-BE49-F238E27FC236}">
                <a16:creationId xmlns:a16="http://schemas.microsoft.com/office/drawing/2014/main" id="{5F04AF58-893E-9646-8C88-B0981E33210D}"/>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21455918-0CAB-1AA5-FE74-2E1BF81E16F3}"/>
              </a:ext>
            </a:extLst>
          </p:cNvPr>
          <p:cNvSpPr txBox="1"/>
          <p:nvPr/>
        </p:nvSpPr>
        <p:spPr>
          <a:xfrm>
            <a:off x="762700" y="1429440"/>
            <a:ext cx="7684614" cy="2308324"/>
          </a:xfrm>
          <a:prstGeom prst="rect">
            <a:avLst/>
          </a:prstGeom>
          <a:noFill/>
        </p:spPr>
        <p:txBody>
          <a:bodyPr wrap="square">
            <a:spAutoFit/>
          </a:bodyPr>
          <a:lstStyle/>
          <a:p>
            <a:pPr>
              <a:buNone/>
            </a:pPr>
            <a:r>
              <a:rPr lang="en-GB" sz="2400" dirty="0">
                <a:latin typeface="Source Sans Pro" panose="020B0503030403020204" pitchFamily="34" charset="0"/>
                <a:ea typeface="Source Sans Pro" panose="020B0503030403020204" pitchFamily="34" charset="0"/>
              </a:rPr>
              <a:t>The normality assumption applies to the </a:t>
            </a:r>
            <a:r>
              <a:rPr lang="en-GB" sz="2400" b="1" dirty="0">
                <a:latin typeface="Source Sans Pro" panose="020B0503030403020204" pitchFamily="34" charset="0"/>
                <a:ea typeface="Source Sans Pro" panose="020B0503030403020204" pitchFamily="34" charset="0"/>
              </a:rPr>
              <a:t>residuals</a:t>
            </a:r>
            <a:r>
              <a:rPr lang="en-GB" sz="2400" dirty="0">
                <a:latin typeface="Source Sans Pro" panose="020B0503030403020204" pitchFamily="34" charset="0"/>
                <a:ea typeface="Source Sans Pro" panose="020B0503030403020204" pitchFamily="34" charset="0"/>
              </a:rPr>
              <a:t>, not the raw outcome.</a:t>
            </a:r>
            <a:br>
              <a:rPr lang="en-GB" sz="2400" dirty="0">
                <a:latin typeface="Source Sans Pro" panose="020B0503030403020204" pitchFamily="34" charset="0"/>
                <a:ea typeface="Source Sans Pro" panose="020B0503030403020204" pitchFamily="34" charset="0"/>
              </a:rPr>
            </a:br>
            <a:endParaRPr lang="en-GB" sz="2400" dirty="0">
              <a:latin typeface="Source Sans Pro" panose="020B0503030403020204" pitchFamily="34" charset="0"/>
              <a:ea typeface="Source Sans Pro" panose="020B0503030403020204" pitchFamily="34" charset="0"/>
            </a:endParaRPr>
          </a:p>
          <a:p>
            <a:pPr>
              <a:buNone/>
            </a:pPr>
            <a:r>
              <a:rPr lang="en-GB" sz="2400" dirty="0">
                <a:latin typeface="Source Sans Pro" panose="020B0503030403020204" pitchFamily="34" charset="0"/>
                <a:ea typeface="Source Sans Pro" panose="020B0503030403020204" pitchFamily="34" charset="0"/>
              </a:rPr>
              <a:t>We can check this using…</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Kolmogorov–Smirnov test </a:t>
            </a:r>
          </a:p>
          <a:p>
            <a:pPr marL="285750" indent="-285750">
              <a:buFont typeface="Arial" panose="020B0604020202020204" pitchFamily="34" charset="0"/>
              <a:buChar char="•"/>
            </a:pPr>
            <a:r>
              <a:rPr lang="en-GB" sz="2400" dirty="0">
                <a:latin typeface="Source Sans Pro" panose="020B0503030403020204" pitchFamily="34" charset="0"/>
                <a:ea typeface="Source Sans Pro" panose="020B0503030403020204" pitchFamily="34" charset="0"/>
              </a:rPr>
              <a:t>Q–Q plot of residuals</a:t>
            </a:r>
          </a:p>
        </p:txBody>
      </p:sp>
      <p:pic>
        <p:nvPicPr>
          <p:cNvPr id="8" name="Picture 7">
            <a:extLst>
              <a:ext uri="{FF2B5EF4-FFF2-40B4-BE49-F238E27FC236}">
                <a16:creationId xmlns:a16="http://schemas.microsoft.com/office/drawing/2014/main" id="{C5B4FDA8-F819-D7F3-58A0-E7A837209671}"/>
              </a:ext>
            </a:extLst>
          </p:cNvPr>
          <p:cNvPicPr>
            <a:picLocks noChangeAspect="1"/>
          </p:cNvPicPr>
          <p:nvPr/>
        </p:nvPicPr>
        <p:blipFill>
          <a:blip r:embed="rId2"/>
          <a:stretch>
            <a:fillRect/>
          </a:stretch>
        </p:blipFill>
        <p:spPr>
          <a:xfrm>
            <a:off x="643878" y="4973900"/>
            <a:ext cx="6032500" cy="1397000"/>
          </a:xfrm>
          <a:prstGeom prst="rect">
            <a:avLst/>
          </a:prstGeom>
        </p:spPr>
      </p:pic>
      <p:pic>
        <p:nvPicPr>
          <p:cNvPr id="10" name="Picture 9" descr="A graph with a red line&#10;&#10;AI-generated content may be incorrect.">
            <a:extLst>
              <a:ext uri="{FF2B5EF4-FFF2-40B4-BE49-F238E27FC236}">
                <a16:creationId xmlns:a16="http://schemas.microsoft.com/office/drawing/2014/main" id="{D125BD7D-2021-A842-8393-F3546CE6EB51}"/>
              </a:ext>
            </a:extLst>
          </p:cNvPr>
          <p:cNvPicPr>
            <a:picLocks noChangeAspect="1"/>
          </p:cNvPicPr>
          <p:nvPr/>
        </p:nvPicPr>
        <p:blipFill>
          <a:blip r:embed="rId3"/>
          <a:stretch>
            <a:fillRect/>
          </a:stretch>
        </p:blipFill>
        <p:spPr>
          <a:xfrm>
            <a:off x="5268687" y="2222863"/>
            <a:ext cx="2412273" cy="2412273"/>
          </a:xfrm>
          <a:prstGeom prst="rect">
            <a:avLst/>
          </a:prstGeom>
        </p:spPr>
      </p:pic>
    </p:spTree>
    <p:extLst>
      <p:ext uri="{BB962C8B-B14F-4D97-AF65-F5344CB8AC3E}">
        <p14:creationId xmlns:p14="http://schemas.microsoft.com/office/powerpoint/2010/main" val="1092663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116E-A1CE-FBDF-E408-C75A8B6E7B8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32B861-B6B9-5F38-FF6E-F06BDD5F4363}"/>
              </a:ext>
            </a:extLst>
          </p:cNvPr>
          <p:cNvSpPr txBox="1"/>
          <p:nvPr/>
        </p:nvSpPr>
        <p:spPr>
          <a:xfrm>
            <a:off x="315684" y="343807"/>
            <a:ext cx="10551897" cy="1446550"/>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GB" sz="4400" b="1" noProof="0" dirty="0">
                <a:latin typeface="Source Sans Pro" panose="020B0503030403020204" pitchFamily="34" charset="0"/>
                <a:ea typeface="Source Sans Pro" panose="020B0503030403020204" pitchFamily="34" charset="0"/>
                <a:cs typeface="Calibri" panose="020F0502020204030204"/>
              </a:rPr>
              <a:t>Robustness and what to do when assumptions fail.</a:t>
            </a:r>
          </a:p>
        </p:txBody>
      </p:sp>
      <p:sp>
        <p:nvSpPr>
          <p:cNvPr id="3" name="TextBox 2">
            <a:extLst>
              <a:ext uri="{FF2B5EF4-FFF2-40B4-BE49-F238E27FC236}">
                <a16:creationId xmlns:a16="http://schemas.microsoft.com/office/drawing/2014/main" id="{832B09CC-E44F-B6E0-5A6C-9DE128A05666}"/>
              </a:ext>
            </a:extLst>
          </p:cNvPr>
          <p:cNvSpPr txBox="1"/>
          <p:nvPr/>
        </p:nvSpPr>
        <p:spPr>
          <a:xfrm>
            <a:off x="11608904" y="914400"/>
            <a:ext cx="184731" cy="369332"/>
          </a:xfrm>
          <a:prstGeom prst="rect">
            <a:avLst/>
          </a:prstGeom>
          <a:noFill/>
        </p:spPr>
        <p:txBody>
          <a:bodyPr wrap="none" rtlCol="0">
            <a:spAutoFit/>
          </a:bodyPr>
          <a:lstStyle/>
          <a:p>
            <a:endParaRPr lang="en-US" dirty="0"/>
          </a:p>
        </p:txBody>
      </p:sp>
      <p:sp>
        <p:nvSpPr>
          <p:cNvPr id="5" name="TextBox 4">
            <a:extLst>
              <a:ext uri="{FF2B5EF4-FFF2-40B4-BE49-F238E27FC236}">
                <a16:creationId xmlns:a16="http://schemas.microsoft.com/office/drawing/2014/main" id="{4AAE8B19-8B63-2B9E-E2D3-0F445B307A63}"/>
              </a:ext>
            </a:extLst>
          </p:cNvPr>
          <p:cNvSpPr txBox="1"/>
          <p:nvPr/>
        </p:nvSpPr>
        <p:spPr>
          <a:xfrm>
            <a:off x="562428" y="2367281"/>
            <a:ext cx="9161418" cy="3416320"/>
          </a:xfrm>
          <a:prstGeom prst="rect">
            <a:avLst/>
          </a:prstGeom>
          <a:noFill/>
        </p:spPr>
        <p:txBody>
          <a:bodyPr wrap="square" rtlCol="0">
            <a:spAutoFit/>
          </a:bodyPr>
          <a:lstStyle/>
          <a:p>
            <a:r>
              <a:rPr lang="en-US" sz="2400" dirty="0">
                <a:latin typeface="Source Sans Pro" panose="020B0503030403020204" pitchFamily="34" charset="0"/>
                <a:ea typeface="Source Sans Pro" panose="020B0503030403020204" pitchFamily="34" charset="0"/>
              </a:rPr>
              <a:t>ANOVA is reasonably robust to:</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Mild non-normality</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Moderate variance differences (especially with balanced groups)</a:t>
            </a:r>
          </a:p>
          <a:p>
            <a:endParaRPr lang="en-US" sz="2400" dirty="0">
              <a:latin typeface="Source Sans Pro" panose="020B0503030403020204" pitchFamily="34" charset="0"/>
              <a:ea typeface="Source Sans Pro" panose="020B0503030403020204" pitchFamily="34" charset="0"/>
            </a:endParaRPr>
          </a:p>
          <a:p>
            <a:r>
              <a:rPr lang="en-US" sz="2400" dirty="0">
                <a:latin typeface="Source Sans Pro" panose="020B0503030403020204" pitchFamily="34" charset="0"/>
                <a:ea typeface="Source Sans Pro" panose="020B0503030403020204" pitchFamily="34" charset="0"/>
              </a:rPr>
              <a:t>If assumptions are violated:</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Use Welch’s ANOVA</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Transform the outcome</a:t>
            </a:r>
          </a:p>
          <a:p>
            <a:pPr marL="285750" indent="-285750">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Consider non-parametric alternatives</a:t>
            </a:r>
          </a:p>
          <a:p>
            <a:endParaRPr lang="en-US" sz="24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5749084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BB07C101-AC8D-22F3-CDE2-9952DB49DD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743FA7-F3D4-F343-457C-F097AFEF3C84}"/>
              </a:ext>
            </a:extLst>
          </p:cNvPr>
          <p:cNvSpPr txBox="1"/>
          <p:nvPr/>
        </p:nvSpPr>
        <p:spPr>
          <a:xfrm>
            <a:off x="574165" y="2578341"/>
            <a:ext cx="8510200"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3.3 Comparing Categorical Variables</a:t>
            </a:r>
          </a:p>
        </p:txBody>
      </p:sp>
      <p:pic>
        <p:nvPicPr>
          <p:cNvPr id="9" name="Picture 8" descr="A black background with white text&#10;&#10;AI-generated content may be incorrect.">
            <a:extLst>
              <a:ext uri="{FF2B5EF4-FFF2-40B4-BE49-F238E27FC236}">
                <a16:creationId xmlns:a16="http://schemas.microsoft.com/office/drawing/2014/main" id="{A861E90F-0966-58D9-AF11-FE3C43D28AD7}"/>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670153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F1371-3C98-8F90-A3D6-C4CE5B383330}"/>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The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(Chi-square) test</a:t>
            </a:r>
          </a:p>
        </p:txBody>
      </p:sp>
      <p:sp>
        <p:nvSpPr>
          <p:cNvPr id="3" name="Content Placeholder 2">
            <a:extLst>
              <a:ext uri="{FF2B5EF4-FFF2-40B4-BE49-F238E27FC236}">
                <a16:creationId xmlns:a16="http://schemas.microsoft.com/office/drawing/2014/main" id="{F0FB8F95-8168-C28F-1490-AA1801C743B0}"/>
              </a:ext>
            </a:extLst>
          </p:cNvPr>
          <p:cNvSpPr>
            <a:spLocks noGrp="1"/>
          </p:cNvSpPr>
          <p:nvPr>
            <p:ph idx="1"/>
          </p:nvPr>
        </p:nvSpPr>
        <p:spPr>
          <a:xfrm>
            <a:off x="838200" y="1825625"/>
            <a:ext cx="10515600" cy="933109"/>
          </a:xfrm>
        </p:spPr>
        <p:txBody>
          <a:bodyPr/>
          <a:lstStyle/>
          <a:p>
            <a:pPr marL="0" indent="0">
              <a:buNone/>
            </a:pPr>
            <a:r>
              <a:rPr lang="en-GB" dirty="0"/>
              <a:t>Determines if there is an association between two categorical variables.</a:t>
            </a:r>
          </a:p>
        </p:txBody>
      </p:sp>
      <p:pic>
        <p:nvPicPr>
          <p:cNvPr id="5" name="Picture 4" descr="3D Animation of Man Smoking with Dark Grey Smoke">
            <a:extLst>
              <a:ext uri="{FF2B5EF4-FFF2-40B4-BE49-F238E27FC236}">
                <a16:creationId xmlns:a16="http://schemas.microsoft.com/office/drawing/2014/main" id="{890C8D7C-B4D4-1F25-81D1-3CB437093E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369" y="3211371"/>
            <a:ext cx="2868909" cy="286890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897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6E2C2-6CD8-6F31-EC04-0A1D39362BCE}"/>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Types of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test</a:t>
            </a:r>
          </a:p>
        </p:txBody>
      </p:sp>
      <p:sp>
        <p:nvSpPr>
          <p:cNvPr id="3" name="Content Placeholder 2">
            <a:extLst>
              <a:ext uri="{FF2B5EF4-FFF2-40B4-BE49-F238E27FC236}">
                <a16:creationId xmlns:a16="http://schemas.microsoft.com/office/drawing/2014/main" id="{2BB6B27A-36F0-B79E-6934-3CB4CE31D48B}"/>
              </a:ext>
            </a:extLst>
          </p:cNvPr>
          <p:cNvSpPr>
            <a:spLocks noGrp="1"/>
          </p:cNvSpPr>
          <p:nvPr>
            <p:ph idx="1"/>
          </p:nvPr>
        </p:nvSpPr>
        <p:spPr>
          <a:xfrm>
            <a:off x="838200" y="1825625"/>
            <a:ext cx="5085522" cy="1019430"/>
          </a:xfrm>
        </p:spPr>
        <p:txBody>
          <a:bodyPr/>
          <a:lstStyle/>
          <a:p>
            <a:r>
              <a:rPr lang="en-GB" dirty="0">
                <a:latin typeface="Cambria Math" panose="02040503050406030204" pitchFamily="18" charset="0"/>
                <a:ea typeface="Cambria Math" panose="02040503050406030204" pitchFamily="18" charset="0"/>
              </a:rPr>
              <a:t>The </a:t>
            </a:r>
            <a:r>
              <a:rPr lang="el-GR" dirty="0">
                <a:latin typeface="Cambria Math" panose="02040503050406030204" pitchFamily="18" charset="0"/>
                <a:ea typeface="Cambria Math" panose="02040503050406030204" pitchFamily="18" charset="0"/>
              </a:rPr>
              <a:t>χ</a:t>
            </a:r>
            <a:r>
              <a:rPr lang="en-GB" baseline="30000" dirty="0"/>
              <a:t>2</a:t>
            </a:r>
            <a:r>
              <a:rPr lang="en-GB" dirty="0"/>
              <a:t> Test for independence</a:t>
            </a:r>
          </a:p>
          <a:p>
            <a:r>
              <a:rPr lang="en-GB" dirty="0">
                <a:latin typeface="Cambria Math" panose="02040503050406030204" pitchFamily="18" charset="0"/>
                <a:ea typeface="Cambria Math" panose="02040503050406030204" pitchFamily="18" charset="0"/>
              </a:rPr>
              <a:t>The </a:t>
            </a:r>
            <a:r>
              <a:rPr lang="el-GR" dirty="0">
                <a:latin typeface="Cambria Math" panose="02040503050406030204" pitchFamily="18" charset="0"/>
                <a:ea typeface="Cambria Math" panose="02040503050406030204" pitchFamily="18" charset="0"/>
              </a:rPr>
              <a:t>χ</a:t>
            </a:r>
            <a:r>
              <a:rPr lang="en-GB" baseline="30000" dirty="0"/>
              <a:t>2</a:t>
            </a:r>
            <a:r>
              <a:rPr lang="en-GB" dirty="0"/>
              <a:t> Goodness-of-Fit test</a:t>
            </a:r>
          </a:p>
        </p:txBody>
      </p:sp>
      <p:pic>
        <p:nvPicPr>
          <p:cNvPr id="4100" name="Picture 4" descr="Cigarette">
            <a:extLst>
              <a:ext uri="{FF2B5EF4-FFF2-40B4-BE49-F238E27FC236}">
                <a16:creationId xmlns:a16="http://schemas.microsoft.com/office/drawing/2014/main" id="{26E5506F-90C8-DDFF-3281-C85BE31A1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1180" y="3929719"/>
            <a:ext cx="2563156" cy="256315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ad Lungs">
            <a:extLst>
              <a:ext uri="{FF2B5EF4-FFF2-40B4-BE49-F238E27FC236}">
                <a16:creationId xmlns:a16="http://schemas.microsoft.com/office/drawing/2014/main" id="{6315D3B4-95FE-2CF6-6AAC-52F08736A2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7471" y="3358724"/>
            <a:ext cx="3182073" cy="318207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Arrow Connector 10">
            <a:extLst>
              <a:ext uri="{FF2B5EF4-FFF2-40B4-BE49-F238E27FC236}">
                <a16:creationId xmlns:a16="http://schemas.microsoft.com/office/drawing/2014/main" id="{6C27A41D-AE21-139A-6431-709157CC5D17}"/>
              </a:ext>
            </a:extLst>
          </p:cNvPr>
          <p:cNvCxnSpPr>
            <a:cxnSpLocks/>
          </p:cNvCxnSpPr>
          <p:nvPr/>
        </p:nvCxnSpPr>
        <p:spPr>
          <a:xfrm>
            <a:off x="4294336" y="5208737"/>
            <a:ext cx="2643135" cy="256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93529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9365C-6E70-3C50-23D3-6439197A31D3}"/>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How the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test works</a:t>
            </a:r>
          </a:p>
        </p:txBody>
      </p:sp>
      <p:sp>
        <p:nvSpPr>
          <p:cNvPr id="3" name="Content Placeholder 2">
            <a:extLst>
              <a:ext uri="{FF2B5EF4-FFF2-40B4-BE49-F238E27FC236}">
                <a16:creationId xmlns:a16="http://schemas.microsoft.com/office/drawing/2014/main" id="{833395F0-71E6-CD22-BA00-906F6EC7C1F4}"/>
              </a:ext>
            </a:extLst>
          </p:cNvPr>
          <p:cNvSpPr>
            <a:spLocks noGrp="1"/>
          </p:cNvSpPr>
          <p:nvPr>
            <p:ph idx="1"/>
          </p:nvPr>
        </p:nvSpPr>
        <p:spPr>
          <a:xfrm>
            <a:off x="838200" y="1997903"/>
            <a:ext cx="4856544" cy="4058340"/>
          </a:xfrm>
        </p:spPr>
        <p:txBody>
          <a:bodyPr/>
          <a:lstStyle/>
          <a:p>
            <a:r>
              <a:rPr lang="en-GB" dirty="0"/>
              <a:t>It compares the </a:t>
            </a:r>
            <a:r>
              <a:rPr lang="en-GB" b="1" dirty="0"/>
              <a:t>observed frequencies </a:t>
            </a:r>
            <a:r>
              <a:rPr lang="en-GB" dirty="0"/>
              <a:t>in each category to the </a:t>
            </a:r>
            <a:r>
              <a:rPr lang="en-GB" b="1" dirty="0"/>
              <a:t>expected frequencies</a:t>
            </a:r>
            <a:r>
              <a:rPr lang="en-GB" dirty="0"/>
              <a:t>.</a:t>
            </a:r>
          </a:p>
          <a:p>
            <a:endParaRPr lang="en-GB" dirty="0"/>
          </a:p>
          <a:p>
            <a:r>
              <a:rPr lang="en-GB" dirty="0"/>
              <a:t>The expected frequencies are calculated assuming there is no association between variables.</a:t>
            </a:r>
          </a:p>
        </p:txBody>
      </p:sp>
    </p:spTree>
    <p:extLst>
      <p:ext uri="{BB962C8B-B14F-4D97-AF65-F5344CB8AC3E}">
        <p14:creationId xmlns:p14="http://schemas.microsoft.com/office/powerpoint/2010/main" val="16852957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D8C8C-A0A1-7864-AA33-EB5C182A3BDF}"/>
              </a:ext>
            </a:extLst>
          </p:cNvPr>
          <p:cNvSpPr>
            <a:spLocks noGrp="1"/>
          </p:cNvSpPr>
          <p:nvPr>
            <p:ph type="title"/>
          </p:nvPr>
        </p:nvSpPr>
        <p:spPr>
          <a:xfrm>
            <a:off x="652669" y="391023"/>
            <a:ext cx="10515600" cy="1325563"/>
          </a:xfrm>
        </p:spPr>
        <p:txBody>
          <a:bodyPr/>
          <a:lstStyle/>
          <a:p>
            <a:r>
              <a:rPr lang="en-GB" b="1" dirty="0">
                <a:latin typeface="Source Sans Pro" panose="020B0503030403020204" pitchFamily="34" charset="0"/>
                <a:ea typeface="Source Sans Pro" panose="020B0503030403020204" pitchFamily="34" charset="0"/>
              </a:rPr>
              <a:t>How the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test works</a:t>
            </a:r>
          </a:p>
        </p:txBody>
      </p:sp>
      <p:graphicFrame>
        <p:nvGraphicFramePr>
          <p:cNvPr id="5" name="Content Placeholder 4">
            <a:extLst>
              <a:ext uri="{FF2B5EF4-FFF2-40B4-BE49-F238E27FC236}">
                <a16:creationId xmlns:a16="http://schemas.microsoft.com/office/drawing/2014/main" id="{830261E7-1F12-FAFD-D649-0432D3B0C7F0}"/>
              </a:ext>
            </a:extLst>
          </p:cNvPr>
          <p:cNvGraphicFramePr>
            <a:graphicFrameLocks noGrp="1"/>
          </p:cNvGraphicFramePr>
          <p:nvPr>
            <p:ph idx="1"/>
          </p:nvPr>
        </p:nvGraphicFramePr>
        <p:xfrm>
          <a:off x="5497975" y="1951299"/>
          <a:ext cx="6495240" cy="1483360"/>
        </p:xfrm>
        <a:graphic>
          <a:graphicData uri="http://schemas.openxmlformats.org/drawingml/2006/table">
            <a:tbl>
              <a:tblPr firstRow="1" bandRow="1">
                <a:tableStyleId>{616DA210-FB5B-4158-B5E0-FEB733F419BA}</a:tableStyleId>
              </a:tblPr>
              <a:tblGrid>
                <a:gridCol w="1623810">
                  <a:extLst>
                    <a:ext uri="{9D8B030D-6E8A-4147-A177-3AD203B41FA5}">
                      <a16:colId xmlns:a16="http://schemas.microsoft.com/office/drawing/2014/main" val="1452432802"/>
                    </a:ext>
                  </a:extLst>
                </a:gridCol>
                <a:gridCol w="1623810">
                  <a:extLst>
                    <a:ext uri="{9D8B030D-6E8A-4147-A177-3AD203B41FA5}">
                      <a16:colId xmlns:a16="http://schemas.microsoft.com/office/drawing/2014/main" val="2739562367"/>
                    </a:ext>
                  </a:extLst>
                </a:gridCol>
                <a:gridCol w="1948909">
                  <a:extLst>
                    <a:ext uri="{9D8B030D-6E8A-4147-A177-3AD203B41FA5}">
                      <a16:colId xmlns:a16="http://schemas.microsoft.com/office/drawing/2014/main" val="2445351660"/>
                    </a:ext>
                  </a:extLst>
                </a:gridCol>
                <a:gridCol w="1298711">
                  <a:extLst>
                    <a:ext uri="{9D8B030D-6E8A-4147-A177-3AD203B41FA5}">
                      <a16:colId xmlns:a16="http://schemas.microsoft.com/office/drawing/2014/main" val="766090383"/>
                    </a:ext>
                  </a:extLst>
                </a:gridCol>
              </a:tblGrid>
              <a:tr h="370840">
                <a:tc>
                  <a:txBody>
                    <a:bodyPr/>
                    <a:lstStyle/>
                    <a:p>
                      <a:endParaRPr lang="en-GB" dirty="0">
                        <a:latin typeface="Source Sans Pro" panose="020B0503030403020204" pitchFamily="34" charset="0"/>
                        <a:ea typeface="Source Sans Pro" panose="020B0503030403020204" pitchFamily="34" charset="0"/>
                      </a:endParaRPr>
                    </a:p>
                  </a:txBody>
                  <a:tcPr/>
                </a:tc>
                <a:tc>
                  <a:txBody>
                    <a:bodyPr/>
                    <a:lstStyle/>
                    <a:p>
                      <a:pPr algn="ctr"/>
                      <a:r>
                        <a:rPr lang="en-GB" dirty="0">
                          <a:latin typeface="Source Sans Pro" panose="020B0503030403020204" pitchFamily="34" charset="0"/>
                          <a:ea typeface="Source Sans Pro" panose="020B0503030403020204" pitchFamily="34" charset="0"/>
                        </a:rPr>
                        <a:t>Lung disease</a:t>
                      </a:r>
                    </a:p>
                  </a:txBody>
                  <a:tcPr anchor="ctr"/>
                </a:tc>
                <a:tc>
                  <a:txBody>
                    <a:bodyPr/>
                    <a:lstStyle/>
                    <a:p>
                      <a:pPr algn="ctr"/>
                      <a:r>
                        <a:rPr lang="en-GB" dirty="0">
                          <a:latin typeface="Source Sans Pro" panose="020B0503030403020204" pitchFamily="34" charset="0"/>
                          <a:ea typeface="Source Sans Pro" panose="020B0503030403020204" pitchFamily="34" charset="0"/>
                        </a:rPr>
                        <a:t>No lung disease</a:t>
                      </a:r>
                    </a:p>
                  </a:txBody>
                  <a:tcPr anchor="ctr"/>
                </a:tc>
                <a:tc>
                  <a:txBody>
                    <a:bodyPr/>
                    <a:lstStyle/>
                    <a:p>
                      <a:pPr algn="ctr"/>
                      <a:r>
                        <a:rPr lang="en-GB" b="1" dirty="0">
                          <a:latin typeface="Source Sans Pro" panose="020B0503030403020204" pitchFamily="34" charset="0"/>
                          <a:ea typeface="Source Sans Pro" panose="020B0503030403020204" pitchFamily="34" charset="0"/>
                        </a:rPr>
                        <a:t>Total</a:t>
                      </a:r>
                    </a:p>
                  </a:txBody>
                  <a:tcPr anchor="ctr"/>
                </a:tc>
                <a:extLst>
                  <a:ext uri="{0D108BD9-81ED-4DB2-BD59-A6C34878D82A}">
                    <a16:rowId xmlns:a16="http://schemas.microsoft.com/office/drawing/2014/main" val="3045728310"/>
                  </a:ext>
                </a:extLst>
              </a:tr>
              <a:tr h="370840">
                <a:tc>
                  <a:txBody>
                    <a:bodyPr/>
                    <a:lstStyle/>
                    <a:p>
                      <a:pPr algn="ctr"/>
                      <a:r>
                        <a:rPr lang="en-GB" dirty="0">
                          <a:latin typeface="Source Sans Pro" panose="020B0503030403020204" pitchFamily="34" charset="0"/>
                          <a:ea typeface="Source Sans Pro" panose="020B0503030403020204" pitchFamily="34" charset="0"/>
                        </a:rPr>
                        <a:t>Smoker</a:t>
                      </a:r>
                    </a:p>
                  </a:txBody>
                  <a:tcPr anchor="ctr"/>
                </a:tc>
                <a:tc>
                  <a:txBody>
                    <a:bodyPr/>
                    <a:lstStyle/>
                    <a:p>
                      <a:pPr algn="ctr"/>
                      <a:r>
                        <a:rPr lang="en-GB" dirty="0">
                          <a:latin typeface="Source Sans Pro" panose="020B0503030403020204" pitchFamily="34" charset="0"/>
                          <a:ea typeface="Source Sans Pro" panose="020B0503030403020204" pitchFamily="34" charset="0"/>
                        </a:rPr>
                        <a:t>40</a:t>
                      </a:r>
                    </a:p>
                  </a:txBody>
                  <a:tcPr anchor="ctr"/>
                </a:tc>
                <a:tc>
                  <a:txBody>
                    <a:bodyPr/>
                    <a:lstStyle/>
                    <a:p>
                      <a:pPr algn="ctr"/>
                      <a:r>
                        <a:rPr lang="en-GB" dirty="0">
                          <a:latin typeface="Source Sans Pro" panose="020B0503030403020204" pitchFamily="34" charset="0"/>
                          <a:ea typeface="Source Sans Pro" panose="020B0503030403020204" pitchFamily="34" charset="0"/>
                        </a:rPr>
                        <a:t>20</a:t>
                      </a:r>
                    </a:p>
                  </a:txBody>
                  <a:tcPr anchor="ctr"/>
                </a:tc>
                <a:tc>
                  <a:txBody>
                    <a:bodyPr/>
                    <a:lstStyle/>
                    <a:p>
                      <a:pPr algn="ctr"/>
                      <a:r>
                        <a:rPr lang="en-GB" b="1" dirty="0">
                          <a:latin typeface="Source Sans Pro" panose="020B0503030403020204" pitchFamily="34" charset="0"/>
                          <a:ea typeface="Source Sans Pro" panose="020B0503030403020204" pitchFamily="34" charset="0"/>
                        </a:rPr>
                        <a:t>60</a:t>
                      </a:r>
                    </a:p>
                  </a:txBody>
                  <a:tcPr anchor="ctr"/>
                </a:tc>
                <a:extLst>
                  <a:ext uri="{0D108BD9-81ED-4DB2-BD59-A6C34878D82A}">
                    <a16:rowId xmlns:a16="http://schemas.microsoft.com/office/drawing/2014/main" val="2413257467"/>
                  </a:ext>
                </a:extLst>
              </a:tr>
              <a:tr h="370840">
                <a:tc>
                  <a:txBody>
                    <a:bodyPr/>
                    <a:lstStyle/>
                    <a:p>
                      <a:pPr algn="ctr"/>
                      <a:r>
                        <a:rPr lang="en-GB" dirty="0">
                          <a:latin typeface="Source Sans Pro" panose="020B0503030403020204" pitchFamily="34" charset="0"/>
                          <a:ea typeface="Source Sans Pro" panose="020B0503030403020204" pitchFamily="34" charset="0"/>
                        </a:rPr>
                        <a:t>Non-smoker</a:t>
                      </a:r>
                    </a:p>
                  </a:txBody>
                  <a:tcPr anchor="ctr"/>
                </a:tc>
                <a:tc>
                  <a:txBody>
                    <a:bodyPr/>
                    <a:lstStyle/>
                    <a:p>
                      <a:pPr algn="ctr"/>
                      <a:r>
                        <a:rPr lang="en-GB" dirty="0">
                          <a:latin typeface="Source Sans Pro" panose="020B0503030403020204" pitchFamily="34" charset="0"/>
                          <a:ea typeface="Source Sans Pro" panose="020B0503030403020204" pitchFamily="34" charset="0"/>
                        </a:rPr>
                        <a:t>10</a:t>
                      </a:r>
                    </a:p>
                  </a:txBody>
                  <a:tcPr anchor="ctr"/>
                </a:tc>
                <a:tc>
                  <a:txBody>
                    <a:bodyPr/>
                    <a:lstStyle/>
                    <a:p>
                      <a:pPr algn="ctr"/>
                      <a:r>
                        <a:rPr lang="en-GB" dirty="0">
                          <a:latin typeface="Source Sans Pro" panose="020B0503030403020204" pitchFamily="34" charset="0"/>
                          <a:ea typeface="Source Sans Pro" panose="020B0503030403020204" pitchFamily="34" charset="0"/>
                        </a:rPr>
                        <a:t>30</a:t>
                      </a:r>
                    </a:p>
                  </a:txBody>
                  <a:tcPr anchor="ctr"/>
                </a:tc>
                <a:tc>
                  <a:txBody>
                    <a:bodyPr/>
                    <a:lstStyle/>
                    <a:p>
                      <a:pPr algn="ctr"/>
                      <a:r>
                        <a:rPr lang="en-GB" b="1" dirty="0">
                          <a:latin typeface="Source Sans Pro" panose="020B0503030403020204" pitchFamily="34" charset="0"/>
                          <a:ea typeface="Source Sans Pro" panose="020B0503030403020204" pitchFamily="34" charset="0"/>
                        </a:rPr>
                        <a:t>40</a:t>
                      </a:r>
                    </a:p>
                  </a:txBody>
                  <a:tcPr anchor="ctr"/>
                </a:tc>
                <a:extLst>
                  <a:ext uri="{0D108BD9-81ED-4DB2-BD59-A6C34878D82A}">
                    <a16:rowId xmlns:a16="http://schemas.microsoft.com/office/drawing/2014/main" val="2543227246"/>
                  </a:ext>
                </a:extLst>
              </a:tr>
              <a:tr h="370840">
                <a:tc>
                  <a:txBody>
                    <a:bodyPr/>
                    <a:lstStyle/>
                    <a:p>
                      <a:pPr algn="ctr"/>
                      <a:r>
                        <a:rPr lang="en-GB" b="1" dirty="0">
                          <a:latin typeface="Source Sans Pro" panose="020B0503030403020204" pitchFamily="34" charset="0"/>
                          <a:ea typeface="Source Sans Pro" panose="020B0503030403020204" pitchFamily="34" charset="0"/>
                        </a:rPr>
                        <a:t>Total</a:t>
                      </a:r>
                    </a:p>
                  </a:txBody>
                  <a:tcPr anchor="ctr"/>
                </a:tc>
                <a:tc>
                  <a:txBody>
                    <a:bodyPr/>
                    <a:lstStyle/>
                    <a:p>
                      <a:pPr algn="ctr"/>
                      <a:r>
                        <a:rPr lang="en-GB" b="1" dirty="0">
                          <a:latin typeface="Source Sans Pro" panose="020B0503030403020204" pitchFamily="34" charset="0"/>
                          <a:ea typeface="Source Sans Pro" panose="020B0503030403020204" pitchFamily="34" charset="0"/>
                        </a:rPr>
                        <a:t>50</a:t>
                      </a:r>
                    </a:p>
                  </a:txBody>
                  <a:tcPr anchor="ctr"/>
                </a:tc>
                <a:tc>
                  <a:txBody>
                    <a:bodyPr/>
                    <a:lstStyle/>
                    <a:p>
                      <a:pPr algn="ctr"/>
                      <a:r>
                        <a:rPr lang="en-GB" b="1" dirty="0">
                          <a:latin typeface="Source Sans Pro" panose="020B0503030403020204" pitchFamily="34" charset="0"/>
                          <a:ea typeface="Source Sans Pro" panose="020B0503030403020204" pitchFamily="34" charset="0"/>
                        </a:rPr>
                        <a:t>50</a:t>
                      </a:r>
                    </a:p>
                  </a:txBody>
                  <a:tcPr anchor="ctr"/>
                </a:tc>
                <a:tc>
                  <a:txBody>
                    <a:bodyPr/>
                    <a:lstStyle/>
                    <a:p>
                      <a:pPr algn="ctr"/>
                      <a:r>
                        <a:rPr lang="en-GB" b="1" dirty="0">
                          <a:latin typeface="Source Sans Pro" panose="020B0503030403020204" pitchFamily="34" charset="0"/>
                          <a:ea typeface="Source Sans Pro" panose="020B0503030403020204" pitchFamily="34" charset="0"/>
                        </a:rPr>
                        <a:t>100</a:t>
                      </a:r>
                    </a:p>
                  </a:txBody>
                  <a:tcPr anchor="ctr"/>
                </a:tc>
                <a:extLst>
                  <a:ext uri="{0D108BD9-81ED-4DB2-BD59-A6C34878D82A}">
                    <a16:rowId xmlns:a16="http://schemas.microsoft.com/office/drawing/2014/main" val="1905947358"/>
                  </a:ext>
                </a:extLst>
              </a:tr>
            </a:tbl>
          </a:graphicData>
        </a:graphic>
      </p:graphicFrame>
      <p:pic>
        <p:nvPicPr>
          <p:cNvPr id="4" name="Picture 4" descr="Ten People Smoking and Ten People Not Smoking">
            <a:extLst>
              <a:ext uri="{FF2B5EF4-FFF2-40B4-BE49-F238E27FC236}">
                <a16:creationId xmlns:a16="http://schemas.microsoft.com/office/drawing/2014/main" id="{D68B7B3C-8579-BB62-C015-6E60C985F0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669" y="1951299"/>
            <a:ext cx="4515678" cy="4515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6712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41FC2-C44A-D33A-8F4D-5D6502BEDD6D}"/>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Expected frequencies</a:t>
            </a:r>
          </a:p>
        </p:txBody>
      </p:sp>
      <p:sp>
        <p:nvSpPr>
          <p:cNvPr id="3" name="Content Placeholder 2">
            <a:extLst>
              <a:ext uri="{FF2B5EF4-FFF2-40B4-BE49-F238E27FC236}">
                <a16:creationId xmlns:a16="http://schemas.microsoft.com/office/drawing/2014/main" id="{3871F8E1-7D61-E53E-8B8A-572714BDEEC0}"/>
              </a:ext>
            </a:extLst>
          </p:cNvPr>
          <p:cNvSpPr>
            <a:spLocks noGrp="1"/>
          </p:cNvSpPr>
          <p:nvPr>
            <p:ph idx="1"/>
          </p:nvPr>
        </p:nvSpPr>
        <p:spPr>
          <a:xfrm>
            <a:off x="838200" y="1605736"/>
            <a:ext cx="10515600" cy="954107"/>
          </a:xfrm>
        </p:spPr>
        <p:txBody>
          <a:bodyPr/>
          <a:lstStyle/>
          <a:p>
            <a:pPr marL="0" indent="0">
              <a:buNone/>
            </a:pPr>
            <a:r>
              <a:rPr lang="en-US" dirty="0">
                <a:latin typeface="Source Sans Pro" panose="020B0503030403020204" pitchFamily="34" charset="0"/>
                <a:ea typeface="Source Sans Pro" panose="020B0503030403020204" pitchFamily="34" charset="0"/>
              </a:rPr>
              <a:t>The expected frequency for each cell in the contingency table is calculated using the formula: </a:t>
            </a:r>
          </a:p>
          <a:p>
            <a:pPr marL="0" indent="0">
              <a:buNone/>
            </a:pPr>
            <a:endParaRPr lang="en-GB" dirty="0">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186AEC19-2E9A-1225-95DB-DB5D947FED38}"/>
              </a:ext>
            </a:extLst>
          </p:cNvPr>
          <p:cNvSpPr txBox="1"/>
          <p:nvPr/>
        </p:nvSpPr>
        <p:spPr>
          <a:xfrm>
            <a:off x="937381" y="2951946"/>
            <a:ext cx="5254908" cy="954107"/>
          </a:xfrm>
          <a:prstGeom prst="rect">
            <a:avLst/>
          </a:prstGeom>
          <a:noFill/>
        </p:spPr>
        <p:txBody>
          <a:bodyPr wrap="square" rtlCol="0">
            <a:spAutoFit/>
          </a:bodyPr>
          <a:lstStyle/>
          <a:p>
            <a:r>
              <a:rPr lang="el-GR" sz="2800" i="1" dirty="0">
                <a:latin typeface="Cambria Math" panose="02040503050406030204" pitchFamily="18" charset="0"/>
                <a:ea typeface="Cambria Math" panose="02040503050406030204" pitchFamily="18" charset="0"/>
              </a:rPr>
              <a:t>Ε</a:t>
            </a:r>
            <a:r>
              <a:rPr lang="en-GB" sz="2800" i="1" dirty="0">
                <a:latin typeface="Cambria Math" panose="02040503050406030204" pitchFamily="18" charset="0"/>
                <a:ea typeface="Cambria Math" panose="02040503050406030204" pitchFamily="18" charset="0"/>
              </a:rPr>
              <a:t> </a:t>
            </a:r>
            <a:r>
              <a:rPr lang="en-GB" sz="2800" dirty="0">
                <a:latin typeface="Cambria Math" panose="02040503050406030204" pitchFamily="18" charset="0"/>
                <a:ea typeface="Cambria Math" panose="02040503050406030204" pitchFamily="18" charset="0"/>
              </a:rPr>
              <a:t>= </a:t>
            </a:r>
            <a:r>
              <a:rPr lang="en-GB" sz="2800" u="sng" dirty="0">
                <a:latin typeface="Cambria Math" panose="02040503050406030204" pitchFamily="18" charset="0"/>
                <a:ea typeface="Cambria Math" panose="02040503050406030204" pitchFamily="18" charset="0"/>
              </a:rPr>
              <a:t>Row Total x Column Total</a:t>
            </a:r>
          </a:p>
          <a:p>
            <a:r>
              <a:rPr lang="en-GB" sz="2800" dirty="0">
                <a:latin typeface="Cambria Math" panose="02040503050406030204" pitchFamily="18" charset="0"/>
                <a:ea typeface="Cambria Math" panose="02040503050406030204" pitchFamily="18" charset="0"/>
              </a:rPr>
              <a:t>	      Grand Total</a:t>
            </a:r>
            <a:r>
              <a:rPr lang="en-GB" dirty="0">
                <a:latin typeface="Cambria Math" panose="02040503050406030204" pitchFamily="18" charset="0"/>
                <a:ea typeface="Cambria Math" panose="02040503050406030204" pitchFamily="18" charset="0"/>
              </a:rPr>
              <a:t>	</a:t>
            </a:r>
            <a:endParaRPr lang="en-GB" dirty="0"/>
          </a:p>
        </p:txBody>
      </p:sp>
    </p:spTree>
    <p:extLst>
      <p:ext uri="{BB962C8B-B14F-4D97-AF65-F5344CB8AC3E}">
        <p14:creationId xmlns:p14="http://schemas.microsoft.com/office/powerpoint/2010/main" val="18230985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18775-BC89-C9CF-4734-AF8A483CEDF7}"/>
              </a:ext>
            </a:extLst>
          </p:cNvPr>
          <p:cNvSpPr>
            <a:spLocks noGrp="1"/>
          </p:cNvSpPr>
          <p:nvPr>
            <p:ph type="title"/>
          </p:nvPr>
        </p:nvSpPr>
        <p:spPr>
          <a:xfrm>
            <a:off x="529416" y="718512"/>
            <a:ext cx="5351362" cy="775178"/>
          </a:xfrm>
        </p:spPr>
        <p:txBody>
          <a:bodyPr>
            <a:normAutofit fontScale="90000"/>
          </a:bodyPr>
          <a:lstStyle/>
          <a:p>
            <a:r>
              <a:rPr lang="en-GB" b="1" dirty="0">
                <a:latin typeface="Source Sans Pro" panose="020B0503030403020204" pitchFamily="34" charset="0"/>
                <a:ea typeface="Source Sans Pro" panose="020B0503030403020204" pitchFamily="34" charset="0"/>
              </a:rPr>
              <a:t>Expected frequencies</a:t>
            </a:r>
          </a:p>
        </p:txBody>
      </p:sp>
      <p:graphicFrame>
        <p:nvGraphicFramePr>
          <p:cNvPr id="5" name="Content Placeholder 4">
            <a:extLst>
              <a:ext uri="{FF2B5EF4-FFF2-40B4-BE49-F238E27FC236}">
                <a16:creationId xmlns:a16="http://schemas.microsoft.com/office/drawing/2014/main" id="{66A03E94-30BB-200E-16B2-842A53688773}"/>
              </a:ext>
            </a:extLst>
          </p:cNvPr>
          <p:cNvGraphicFramePr>
            <a:graphicFrameLocks noGrp="1"/>
          </p:cNvGraphicFramePr>
          <p:nvPr>
            <p:ph idx="1"/>
          </p:nvPr>
        </p:nvGraphicFramePr>
        <p:xfrm>
          <a:off x="6096000" y="2190990"/>
          <a:ext cx="5351362" cy="1559560"/>
        </p:xfrm>
        <a:graphic>
          <a:graphicData uri="http://schemas.openxmlformats.org/drawingml/2006/table">
            <a:tbl>
              <a:tblPr firstRow="1" bandRow="1">
                <a:tableStyleId>{616DA210-FB5B-4158-B5E0-FEB733F419BA}</a:tableStyleId>
              </a:tblPr>
              <a:tblGrid>
                <a:gridCol w="1463956">
                  <a:extLst>
                    <a:ext uri="{9D8B030D-6E8A-4147-A177-3AD203B41FA5}">
                      <a16:colId xmlns:a16="http://schemas.microsoft.com/office/drawing/2014/main" val="1452432802"/>
                    </a:ext>
                  </a:extLst>
                </a:gridCol>
                <a:gridCol w="1225229">
                  <a:extLst>
                    <a:ext uri="{9D8B030D-6E8A-4147-A177-3AD203B41FA5}">
                      <a16:colId xmlns:a16="http://schemas.microsoft.com/office/drawing/2014/main" val="2739562367"/>
                    </a:ext>
                  </a:extLst>
                </a:gridCol>
                <a:gridCol w="1458410">
                  <a:extLst>
                    <a:ext uri="{9D8B030D-6E8A-4147-A177-3AD203B41FA5}">
                      <a16:colId xmlns:a16="http://schemas.microsoft.com/office/drawing/2014/main" val="2445351660"/>
                    </a:ext>
                  </a:extLst>
                </a:gridCol>
                <a:gridCol w="1203767">
                  <a:extLst>
                    <a:ext uri="{9D8B030D-6E8A-4147-A177-3AD203B41FA5}">
                      <a16:colId xmlns:a16="http://schemas.microsoft.com/office/drawing/2014/main" val="766090383"/>
                    </a:ext>
                  </a:extLst>
                </a:gridCol>
              </a:tblGrid>
              <a:tr h="370840">
                <a:tc>
                  <a:txBody>
                    <a:bodyPr/>
                    <a:lstStyle/>
                    <a:p>
                      <a:endParaRPr lang="en-GB" sz="1200" dirty="0"/>
                    </a:p>
                  </a:txBody>
                  <a:tcPr/>
                </a:tc>
                <a:tc>
                  <a:txBody>
                    <a:bodyPr/>
                    <a:lstStyle/>
                    <a:p>
                      <a:pPr algn="ctr"/>
                      <a:r>
                        <a:rPr lang="en-GB" sz="1200" dirty="0"/>
                        <a:t>Lung disease</a:t>
                      </a:r>
                    </a:p>
                  </a:txBody>
                  <a:tcPr anchor="ctr"/>
                </a:tc>
                <a:tc>
                  <a:txBody>
                    <a:bodyPr/>
                    <a:lstStyle/>
                    <a:p>
                      <a:pPr algn="ctr"/>
                      <a:r>
                        <a:rPr lang="en-GB" sz="1200" dirty="0"/>
                        <a:t>No lung disease</a:t>
                      </a:r>
                    </a:p>
                  </a:txBody>
                  <a:tcPr anchor="ctr"/>
                </a:tc>
                <a:tc>
                  <a:txBody>
                    <a:bodyPr/>
                    <a:lstStyle/>
                    <a:p>
                      <a:pPr algn="ctr"/>
                      <a:r>
                        <a:rPr lang="en-GB" sz="1200" b="1" dirty="0"/>
                        <a:t>Total</a:t>
                      </a:r>
                    </a:p>
                  </a:txBody>
                  <a:tcPr anchor="ctr"/>
                </a:tc>
                <a:extLst>
                  <a:ext uri="{0D108BD9-81ED-4DB2-BD59-A6C34878D82A}">
                    <a16:rowId xmlns:a16="http://schemas.microsoft.com/office/drawing/2014/main" val="3045728310"/>
                  </a:ext>
                </a:extLst>
              </a:tr>
              <a:tr h="370840">
                <a:tc>
                  <a:txBody>
                    <a:bodyPr/>
                    <a:lstStyle/>
                    <a:p>
                      <a:pPr algn="ctr"/>
                      <a:r>
                        <a:rPr lang="en-GB" sz="1200" dirty="0"/>
                        <a:t>Smoker</a:t>
                      </a:r>
                    </a:p>
                  </a:txBody>
                  <a:tcPr anchor="ctr">
                    <a:noFill/>
                  </a:tcPr>
                </a:tc>
                <a:tc>
                  <a:txBody>
                    <a:bodyPr/>
                    <a:lstStyle/>
                    <a:p>
                      <a:pPr algn="ctr"/>
                      <a:r>
                        <a:rPr lang="en-GB" sz="2000" dirty="0"/>
                        <a:t>40</a:t>
                      </a:r>
                    </a:p>
                  </a:txBody>
                  <a:tcPr anchor="ctr">
                    <a:noFill/>
                  </a:tcPr>
                </a:tc>
                <a:tc>
                  <a:txBody>
                    <a:bodyPr/>
                    <a:lstStyle/>
                    <a:p>
                      <a:pPr algn="ctr"/>
                      <a:r>
                        <a:rPr lang="en-GB" sz="2000" dirty="0"/>
                        <a:t>20</a:t>
                      </a:r>
                    </a:p>
                  </a:txBody>
                  <a:tcPr anchor="ctr">
                    <a:noFill/>
                  </a:tcPr>
                </a:tc>
                <a:tc>
                  <a:txBody>
                    <a:bodyPr/>
                    <a:lstStyle/>
                    <a:p>
                      <a:pPr algn="ctr"/>
                      <a:r>
                        <a:rPr lang="en-GB" sz="2000" b="1" dirty="0">
                          <a:solidFill>
                            <a:srgbClr val="E96736"/>
                          </a:solidFill>
                        </a:rPr>
                        <a:t>60</a:t>
                      </a:r>
                    </a:p>
                  </a:txBody>
                  <a:tcPr anchor="ctr">
                    <a:noFill/>
                  </a:tcPr>
                </a:tc>
                <a:extLst>
                  <a:ext uri="{0D108BD9-81ED-4DB2-BD59-A6C34878D82A}">
                    <a16:rowId xmlns:a16="http://schemas.microsoft.com/office/drawing/2014/main" val="2413257467"/>
                  </a:ext>
                </a:extLst>
              </a:tr>
              <a:tr h="370840">
                <a:tc>
                  <a:txBody>
                    <a:bodyPr/>
                    <a:lstStyle/>
                    <a:p>
                      <a:pPr algn="ctr"/>
                      <a:r>
                        <a:rPr lang="en-GB" sz="1200" dirty="0"/>
                        <a:t>Non-smoker</a:t>
                      </a:r>
                    </a:p>
                  </a:txBody>
                  <a:tcPr anchor="ctr"/>
                </a:tc>
                <a:tc>
                  <a:txBody>
                    <a:bodyPr/>
                    <a:lstStyle/>
                    <a:p>
                      <a:pPr algn="ctr"/>
                      <a:r>
                        <a:rPr lang="en-GB" sz="2000" dirty="0"/>
                        <a:t>10</a:t>
                      </a:r>
                    </a:p>
                  </a:txBody>
                  <a:tcPr anchor="ctr"/>
                </a:tc>
                <a:tc>
                  <a:txBody>
                    <a:bodyPr/>
                    <a:lstStyle/>
                    <a:p>
                      <a:pPr algn="ctr"/>
                      <a:r>
                        <a:rPr lang="en-GB" sz="2000" dirty="0"/>
                        <a:t>30</a:t>
                      </a:r>
                    </a:p>
                  </a:txBody>
                  <a:tcPr anchor="ctr"/>
                </a:tc>
                <a:tc>
                  <a:txBody>
                    <a:bodyPr/>
                    <a:lstStyle/>
                    <a:p>
                      <a:pPr algn="ctr"/>
                      <a:r>
                        <a:rPr lang="en-GB" sz="2000" b="1" dirty="0"/>
                        <a:t>40</a:t>
                      </a:r>
                    </a:p>
                  </a:txBody>
                  <a:tcPr anchor="ctr"/>
                </a:tc>
                <a:extLst>
                  <a:ext uri="{0D108BD9-81ED-4DB2-BD59-A6C34878D82A}">
                    <a16:rowId xmlns:a16="http://schemas.microsoft.com/office/drawing/2014/main" val="2543227246"/>
                  </a:ext>
                </a:extLst>
              </a:tr>
              <a:tr h="370840">
                <a:tc>
                  <a:txBody>
                    <a:bodyPr/>
                    <a:lstStyle/>
                    <a:p>
                      <a:pPr algn="ctr"/>
                      <a:r>
                        <a:rPr lang="en-GB" sz="1200" b="1" dirty="0"/>
                        <a:t>Total</a:t>
                      </a:r>
                    </a:p>
                  </a:txBody>
                  <a:tcPr anchor="ctr">
                    <a:noFill/>
                  </a:tcPr>
                </a:tc>
                <a:tc>
                  <a:txBody>
                    <a:bodyPr/>
                    <a:lstStyle/>
                    <a:p>
                      <a:pPr algn="ctr"/>
                      <a:r>
                        <a:rPr lang="en-GB" sz="2000" b="1" dirty="0">
                          <a:solidFill>
                            <a:srgbClr val="479A9F"/>
                          </a:solidFill>
                        </a:rPr>
                        <a:t>50</a:t>
                      </a:r>
                    </a:p>
                  </a:txBody>
                  <a:tcPr anchor="ctr">
                    <a:noFill/>
                  </a:tcPr>
                </a:tc>
                <a:tc>
                  <a:txBody>
                    <a:bodyPr/>
                    <a:lstStyle/>
                    <a:p>
                      <a:pPr algn="ctr"/>
                      <a:r>
                        <a:rPr lang="en-GB" sz="2000" b="1" dirty="0"/>
                        <a:t>50</a:t>
                      </a:r>
                    </a:p>
                  </a:txBody>
                  <a:tcPr anchor="ctr">
                    <a:noFill/>
                  </a:tcPr>
                </a:tc>
                <a:tc>
                  <a:txBody>
                    <a:bodyPr/>
                    <a:lstStyle/>
                    <a:p>
                      <a:pPr algn="ctr"/>
                      <a:r>
                        <a:rPr lang="en-GB" sz="2000" b="1" dirty="0">
                          <a:solidFill>
                            <a:srgbClr val="6A0051"/>
                          </a:solidFill>
                        </a:rPr>
                        <a:t>100</a:t>
                      </a:r>
                    </a:p>
                  </a:txBody>
                  <a:tcPr anchor="ctr">
                    <a:noFill/>
                  </a:tcPr>
                </a:tc>
                <a:extLst>
                  <a:ext uri="{0D108BD9-81ED-4DB2-BD59-A6C34878D82A}">
                    <a16:rowId xmlns:a16="http://schemas.microsoft.com/office/drawing/2014/main" val="1905947358"/>
                  </a:ext>
                </a:extLst>
              </a:tr>
            </a:tbl>
          </a:graphicData>
        </a:graphic>
      </p:graphicFrame>
      <p:sp>
        <p:nvSpPr>
          <p:cNvPr id="6" name="TextBox 5">
            <a:extLst>
              <a:ext uri="{FF2B5EF4-FFF2-40B4-BE49-F238E27FC236}">
                <a16:creationId xmlns:a16="http://schemas.microsoft.com/office/drawing/2014/main" id="{F80A669C-DA4D-87F8-D9B8-F1814E7C13F6}"/>
              </a:ext>
            </a:extLst>
          </p:cNvPr>
          <p:cNvSpPr txBox="1"/>
          <p:nvPr/>
        </p:nvSpPr>
        <p:spPr>
          <a:xfrm>
            <a:off x="744638" y="1817871"/>
            <a:ext cx="4012892" cy="830997"/>
          </a:xfrm>
          <a:prstGeom prst="rect">
            <a:avLst/>
          </a:prstGeom>
          <a:noFill/>
        </p:spPr>
        <p:txBody>
          <a:bodyPr wrap="square" rtlCol="0">
            <a:spAutoFit/>
          </a:bodyPr>
          <a:lstStyle/>
          <a:p>
            <a:r>
              <a:rPr lang="en-GB" sz="2400" i="1" dirty="0">
                <a:latin typeface="Source Sans Pro" panose="020B0503030403020204" pitchFamily="34" charset="0"/>
                <a:ea typeface="Source Sans Pro" panose="020B0503030403020204" pitchFamily="34" charset="0"/>
              </a:rPr>
              <a:t>E </a:t>
            </a:r>
            <a:r>
              <a:rPr lang="en-GB" sz="2400" dirty="0">
                <a:latin typeface="Source Sans Pro" panose="020B0503030403020204" pitchFamily="34" charset="0"/>
                <a:ea typeface="Source Sans Pro" panose="020B0503030403020204" pitchFamily="34" charset="0"/>
              </a:rPr>
              <a:t>= </a:t>
            </a:r>
            <a:r>
              <a:rPr lang="en-GB" sz="2400" u="sng" dirty="0">
                <a:solidFill>
                  <a:srgbClr val="E96736"/>
                </a:solidFill>
                <a:latin typeface="Source Sans Pro" panose="020B0503030403020204" pitchFamily="34" charset="0"/>
                <a:ea typeface="Source Sans Pro" panose="020B0503030403020204" pitchFamily="34" charset="0"/>
              </a:rPr>
              <a:t>Row Total </a:t>
            </a:r>
            <a:r>
              <a:rPr lang="en-GB" sz="2400" u="sng" dirty="0">
                <a:latin typeface="Source Sans Pro" panose="020B0503030403020204" pitchFamily="34" charset="0"/>
                <a:ea typeface="Source Sans Pro" panose="020B0503030403020204" pitchFamily="34" charset="0"/>
              </a:rPr>
              <a:t>x </a:t>
            </a:r>
            <a:r>
              <a:rPr lang="en-GB" sz="2400" u="sng" dirty="0">
                <a:solidFill>
                  <a:srgbClr val="479A9F"/>
                </a:solidFill>
                <a:latin typeface="Source Sans Pro" panose="020B0503030403020204" pitchFamily="34" charset="0"/>
                <a:ea typeface="Source Sans Pro" panose="020B0503030403020204" pitchFamily="34" charset="0"/>
              </a:rPr>
              <a:t>Column Total</a:t>
            </a:r>
          </a:p>
          <a:p>
            <a:r>
              <a:rPr lang="en-GB" sz="2400" dirty="0">
                <a:latin typeface="Source Sans Pro" panose="020B0503030403020204" pitchFamily="34" charset="0"/>
                <a:ea typeface="Source Sans Pro" panose="020B0503030403020204" pitchFamily="34" charset="0"/>
              </a:rPr>
              <a:t>	</a:t>
            </a:r>
            <a:r>
              <a:rPr lang="en-GB" sz="2400" dirty="0">
                <a:solidFill>
                  <a:srgbClr val="6A0051"/>
                </a:solidFill>
                <a:latin typeface="Source Sans Pro" panose="020B0503030403020204" pitchFamily="34" charset="0"/>
                <a:ea typeface="Source Sans Pro" panose="020B0503030403020204" pitchFamily="34" charset="0"/>
              </a:rPr>
              <a:t>Grand Total</a:t>
            </a:r>
            <a:r>
              <a:rPr lang="en-GB" sz="2400" dirty="0">
                <a:latin typeface="Source Sans Pro" panose="020B0503030403020204" pitchFamily="34" charset="0"/>
                <a:ea typeface="Source Sans Pro" panose="020B0503030403020204" pitchFamily="34" charset="0"/>
              </a:rPr>
              <a:t>	</a:t>
            </a:r>
          </a:p>
        </p:txBody>
      </p:sp>
      <p:sp>
        <p:nvSpPr>
          <p:cNvPr id="8" name="TextBox 7">
            <a:extLst>
              <a:ext uri="{FF2B5EF4-FFF2-40B4-BE49-F238E27FC236}">
                <a16:creationId xmlns:a16="http://schemas.microsoft.com/office/drawing/2014/main" id="{70198A97-3A73-E99B-DC9C-2539AC94D21B}"/>
              </a:ext>
            </a:extLst>
          </p:cNvPr>
          <p:cNvSpPr txBox="1"/>
          <p:nvPr/>
        </p:nvSpPr>
        <p:spPr>
          <a:xfrm>
            <a:off x="744638" y="2919553"/>
            <a:ext cx="2285750" cy="830997"/>
          </a:xfrm>
          <a:prstGeom prst="rect">
            <a:avLst/>
          </a:prstGeom>
          <a:noFill/>
        </p:spPr>
        <p:txBody>
          <a:bodyPr wrap="square" rtlCol="0">
            <a:spAutoFit/>
          </a:bodyPr>
          <a:lstStyle/>
          <a:p>
            <a:r>
              <a:rPr lang="en-GB" sz="2400" i="1" dirty="0">
                <a:latin typeface="Source Sans Pro" panose="020B0503030403020204" pitchFamily="34" charset="0"/>
                <a:ea typeface="Source Sans Pro" panose="020B0503030403020204" pitchFamily="34" charset="0"/>
              </a:rPr>
              <a:t>E </a:t>
            </a:r>
            <a:r>
              <a:rPr lang="en-GB" sz="2400" dirty="0">
                <a:latin typeface="Source Sans Pro" panose="020B0503030403020204" pitchFamily="34" charset="0"/>
                <a:ea typeface="Source Sans Pro" panose="020B0503030403020204" pitchFamily="34" charset="0"/>
              </a:rPr>
              <a:t>= </a:t>
            </a:r>
            <a:r>
              <a:rPr lang="en-GB" sz="2400" u="sng" dirty="0">
                <a:solidFill>
                  <a:srgbClr val="E96736"/>
                </a:solidFill>
                <a:latin typeface="Source Sans Pro" panose="020B0503030403020204" pitchFamily="34" charset="0"/>
                <a:ea typeface="Source Sans Pro" panose="020B0503030403020204" pitchFamily="34" charset="0"/>
              </a:rPr>
              <a:t>60 </a:t>
            </a:r>
            <a:r>
              <a:rPr lang="en-GB" sz="2400" u="sng" dirty="0">
                <a:latin typeface="Source Sans Pro" panose="020B0503030403020204" pitchFamily="34" charset="0"/>
                <a:ea typeface="Source Sans Pro" panose="020B0503030403020204" pitchFamily="34" charset="0"/>
              </a:rPr>
              <a:t>x </a:t>
            </a:r>
            <a:r>
              <a:rPr lang="en-GB" sz="2400" u="sng" dirty="0">
                <a:solidFill>
                  <a:srgbClr val="479A9F"/>
                </a:solidFill>
                <a:latin typeface="Source Sans Pro" panose="020B0503030403020204" pitchFamily="34" charset="0"/>
                <a:ea typeface="Source Sans Pro" panose="020B0503030403020204" pitchFamily="34" charset="0"/>
              </a:rPr>
              <a:t>50</a:t>
            </a:r>
            <a:r>
              <a:rPr lang="en-GB" sz="2400" dirty="0">
                <a:latin typeface="Source Sans Pro" panose="020B0503030403020204" pitchFamily="34" charset="0"/>
                <a:ea typeface="Source Sans Pro" panose="020B0503030403020204" pitchFamily="34" charset="0"/>
              </a:rPr>
              <a:t> = </a:t>
            </a:r>
            <a:r>
              <a:rPr lang="en-GB" sz="2400" dirty="0">
                <a:solidFill>
                  <a:srgbClr val="FF0000"/>
                </a:solidFill>
                <a:latin typeface="Source Sans Pro" panose="020B0503030403020204" pitchFamily="34" charset="0"/>
                <a:ea typeface="Source Sans Pro" panose="020B0503030403020204" pitchFamily="34" charset="0"/>
              </a:rPr>
              <a:t>30</a:t>
            </a:r>
          </a:p>
          <a:p>
            <a:r>
              <a:rPr lang="en-GB" sz="2400" dirty="0">
                <a:solidFill>
                  <a:srgbClr val="6A0051"/>
                </a:solidFill>
                <a:latin typeface="Source Sans Pro" panose="020B0503030403020204" pitchFamily="34" charset="0"/>
                <a:ea typeface="Source Sans Pro" panose="020B0503030403020204" pitchFamily="34" charset="0"/>
              </a:rPr>
              <a:t>          100</a:t>
            </a:r>
            <a:r>
              <a:rPr lang="en-GB" sz="2400" dirty="0">
                <a:latin typeface="Source Sans Pro" panose="020B0503030403020204" pitchFamily="34" charset="0"/>
                <a:ea typeface="Source Sans Pro" panose="020B0503030403020204" pitchFamily="34" charset="0"/>
              </a:rPr>
              <a:t>	</a:t>
            </a:r>
          </a:p>
        </p:txBody>
      </p:sp>
      <p:graphicFrame>
        <p:nvGraphicFramePr>
          <p:cNvPr id="9" name="Content Placeholder 4">
            <a:extLst>
              <a:ext uri="{FF2B5EF4-FFF2-40B4-BE49-F238E27FC236}">
                <a16:creationId xmlns:a16="http://schemas.microsoft.com/office/drawing/2014/main" id="{547E424D-E078-7728-EFBB-83B914AAA91D}"/>
              </a:ext>
            </a:extLst>
          </p:cNvPr>
          <p:cNvGraphicFramePr>
            <a:graphicFrameLocks/>
          </p:cNvGraphicFramePr>
          <p:nvPr/>
        </p:nvGraphicFramePr>
        <p:xfrm>
          <a:off x="6096000" y="4473771"/>
          <a:ext cx="5351362" cy="1559560"/>
        </p:xfrm>
        <a:graphic>
          <a:graphicData uri="http://schemas.openxmlformats.org/drawingml/2006/table">
            <a:tbl>
              <a:tblPr firstRow="1" bandRow="1">
                <a:tableStyleId>{616DA210-FB5B-4158-B5E0-FEB733F419BA}</a:tableStyleId>
              </a:tblPr>
              <a:tblGrid>
                <a:gridCol w="1463956">
                  <a:extLst>
                    <a:ext uri="{9D8B030D-6E8A-4147-A177-3AD203B41FA5}">
                      <a16:colId xmlns:a16="http://schemas.microsoft.com/office/drawing/2014/main" val="1452432802"/>
                    </a:ext>
                  </a:extLst>
                </a:gridCol>
                <a:gridCol w="1225229">
                  <a:extLst>
                    <a:ext uri="{9D8B030D-6E8A-4147-A177-3AD203B41FA5}">
                      <a16:colId xmlns:a16="http://schemas.microsoft.com/office/drawing/2014/main" val="2739562367"/>
                    </a:ext>
                  </a:extLst>
                </a:gridCol>
                <a:gridCol w="1458410">
                  <a:extLst>
                    <a:ext uri="{9D8B030D-6E8A-4147-A177-3AD203B41FA5}">
                      <a16:colId xmlns:a16="http://schemas.microsoft.com/office/drawing/2014/main" val="2445351660"/>
                    </a:ext>
                  </a:extLst>
                </a:gridCol>
                <a:gridCol w="1203767">
                  <a:extLst>
                    <a:ext uri="{9D8B030D-6E8A-4147-A177-3AD203B41FA5}">
                      <a16:colId xmlns:a16="http://schemas.microsoft.com/office/drawing/2014/main" val="766090383"/>
                    </a:ext>
                  </a:extLst>
                </a:gridCol>
              </a:tblGrid>
              <a:tr h="370840">
                <a:tc>
                  <a:txBody>
                    <a:bodyPr/>
                    <a:lstStyle/>
                    <a:p>
                      <a:endParaRPr lang="en-GB" sz="1200" dirty="0"/>
                    </a:p>
                  </a:txBody>
                  <a:tcPr/>
                </a:tc>
                <a:tc>
                  <a:txBody>
                    <a:bodyPr/>
                    <a:lstStyle/>
                    <a:p>
                      <a:pPr algn="ctr"/>
                      <a:r>
                        <a:rPr lang="en-GB" sz="1200" dirty="0"/>
                        <a:t>Lung disease</a:t>
                      </a:r>
                    </a:p>
                  </a:txBody>
                  <a:tcPr anchor="ctr"/>
                </a:tc>
                <a:tc>
                  <a:txBody>
                    <a:bodyPr/>
                    <a:lstStyle/>
                    <a:p>
                      <a:pPr algn="ctr"/>
                      <a:r>
                        <a:rPr lang="en-GB" sz="1200" dirty="0"/>
                        <a:t>No lung disease</a:t>
                      </a:r>
                    </a:p>
                  </a:txBody>
                  <a:tcPr anchor="ctr"/>
                </a:tc>
                <a:tc>
                  <a:txBody>
                    <a:bodyPr/>
                    <a:lstStyle/>
                    <a:p>
                      <a:pPr algn="ctr"/>
                      <a:r>
                        <a:rPr lang="en-GB" sz="1200" b="1" dirty="0"/>
                        <a:t>Total</a:t>
                      </a:r>
                    </a:p>
                  </a:txBody>
                  <a:tcPr anchor="ctr"/>
                </a:tc>
                <a:extLst>
                  <a:ext uri="{0D108BD9-81ED-4DB2-BD59-A6C34878D82A}">
                    <a16:rowId xmlns:a16="http://schemas.microsoft.com/office/drawing/2014/main" val="3045728310"/>
                  </a:ext>
                </a:extLst>
              </a:tr>
              <a:tr h="370840">
                <a:tc>
                  <a:txBody>
                    <a:bodyPr/>
                    <a:lstStyle/>
                    <a:p>
                      <a:pPr algn="ctr"/>
                      <a:r>
                        <a:rPr lang="en-GB" sz="1200" dirty="0"/>
                        <a:t>Smoker</a:t>
                      </a:r>
                    </a:p>
                  </a:txBody>
                  <a:tcPr anchor="ctr">
                    <a:noFill/>
                  </a:tcPr>
                </a:tc>
                <a:tc>
                  <a:txBody>
                    <a:bodyPr/>
                    <a:lstStyle/>
                    <a:p>
                      <a:pPr algn="ctr"/>
                      <a:r>
                        <a:rPr lang="en-GB" sz="2000" dirty="0">
                          <a:solidFill>
                            <a:srgbClr val="FF0000"/>
                          </a:solidFill>
                        </a:rPr>
                        <a:t>30</a:t>
                      </a:r>
                    </a:p>
                  </a:txBody>
                  <a:tcPr anchor="ctr">
                    <a:noFill/>
                  </a:tcPr>
                </a:tc>
                <a:tc>
                  <a:txBody>
                    <a:bodyPr/>
                    <a:lstStyle/>
                    <a:p>
                      <a:pPr algn="ctr"/>
                      <a:endParaRPr lang="en-GB" sz="2000" dirty="0"/>
                    </a:p>
                  </a:txBody>
                  <a:tcPr anchor="ctr">
                    <a:noFill/>
                  </a:tcPr>
                </a:tc>
                <a:tc>
                  <a:txBody>
                    <a:bodyPr/>
                    <a:lstStyle/>
                    <a:p>
                      <a:pPr algn="ctr"/>
                      <a:endParaRPr lang="en-GB" sz="2000" b="1" dirty="0">
                        <a:solidFill>
                          <a:srgbClr val="E96736"/>
                        </a:solidFill>
                      </a:endParaRPr>
                    </a:p>
                  </a:txBody>
                  <a:tcPr anchor="ctr">
                    <a:noFill/>
                  </a:tcPr>
                </a:tc>
                <a:extLst>
                  <a:ext uri="{0D108BD9-81ED-4DB2-BD59-A6C34878D82A}">
                    <a16:rowId xmlns:a16="http://schemas.microsoft.com/office/drawing/2014/main" val="2413257467"/>
                  </a:ext>
                </a:extLst>
              </a:tr>
              <a:tr h="370840">
                <a:tc>
                  <a:txBody>
                    <a:bodyPr/>
                    <a:lstStyle/>
                    <a:p>
                      <a:pPr algn="ctr"/>
                      <a:r>
                        <a:rPr lang="en-GB" sz="1200" dirty="0"/>
                        <a:t>Non-smoker</a:t>
                      </a:r>
                    </a:p>
                  </a:txBody>
                  <a:tcPr anchor="ctr"/>
                </a:tc>
                <a:tc>
                  <a:txBody>
                    <a:bodyPr/>
                    <a:lstStyle/>
                    <a:p>
                      <a:pPr algn="ctr"/>
                      <a:endParaRPr lang="en-GB" sz="2000" dirty="0"/>
                    </a:p>
                  </a:txBody>
                  <a:tcPr anchor="ctr"/>
                </a:tc>
                <a:tc>
                  <a:txBody>
                    <a:bodyPr/>
                    <a:lstStyle/>
                    <a:p>
                      <a:pPr algn="ctr"/>
                      <a:endParaRPr lang="en-GB" sz="2000" dirty="0"/>
                    </a:p>
                  </a:txBody>
                  <a:tcPr anchor="ctr"/>
                </a:tc>
                <a:tc>
                  <a:txBody>
                    <a:bodyPr/>
                    <a:lstStyle/>
                    <a:p>
                      <a:pPr algn="ctr"/>
                      <a:endParaRPr lang="en-GB" sz="2000" b="1" dirty="0"/>
                    </a:p>
                  </a:txBody>
                  <a:tcPr anchor="ctr"/>
                </a:tc>
                <a:extLst>
                  <a:ext uri="{0D108BD9-81ED-4DB2-BD59-A6C34878D82A}">
                    <a16:rowId xmlns:a16="http://schemas.microsoft.com/office/drawing/2014/main" val="2543227246"/>
                  </a:ext>
                </a:extLst>
              </a:tr>
              <a:tr h="370840">
                <a:tc>
                  <a:txBody>
                    <a:bodyPr/>
                    <a:lstStyle/>
                    <a:p>
                      <a:pPr algn="ctr"/>
                      <a:r>
                        <a:rPr lang="en-GB" sz="1200" b="1" dirty="0"/>
                        <a:t>Total</a:t>
                      </a:r>
                    </a:p>
                  </a:txBody>
                  <a:tcPr anchor="ctr">
                    <a:noFill/>
                  </a:tcPr>
                </a:tc>
                <a:tc>
                  <a:txBody>
                    <a:bodyPr/>
                    <a:lstStyle/>
                    <a:p>
                      <a:pPr algn="ctr"/>
                      <a:endParaRPr lang="en-GB" sz="2000" b="1" dirty="0">
                        <a:solidFill>
                          <a:srgbClr val="479A9F"/>
                        </a:solidFill>
                      </a:endParaRPr>
                    </a:p>
                  </a:txBody>
                  <a:tcPr anchor="ctr">
                    <a:noFill/>
                  </a:tcPr>
                </a:tc>
                <a:tc>
                  <a:txBody>
                    <a:bodyPr/>
                    <a:lstStyle/>
                    <a:p>
                      <a:pPr algn="ctr"/>
                      <a:endParaRPr lang="en-GB" sz="2000" b="1" dirty="0"/>
                    </a:p>
                  </a:txBody>
                  <a:tcPr anchor="ctr">
                    <a:noFill/>
                  </a:tcPr>
                </a:tc>
                <a:tc>
                  <a:txBody>
                    <a:bodyPr/>
                    <a:lstStyle/>
                    <a:p>
                      <a:pPr algn="ctr"/>
                      <a:endParaRPr lang="en-GB" sz="2000" b="1" dirty="0">
                        <a:solidFill>
                          <a:srgbClr val="6A0051"/>
                        </a:solidFill>
                      </a:endParaRPr>
                    </a:p>
                  </a:txBody>
                  <a:tcPr anchor="ctr">
                    <a:noFill/>
                  </a:tcPr>
                </a:tc>
                <a:extLst>
                  <a:ext uri="{0D108BD9-81ED-4DB2-BD59-A6C34878D82A}">
                    <a16:rowId xmlns:a16="http://schemas.microsoft.com/office/drawing/2014/main" val="1905947358"/>
                  </a:ext>
                </a:extLst>
              </a:tr>
            </a:tbl>
          </a:graphicData>
        </a:graphic>
      </p:graphicFrame>
      <p:sp>
        <p:nvSpPr>
          <p:cNvPr id="10" name="TextBox 9">
            <a:extLst>
              <a:ext uri="{FF2B5EF4-FFF2-40B4-BE49-F238E27FC236}">
                <a16:creationId xmlns:a16="http://schemas.microsoft.com/office/drawing/2014/main" id="{281D2A0C-5049-C5FD-98BF-1480A2608ED2}"/>
              </a:ext>
            </a:extLst>
          </p:cNvPr>
          <p:cNvSpPr txBox="1"/>
          <p:nvPr/>
        </p:nvSpPr>
        <p:spPr>
          <a:xfrm>
            <a:off x="6096000" y="1863524"/>
            <a:ext cx="2378856" cy="369332"/>
          </a:xfrm>
          <a:prstGeom prst="rect">
            <a:avLst/>
          </a:prstGeom>
          <a:noFill/>
        </p:spPr>
        <p:txBody>
          <a:bodyPr wrap="none" rtlCol="0">
            <a:spAutoFit/>
          </a:bodyPr>
          <a:lstStyle/>
          <a:p>
            <a:r>
              <a:rPr lang="en-GB" dirty="0"/>
              <a:t>Observed frequencies</a:t>
            </a:r>
          </a:p>
        </p:txBody>
      </p:sp>
      <p:sp>
        <p:nvSpPr>
          <p:cNvPr id="11" name="TextBox 10">
            <a:extLst>
              <a:ext uri="{FF2B5EF4-FFF2-40B4-BE49-F238E27FC236}">
                <a16:creationId xmlns:a16="http://schemas.microsoft.com/office/drawing/2014/main" id="{C916311B-DB35-A41C-C67C-2D6AC26AFA85}"/>
              </a:ext>
            </a:extLst>
          </p:cNvPr>
          <p:cNvSpPr txBox="1"/>
          <p:nvPr/>
        </p:nvSpPr>
        <p:spPr>
          <a:xfrm>
            <a:off x="6096000" y="4078016"/>
            <a:ext cx="2342821" cy="369332"/>
          </a:xfrm>
          <a:prstGeom prst="rect">
            <a:avLst/>
          </a:prstGeom>
          <a:noFill/>
        </p:spPr>
        <p:txBody>
          <a:bodyPr wrap="none" rtlCol="0">
            <a:spAutoFit/>
          </a:bodyPr>
          <a:lstStyle/>
          <a:p>
            <a:r>
              <a:rPr lang="en-GB" dirty="0"/>
              <a:t>Expected frequencies</a:t>
            </a:r>
          </a:p>
        </p:txBody>
      </p:sp>
    </p:spTree>
    <p:custDataLst>
      <p:tags r:id="rId1"/>
    </p:custDataLst>
    <p:extLst>
      <p:ext uri="{BB962C8B-B14F-4D97-AF65-F5344CB8AC3E}">
        <p14:creationId xmlns:p14="http://schemas.microsoft.com/office/powerpoint/2010/main" val="1264776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6A359-B2E1-E611-4118-0DCEBD85571D}"/>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Chi-Square Statistic</a:t>
            </a:r>
          </a:p>
        </p:txBody>
      </p:sp>
      <p:sp>
        <p:nvSpPr>
          <p:cNvPr id="3" name="Content Placeholder 2">
            <a:extLst>
              <a:ext uri="{FF2B5EF4-FFF2-40B4-BE49-F238E27FC236}">
                <a16:creationId xmlns:a16="http://schemas.microsoft.com/office/drawing/2014/main" id="{61AB14F9-7140-A77A-8C90-699558ADFC98}"/>
              </a:ext>
            </a:extLst>
          </p:cNvPr>
          <p:cNvSpPr>
            <a:spLocks noGrp="1"/>
          </p:cNvSpPr>
          <p:nvPr>
            <p:ph idx="1"/>
          </p:nvPr>
        </p:nvSpPr>
        <p:spPr>
          <a:xfrm>
            <a:off x="838200" y="4216193"/>
            <a:ext cx="6480857" cy="2053763"/>
          </a:xfrm>
        </p:spPr>
        <p:txBody>
          <a:bodyPr/>
          <a:lstStyle/>
          <a:p>
            <a:pPr marL="0" indent="0">
              <a:buNone/>
            </a:pPr>
            <a:r>
              <a:rPr lang="en-GB" dirty="0">
                <a:latin typeface="Source Sans Pro" panose="020B0503030403020204" pitchFamily="34" charset="0"/>
                <a:ea typeface="Source Sans Pro" panose="020B0503030403020204" pitchFamily="34" charset="0"/>
              </a:rPr>
              <a:t>Where:</a:t>
            </a:r>
          </a:p>
          <a:p>
            <a:r>
              <a:rPr lang="en-GB" i="1" dirty="0">
                <a:latin typeface="Source Sans Pro" panose="020B0503030403020204" pitchFamily="34" charset="0"/>
                <a:ea typeface="Source Sans Pro" panose="020B0503030403020204" pitchFamily="34" charset="0"/>
              </a:rPr>
              <a:t>O</a:t>
            </a:r>
            <a:r>
              <a:rPr lang="en-GB" dirty="0">
                <a:latin typeface="Source Sans Pro" panose="020B0503030403020204" pitchFamily="34" charset="0"/>
                <a:ea typeface="Source Sans Pro" panose="020B0503030403020204" pitchFamily="34" charset="0"/>
              </a:rPr>
              <a:t> is the observed frequency in each cell</a:t>
            </a:r>
          </a:p>
          <a:p>
            <a:r>
              <a:rPr lang="en-GB" i="1" dirty="0">
                <a:latin typeface="Source Sans Pro" panose="020B0503030403020204" pitchFamily="34" charset="0"/>
                <a:ea typeface="Source Sans Pro" panose="020B0503030403020204" pitchFamily="34" charset="0"/>
              </a:rPr>
              <a:t>E</a:t>
            </a:r>
            <a:r>
              <a:rPr lang="en-GB" dirty="0">
                <a:latin typeface="Source Sans Pro" panose="020B0503030403020204" pitchFamily="34" charset="0"/>
                <a:ea typeface="Source Sans Pro" panose="020B0503030403020204" pitchFamily="34" charset="0"/>
              </a:rPr>
              <a:t> is the expected frequency in each cell</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75D46F-6769-74F8-E42E-4C9DC7557B72}"/>
                  </a:ext>
                </a:extLst>
              </p:cNvPr>
              <p:cNvSpPr txBox="1"/>
              <p:nvPr/>
            </p:nvSpPr>
            <p:spPr>
              <a:xfrm>
                <a:off x="710879" y="2110645"/>
                <a:ext cx="3930570" cy="1685590"/>
              </a:xfrm>
              <a:prstGeom prst="rect">
                <a:avLst/>
              </a:prstGeom>
              <a:noFill/>
            </p:spPr>
            <p:txBody>
              <a:bodyPr wrap="square" rtlCol="0">
                <a:spAutoFit/>
              </a:bodyPr>
              <a:lstStyle/>
              <a:p>
                <a:pPr/>
                <a14:m>
                  <m:oMathPara xmlns:m="http://schemas.openxmlformats.org/officeDocument/2006/math">
                    <m:oMath>
                      <m:sSup>
                        <m:sSupPr>
                          <m:ctrlPr>
                            <a:rPr lang="en-GB" sz="3200" i="1">
                              <a:latin typeface="Cambria Math" panose="02040503050406030204" pitchFamily="18" charset="0"/>
                            </a:rPr>
                          </m:ctrlPr>
                        </m:sSupPr>
                        <m:e>
                          <m:r>
                            <a:rPr lang="en-GB" sz="3200" i="1">
                              <a:latin typeface="Cambria Math" panose="02040503050406030204" pitchFamily="18" charset="0"/>
                            </a:rPr>
                            <m:t>𝑥</m:t>
                          </m:r>
                        </m:e>
                        <m:sup>
                          <m:r>
                            <a:rPr lang="en-GB" sz="3200" i="0">
                              <a:latin typeface="Cambria Math" panose="02040503050406030204" pitchFamily="18" charset="0"/>
                            </a:rPr>
                            <m:t>2</m:t>
                          </m:r>
                        </m:sup>
                      </m:sSup>
                      <m:r>
                        <a:rPr lang="en-GB" sz="3200" i="0">
                          <a:latin typeface="Cambria Math" panose="02040503050406030204" pitchFamily="18" charset="0"/>
                        </a:rPr>
                        <m:t>=</m:t>
                      </m:r>
                      <m:nary>
                        <m:naryPr>
                          <m:chr m:val="∑"/>
                          <m:grow m:val="on"/>
                          <m:subHide m:val="on"/>
                          <m:supHide m:val="on"/>
                          <m:ctrlPr>
                            <a:rPr lang="en-GB" sz="3200" i="1">
                              <a:latin typeface="Cambria Math" panose="02040503050406030204" pitchFamily="18" charset="0"/>
                            </a:rPr>
                          </m:ctrlPr>
                        </m:naryPr>
                        <m:sub/>
                        <m:sup/>
                        <m:e>
                          <m:f>
                            <m:fPr>
                              <m:ctrlPr>
                                <a:rPr lang="en-GB" sz="3200" i="1">
                                  <a:solidFill>
                                    <a:srgbClr val="836967"/>
                                  </a:solidFill>
                                  <a:latin typeface="Cambria Math" panose="02040503050406030204" pitchFamily="18" charset="0"/>
                                </a:rPr>
                              </m:ctrlPr>
                            </m:fPr>
                            <m:num>
                              <m:sSup>
                                <m:sSupPr>
                                  <m:ctrlPr>
                                    <a:rPr lang="en-GB" sz="3200" i="1">
                                      <a:latin typeface="Cambria Math" panose="02040503050406030204" pitchFamily="18" charset="0"/>
                                    </a:rPr>
                                  </m:ctrlPr>
                                </m:sSupPr>
                                <m:e>
                                  <m:d>
                                    <m:dPr>
                                      <m:ctrlPr>
                                        <a:rPr lang="en-GB" sz="3200" i="1">
                                          <a:latin typeface="Cambria Math" panose="02040503050406030204" pitchFamily="18" charset="0"/>
                                        </a:rPr>
                                      </m:ctrlPr>
                                    </m:dPr>
                                    <m:e>
                                      <m:r>
                                        <a:rPr lang="en-GB" sz="3200" i="1">
                                          <a:latin typeface="Cambria Math" panose="02040503050406030204" pitchFamily="18" charset="0"/>
                                        </a:rPr>
                                        <m:t>𝑂</m:t>
                                      </m:r>
                                      <m:r>
                                        <a:rPr lang="en-GB" sz="3200" i="0">
                                          <a:latin typeface="Cambria Math" panose="02040503050406030204" pitchFamily="18" charset="0"/>
                                        </a:rPr>
                                        <m:t>−</m:t>
                                      </m:r>
                                      <m:r>
                                        <a:rPr lang="en-GB" sz="3200" i="1">
                                          <a:latin typeface="Cambria Math" panose="02040503050406030204" pitchFamily="18" charset="0"/>
                                        </a:rPr>
                                        <m:t>𝐸</m:t>
                                      </m:r>
                                    </m:e>
                                  </m:d>
                                </m:e>
                                <m:sup>
                                  <m:r>
                                    <a:rPr lang="en-GB" sz="3200" i="0">
                                      <a:latin typeface="Cambria Math" panose="02040503050406030204" pitchFamily="18" charset="0"/>
                                    </a:rPr>
                                    <m:t>2</m:t>
                                  </m:r>
                                </m:sup>
                              </m:sSup>
                            </m:num>
                            <m:den>
                              <m:r>
                                <a:rPr lang="en-GB" sz="3200" i="1">
                                  <a:latin typeface="Cambria Math" panose="02040503050406030204" pitchFamily="18" charset="0"/>
                                </a:rPr>
                                <m:t>𝐸</m:t>
                              </m:r>
                            </m:den>
                          </m:f>
                        </m:e>
                      </m:nary>
                    </m:oMath>
                  </m:oMathPara>
                </a14:m>
                <a:endParaRPr lang="en-GB" dirty="0">
                  <a:latin typeface="Source Sans Pro" panose="020B0503030403020204" pitchFamily="34" charset="0"/>
                  <a:ea typeface="Source Sans Pro" panose="020B0503030403020204" pitchFamily="34" charset="0"/>
                </a:endParaRPr>
              </a:p>
            </p:txBody>
          </p:sp>
        </mc:Choice>
        <mc:Fallback xmlns="">
          <p:sp>
            <p:nvSpPr>
              <p:cNvPr id="4" name="TextBox 3">
                <a:extLst>
                  <a:ext uri="{FF2B5EF4-FFF2-40B4-BE49-F238E27FC236}">
                    <a16:creationId xmlns:a16="http://schemas.microsoft.com/office/drawing/2014/main" id="{CD75D46F-6769-74F8-E42E-4C9DC7557B72}"/>
                  </a:ext>
                </a:extLst>
              </p:cNvPr>
              <p:cNvSpPr txBox="1">
                <a:spLocks noRot="1" noChangeAspect="1" noMove="1" noResize="1" noEditPoints="1" noAdjustHandles="1" noChangeArrowheads="1" noChangeShapeType="1" noTextEdit="1"/>
              </p:cNvSpPr>
              <p:nvPr/>
            </p:nvSpPr>
            <p:spPr>
              <a:xfrm>
                <a:off x="710879" y="2110645"/>
                <a:ext cx="3930570" cy="1685590"/>
              </a:xfrm>
              <a:prstGeom prst="rect">
                <a:avLst/>
              </a:prstGeom>
              <a:blipFill>
                <a:blip r:embed="rId5"/>
                <a:stretch>
                  <a:fillRect l="-29032" t="-159701" b="-222388"/>
                </a:stretch>
              </a:blipFill>
            </p:spPr>
            <p:txBody>
              <a:bodyPr/>
              <a:lstStyle/>
              <a:p>
                <a:r>
                  <a:rPr lang="en-US">
                    <a:noFill/>
                  </a:rPr>
                  <a:t> </a:t>
                </a:r>
              </a:p>
            </p:txBody>
          </p:sp>
        </mc:Fallback>
      </mc:AlternateContent>
    </p:spTree>
    <p:extLst>
      <p:ext uri="{BB962C8B-B14F-4D97-AF65-F5344CB8AC3E}">
        <p14:creationId xmlns:p14="http://schemas.microsoft.com/office/powerpoint/2010/main" val="18244666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31112-945E-0EC1-4DB6-A29CE1E96F55}"/>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Degrees of freedom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AAA7B1-2C7D-22B5-95F8-DD8F8BB39A2E}"/>
                  </a:ext>
                </a:extLst>
              </p:cNvPr>
              <p:cNvSpPr>
                <a:spLocks noGrp="1"/>
              </p:cNvSpPr>
              <p:nvPr>
                <p:ph idx="1"/>
              </p:nvPr>
            </p:nvSpPr>
            <p:spPr>
              <a:xfrm>
                <a:off x="838200" y="1825625"/>
                <a:ext cx="10515600" cy="1792218"/>
              </a:xfrm>
            </p:spPr>
            <p:txBody>
              <a:bodyPr/>
              <a:lstStyle/>
              <a:p>
                <a:pPr marL="0" indent="0">
                  <a:buNone/>
                </a:pPr>
                <a:r>
                  <a:rPr lang="en-US" dirty="0">
                    <a:latin typeface="Source Sans Pro" panose="020B0503030403020204" pitchFamily="34" charset="0"/>
                    <a:ea typeface="Source Sans Pro" panose="020B0503030403020204" pitchFamily="34" charset="0"/>
                  </a:rPr>
                  <a:t>The degrees of freedom (</a:t>
                </a:r>
                <a14:m>
                  <m:oMath xmlns:m="http://schemas.openxmlformats.org/officeDocument/2006/math">
                    <m:r>
                      <a:rPr lang="en-GB" i="1" dirty="0" smtClean="0">
                        <a:latin typeface="Cambria Math" panose="02040503050406030204" pitchFamily="18" charset="0"/>
                      </a:rPr>
                      <m:t>ⅆ</m:t>
                    </m:r>
                    <m:r>
                      <a:rPr lang="en-GB" i="1" dirty="0">
                        <a:latin typeface="Cambria Math" panose="02040503050406030204" pitchFamily="18" charset="0"/>
                      </a:rPr>
                      <m:t>𝑓</m:t>
                    </m:r>
                  </m:oMath>
                </a14:m>
                <a:r>
                  <a:rPr lang="en-US" dirty="0">
                    <a:latin typeface="Source Sans Pro" panose="020B0503030403020204" pitchFamily="34" charset="0"/>
                    <a:ea typeface="Source Sans Pro" panose="020B0503030403020204" pitchFamily="34" charset="0"/>
                  </a:rPr>
                  <a:t>) for a χ</a:t>
                </a:r>
                <a:r>
                  <a:rPr lang="en-US" baseline="30000" dirty="0">
                    <a:latin typeface="Source Sans Pro" panose="020B0503030403020204" pitchFamily="34" charset="0"/>
                    <a:ea typeface="Source Sans Pro" panose="020B0503030403020204" pitchFamily="34" charset="0"/>
                  </a:rPr>
                  <a:t>2</a:t>
                </a:r>
                <a:r>
                  <a:rPr lang="en-US" dirty="0">
                    <a:latin typeface="Source Sans Pro" panose="020B0503030403020204" pitchFamily="34" charset="0"/>
                    <a:ea typeface="Source Sans Pro" panose="020B0503030403020204" pitchFamily="34" charset="0"/>
                  </a:rPr>
                  <a:t> test in a contingency table are calculated as: </a:t>
                </a:r>
              </a:p>
              <a:p>
                <a:pPr marL="0" indent="0">
                  <a:buNone/>
                </a:pPr>
                <a:endParaRPr lang="en-US" i="1" dirty="0">
                  <a:latin typeface="Source Sans Pro" panose="020B0503030403020204" pitchFamily="34" charset="0"/>
                  <a:ea typeface="Source Sans Pro" panose="020B0503030403020204" pitchFamily="34" charset="0"/>
                </a:endParaRPr>
              </a:p>
              <a:p>
                <a:pPr marL="0" indent="0">
                  <a:buNone/>
                </a:pPr>
                <a14:m>
                  <m:oMathPara xmlns:m="http://schemas.openxmlformats.org/officeDocument/2006/math">
                    <m:oMath>
                      <m:r>
                        <a:rPr lang="en-GB" i="1" dirty="0" smtClean="0">
                          <a:latin typeface="Cambria Math" panose="02040503050406030204" pitchFamily="18" charset="0"/>
                        </a:rPr>
                        <m:t>ⅆ</m:t>
                      </m:r>
                      <m:r>
                        <a:rPr lang="en-GB" i="1" dirty="0">
                          <a:latin typeface="Cambria Math" panose="02040503050406030204" pitchFamily="18" charset="0"/>
                        </a:rPr>
                        <m:t>𝑓</m:t>
                      </m:r>
                      <m:r>
                        <a:rPr lang="en-GB" i="0" dirty="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𝑟</m:t>
                          </m:r>
                          <m:r>
                            <a:rPr lang="en-GB" i="0" dirty="0">
                              <a:latin typeface="Cambria Math" panose="02040503050406030204" pitchFamily="18" charset="0"/>
                            </a:rPr>
                            <m:t>−1</m:t>
                          </m:r>
                        </m:e>
                      </m:d>
                      <m:r>
                        <a:rPr lang="en-GB" i="0" dirty="0">
                          <a:latin typeface="Cambria Math" panose="02040503050406030204" pitchFamily="18" charset="0"/>
                        </a:rPr>
                        <m:t>×</m:t>
                      </m:r>
                      <m:d>
                        <m:dPr>
                          <m:ctrlPr>
                            <a:rPr lang="en-GB" i="1" dirty="0">
                              <a:latin typeface="Cambria Math" panose="02040503050406030204" pitchFamily="18" charset="0"/>
                            </a:rPr>
                          </m:ctrlPr>
                        </m:dPr>
                        <m:e>
                          <m:r>
                            <a:rPr lang="en-GB" i="1" dirty="0">
                              <a:latin typeface="Cambria Math" panose="02040503050406030204" pitchFamily="18" charset="0"/>
                            </a:rPr>
                            <m:t>𝑐</m:t>
                          </m:r>
                          <m:r>
                            <a:rPr lang="en-GB" i="0" dirty="0">
                              <a:latin typeface="Cambria Math" panose="02040503050406030204" pitchFamily="18" charset="0"/>
                            </a:rPr>
                            <m:t>−1</m:t>
                          </m:r>
                        </m:e>
                      </m:d>
                    </m:oMath>
                  </m:oMathPara>
                </a14:m>
                <a:endParaRPr lang="en-GB" dirty="0">
                  <a:latin typeface="Source Sans Pro" panose="020B0503030403020204" pitchFamily="34" charset="0"/>
                  <a:ea typeface="Source Sans Pro" panose="020B0503030403020204" pitchFamily="34" charset="0"/>
                </a:endParaRPr>
              </a:p>
            </p:txBody>
          </p:sp>
        </mc:Choice>
        <mc:Fallback xmlns="">
          <p:sp>
            <p:nvSpPr>
              <p:cNvPr id="3" name="Content Placeholder 2">
                <a:extLst>
                  <a:ext uri="{FF2B5EF4-FFF2-40B4-BE49-F238E27FC236}">
                    <a16:creationId xmlns:a16="http://schemas.microsoft.com/office/drawing/2014/main" id="{C2AAA7B1-2C7D-22B5-95F8-DD8F8BB39A2E}"/>
                  </a:ext>
                </a:extLst>
              </p:cNvPr>
              <p:cNvSpPr>
                <a:spLocks noGrp="1" noRot="1" noChangeAspect="1" noMove="1" noResize="1" noEditPoints="1" noAdjustHandles="1" noChangeArrowheads="1" noChangeShapeType="1" noTextEdit="1"/>
              </p:cNvSpPr>
              <p:nvPr>
                <p:ph idx="1"/>
              </p:nvPr>
            </p:nvSpPr>
            <p:spPr>
              <a:xfrm>
                <a:off x="838200" y="1825625"/>
                <a:ext cx="10515600" cy="1792218"/>
              </a:xfrm>
              <a:blipFill>
                <a:blip r:embed="rId5"/>
                <a:stretch>
                  <a:fillRect l="-1206" t="-5634" b="-4225"/>
                </a:stretch>
              </a:blipFill>
            </p:spPr>
            <p:txBody>
              <a:bodyPr/>
              <a:lstStyle/>
              <a:p>
                <a:r>
                  <a:rPr lang="en-US">
                    <a:noFill/>
                  </a:rPr>
                  <a:t> </a:t>
                </a:r>
              </a:p>
            </p:txBody>
          </p:sp>
        </mc:Fallback>
      </mc:AlternateContent>
    </p:spTree>
    <p:extLst>
      <p:ext uri="{BB962C8B-B14F-4D97-AF65-F5344CB8AC3E}">
        <p14:creationId xmlns:p14="http://schemas.microsoft.com/office/powerpoint/2010/main" val="21887101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736754-845A-661D-D62D-AC9B81361417}"/>
              </a:ext>
            </a:extLst>
          </p:cNvPr>
          <p:cNvSpPr>
            <a:spLocks noGrp="1"/>
          </p:cNvSpPr>
          <p:nvPr>
            <p:ph type="title"/>
          </p:nvPr>
        </p:nvSpPr>
        <p:spPr>
          <a:xfrm>
            <a:off x="838200" y="159992"/>
            <a:ext cx="10515600" cy="1325563"/>
          </a:xfrm>
        </p:spPr>
        <p:txBody>
          <a:bodyPr/>
          <a:lstStyle/>
          <a:p>
            <a:r>
              <a:rPr lang="en-GB" b="1" dirty="0">
                <a:latin typeface="Source Sans Pro" panose="020B0503030403020204" pitchFamily="34" charset="0"/>
                <a:ea typeface="Source Sans Pro" panose="020B0503030403020204" pitchFamily="34" charset="0"/>
              </a:rPr>
              <a:t>Interpreting the results</a:t>
            </a:r>
          </a:p>
        </p:txBody>
      </p:sp>
      <p:sp>
        <p:nvSpPr>
          <p:cNvPr id="3" name="Content Placeholder 2">
            <a:extLst>
              <a:ext uri="{FF2B5EF4-FFF2-40B4-BE49-F238E27FC236}">
                <a16:creationId xmlns:a16="http://schemas.microsoft.com/office/drawing/2014/main" id="{42010551-54EA-5BFC-CFF4-59EA9B32B064}"/>
              </a:ext>
            </a:extLst>
          </p:cNvPr>
          <p:cNvSpPr>
            <a:spLocks noGrp="1"/>
          </p:cNvSpPr>
          <p:nvPr>
            <p:ph idx="1"/>
          </p:nvPr>
        </p:nvSpPr>
        <p:spPr>
          <a:xfrm>
            <a:off x="838200" y="1485555"/>
            <a:ext cx="6667500" cy="4750145"/>
          </a:xfrm>
        </p:spPr>
        <p:txBody>
          <a:bodyPr>
            <a:normAutofit/>
          </a:bodyPr>
          <a:lstStyle/>
          <a:p>
            <a:r>
              <a:rPr lang="en-US" dirty="0">
                <a:latin typeface="Source Sans Pro" panose="020B0503030403020204" pitchFamily="34" charset="0"/>
                <a:ea typeface="Source Sans Pro" panose="020B0503030403020204" pitchFamily="34" charset="0"/>
              </a:rPr>
              <a:t>If the </a:t>
            </a:r>
            <a:r>
              <a:rPr lang="en-US" dirty="0">
                <a:solidFill>
                  <a:srgbClr val="E96736"/>
                </a:solidFill>
                <a:latin typeface="Source Sans Pro" panose="020B0503030403020204" pitchFamily="34" charset="0"/>
                <a:ea typeface="Source Sans Pro" panose="020B0503030403020204" pitchFamily="34" charset="0"/>
              </a:rPr>
              <a:t>p-value is less than the significance level (typically 0.05)</a:t>
            </a:r>
            <a:r>
              <a:rPr lang="en-US" dirty="0">
                <a:latin typeface="Source Sans Pro" panose="020B0503030403020204" pitchFamily="34" charset="0"/>
                <a:ea typeface="Source Sans Pro" panose="020B0503030403020204" pitchFamily="34" charset="0"/>
              </a:rPr>
              <a:t>, we </a:t>
            </a:r>
            <a:r>
              <a:rPr lang="en-US" dirty="0">
                <a:solidFill>
                  <a:srgbClr val="E96736"/>
                </a:solidFill>
                <a:latin typeface="Source Sans Pro" panose="020B0503030403020204" pitchFamily="34" charset="0"/>
                <a:ea typeface="Source Sans Pro" panose="020B0503030403020204" pitchFamily="34" charset="0"/>
              </a:rPr>
              <a:t>reject the null </a:t>
            </a:r>
            <a:r>
              <a:rPr lang="en-US" dirty="0">
                <a:latin typeface="Source Sans Pro" panose="020B0503030403020204" pitchFamily="34" charset="0"/>
                <a:ea typeface="Source Sans Pro" panose="020B0503030403020204" pitchFamily="34" charset="0"/>
              </a:rPr>
              <a:t>hypothesis and conclude that there is a significant association between the two variables. </a:t>
            </a:r>
          </a:p>
          <a:p>
            <a:endParaRPr lang="en-US" dirty="0">
              <a:latin typeface="Source Sans Pro" panose="020B0503030403020204" pitchFamily="34" charset="0"/>
              <a:ea typeface="Source Sans Pro" panose="020B0503030403020204" pitchFamily="34" charset="0"/>
            </a:endParaRPr>
          </a:p>
          <a:p>
            <a:r>
              <a:rPr lang="en-US" dirty="0">
                <a:latin typeface="Source Sans Pro" panose="020B0503030403020204" pitchFamily="34" charset="0"/>
                <a:ea typeface="Source Sans Pro" panose="020B0503030403020204" pitchFamily="34" charset="0"/>
              </a:rPr>
              <a:t>If the </a:t>
            </a:r>
            <a:r>
              <a:rPr lang="en-US" dirty="0">
                <a:solidFill>
                  <a:srgbClr val="479A9F"/>
                </a:solidFill>
                <a:latin typeface="Source Sans Pro" panose="020B0503030403020204" pitchFamily="34" charset="0"/>
                <a:ea typeface="Source Sans Pro" panose="020B0503030403020204" pitchFamily="34" charset="0"/>
              </a:rPr>
              <a:t>p-value is greater than or equal to the significance level</a:t>
            </a:r>
            <a:r>
              <a:rPr lang="en-US" dirty="0">
                <a:latin typeface="Source Sans Pro" panose="020B0503030403020204" pitchFamily="34" charset="0"/>
                <a:ea typeface="Source Sans Pro" panose="020B0503030403020204" pitchFamily="34" charset="0"/>
              </a:rPr>
              <a:t>, we </a:t>
            </a:r>
            <a:r>
              <a:rPr lang="en-US" dirty="0">
                <a:solidFill>
                  <a:srgbClr val="479A9F"/>
                </a:solidFill>
                <a:latin typeface="Source Sans Pro" panose="020B0503030403020204" pitchFamily="34" charset="0"/>
                <a:ea typeface="Source Sans Pro" panose="020B0503030403020204" pitchFamily="34" charset="0"/>
              </a:rPr>
              <a:t>fail to reject the null hypothesis </a:t>
            </a:r>
            <a:r>
              <a:rPr lang="en-US" dirty="0">
                <a:latin typeface="Source Sans Pro" panose="020B0503030403020204" pitchFamily="34" charset="0"/>
                <a:ea typeface="Source Sans Pro" panose="020B0503030403020204" pitchFamily="34" charset="0"/>
              </a:rPr>
              <a:t>and conclude that there is no significant association between the variables.</a:t>
            </a:r>
            <a:endParaRPr lang="en-GB"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39682128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269D5-C1F0-DC9A-FB0B-5A9BFFC69EDF}"/>
              </a:ext>
            </a:extLst>
          </p:cNvPr>
          <p:cNvSpPr>
            <a:spLocks noGrp="1"/>
          </p:cNvSpPr>
          <p:nvPr>
            <p:ph type="title"/>
          </p:nvPr>
        </p:nvSpPr>
        <p:spPr/>
        <p:txBody>
          <a:bodyPr/>
          <a:lstStyle/>
          <a:p>
            <a:r>
              <a:rPr lang="en-GB" b="1" dirty="0">
                <a:latin typeface="Source Sans Pro" panose="020B0503030403020204" pitchFamily="34" charset="0"/>
                <a:ea typeface="Source Sans Pro" panose="020B0503030403020204" pitchFamily="34" charset="0"/>
              </a:rPr>
              <a:t>Assumptions of the </a:t>
            </a:r>
            <a:r>
              <a:rPr lang="el-GR" b="1" dirty="0">
                <a:latin typeface="Source Sans Pro" panose="020B0503030403020204" pitchFamily="34" charset="0"/>
                <a:ea typeface="Source Sans Pro" panose="020B0503030403020204" pitchFamily="34" charset="0"/>
              </a:rPr>
              <a:t>χ</a:t>
            </a:r>
            <a:r>
              <a:rPr lang="en-GB" b="1" baseline="30000" dirty="0">
                <a:latin typeface="Source Sans Pro" panose="020B0503030403020204" pitchFamily="34" charset="0"/>
                <a:ea typeface="Source Sans Pro" panose="020B0503030403020204" pitchFamily="34" charset="0"/>
              </a:rPr>
              <a:t>2  </a:t>
            </a:r>
            <a:r>
              <a:rPr lang="en-GB" b="1" dirty="0">
                <a:latin typeface="Source Sans Pro" panose="020B0503030403020204" pitchFamily="34" charset="0"/>
                <a:ea typeface="Source Sans Pro" panose="020B0503030403020204" pitchFamily="34" charset="0"/>
              </a:rPr>
              <a:t>test </a:t>
            </a:r>
          </a:p>
        </p:txBody>
      </p:sp>
      <p:sp>
        <p:nvSpPr>
          <p:cNvPr id="3" name="Content Placeholder 2">
            <a:extLst>
              <a:ext uri="{FF2B5EF4-FFF2-40B4-BE49-F238E27FC236}">
                <a16:creationId xmlns:a16="http://schemas.microsoft.com/office/drawing/2014/main" id="{E3514D90-440D-C457-A53A-3C3B8E75FD80}"/>
              </a:ext>
            </a:extLst>
          </p:cNvPr>
          <p:cNvSpPr>
            <a:spLocks noGrp="1"/>
          </p:cNvSpPr>
          <p:nvPr>
            <p:ph idx="1"/>
          </p:nvPr>
        </p:nvSpPr>
        <p:spPr>
          <a:xfrm>
            <a:off x="838200" y="1825624"/>
            <a:ext cx="7378700" cy="4422775"/>
          </a:xfrm>
        </p:spPr>
        <p:txBody>
          <a:bodyPr>
            <a:normAutofit/>
          </a:bodyPr>
          <a:lstStyle/>
          <a:p>
            <a:r>
              <a:rPr lang="en-US" dirty="0">
                <a:latin typeface="Source Sans Pro" panose="020B0503030403020204" pitchFamily="34" charset="0"/>
                <a:ea typeface="Source Sans Pro" panose="020B0503030403020204" pitchFamily="34" charset="0"/>
              </a:rPr>
              <a:t>The data must be in the form of counts or frequencies.</a:t>
            </a:r>
          </a:p>
          <a:p>
            <a:r>
              <a:rPr lang="en-US" dirty="0">
                <a:latin typeface="Source Sans Pro" panose="020B0503030403020204" pitchFamily="34" charset="0"/>
                <a:ea typeface="Source Sans Pro" panose="020B0503030403020204" pitchFamily="34" charset="0"/>
              </a:rPr>
              <a:t>The categories must be mutually exclusive, meaning each observation falls into one and only one category. </a:t>
            </a:r>
          </a:p>
          <a:p>
            <a:r>
              <a:rPr lang="en-US" dirty="0">
                <a:latin typeface="Source Sans Pro" panose="020B0503030403020204" pitchFamily="34" charset="0"/>
                <a:ea typeface="Source Sans Pro" panose="020B0503030403020204" pitchFamily="34" charset="0"/>
              </a:rPr>
              <a:t>The expected frequency for each cell should be at least 5 for the test to be valid. If this assumption is violated, other methods, such as combining groups, should be considered.</a:t>
            </a:r>
            <a:endParaRPr lang="en-GB"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9001863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AE4E5477-25FD-7E79-1B57-705F3827EC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BD008B5-7D66-403D-E952-E1B70DB55CC4}"/>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3.4 Exploring Group Differences in R</a:t>
            </a:r>
          </a:p>
        </p:txBody>
      </p:sp>
      <p:pic>
        <p:nvPicPr>
          <p:cNvPr id="9" name="Picture 8" descr="A black background with white text&#10;&#10;AI-generated content may be incorrect.">
            <a:extLst>
              <a:ext uri="{FF2B5EF4-FFF2-40B4-BE49-F238E27FC236}">
                <a16:creationId xmlns:a16="http://schemas.microsoft.com/office/drawing/2014/main" id="{C34280A4-0268-BDF1-53C8-D7C2A67AD957}"/>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3011634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D46E7-1340-47CE-4EB0-21DDB880A28E}"/>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C3CD5E11-45BB-1DEF-2A3B-BD4DFAE165A2}"/>
              </a:ext>
            </a:extLst>
          </p:cNvPr>
          <p:cNvSpPr txBox="1">
            <a:spLocks/>
          </p:cNvSpPr>
          <p:nvPr/>
        </p:nvSpPr>
        <p:spPr>
          <a:xfrm>
            <a:off x="558335" y="853330"/>
            <a:ext cx="11075329" cy="686711"/>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A research question must become an analysis dataset</a:t>
            </a:r>
          </a:p>
        </p:txBody>
      </p:sp>
      <p:sp>
        <p:nvSpPr>
          <p:cNvPr id="8" name="TextBox 7">
            <a:extLst>
              <a:ext uri="{FF2B5EF4-FFF2-40B4-BE49-F238E27FC236}">
                <a16:creationId xmlns:a16="http://schemas.microsoft.com/office/drawing/2014/main" id="{3B0774EC-899E-E414-8F2E-B46C6A99D843}"/>
              </a:ext>
            </a:extLst>
          </p:cNvPr>
          <p:cNvSpPr txBox="1"/>
          <p:nvPr/>
        </p:nvSpPr>
        <p:spPr>
          <a:xfrm>
            <a:off x="558335" y="1984728"/>
            <a:ext cx="6251539" cy="3970318"/>
          </a:xfrm>
          <a:prstGeom prst="rect">
            <a:avLst/>
          </a:prstGeom>
          <a:noFill/>
        </p:spPr>
        <p:txBody>
          <a:bodyPr wrap="square">
            <a:spAutoFit/>
          </a:bodyPr>
          <a:lstStyle/>
          <a:p>
            <a:r>
              <a:rPr lang="en-GB" dirty="0">
                <a:latin typeface="Source Sans Pro" panose="020B0503030403020204" pitchFamily="34" charset="0"/>
                <a:ea typeface="Source Sans Pro" panose="020B0503030403020204" pitchFamily="34" charset="0"/>
              </a:rPr>
              <a:t>Our research question determines which data we need.</a:t>
            </a:r>
          </a:p>
          <a:p>
            <a:endParaRPr lang="en-GB" dirty="0">
              <a:latin typeface="Source Sans Pro" panose="020B0503030403020204" pitchFamily="34" charset="0"/>
              <a:ea typeface="Source Sans Pro" panose="020B0503030403020204" pitchFamily="34" charset="0"/>
            </a:endParaRPr>
          </a:p>
          <a:p>
            <a:r>
              <a:rPr lang="en-GB" b="1" dirty="0">
                <a:latin typeface="Source Sans Pro" panose="020B0503030403020204" pitchFamily="34" charset="0"/>
                <a:ea typeface="Source Sans Pro" panose="020B0503030403020204" pitchFamily="34" charset="0"/>
              </a:rPr>
              <a:t>Research question</a:t>
            </a:r>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Does sleep duration differ according to working status among adults aged 18–65?</a:t>
            </a:r>
          </a:p>
          <a:p>
            <a:endParaRPr lang="en-GB" dirty="0">
              <a:latin typeface="Source Sans Pro" panose="020B0503030403020204" pitchFamily="34" charset="0"/>
              <a:ea typeface="Source Sans Pro" panose="020B0503030403020204" pitchFamily="34" charset="0"/>
            </a:endParaRPr>
          </a:p>
          <a:p>
            <a:r>
              <a:rPr lang="en-GB" b="1" dirty="0">
                <a:latin typeface="Source Sans Pro" panose="020B0503030403020204" pitchFamily="34" charset="0"/>
                <a:ea typeface="Source Sans Pro" panose="020B0503030403020204" pitchFamily="34" charset="0"/>
              </a:rPr>
              <a:t>What does R need?</a:t>
            </a:r>
            <a:endParaRPr lang="en-GB"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Dataset: </a:t>
            </a:r>
            <a:r>
              <a:rPr lang="en-GB" i="1" dirty="0" err="1">
                <a:latin typeface="Source Sans Pro" panose="020B0503030403020204" pitchFamily="34" charset="0"/>
                <a:ea typeface="Source Sans Pro" panose="020B0503030403020204" pitchFamily="34" charset="0"/>
              </a:rPr>
              <a:t>nhanes</a:t>
            </a:r>
            <a:endParaRPr lang="en-GB" i="1"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Outcome: </a:t>
            </a:r>
            <a:r>
              <a:rPr lang="en-GB" i="1" dirty="0" err="1">
                <a:latin typeface="Source Sans Pro" panose="020B0503030403020204" pitchFamily="34" charset="0"/>
                <a:ea typeface="Source Sans Pro" panose="020B0503030403020204" pitchFamily="34" charset="0"/>
              </a:rPr>
              <a:t>sleep_hours</a:t>
            </a:r>
            <a:endParaRPr lang="en-GB" i="1"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Group: </a:t>
            </a:r>
            <a:r>
              <a:rPr lang="en-GB" i="1" dirty="0" err="1">
                <a:latin typeface="Source Sans Pro" panose="020B0503030403020204" pitchFamily="34" charset="0"/>
                <a:ea typeface="Source Sans Pro" panose="020B0503030403020204" pitchFamily="34" charset="0"/>
              </a:rPr>
              <a:t>work_status</a:t>
            </a:r>
            <a:endParaRPr lang="en-GB" i="1" dirty="0">
              <a:latin typeface="Source Sans Pro" panose="020B0503030403020204" pitchFamily="34" charset="0"/>
              <a:ea typeface="Source Sans Pro" panose="020B0503030403020204" pitchFamily="34" charset="0"/>
            </a:endParaRPr>
          </a:p>
          <a:p>
            <a:pPr marL="285750" indent="-285750">
              <a:buFont typeface="Arial" panose="020B0604020202020204" pitchFamily="34" charset="0"/>
              <a:buChar char="•"/>
            </a:pPr>
            <a:r>
              <a:rPr lang="en-GB" dirty="0">
                <a:latin typeface="Source Sans Pro" panose="020B0503030403020204" pitchFamily="34" charset="0"/>
                <a:ea typeface="Source Sans Pro" panose="020B0503030403020204" pitchFamily="34" charset="0"/>
              </a:rPr>
              <a:t>Inclusion criterion: </a:t>
            </a:r>
            <a:r>
              <a:rPr lang="en-GB" i="1" dirty="0">
                <a:latin typeface="Source Sans Pro" panose="020B0503030403020204" pitchFamily="34" charset="0"/>
                <a:ea typeface="Source Sans Pro" panose="020B0503030403020204" pitchFamily="34" charset="0"/>
              </a:rPr>
              <a:t>age 18–65</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We almost always need to create a smaller analysis dataset containing only the relevant variables and observations.</a:t>
            </a:r>
          </a:p>
        </p:txBody>
      </p:sp>
    </p:spTree>
    <p:extLst>
      <p:ext uri="{BB962C8B-B14F-4D97-AF65-F5344CB8AC3E}">
        <p14:creationId xmlns:p14="http://schemas.microsoft.com/office/powerpoint/2010/main" val="35069932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F2375-D1AC-5568-55C0-AA9671277E18}"/>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72B945AE-87A5-2371-8822-D6443CC77E21}"/>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The pipe passes data from one function to the next</a:t>
            </a:r>
          </a:p>
        </p:txBody>
      </p:sp>
      <p:sp>
        <p:nvSpPr>
          <p:cNvPr id="6" name="TextBox 5">
            <a:extLst>
              <a:ext uri="{FF2B5EF4-FFF2-40B4-BE49-F238E27FC236}">
                <a16:creationId xmlns:a16="http://schemas.microsoft.com/office/drawing/2014/main" id="{FF5BA6A1-3C04-5BB7-6783-A677691C8491}"/>
              </a:ext>
            </a:extLst>
          </p:cNvPr>
          <p:cNvSpPr txBox="1"/>
          <p:nvPr/>
        </p:nvSpPr>
        <p:spPr>
          <a:xfrm>
            <a:off x="427579" y="1679248"/>
            <a:ext cx="7981356" cy="369332"/>
          </a:xfrm>
          <a:prstGeom prst="rect">
            <a:avLst/>
          </a:prstGeom>
          <a:noFill/>
        </p:spPr>
        <p:txBody>
          <a:bodyPr wrap="square">
            <a:spAutoFit/>
          </a:bodyPr>
          <a:lstStyle/>
          <a:p>
            <a:r>
              <a:rPr lang="en-GB" dirty="0"/>
              <a:t>The pipe |&gt; takes the result on its left and passes it into the function on its right:</a:t>
            </a:r>
          </a:p>
        </p:txBody>
      </p:sp>
      <p:sp>
        <p:nvSpPr>
          <p:cNvPr id="7" name="Rectangle 6">
            <a:extLst>
              <a:ext uri="{FF2B5EF4-FFF2-40B4-BE49-F238E27FC236}">
                <a16:creationId xmlns:a16="http://schemas.microsoft.com/office/drawing/2014/main" id="{DFFF63C9-6231-8684-E39B-541E37571B7E}"/>
              </a:ext>
            </a:extLst>
          </p:cNvPr>
          <p:cNvSpPr/>
          <p:nvPr/>
        </p:nvSpPr>
        <p:spPr>
          <a:xfrm>
            <a:off x="554662" y="2254805"/>
            <a:ext cx="7854273"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glimpse()</a:t>
            </a:r>
          </a:p>
        </p:txBody>
      </p:sp>
      <p:sp>
        <p:nvSpPr>
          <p:cNvPr id="9" name="TextBox 8">
            <a:extLst>
              <a:ext uri="{FF2B5EF4-FFF2-40B4-BE49-F238E27FC236}">
                <a16:creationId xmlns:a16="http://schemas.microsoft.com/office/drawing/2014/main" id="{30AC3800-A74B-7B68-F67B-36BE07162695}"/>
              </a:ext>
            </a:extLst>
          </p:cNvPr>
          <p:cNvSpPr txBox="1"/>
          <p:nvPr/>
        </p:nvSpPr>
        <p:spPr>
          <a:xfrm>
            <a:off x="554662" y="3633050"/>
            <a:ext cx="6099586" cy="2862322"/>
          </a:xfrm>
          <a:prstGeom prst="rect">
            <a:avLst/>
          </a:prstGeom>
          <a:noFill/>
        </p:spPr>
        <p:txBody>
          <a:bodyPr wrap="square">
            <a:spAutoFit/>
          </a:bodyPr>
          <a:lstStyle/>
          <a:p>
            <a:r>
              <a:rPr lang="en-GB" sz="1800" dirty="0"/>
              <a:t>Read this as:</a:t>
            </a:r>
          </a:p>
          <a:p>
            <a:endParaRPr lang="en-GB" sz="1800" dirty="0"/>
          </a:p>
          <a:p>
            <a:r>
              <a:rPr lang="en-GB" sz="1800" dirty="0"/>
              <a:t>“Take the </a:t>
            </a:r>
            <a:r>
              <a:rPr lang="en-GB" sz="1800" dirty="0" err="1"/>
              <a:t>nhanes</a:t>
            </a:r>
            <a:r>
              <a:rPr lang="en-GB" sz="1800" dirty="0"/>
              <a:t> dataset, then inspect it using glimpse().”</a:t>
            </a:r>
          </a:p>
          <a:p>
            <a:endParaRPr lang="en-GB" sz="1800" dirty="0"/>
          </a:p>
          <a:p>
            <a:r>
              <a:rPr lang="en-GB" sz="1800" dirty="0"/>
              <a:t>Pipes allow several data-processing steps to be written in the order in which they happen.</a:t>
            </a:r>
          </a:p>
          <a:p>
            <a:endParaRPr lang="en-GB" sz="1800" dirty="0"/>
          </a:p>
          <a:p>
            <a:r>
              <a:rPr lang="en-GB" sz="1800" dirty="0"/>
              <a:t>Start with data |&gt; </a:t>
            </a:r>
          </a:p>
          <a:p>
            <a:r>
              <a:rPr lang="en-GB" dirty="0"/>
              <a:t>	</a:t>
            </a:r>
            <a:r>
              <a:rPr lang="en-GB" sz="1800" dirty="0"/>
              <a:t>perform an action |&gt; </a:t>
            </a:r>
          </a:p>
          <a:p>
            <a:r>
              <a:rPr lang="en-GB" dirty="0"/>
              <a:t>	</a:t>
            </a:r>
            <a:r>
              <a:rPr lang="en-GB" sz="1800" dirty="0"/>
              <a:t>perform another action</a:t>
            </a:r>
          </a:p>
        </p:txBody>
      </p:sp>
    </p:spTree>
    <p:extLst>
      <p:ext uri="{BB962C8B-B14F-4D97-AF65-F5344CB8AC3E}">
        <p14:creationId xmlns:p14="http://schemas.microsoft.com/office/powerpoint/2010/main" val="12247914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61CA2-97D8-BEA5-4EFF-E9CB0C9D53C5}"/>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DF2D03DE-BBB1-ABC8-B9E6-022712FD35CE}"/>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Select or filter?</a:t>
            </a:r>
          </a:p>
        </p:txBody>
      </p:sp>
      <p:sp>
        <p:nvSpPr>
          <p:cNvPr id="4" name="TextBox 3">
            <a:extLst>
              <a:ext uri="{FF2B5EF4-FFF2-40B4-BE49-F238E27FC236}">
                <a16:creationId xmlns:a16="http://schemas.microsoft.com/office/drawing/2014/main" id="{F4715DC7-6759-BF96-F3C5-6199145E8F6E}"/>
              </a:ext>
            </a:extLst>
          </p:cNvPr>
          <p:cNvSpPr txBox="1"/>
          <p:nvPr/>
        </p:nvSpPr>
        <p:spPr>
          <a:xfrm>
            <a:off x="553421" y="1521777"/>
            <a:ext cx="6102626" cy="646331"/>
          </a:xfrm>
          <a:prstGeom prst="rect">
            <a:avLst/>
          </a:prstGeom>
          <a:noFill/>
        </p:spPr>
        <p:txBody>
          <a:bodyPr wrap="square">
            <a:spAutoFit/>
          </a:bodyPr>
          <a:lstStyle/>
          <a:p>
            <a:r>
              <a:rPr lang="en-GB" b="1" dirty="0"/>
              <a:t>select() → Which variables?</a:t>
            </a:r>
          </a:p>
          <a:p>
            <a:r>
              <a:rPr lang="en-GB" dirty="0"/>
              <a:t>select() keeps the variables—or columns—that we need.</a:t>
            </a:r>
          </a:p>
        </p:txBody>
      </p:sp>
      <p:sp>
        <p:nvSpPr>
          <p:cNvPr id="5" name="Rectangle 4">
            <a:extLst>
              <a:ext uri="{FF2B5EF4-FFF2-40B4-BE49-F238E27FC236}">
                <a16:creationId xmlns:a16="http://schemas.microsoft.com/office/drawing/2014/main" id="{1BDD7ECB-E99B-577B-5308-BF28A8C702DA}"/>
              </a:ext>
            </a:extLst>
          </p:cNvPr>
          <p:cNvSpPr/>
          <p:nvPr/>
        </p:nvSpPr>
        <p:spPr>
          <a:xfrm>
            <a:off x="553421" y="2451456"/>
            <a:ext cx="7854273"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select(age, </a:t>
            </a:r>
            <a:r>
              <a:rPr lang="en-GB" dirty="0" err="1">
                <a:solidFill>
                  <a:srgbClr val="031D42"/>
                </a:solidFill>
                <a:latin typeface="Aptos Mono" panose="020B0009020202020204" pitchFamily="49" charset="0"/>
              </a:rPr>
              <a:t>sleep_hours</a:t>
            </a:r>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a:t>
            </a:r>
          </a:p>
        </p:txBody>
      </p:sp>
      <p:sp>
        <p:nvSpPr>
          <p:cNvPr id="6" name="Rectangle 5">
            <a:extLst>
              <a:ext uri="{FF2B5EF4-FFF2-40B4-BE49-F238E27FC236}">
                <a16:creationId xmlns:a16="http://schemas.microsoft.com/office/drawing/2014/main" id="{21C61BBA-84C4-6192-2784-FD11234F88A1}"/>
              </a:ext>
            </a:extLst>
          </p:cNvPr>
          <p:cNvSpPr/>
          <p:nvPr/>
        </p:nvSpPr>
        <p:spPr>
          <a:xfrm>
            <a:off x="553421" y="5115599"/>
            <a:ext cx="7854273"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filter(age &gt;= 18)</a:t>
            </a:r>
          </a:p>
        </p:txBody>
      </p:sp>
      <p:sp>
        <p:nvSpPr>
          <p:cNvPr id="8" name="TextBox 7">
            <a:extLst>
              <a:ext uri="{FF2B5EF4-FFF2-40B4-BE49-F238E27FC236}">
                <a16:creationId xmlns:a16="http://schemas.microsoft.com/office/drawing/2014/main" id="{CD27219B-6FC5-DF15-33DE-A9E86A5806F5}"/>
              </a:ext>
            </a:extLst>
          </p:cNvPr>
          <p:cNvSpPr txBox="1"/>
          <p:nvPr/>
        </p:nvSpPr>
        <p:spPr>
          <a:xfrm>
            <a:off x="553421" y="3886611"/>
            <a:ext cx="6653604" cy="923330"/>
          </a:xfrm>
          <a:prstGeom prst="rect">
            <a:avLst/>
          </a:prstGeom>
          <a:noFill/>
        </p:spPr>
        <p:txBody>
          <a:bodyPr wrap="square">
            <a:spAutoFit/>
          </a:bodyPr>
          <a:lstStyle/>
          <a:p>
            <a:r>
              <a:rPr lang="en-GB" sz="1800" b="1" dirty="0"/>
              <a:t>filter() → Which observations?</a:t>
            </a:r>
          </a:p>
          <a:p>
            <a:r>
              <a:rPr lang="en-GB" sz="1800" dirty="0"/>
              <a:t>filter() keeps observations—or rows—that meet specified conditions.</a:t>
            </a:r>
          </a:p>
        </p:txBody>
      </p:sp>
    </p:spTree>
    <p:extLst>
      <p:ext uri="{BB962C8B-B14F-4D97-AF65-F5344CB8AC3E}">
        <p14:creationId xmlns:p14="http://schemas.microsoft.com/office/powerpoint/2010/main" val="42216799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D7997-20E3-4034-7A9C-67B001A716D2}"/>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634B416F-E0EB-4ACE-22D1-8D88D6DC7DDF}"/>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Logical operators define which observations are retained</a:t>
            </a:r>
          </a:p>
        </p:txBody>
      </p:sp>
      <p:sp>
        <p:nvSpPr>
          <p:cNvPr id="4" name="TextBox 3">
            <a:extLst>
              <a:ext uri="{FF2B5EF4-FFF2-40B4-BE49-F238E27FC236}">
                <a16:creationId xmlns:a16="http://schemas.microsoft.com/office/drawing/2014/main" id="{79715F2A-2681-4F55-F799-61B566463C82}"/>
              </a:ext>
            </a:extLst>
          </p:cNvPr>
          <p:cNvSpPr txBox="1"/>
          <p:nvPr/>
        </p:nvSpPr>
        <p:spPr>
          <a:xfrm>
            <a:off x="6450494" y="4592093"/>
            <a:ext cx="1918955" cy="1754326"/>
          </a:xfrm>
          <a:prstGeom prst="rect">
            <a:avLst/>
          </a:prstGeom>
          <a:noFill/>
        </p:spPr>
        <p:txBody>
          <a:bodyPr wrap="square">
            <a:spAutoFit/>
          </a:bodyPr>
          <a:lstStyle/>
          <a:p>
            <a:r>
              <a:rPr lang="en-GB" dirty="0"/>
              <a:t>Text values require quotation marks. Several possible values can be combined using c().</a:t>
            </a:r>
          </a:p>
        </p:txBody>
      </p:sp>
      <p:sp>
        <p:nvSpPr>
          <p:cNvPr id="5" name="Rectangle 4">
            <a:extLst>
              <a:ext uri="{FF2B5EF4-FFF2-40B4-BE49-F238E27FC236}">
                <a16:creationId xmlns:a16="http://schemas.microsoft.com/office/drawing/2014/main" id="{27C04A09-DB9E-AFF3-62F8-ECD64398EFEC}"/>
              </a:ext>
            </a:extLst>
          </p:cNvPr>
          <p:cNvSpPr/>
          <p:nvPr/>
        </p:nvSpPr>
        <p:spPr>
          <a:xfrm>
            <a:off x="587812" y="2117682"/>
            <a:ext cx="5178287"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filter(age &gt;= 18, age &lt;= 65)</a:t>
            </a:r>
          </a:p>
        </p:txBody>
      </p:sp>
      <p:sp>
        <p:nvSpPr>
          <p:cNvPr id="7" name="TextBox 6">
            <a:extLst>
              <a:ext uri="{FF2B5EF4-FFF2-40B4-BE49-F238E27FC236}">
                <a16:creationId xmlns:a16="http://schemas.microsoft.com/office/drawing/2014/main" id="{3FF52FCE-3B82-797A-A47D-435500A6E811}"/>
              </a:ext>
            </a:extLst>
          </p:cNvPr>
          <p:cNvSpPr txBox="1"/>
          <p:nvPr/>
        </p:nvSpPr>
        <p:spPr>
          <a:xfrm>
            <a:off x="2339789" y="4635502"/>
            <a:ext cx="3218837" cy="2031325"/>
          </a:xfrm>
          <a:prstGeom prst="rect">
            <a:avLst/>
          </a:prstGeom>
          <a:noFill/>
        </p:spPr>
        <p:txBody>
          <a:bodyPr wrap="square">
            <a:spAutoFit/>
          </a:bodyPr>
          <a:lstStyle/>
          <a:p>
            <a:r>
              <a:rPr lang="en-GB" sz="1800" dirty="0"/>
              <a:t>Equal to:		==</a:t>
            </a:r>
          </a:p>
          <a:p>
            <a:r>
              <a:rPr lang="en-GB" sz="1800" dirty="0"/>
              <a:t>Not equal to:	!=</a:t>
            </a:r>
          </a:p>
          <a:p>
            <a:r>
              <a:rPr lang="en-GB" sz="1800" dirty="0"/>
              <a:t>Greater than:	&gt;</a:t>
            </a:r>
          </a:p>
          <a:p>
            <a:r>
              <a:rPr lang="en-GB" dirty="0"/>
              <a:t>Less than:	&lt;</a:t>
            </a:r>
          </a:p>
          <a:p>
            <a:r>
              <a:rPr lang="en-GB" sz="1800" dirty="0"/>
              <a:t>Greater/equal to:</a:t>
            </a:r>
            <a:r>
              <a:rPr lang="en-GB" dirty="0"/>
              <a:t>	&gt;=</a:t>
            </a:r>
          </a:p>
          <a:p>
            <a:r>
              <a:rPr lang="en-GB" sz="1800" dirty="0"/>
              <a:t>Less/equal to:	&lt;=</a:t>
            </a:r>
          </a:p>
          <a:p>
            <a:r>
              <a:rPr lang="en-GB" sz="1800" dirty="0"/>
              <a:t>One of several values: %in%</a:t>
            </a:r>
          </a:p>
        </p:txBody>
      </p:sp>
      <p:sp>
        <p:nvSpPr>
          <p:cNvPr id="9" name="TextBox 8">
            <a:extLst>
              <a:ext uri="{FF2B5EF4-FFF2-40B4-BE49-F238E27FC236}">
                <a16:creationId xmlns:a16="http://schemas.microsoft.com/office/drawing/2014/main" id="{6CA4F082-6F50-B224-C672-48C9CE9896FA}"/>
              </a:ext>
            </a:extLst>
          </p:cNvPr>
          <p:cNvSpPr txBox="1"/>
          <p:nvPr/>
        </p:nvSpPr>
        <p:spPr>
          <a:xfrm>
            <a:off x="563218" y="3269506"/>
            <a:ext cx="5178287" cy="1477328"/>
          </a:xfrm>
          <a:prstGeom prst="rect">
            <a:avLst/>
          </a:prstGeom>
          <a:noFill/>
        </p:spPr>
        <p:txBody>
          <a:bodyPr wrap="square">
            <a:spAutoFit/>
          </a:bodyPr>
          <a:lstStyle/>
          <a:p>
            <a:r>
              <a:rPr lang="en-GB" sz="1800" dirty="0"/>
              <a:t>Conditions inside filter() must evaluate to either TRUE or FALSE.</a:t>
            </a:r>
          </a:p>
          <a:p>
            <a:endParaRPr lang="en-GB" sz="1800" dirty="0"/>
          </a:p>
          <a:p>
            <a:r>
              <a:rPr lang="en-GB" sz="1800" dirty="0"/>
              <a:t>Both conditions must be true for an observation to be retained.</a:t>
            </a:r>
          </a:p>
        </p:txBody>
      </p:sp>
      <p:sp>
        <p:nvSpPr>
          <p:cNvPr id="10" name="Rectangle 9">
            <a:extLst>
              <a:ext uri="{FF2B5EF4-FFF2-40B4-BE49-F238E27FC236}">
                <a16:creationId xmlns:a16="http://schemas.microsoft.com/office/drawing/2014/main" id="{C42F7823-C4F3-798C-CAAF-FA47B5E3B24F}"/>
              </a:ext>
            </a:extLst>
          </p:cNvPr>
          <p:cNvSpPr/>
          <p:nvPr/>
        </p:nvSpPr>
        <p:spPr>
          <a:xfrm>
            <a:off x="6450495" y="1553136"/>
            <a:ext cx="5178287" cy="253477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 %in% c(</a:t>
            </a:r>
          </a:p>
          <a:p>
            <a:pPr lvl="1"/>
            <a:r>
              <a:rPr lang="en-GB" dirty="0">
                <a:solidFill>
                  <a:srgbClr val="031D42"/>
                </a:solidFill>
                <a:latin typeface="Aptos Mono" panose="020B0009020202020204" pitchFamily="49" charset="0"/>
              </a:rPr>
              <a:t>      "Full-time",</a:t>
            </a:r>
          </a:p>
          <a:p>
            <a:pPr lvl="1"/>
            <a:r>
              <a:rPr lang="en-GB" dirty="0">
                <a:solidFill>
                  <a:srgbClr val="031D42"/>
                </a:solidFill>
                <a:latin typeface="Aptos Mono" panose="020B0009020202020204" pitchFamily="49" charset="0"/>
              </a:rPr>
              <a:t>      "Part-time",</a:t>
            </a:r>
          </a:p>
          <a:p>
            <a:pPr lvl="1"/>
            <a:r>
              <a:rPr lang="en-GB" dirty="0">
                <a:solidFill>
                  <a:srgbClr val="031D42"/>
                </a:solidFill>
                <a:latin typeface="Aptos Mono" panose="020B0009020202020204" pitchFamily="49" charset="0"/>
              </a:rPr>
              <a:t>      "Not working"</a:t>
            </a:r>
          </a:p>
          <a:p>
            <a:pPr lvl="1"/>
            <a:r>
              <a:rPr lang="en-GB" dirty="0">
                <a:solidFill>
                  <a:srgbClr val="031D42"/>
                </a:solidFill>
                <a:latin typeface="Aptos Mono" panose="020B0009020202020204" pitchFamily="49" charset="0"/>
              </a:rPr>
              <a:t>    )</a:t>
            </a:r>
          </a:p>
          <a:p>
            <a:pPr lvl="1"/>
            <a:r>
              <a:rPr lang="en-GB" dirty="0">
                <a:solidFill>
                  <a:srgbClr val="031D42"/>
                </a:solidFill>
                <a:latin typeface="Aptos Mono" panose="020B0009020202020204" pitchFamily="49" charset="0"/>
              </a:rPr>
              <a:t>  )</a:t>
            </a:r>
          </a:p>
        </p:txBody>
      </p:sp>
    </p:spTree>
    <p:extLst>
      <p:ext uri="{BB962C8B-B14F-4D97-AF65-F5344CB8AC3E}">
        <p14:creationId xmlns:p14="http://schemas.microsoft.com/office/powerpoint/2010/main" val="9972263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E0EFB-EACD-54BD-1123-24A8746D9F45}"/>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96482239-EE56-BDD4-12E8-8A32340D45D6}"/>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Missing values must be identified and handled deliberately</a:t>
            </a:r>
          </a:p>
        </p:txBody>
      </p:sp>
      <p:sp>
        <p:nvSpPr>
          <p:cNvPr id="5" name="Rectangle 4">
            <a:extLst>
              <a:ext uri="{FF2B5EF4-FFF2-40B4-BE49-F238E27FC236}">
                <a16:creationId xmlns:a16="http://schemas.microsoft.com/office/drawing/2014/main" id="{2078247B-44CE-B594-2484-4A564D0F01B5}"/>
              </a:ext>
            </a:extLst>
          </p:cNvPr>
          <p:cNvSpPr/>
          <p:nvPr/>
        </p:nvSpPr>
        <p:spPr>
          <a:xfrm>
            <a:off x="587812" y="2117682"/>
            <a:ext cx="5178287"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nhanes$sleep_hours</a:t>
            </a:r>
            <a:r>
              <a:rPr lang="en-GB" dirty="0">
                <a:solidFill>
                  <a:srgbClr val="031D42"/>
                </a:solidFill>
                <a:latin typeface="Aptos Mono" panose="020B0009020202020204" pitchFamily="49" charset="0"/>
              </a:rPr>
              <a:t>)</a:t>
            </a:r>
          </a:p>
        </p:txBody>
      </p:sp>
      <p:sp>
        <p:nvSpPr>
          <p:cNvPr id="6" name="Rectangle 5">
            <a:extLst>
              <a:ext uri="{FF2B5EF4-FFF2-40B4-BE49-F238E27FC236}">
                <a16:creationId xmlns:a16="http://schemas.microsoft.com/office/drawing/2014/main" id="{AE22EE96-CA2C-48C1-8ECB-CA6596541A4F}"/>
              </a:ext>
            </a:extLst>
          </p:cNvPr>
          <p:cNvSpPr/>
          <p:nvPr/>
        </p:nvSpPr>
        <p:spPr>
          <a:xfrm>
            <a:off x="587811" y="4398936"/>
            <a:ext cx="5178287" cy="1042723"/>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nhanes$sleep_hours</a:t>
            </a:r>
            <a:r>
              <a:rPr lang="en-GB" dirty="0">
                <a:solidFill>
                  <a:srgbClr val="031D42"/>
                </a:solidFill>
                <a:latin typeface="Aptos Mono" panose="020B0009020202020204" pitchFamily="49" charset="0"/>
              </a:rPr>
              <a:t>)</a:t>
            </a:r>
          </a:p>
        </p:txBody>
      </p:sp>
      <p:sp>
        <p:nvSpPr>
          <p:cNvPr id="8" name="TextBox 7">
            <a:extLst>
              <a:ext uri="{FF2B5EF4-FFF2-40B4-BE49-F238E27FC236}">
                <a16:creationId xmlns:a16="http://schemas.microsoft.com/office/drawing/2014/main" id="{AE7403A7-09B8-9357-1A6A-092C54864909}"/>
              </a:ext>
            </a:extLst>
          </p:cNvPr>
          <p:cNvSpPr txBox="1"/>
          <p:nvPr/>
        </p:nvSpPr>
        <p:spPr>
          <a:xfrm>
            <a:off x="587811" y="5732088"/>
            <a:ext cx="6212540" cy="646331"/>
          </a:xfrm>
          <a:prstGeom prst="rect">
            <a:avLst/>
          </a:prstGeom>
          <a:noFill/>
        </p:spPr>
        <p:txBody>
          <a:bodyPr wrap="square">
            <a:spAutoFit/>
          </a:bodyPr>
          <a:lstStyle/>
          <a:p>
            <a:r>
              <a:rPr lang="en-GB" sz="1800" dirty="0"/>
              <a:t>This means:</a:t>
            </a:r>
          </a:p>
          <a:p>
            <a:r>
              <a:rPr lang="en-GB" sz="1800" dirty="0"/>
              <a:t>“Sleep duration is not missing.”</a:t>
            </a:r>
          </a:p>
        </p:txBody>
      </p:sp>
      <p:sp>
        <p:nvSpPr>
          <p:cNvPr id="10" name="TextBox 9">
            <a:extLst>
              <a:ext uri="{FF2B5EF4-FFF2-40B4-BE49-F238E27FC236}">
                <a16:creationId xmlns:a16="http://schemas.microsoft.com/office/drawing/2014/main" id="{586B2B73-3DA0-4177-9C5F-73ED2D25FDB1}"/>
              </a:ext>
            </a:extLst>
          </p:cNvPr>
          <p:cNvSpPr txBox="1"/>
          <p:nvPr/>
        </p:nvSpPr>
        <p:spPr>
          <a:xfrm>
            <a:off x="587811" y="3318005"/>
            <a:ext cx="6212540" cy="923330"/>
          </a:xfrm>
          <a:prstGeom prst="rect">
            <a:avLst/>
          </a:prstGeom>
          <a:noFill/>
        </p:spPr>
        <p:txBody>
          <a:bodyPr wrap="square">
            <a:spAutoFit/>
          </a:bodyPr>
          <a:lstStyle/>
          <a:p>
            <a:r>
              <a:rPr lang="en-GB" sz="1800" dirty="0"/>
              <a:t>R represents a missing value as NA.</a:t>
            </a:r>
          </a:p>
          <a:p>
            <a:r>
              <a:rPr lang="en-GB" sz="1800" dirty="0" err="1"/>
              <a:t>is.na</a:t>
            </a:r>
            <a:r>
              <a:rPr lang="en-GB" sz="1800" dirty="0"/>
              <a:t>() identifies missing values. Adding ! reverses the question:</a:t>
            </a:r>
          </a:p>
        </p:txBody>
      </p:sp>
    </p:spTree>
    <p:extLst>
      <p:ext uri="{BB962C8B-B14F-4D97-AF65-F5344CB8AC3E}">
        <p14:creationId xmlns:p14="http://schemas.microsoft.com/office/powerpoint/2010/main" val="26900311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6F70C-ABBB-10C9-2F69-1DCF4419D33D}"/>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6B2550D3-35E7-A548-D9F1-E1872CF0F58C}"/>
              </a:ext>
            </a:extLst>
          </p:cNvPr>
          <p:cNvSpPr txBox="1">
            <a:spLocks/>
          </p:cNvSpPr>
          <p:nvPr/>
        </p:nvSpPr>
        <p:spPr>
          <a:xfrm>
            <a:off x="691219" y="610150"/>
            <a:ext cx="11201203" cy="82061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We can retain complete observations using filter:</a:t>
            </a:r>
          </a:p>
        </p:txBody>
      </p:sp>
      <p:sp>
        <p:nvSpPr>
          <p:cNvPr id="4" name="TextBox 3">
            <a:extLst>
              <a:ext uri="{FF2B5EF4-FFF2-40B4-BE49-F238E27FC236}">
                <a16:creationId xmlns:a16="http://schemas.microsoft.com/office/drawing/2014/main" id="{7053C7DE-EA82-8330-D142-41143F58C234}"/>
              </a:ext>
            </a:extLst>
          </p:cNvPr>
          <p:cNvSpPr txBox="1"/>
          <p:nvPr/>
        </p:nvSpPr>
        <p:spPr>
          <a:xfrm>
            <a:off x="777280" y="4758589"/>
            <a:ext cx="5629251" cy="1200329"/>
          </a:xfrm>
          <a:prstGeom prst="rect">
            <a:avLst/>
          </a:prstGeom>
          <a:noFill/>
        </p:spPr>
        <p:txBody>
          <a:bodyPr wrap="square">
            <a:spAutoFit/>
          </a:bodyPr>
          <a:lstStyle/>
          <a:p>
            <a:r>
              <a:rPr lang="en-GB" sz="2400" dirty="0">
                <a:latin typeface="Source Sans Pro" panose="020B0503030403020204" pitchFamily="34" charset="0"/>
                <a:ea typeface="Source Sans Pro" panose="020B0503030403020204" pitchFamily="34" charset="0"/>
              </a:rPr>
              <a:t>Removing missing observations can change the analysis sample, so it should always be done deliberately.</a:t>
            </a:r>
          </a:p>
        </p:txBody>
      </p:sp>
      <p:sp>
        <p:nvSpPr>
          <p:cNvPr id="5" name="Rectangle 4">
            <a:extLst>
              <a:ext uri="{FF2B5EF4-FFF2-40B4-BE49-F238E27FC236}">
                <a16:creationId xmlns:a16="http://schemas.microsoft.com/office/drawing/2014/main" id="{4DE6841B-8D43-AE8D-8E12-FE4734C489A4}"/>
              </a:ext>
            </a:extLst>
          </p:cNvPr>
          <p:cNvSpPr/>
          <p:nvPr/>
        </p:nvSpPr>
        <p:spPr>
          <a:xfrm>
            <a:off x="777280" y="1979643"/>
            <a:ext cx="5178287" cy="207840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sleep_hours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p>
        </p:txBody>
      </p:sp>
    </p:spTree>
    <p:extLst>
      <p:ext uri="{BB962C8B-B14F-4D97-AF65-F5344CB8AC3E}">
        <p14:creationId xmlns:p14="http://schemas.microsoft.com/office/powerpoint/2010/main" val="24818791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3784C-AFB2-194C-3A53-97EF0BFF1E3B}"/>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B7A79EA3-71A1-709C-A9D3-236572D30405}"/>
              </a:ext>
            </a:extLst>
          </p:cNvPr>
          <p:cNvSpPr txBox="1">
            <a:spLocks/>
          </p:cNvSpPr>
          <p:nvPr/>
        </p:nvSpPr>
        <p:spPr>
          <a:xfrm>
            <a:off x="427579" y="588635"/>
            <a:ext cx="11201203" cy="1132589"/>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Several tidyverse functions can form one analysis pipeline</a:t>
            </a:r>
          </a:p>
        </p:txBody>
      </p:sp>
      <p:sp>
        <p:nvSpPr>
          <p:cNvPr id="4" name="TextBox 3">
            <a:extLst>
              <a:ext uri="{FF2B5EF4-FFF2-40B4-BE49-F238E27FC236}">
                <a16:creationId xmlns:a16="http://schemas.microsoft.com/office/drawing/2014/main" id="{BDF912E9-C0E7-5046-8155-E0A60EB58FD0}"/>
              </a:ext>
            </a:extLst>
          </p:cNvPr>
          <p:cNvSpPr txBox="1"/>
          <p:nvPr/>
        </p:nvSpPr>
        <p:spPr>
          <a:xfrm>
            <a:off x="6777318" y="1975328"/>
            <a:ext cx="4420574" cy="1754326"/>
          </a:xfrm>
          <a:prstGeom prst="rect">
            <a:avLst/>
          </a:prstGeom>
          <a:noFill/>
        </p:spPr>
        <p:txBody>
          <a:bodyPr wrap="square">
            <a:spAutoFit/>
          </a:bodyPr>
          <a:lstStyle/>
          <a:p>
            <a:pPr>
              <a:buNone/>
            </a:pPr>
            <a:r>
              <a:rPr lang="en-GB" dirty="0"/>
              <a:t>Read this as:</a:t>
            </a:r>
          </a:p>
          <a:p>
            <a:pPr>
              <a:buNone/>
            </a:pPr>
            <a:r>
              <a:rPr lang="en-GB" dirty="0"/>
              <a:t>“Start with </a:t>
            </a:r>
            <a:r>
              <a:rPr lang="en-GB" dirty="0" err="1">
                <a:latin typeface="Courier New" panose="02070309020205020404" pitchFamily="49" charset="0"/>
              </a:rPr>
              <a:t>nhanes</a:t>
            </a:r>
            <a:r>
              <a:rPr lang="en-GB" dirty="0"/>
              <a:t>, keep the variables we need, retain eligible observations, and save the result as </a:t>
            </a:r>
            <a:r>
              <a:rPr lang="en-GB" dirty="0" err="1">
                <a:latin typeface="Courier New" panose="02070309020205020404" pitchFamily="49" charset="0"/>
              </a:rPr>
              <a:t>sleep_data</a:t>
            </a:r>
            <a:r>
              <a:rPr lang="en-GB" dirty="0"/>
              <a:t>.”</a:t>
            </a:r>
          </a:p>
          <a:p>
            <a:pPr>
              <a:buNone/>
            </a:pPr>
            <a:r>
              <a:rPr lang="en-GB" dirty="0">
                <a:latin typeface="Courier New" panose="02070309020205020404" pitchFamily="49" charset="0"/>
              </a:rPr>
              <a:t>&lt;-</a:t>
            </a:r>
            <a:r>
              <a:rPr lang="en-GB" dirty="0"/>
              <a:t> assigns the result to a new object without changing the original dataset.</a:t>
            </a:r>
          </a:p>
        </p:txBody>
      </p:sp>
      <p:sp>
        <p:nvSpPr>
          <p:cNvPr id="9" name="Rectangle 8">
            <a:extLst>
              <a:ext uri="{FF2B5EF4-FFF2-40B4-BE49-F238E27FC236}">
                <a16:creationId xmlns:a16="http://schemas.microsoft.com/office/drawing/2014/main" id="{9B7467C2-7388-1DB0-29A7-2F83FD0FEC7D}"/>
              </a:ext>
            </a:extLst>
          </p:cNvPr>
          <p:cNvSpPr/>
          <p:nvPr/>
        </p:nvSpPr>
        <p:spPr>
          <a:xfrm>
            <a:off x="552987" y="1975328"/>
            <a:ext cx="5827332" cy="434695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sleep_data</a:t>
            </a:r>
            <a:r>
              <a:rPr lang="en-GB" dirty="0">
                <a:solidFill>
                  <a:srgbClr val="031D42"/>
                </a:solidFill>
                <a:latin typeface="Aptos Mono" panose="020B0009020202020204" pitchFamily="49" charset="0"/>
              </a:rPr>
              <a:t> &lt;- </a:t>
            </a:r>
            <a:r>
              <a:rPr lang="en-GB" dirty="0" err="1">
                <a:solidFill>
                  <a:srgbClr val="031D42"/>
                </a:solidFill>
                <a:latin typeface="Aptos Mono" panose="020B0009020202020204" pitchFamily="49" charset="0"/>
              </a:rPr>
              <a:t>nhanes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select(</a:t>
            </a:r>
          </a:p>
          <a:p>
            <a:pPr lvl="1"/>
            <a:r>
              <a:rPr lang="en-GB" dirty="0">
                <a:solidFill>
                  <a:srgbClr val="031D42"/>
                </a:solidFill>
                <a:latin typeface="Aptos Mono" panose="020B0009020202020204" pitchFamily="49" charset="0"/>
              </a:rPr>
              <a:t>    age, </a:t>
            </a:r>
            <a:r>
              <a:rPr lang="en-GB" dirty="0" err="1">
                <a:solidFill>
                  <a:srgbClr val="031D42"/>
                </a:solidFill>
                <a:latin typeface="Aptos Mono" panose="020B0009020202020204" pitchFamily="49" charset="0"/>
              </a:rPr>
              <a:t>sleep_hours</a:t>
            </a:r>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 |&gt;</a:t>
            </a:r>
          </a:p>
          <a:p>
            <a:pPr lvl="1"/>
            <a:r>
              <a:rPr lang="en-GB" dirty="0">
                <a:solidFill>
                  <a:srgbClr val="031D42"/>
                </a:solidFill>
                <a:latin typeface="Aptos Mono" panose="020B0009020202020204" pitchFamily="49" charset="0"/>
              </a:rPr>
              <a:t>  filter(</a:t>
            </a:r>
          </a:p>
          <a:p>
            <a:pPr lvl="1"/>
            <a:r>
              <a:rPr lang="en-GB" dirty="0">
                <a:solidFill>
                  <a:srgbClr val="031D42"/>
                </a:solidFill>
                <a:latin typeface="Aptos Mono" panose="020B0009020202020204" pitchFamily="49" charset="0"/>
              </a:rPr>
              <a:t>    age &gt;= 18,</a:t>
            </a:r>
          </a:p>
          <a:p>
            <a:pPr lvl="1"/>
            <a:r>
              <a:rPr lang="en-GB" dirty="0">
                <a:solidFill>
                  <a:srgbClr val="031D42"/>
                </a:solidFill>
                <a:latin typeface="Aptos Mono" panose="020B0009020202020204" pitchFamily="49" charset="0"/>
              </a:rPr>
              <a:t>    age &lt;= 65,</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 %in% c(</a:t>
            </a:r>
          </a:p>
          <a:p>
            <a:pPr lvl="1"/>
            <a:r>
              <a:rPr lang="en-GB" dirty="0">
                <a:solidFill>
                  <a:srgbClr val="031D42"/>
                </a:solidFill>
                <a:latin typeface="Aptos Mono" panose="020B0009020202020204" pitchFamily="49" charset="0"/>
              </a:rPr>
              <a:t>      "Full-time",</a:t>
            </a:r>
          </a:p>
          <a:p>
            <a:pPr lvl="1"/>
            <a:r>
              <a:rPr lang="en-GB" dirty="0">
                <a:solidFill>
                  <a:srgbClr val="031D42"/>
                </a:solidFill>
                <a:latin typeface="Aptos Mono" panose="020B0009020202020204" pitchFamily="49" charset="0"/>
              </a:rPr>
              <a:t>      "Part-time",</a:t>
            </a:r>
          </a:p>
          <a:p>
            <a:pPr lvl="1"/>
            <a:r>
              <a:rPr lang="en-GB" dirty="0">
                <a:solidFill>
                  <a:srgbClr val="031D42"/>
                </a:solidFill>
                <a:latin typeface="Aptos Mono" panose="020B0009020202020204" pitchFamily="49" charset="0"/>
              </a:rPr>
              <a:t>      "Not working"</a:t>
            </a:r>
          </a:p>
          <a:p>
            <a:pPr lvl="1"/>
            <a:r>
              <a:rPr lang="en-GB" dirty="0">
                <a:solidFill>
                  <a:srgbClr val="031D42"/>
                </a:solidFill>
                <a:latin typeface="Aptos Mono" panose="020B0009020202020204" pitchFamily="49" charset="0"/>
              </a:rPr>
              <a:t>    ),</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sleep_hours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r>
              <a:rPr lang="en-GB" dirty="0" err="1">
                <a:solidFill>
                  <a:srgbClr val="031D42"/>
                </a:solidFill>
                <a:latin typeface="Aptos Mono" panose="020B0009020202020204" pitchFamily="49" charset="0"/>
              </a:rPr>
              <a:t>is.na</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work_status</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  )</a:t>
            </a:r>
          </a:p>
        </p:txBody>
      </p:sp>
    </p:spTree>
    <p:extLst>
      <p:ext uri="{BB962C8B-B14F-4D97-AF65-F5344CB8AC3E}">
        <p14:creationId xmlns:p14="http://schemas.microsoft.com/office/powerpoint/2010/main" val="35714820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11E8C-BA85-268A-C552-756C0A8DED38}"/>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A6E45DC1-01D5-BC2F-3205-6B43E8C80505}"/>
              </a:ext>
            </a:extLst>
          </p:cNvPr>
          <p:cNvSpPr txBox="1">
            <a:spLocks/>
          </p:cNvSpPr>
          <p:nvPr/>
        </p:nvSpPr>
        <p:spPr>
          <a:xfrm>
            <a:off x="259043" y="610032"/>
            <a:ext cx="11932957"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R uses different functions for different group comparisons</a:t>
            </a:r>
          </a:p>
        </p:txBody>
      </p:sp>
      <p:sp>
        <p:nvSpPr>
          <p:cNvPr id="4" name="Rectangle 3">
            <a:extLst>
              <a:ext uri="{FF2B5EF4-FFF2-40B4-BE49-F238E27FC236}">
                <a16:creationId xmlns:a16="http://schemas.microsoft.com/office/drawing/2014/main" id="{0DD1A610-7C28-277F-D043-DC587B42D7AB}"/>
              </a:ext>
            </a:extLst>
          </p:cNvPr>
          <p:cNvSpPr/>
          <p:nvPr/>
        </p:nvSpPr>
        <p:spPr>
          <a:xfrm>
            <a:off x="437205" y="1633589"/>
            <a:ext cx="7587998" cy="64979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t.test</a:t>
            </a:r>
            <a:r>
              <a:rPr lang="en-GB" dirty="0">
                <a:solidFill>
                  <a:srgbClr val="031D42"/>
                </a:solidFill>
                <a:latin typeface="Aptos Mono" panose="020B0009020202020204" pitchFamily="49" charset="0"/>
              </a:rPr>
              <a:t>(outcome ~ group, data = </a:t>
            </a:r>
            <a:r>
              <a:rPr lang="en-GB" dirty="0" err="1">
                <a:solidFill>
                  <a:srgbClr val="031D42"/>
                </a:solidFill>
                <a:latin typeface="Aptos Mono" panose="020B0009020202020204" pitchFamily="49" charset="0"/>
              </a:rPr>
              <a:t>analysis_data</a:t>
            </a:r>
            <a:r>
              <a:rPr lang="en-GB" dirty="0">
                <a:solidFill>
                  <a:srgbClr val="031D42"/>
                </a:solidFill>
                <a:latin typeface="Aptos Mono" panose="020B0009020202020204" pitchFamily="49" charset="0"/>
              </a:rPr>
              <a:t>)</a:t>
            </a:r>
          </a:p>
        </p:txBody>
      </p:sp>
      <p:sp>
        <p:nvSpPr>
          <p:cNvPr id="5" name="Rectangle 4">
            <a:extLst>
              <a:ext uri="{FF2B5EF4-FFF2-40B4-BE49-F238E27FC236}">
                <a16:creationId xmlns:a16="http://schemas.microsoft.com/office/drawing/2014/main" id="{65CDB612-8E97-A99A-F4B1-6070271D9580}"/>
              </a:ext>
            </a:extLst>
          </p:cNvPr>
          <p:cNvSpPr/>
          <p:nvPr/>
        </p:nvSpPr>
        <p:spPr>
          <a:xfrm>
            <a:off x="437205" y="2424202"/>
            <a:ext cx="7587998" cy="649796"/>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err="1">
                <a:solidFill>
                  <a:srgbClr val="031D42"/>
                </a:solidFill>
                <a:latin typeface="Aptos Mono" panose="020B0009020202020204" pitchFamily="49" charset="0"/>
              </a:rPr>
              <a:t>t.test</a:t>
            </a:r>
            <a:r>
              <a:rPr lang="en-GB" dirty="0">
                <a:solidFill>
                  <a:srgbClr val="031D42"/>
                </a:solidFill>
                <a:latin typeface="Aptos Mono" panose="020B0009020202020204" pitchFamily="49" charset="0"/>
              </a:rPr>
              <a:t>(after, before, paired = TRUE)</a:t>
            </a:r>
          </a:p>
        </p:txBody>
      </p:sp>
      <p:sp>
        <p:nvSpPr>
          <p:cNvPr id="6" name="Rectangle 5">
            <a:extLst>
              <a:ext uri="{FF2B5EF4-FFF2-40B4-BE49-F238E27FC236}">
                <a16:creationId xmlns:a16="http://schemas.microsoft.com/office/drawing/2014/main" id="{AAD5B800-0C66-C8C4-5118-7BF235A6E03B}"/>
              </a:ext>
            </a:extLst>
          </p:cNvPr>
          <p:cNvSpPr/>
          <p:nvPr/>
        </p:nvSpPr>
        <p:spPr>
          <a:xfrm>
            <a:off x="437204" y="3214816"/>
            <a:ext cx="7587999" cy="1378700"/>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a:solidFill>
                  <a:srgbClr val="031D42"/>
                </a:solidFill>
                <a:latin typeface="Aptos Mono" panose="020B0009020202020204" pitchFamily="49" charset="0"/>
              </a:rPr>
              <a:t>model &lt;- </a:t>
            </a:r>
            <a:r>
              <a:rPr lang="en-GB" dirty="0" err="1">
                <a:solidFill>
                  <a:srgbClr val="031D42"/>
                </a:solidFill>
                <a:latin typeface="Aptos Mono" panose="020B0009020202020204" pitchFamily="49" charset="0"/>
              </a:rPr>
              <a:t>aov</a:t>
            </a:r>
            <a:r>
              <a:rPr lang="en-GB" dirty="0">
                <a:solidFill>
                  <a:srgbClr val="031D42"/>
                </a:solidFill>
                <a:latin typeface="Aptos Mono" panose="020B0009020202020204" pitchFamily="49" charset="0"/>
              </a:rPr>
              <a:t>(outcome ~ group, data=</a:t>
            </a:r>
            <a:r>
              <a:rPr lang="en-GB" dirty="0" err="1">
                <a:solidFill>
                  <a:srgbClr val="031D42"/>
                </a:solidFill>
                <a:latin typeface="Aptos Mono" panose="020B0009020202020204" pitchFamily="49" charset="0"/>
              </a:rPr>
              <a:t>analysis_data</a:t>
            </a:r>
            <a:r>
              <a:rPr lang="en-GB" dirty="0">
                <a:solidFill>
                  <a:srgbClr val="031D42"/>
                </a:solidFill>
                <a:latin typeface="Aptos Mono" panose="020B0009020202020204" pitchFamily="49" charset="0"/>
              </a:rPr>
              <a:t>)</a:t>
            </a:r>
          </a:p>
          <a:p>
            <a:pPr lvl="1"/>
            <a:r>
              <a:rPr lang="en-GB" dirty="0">
                <a:solidFill>
                  <a:srgbClr val="031D42"/>
                </a:solidFill>
                <a:latin typeface="Aptos Mono" panose="020B0009020202020204" pitchFamily="49" charset="0"/>
              </a:rPr>
              <a:t>summary(model)</a:t>
            </a:r>
          </a:p>
          <a:p>
            <a:pPr lvl="1"/>
            <a:r>
              <a:rPr lang="en-GB" dirty="0" err="1">
                <a:solidFill>
                  <a:srgbClr val="031D42"/>
                </a:solidFill>
                <a:latin typeface="Aptos Mono" panose="020B0009020202020204" pitchFamily="49" charset="0"/>
              </a:rPr>
              <a:t>TukeyHSD</a:t>
            </a:r>
            <a:r>
              <a:rPr lang="en-GB" dirty="0">
                <a:solidFill>
                  <a:srgbClr val="031D42"/>
                </a:solidFill>
                <a:latin typeface="Aptos Mono" panose="020B0009020202020204" pitchFamily="49" charset="0"/>
              </a:rPr>
              <a:t>(model)</a:t>
            </a:r>
          </a:p>
        </p:txBody>
      </p:sp>
      <p:sp>
        <p:nvSpPr>
          <p:cNvPr id="7" name="Rectangle 6">
            <a:extLst>
              <a:ext uri="{FF2B5EF4-FFF2-40B4-BE49-F238E27FC236}">
                <a16:creationId xmlns:a16="http://schemas.microsoft.com/office/drawing/2014/main" id="{7A0A480D-B053-0267-341F-254F29A92E18}"/>
              </a:ext>
            </a:extLst>
          </p:cNvPr>
          <p:cNvSpPr/>
          <p:nvPr/>
        </p:nvSpPr>
        <p:spPr>
          <a:xfrm>
            <a:off x="437204" y="4691246"/>
            <a:ext cx="7587999" cy="1667401"/>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a:solidFill>
                  <a:srgbClr val="031D42"/>
                </a:solidFill>
                <a:latin typeface="Aptos Mono" panose="020B0009020202020204" pitchFamily="49" charset="0"/>
              </a:rPr>
              <a:t>counts &lt;- table(</a:t>
            </a:r>
          </a:p>
          <a:p>
            <a:pPr lvl="1"/>
            <a:r>
              <a:rPr lang="en-GB" dirty="0">
                <a:solidFill>
                  <a:srgbClr val="031D42"/>
                </a:solidFill>
                <a:latin typeface="Aptos Mono" panose="020B0009020202020204" pitchFamily="49" charset="0"/>
              </a:rPr>
              <a:t>  analysis_data$variable_1,</a:t>
            </a:r>
          </a:p>
          <a:p>
            <a:pPr lvl="1"/>
            <a:r>
              <a:rPr lang="en-GB" dirty="0">
                <a:solidFill>
                  <a:srgbClr val="031D42"/>
                </a:solidFill>
                <a:latin typeface="Aptos Mono" panose="020B0009020202020204" pitchFamily="49" charset="0"/>
              </a:rPr>
              <a:t>  analysis_data$variable_2</a:t>
            </a:r>
          </a:p>
          <a:p>
            <a:pPr lvl="1"/>
            <a:r>
              <a:rPr lang="en-GB" dirty="0">
                <a:solidFill>
                  <a:srgbClr val="031D42"/>
                </a:solidFill>
                <a:latin typeface="Aptos Mono" panose="020B0009020202020204" pitchFamily="49" charset="0"/>
              </a:rPr>
              <a:t>)</a:t>
            </a:r>
          </a:p>
          <a:p>
            <a:pPr lvl="1"/>
            <a:r>
              <a:rPr lang="en-GB" dirty="0" err="1">
                <a:solidFill>
                  <a:srgbClr val="031D42"/>
                </a:solidFill>
                <a:latin typeface="Aptos Mono" panose="020B0009020202020204" pitchFamily="49" charset="0"/>
              </a:rPr>
              <a:t>chisq.test</a:t>
            </a:r>
            <a:r>
              <a:rPr lang="en-GB" dirty="0">
                <a:solidFill>
                  <a:srgbClr val="031D42"/>
                </a:solidFill>
                <a:latin typeface="Aptos Mono" panose="020B0009020202020204" pitchFamily="49" charset="0"/>
              </a:rPr>
              <a:t>(counts)</a:t>
            </a:r>
          </a:p>
        </p:txBody>
      </p:sp>
    </p:spTree>
    <p:extLst>
      <p:ext uri="{BB962C8B-B14F-4D97-AF65-F5344CB8AC3E}">
        <p14:creationId xmlns:p14="http://schemas.microsoft.com/office/powerpoint/2010/main" val="7829528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A7867-D0B5-5286-3EB6-2DC4D80E5205}"/>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3BE46F2C-7A5F-5C22-07A7-4F695E377916}"/>
              </a:ext>
            </a:extLst>
          </p:cNvPr>
          <p:cNvSpPr txBox="1">
            <a:spLocks/>
          </p:cNvSpPr>
          <p:nvPr/>
        </p:nvSpPr>
        <p:spPr>
          <a:xfrm>
            <a:off x="427579" y="588635"/>
            <a:ext cx="1120120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From research question to statistical conclusion</a:t>
            </a:r>
          </a:p>
        </p:txBody>
      </p:sp>
      <p:sp>
        <p:nvSpPr>
          <p:cNvPr id="4" name="TextBox 3">
            <a:extLst>
              <a:ext uri="{FF2B5EF4-FFF2-40B4-BE49-F238E27FC236}">
                <a16:creationId xmlns:a16="http://schemas.microsoft.com/office/drawing/2014/main" id="{C09EA4C6-82E6-7583-A2C5-111384367C64}"/>
              </a:ext>
            </a:extLst>
          </p:cNvPr>
          <p:cNvSpPr txBox="1"/>
          <p:nvPr/>
        </p:nvSpPr>
        <p:spPr>
          <a:xfrm>
            <a:off x="427579" y="1480346"/>
            <a:ext cx="8455627" cy="5078313"/>
          </a:xfrm>
          <a:prstGeom prst="rect">
            <a:avLst/>
          </a:prstGeom>
          <a:noFill/>
        </p:spPr>
        <p:txBody>
          <a:bodyPr wrap="square">
            <a:spAutoFit/>
          </a:bodyPr>
          <a:lstStyle/>
          <a:p>
            <a:pPr>
              <a:buNone/>
            </a:pPr>
            <a:r>
              <a:rPr lang="en-GB" dirty="0"/>
              <a:t>A reproducible comparison follows the same general workflow:</a:t>
            </a:r>
            <a:br>
              <a:rPr lang="en-GB" dirty="0"/>
            </a:br>
            <a:endParaRPr lang="en-GB" dirty="0"/>
          </a:p>
          <a:p>
            <a:pPr>
              <a:buNone/>
            </a:pPr>
            <a:r>
              <a:rPr lang="en-GB" dirty="0">
                <a:latin typeface="Courier New" panose="02070309020205020404" pitchFamily="49" charset="0"/>
              </a:rPr>
              <a:t>1. Define the research question</a:t>
            </a:r>
          </a:p>
          <a:p>
            <a:pPr>
              <a:buNone/>
            </a:pPr>
            <a:endParaRPr lang="en-GB" dirty="0">
              <a:latin typeface="Courier New" panose="02070309020205020404" pitchFamily="49" charset="0"/>
            </a:endParaRPr>
          </a:p>
          <a:p>
            <a:pPr>
              <a:buNone/>
            </a:pPr>
            <a:r>
              <a:rPr lang="en-GB" dirty="0">
                <a:latin typeface="Courier New" panose="02070309020205020404" pitchFamily="49" charset="0"/>
              </a:rPr>
              <a:t>2. select() the relevant variables</a:t>
            </a:r>
          </a:p>
          <a:p>
            <a:pPr>
              <a:buNone/>
            </a:pPr>
            <a:endParaRPr lang="en-GB" dirty="0">
              <a:latin typeface="Courier New" panose="02070309020205020404" pitchFamily="49" charset="0"/>
            </a:endParaRPr>
          </a:p>
          <a:p>
            <a:pPr>
              <a:buNone/>
            </a:pPr>
            <a:r>
              <a:rPr lang="en-GB" dirty="0">
                <a:latin typeface="Courier New" panose="02070309020205020404" pitchFamily="49" charset="0"/>
              </a:rPr>
              <a:t>3. filter() the appropriate observations</a:t>
            </a:r>
          </a:p>
          <a:p>
            <a:pPr>
              <a:buNone/>
            </a:pPr>
            <a:endParaRPr lang="en-GB" dirty="0">
              <a:latin typeface="Courier New" panose="02070309020205020404" pitchFamily="49" charset="0"/>
            </a:endParaRPr>
          </a:p>
          <a:p>
            <a:pPr>
              <a:buNone/>
            </a:pPr>
            <a:r>
              <a:rPr lang="en-GB" dirty="0">
                <a:latin typeface="Courier New" panose="02070309020205020404" pitchFamily="49" charset="0"/>
              </a:rPr>
              <a:t>4. Check the analysis dataset</a:t>
            </a:r>
          </a:p>
          <a:p>
            <a:pPr>
              <a:buNone/>
            </a:pPr>
            <a:endParaRPr lang="en-GB" dirty="0">
              <a:latin typeface="Courier New" panose="02070309020205020404" pitchFamily="49" charset="0"/>
            </a:endParaRPr>
          </a:p>
          <a:p>
            <a:pPr>
              <a:buNone/>
            </a:pPr>
            <a:r>
              <a:rPr lang="en-GB" dirty="0">
                <a:latin typeface="Courier New" panose="02070309020205020404" pitchFamily="49" charset="0"/>
              </a:rPr>
              <a:t>5. Choose the comparison function</a:t>
            </a:r>
          </a:p>
          <a:p>
            <a:pPr>
              <a:buNone/>
            </a:pPr>
            <a:endParaRPr lang="en-GB" dirty="0">
              <a:latin typeface="Courier New" panose="02070309020205020404" pitchFamily="49" charset="0"/>
            </a:endParaRPr>
          </a:p>
          <a:p>
            <a:pPr>
              <a:buNone/>
            </a:pPr>
            <a:r>
              <a:rPr lang="en-GB" dirty="0">
                <a:latin typeface="Courier New" panose="02070309020205020404" pitchFamily="49" charset="0"/>
              </a:rPr>
              <a:t>6. Run and save the analysis</a:t>
            </a:r>
          </a:p>
          <a:p>
            <a:pPr>
              <a:buNone/>
            </a:pPr>
            <a:endParaRPr lang="en-GB" dirty="0">
              <a:latin typeface="Courier New" panose="02070309020205020404" pitchFamily="49" charset="0"/>
            </a:endParaRPr>
          </a:p>
          <a:p>
            <a:pPr>
              <a:buNone/>
            </a:pPr>
            <a:r>
              <a:rPr lang="en-GB" dirty="0">
                <a:latin typeface="Courier New" panose="02070309020205020404" pitchFamily="49" charset="0"/>
              </a:rPr>
              <a:t>7. Interpret the result in context</a:t>
            </a:r>
            <a:br>
              <a:rPr lang="en-GB" dirty="0">
                <a:latin typeface="Courier New" panose="02070309020205020404" pitchFamily="49" charset="0"/>
              </a:rPr>
            </a:br>
            <a:endParaRPr lang="en-GB" dirty="0">
              <a:latin typeface="Courier New" panose="02070309020205020404" pitchFamily="49" charset="0"/>
            </a:endParaRPr>
          </a:p>
          <a:p>
            <a:pPr>
              <a:buNone/>
            </a:pPr>
            <a:r>
              <a:rPr lang="en-GB" dirty="0"/>
              <a:t>R provides the statistical output—but we must translate that output back into an answer to the original research question.</a:t>
            </a:r>
          </a:p>
        </p:txBody>
      </p:sp>
    </p:spTree>
    <p:extLst>
      <p:ext uri="{BB962C8B-B14F-4D97-AF65-F5344CB8AC3E}">
        <p14:creationId xmlns:p14="http://schemas.microsoft.com/office/powerpoint/2010/main" val="28339089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EDBFE9BF-930E-0A88-049A-8C6D658D86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B87C5B-C1E1-586C-4DF8-4AD6AB15B5B4}"/>
              </a:ext>
            </a:extLst>
          </p:cNvPr>
          <p:cNvSpPr txBox="1"/>
          <p:nvPr/>
        </p:nvSpPr>
        <p:spPr>
          <a:xfrm>
            <a:off x="500743" y="463485"/>
            <a:ext cx="5878287"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What you need to do next…</a:t>
            </a:r>
            <a:endParaRPr lang="en-GB" sz="2800" noProof="1">
              <a:solidFill>
                <a:schemeClr val="bg1"/>
              </a:solidFill>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E79FBF80-4DB0-FFED-AB2E-F97CFA3B6861}"/>
              </a:ext>
            </a:extLst>
          </p:cNvPr>
          <p:cNvSpPr txBox="1"/>
          <p:nvPr/>
        </p:nvSpPr>
        <p:spPr>
          <a:xfrm>
            <a:off x="576944" y="1339463"/>
            <a:ext cx="83608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noProof="1">
                <a:solidFill>
                  <a:schemeClr val="bg1"/>
                </a:solidFill>
                <a:latin typeface="Source Sans Pro" panose="020B0503030403020204" pitchFamily="34" charset="0"/>
                <a:ea typeface="Source Sans Pro" panose="020B0503030403020204" pitchFamily="34" charset="0"/>
                <a:cs typeface="Calibri"/>
              </a:rPr>
              <a:t>We’ve discussed a lot about comparing groups of different sizes and data types. We’ve also discussed the way in which we need to filter data to select our groups…now let’s actually compare some groups in R.</a:t>
            </a:r>
          </a:p>
        </p:txBody>
      </p:sp>
      <p:cxnSp>
        <p:nvCxnSpPr>
          <p:cNvPr id="7" name="Straight Arrow Connector 6">
            <a:extLst>
              <a:ext uri="{FF2B5EF4-FFF2-40B4-BE49-F238E27FC236}">
                <a16:creationId xmlns:a16="http://schemas.microsoft.com/office/drawing/2014/main" id="{24048D93-CE3B-2C04-DE0A-2C7A2ADB27C0}"/>
              </a:ext>
            </a:extLst>
          </p:cNvPr>
          <p:cNvCxnSpPr>
            <a:cxnSpLocks/>
          </p:cNvCxnSpPr>
          <p:nvPr/>
        </p:nvCxnSpPr>
        <p:spPr>
          <a:xfrm>
            <a:off x="7391399" y="6232360"/>
            <a:ext cx="392337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9606799-C9AB-D73E-8140-7F2FF5803538}"/>
              </a:ext>
            </a:extLst>
          </p:cNvPr>
          <p:cNvSpPr txBox="1"/>
          <p:nvPr/>
        </p:nvSpPr>
        <p:spPr>
          <a:xfrm>
            <a:off x="7391399" y="5669037"/>
            <a:ext cx="3650673"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To the code-along…</a:t>
            </a:r>
            <a:endParaRPr lang="en-GB" sz="2800" noProof="1">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442727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4|1.7|7.3|2.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3948</TotalTime>
  <Words>2977</Words>
  <Application>Microsoft Macintosh PowerPoint</Application>
  <PresentationFormat>Widescreen</PresentationFormat>
  <Paragraphs>491</Paragraphs>
  <Slides>60</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60</vt:i4>
      </vt:variant>
    </vt:vector>
  </HeadingPairs>
  <TitlesOfParts>
    <vt:vector size="68" baseType="lpstr">
      <vt:lpstr>Aptos</vt:lpstr>
      <vt:lpstr>Aptos Display</vt:lpstr>
      <vt:lpstr>Aptos Mono</vt:lpstr>
      <vt:lpstr>Arial</vt:lpstr>
      <vt:lpstr>Cambria Math</vt:lpstr>
      <vt:lpstr>Courier New</vt:lpstr>
      <vt:lpstr>Source Sans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Levene’s test</vt:lpstr>
      <vt:lpstr>Levene’s test</vt:lpstr>
      <vt:lpstr>Interpretation</vt:lpstr>
      <vt:lpstr>PowerPoint Presentation</vt:lpstr>
      <vt:lpstr>PowerPoint Presentation</vt:lpstr>
      <vt:lpstr>PowerPoint Presentation</vt:lpstr>
      <vt:lpstr>PowerPoint Presentation</vt:lpstr>
      <vt:lpstr>The χ2  (Chi-square) test</vt:lpstr>
      <vt:lpstr>Types of χ2  test</vt:lpstr>
      <vt:lpstr>How the χ2  test works</vt:lpstr>
      <vt:lpstr>How the χ2  test works</vt:lpstr>
      <vt:lpstr>Expected frequencies</vt:lpstr>
      <vt:lpstr>Expected frequencies</vt:lpstr>
      <vt:lpstr>Chi-Square Statistic</vt:lpstr>
      <vt:lpstr>Degrees of freedom</vt:lpstr>
      <vt:lpstr>Interpreting the results</vt:lpstr>
      <vt:lpstr>Assumptions of the χ2  test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Oldnall</dc:creator>
  <cp:lastModifiedBy>Chris Oldnall</cp:lastModifiedBy>
  <cp:revision>22</cp:revision>
  <cp:lastPrinted>2026-04-30T09:46:23Z</cp:lastPrinted>
  <dcterms:created xsi:type="dcterms:W3CDTF">2026-04-30T09:42:16Z</dcterms:created>
  <dcterms:modified xsi:type="dcterms:W3CDTF">2026-08-06T11:40:02Z</dcterms:modified>
</cp:coreProperties>
</file>