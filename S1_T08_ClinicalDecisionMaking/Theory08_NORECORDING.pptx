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72" r:id="rId2"/>
    <p:sldId id="273" r:id="rId3"/>
    <p:sldId id="278" r:id="rId4"/>
    <p:sldId id="280" r:id="rId5"/>
    <p:sldId id="327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9" r:id="rId14"/>
    <p:sldId id="281" r:id="rId15"/>
    <p:sldId id="378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416" r:id="rId25"/>
    <p:sldId id="279" r:id="rId26"/>
    <p:sldId id="379" r:id="rId27"/>
    <p:sldId id="398" r:id="rId28"/>
    <p:sldId id="399" r:id="rId29"/>
    <p:sldId id="400" r:id="rId30"/>
    <p:sldId id="401" r:id="rId31"/>
    <p:sldId id="402" r:id="rId32"/>
    <p:sldId id="403" r:id="rId33"/>
    <p:sldId id="404" r:id="rId34"/>
    <p:sldId id="405" r:id="rId35"/>
    <p:sldId id="406" r:id="rId36"/>
    <p:sldId id="286" r:id="rId37"/>
    <p:sldId id="380" r:id="rId38"/>
    <p:sldId id="407" r:id="rId39"/>
    <p:sldId id="408" r:id="rId40"/>
    <p:sldId id="409" r:id="rId41"/>
    <p:sldId id="411" r:id="rId42"/>
    <p:sldId id="414" r:id="rId43"/>
    <p:sldId id="417" r:id="rId44"/>
    <p:sldId id="415" r:id="rId45"/>
    <p:sldId id="32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  <a:srgbClr val="C1EDF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3"/>
    <p:restoredTop sz="92877"/>
  </p:normalViewPr>
  <p:slideViewPr>
    <p:cSldViewPr snapToGrid="0">
      <p:cViewPr varScale="1">
        <p:scale>
          <a:sx n="115" d="100"/>
          <a:sy n="115" d="100"/>
        </p:scale>
        <p:origin x="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1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6C6A-DD33-4258-D5E4-556A4A87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95E17-9E00-E92D-3D49-3E60EC879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78C7E-219B-1CB2-3F17-16D53B642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726C7-DA0A-0BD1-D23E-EF1B451B9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683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9CB01-C130-E978-E88C-B4A085C81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6F809-ED7A-0834-3C51-9F81A2E5D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2C0F6-0817-AB20-6873-022072B14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87130-771E-856F-5AEA-F926EEBE1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580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5AD4-4149-8292-402A-9E006C634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DD4AD-D1FD-346A-9988-95330F58A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6D21D-8AE8-627D-318E-F9C5F1706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D6B50-0A10-09FF-B2D4-2682662F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585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096A-0FB5-1DD7-D818-2DED40A61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D8E57-2C9C-9C30-FDB1-F8DCAE90B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957E09-67E6-4918-98A2-B87A86B80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D0C89-9CA9-F56A-D73B-A47A8F3E3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554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7FFA1-69C3-FAC6-4700-59C1A79B6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C6611-DBC8-D528-59EA-8846C6D9F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4225B-F93C-664B-C260-9EA6CD244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F4578-A8BE-DB9C-9BFE-F0F4ECAE2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626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38CE-457A-8B34-8D14-5EA2A193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25C5E-5BC2-F667-0944-2B23CB0BA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0CA2A-7636-A991-F1CE-4E01EA516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75928-B1DE-5BBF-B52A-D0C62BA9E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303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2F442-43A9-5CC2-05B8-4B175C22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924A0-81F9-06A1-074D-64C503A55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E60F4-D810-5150-B466-91EC47FCE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5F7FB-A191-61A9-71F4-CAE6C2839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159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67DD-D62C-82FF-55D3-38590971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2CFFB-EF1B-5ADC-D3AF-EF40FE352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7D444-996E-6A56-4039-E9FE855FB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8FD61-CAB4-0D06-696E-7097C7C118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121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C4AB-EE77-CE29-1E12-36C727BF9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B15C6-EAA7-9667-9E57-206B47A3D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C631B-0A3D-BF9C-7467-AD7AB24B5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DDB1E-5335-E3E0-7A88-CCD6E4DF5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011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BA67-CD48-CE08-B655-3F625EEF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D083A-84AF-8D4B-9F48-BA11BBBF7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99FFD-CA68-2E36-7DB0-AE2F46335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31B87-B85B-3F3B-19E7-DBA1719E5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841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6C4EE-BA21-CC09-DC57-5FBFED7C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DE720-C7FD-375C-BFB2-0396AA583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18BAB-878A-5FEE-0086-7DF819A4C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F5E94-4B42-7BBE-117B-B5D9E7E1E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197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A370-C934-F08E-F780-8426AC13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766D5-DBFF-D510-A2B1-72AEAFA26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1B55D-B1D9-5261-A878-334C2CF4E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08AC9-36AB-1EC5-3CD4-D8766ECDD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491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834E-E3D3-FEE4-B4CE-9D647042C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9FF96-550B-687B-8EC8-182DC1B5C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8198C-FBD0-C72B-6730-EE6759E28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09B24-3452-E793-3510-C15B32530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0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735CC-5127-6E66-2C93-49366777D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0B1DD-EBD1-9732-B2D1-C62D822B0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2A756-F545-FC65-DC43-267800397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B7ABD-34D5-CDAB-28DC-1C7842719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984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77CF4-AAA6-65AF-DC1D-7D259053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28AEF-5298-212C-1B95-FF553CA19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6090C-B2B6-E94E-F3A5-71ED5DE5C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42D93-BC4E-2B37-ED40-AD1BD1DBE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150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EF5E-EB10-1022-2BE9-6D6FC4A3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CE0DE-D23E-A2E3-6865-C00F3290A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B280F-DDD2-A9B1-C2DC-2F36CC1E4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82372-90BE-61F0-3FE7-F0694F91E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23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06CA2-53B0-92F4-C604-8992E17BC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5A515-34A5-760A-7B76-A69379CE2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C8BA0-AE32-66AE-9411-0A384E9A0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9E1C0-CC81-0DEC-53D3-46AEE4637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0012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BD3E3-2E8A-F055-E187-4F56DD4A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AF9C5-D023-EFF3-7822-03C1FD6CB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83813-FBDA-0532-CD31-23B9217DE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773E9-05C4-E128-0675-7F0548AC4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807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D700-5FA3-5900-BF13-0ECF56AB4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C3E45-378A-A3DA-F66A-69BFFF6BC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81F7C-8F6A-352C-86F7-B1697F99B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C2235-E187-43A6-69F6-4816C4744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003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8911-DC74-F820-CB23-796B6B68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84238-268D-6EE9-DEFA-943A391B0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8217B-CDAC-E193-4DF5-FD6AFD82F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0468-35E2-DCBB-0559-512ED732A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2145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68202-7C15-6EF8-769C-C5CA0C490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6157B-40EC-0D0A-83CC-D282EF533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DF059-3DD4-EC9E-C677-F0FA8E47C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378BF-BEB3-F415-926E-B9128667F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0103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0D15-2724-B4CA-4099-39920FAF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2610B-4D7C-2E65-D572-759EC3824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DBF67-B607-89EE-51CD-4E53DEB62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8A148-26B4-BAAC-29E7-602E15D89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5606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015C6-F26F-FC53-1239-45C65B3D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005D1-8846-0D53-AEA4-3A44AFB3D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FD91D-FAD7-AAD5-B719-E4DDA0AB4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34586-B140-C079-4EC4-800D977BF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9962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A8944-D062-3E07-2FD3-860D07E13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D5071-D746-7789-3FC4-95609F2F8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4A0E5-5FC7-B783-285B-03A77CBCA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9846F-FEF0-773D-52C4-164CCB6DA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3157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EBE4-8080-AADA-BDFA-0D1479BE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4111B-C91E-7DB5-F43E-02D94EAFC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FD6F0-BAA6-0526-FF9D-5A64805DE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FA997-E848-9ABE-B658-9E2B32D67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7740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FF93-6583-EC8A-DDAD-1A8172C2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79AC4-DF09-321C-735C-B417B2288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28A53-9B21-1688-E117-60BD074DA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B45EC-9546-C1CD-4B44-E5EF17215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1376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14D6-E12B-9B3C-2175-34E4B1EF6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FCB1E-2CF2-2458-3E45-D30AF827A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C9FE3-2BA5-232B-C630-E8F9E60D7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26A05-14AD-9C5A-AE08-B229EA549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2421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E1D5-5234-7C61-D7F9-51EB07D6D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82ABA-A291-585D-A70D-B642C711F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87C06-F08F-BE2B-A245-5ECBEEB4B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63682-C84E-2226-8509-712D28C31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4343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CAF4-8EB5-ECB0-A39B-6E46745C4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ABEAF-64F4-7712-01B3-E678F1335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C45F4-C20F-DEB1-FD3D-9737FCA54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7F9E7-F460-F3CA-A3CD-4FB7F74C6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0148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8239-813E-3190-BCFA-04B2283A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70DD8-F4A1-B604-5BFE-DAF3C9D24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811B8-F543-50B3-5919-073513368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4AEE-C3B1-06D5-E423-58B5AAC0F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9708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A72A-D816-468A-EF4C-272757B81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1ADBE-AFDC-8201-47AA-582A8753D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C0395-D276-81A9-BA2B-FAD31CD36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C064D-4689-0D8E-237A-CA97518FA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8661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3A7E-D83B-B430-2FEA-7A64C29E0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054A3-2BFF-16E4-6914-5CC411A6F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4775F-E280-EAC6-C9D6-91F957E08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F4ED-14E9-AC7C-84B0-E3AE19FE8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0034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5EA0-32F8-482B-802E-980E4C02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0C2D9-A492-F5F6-9085-E2AC269B1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27B3E-FDE9-0578-E79E-6CD7756D6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D3F03-DA8F-AF1B-C0AC-1BF66DECD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4694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1F367-00C4-B8E8-D485-C3852E43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56A58-5BAE-BA10-BDC0-068AA8BBF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0A27-8846-D3E2-BCAE-66869D95B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6F6BF-3E56-E2DB-B899-0A12CE89C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7842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A75B-C108-F180-973D-680ABA03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F7686-B41F-1DF0-C982-A5AE8991F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052C7-FF30-3FCE-5CC8-888E94718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02833-86E9-F249-6417-2B71203C5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771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032-83A6-22AC-AD8C-49A17322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B3E3F-AF80-3633-9578-F285501B0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FC5A5-2A66-88C7-58C4-A6635E8D6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FECB5-4A16-EFC7-9EC5-E43945585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375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8: Clinical Decision Making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555978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prediction is not yet a decision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49899"/>
            <a:ext cx="979397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Last week, we explored how models can estimate the probability of an outcome for a new patient. A model might tell us that a patient has a 30% predicted risk of readmission. But that prediction does not tell us what to do. Should we: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continue usual care?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offer additional monitoring?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begin a preventative treatment?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gather more information first?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 move from a predicted risk to a clinical action, we must also consider: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expected benefits and harms of each option;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consequences of acting—or not acting;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uncertainty in the evidence;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patient’s circumstances and preferences.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changes the question from: </a:t>
            </a:r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is likely to happen?</a:t>
            </a: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to: </a:t>
            </a:r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what point does the expected benefit of acting outweigh its harms and burdens?</a:t>
            </a:r>
          </a:p>
        </p:txBody>
      </p:sp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From evidence to action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Thresholds and trade-offs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Making decision under uncertainty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Recording results and decisions in 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6096000" y="6232360"/>
            <a:ext cx="521877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6096000" y="5669037"/>
            <a:ext cx="4946074" cy="523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8.1 From evidence to action</a:t>
            </a:r>
          </a:p>
        </p:txBody>
      </p:sp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24470" y="3095607"/>
            <a:ext cx="8082817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8.1 From evidence to action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26C7-D33C-71EB-BE2B-4E78FBEE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B412C-F23D-EE2C-94F2-E75D3B380F9D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clinical decision begins with a choice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6D6D3-83F0-F3F2-DE1D-581F74A42036}"/>
              </a:ext>
            </a:extLst>
          </p:cNvPr>
          <p:cNvSpPr txBox="1"/>
          <p:nvPr/>
        </p:nvSpPr>
        <p:spPr>
          <a:xfrm>
            <a:off x="500742" y="1475431"/>
            <a:ext cx="853497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 has a predicted 30% risk of hospital readmission during the next 30 days.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clinical team could: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continue usual care;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arrange additional follow-up;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offer an intensive support programme;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gather more information before deciding.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do not yet have enough information to make a defensible decision.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290939-9F95-8C53-7133-1D45A1E94565}"/>
              </a:ext>
            </a:extLst>
          </p:cNvPr>
          <p:cNvGrpSpPr/>
          <p:nvPr/>
        </p:nvGrpSpPr>
        <p:grpSpPr>
          <a:xfrm>
            <a:off x="8563162" y="550477"/>
            <a:ext cx="3128095" cy="3128095"/>
            <a:chOff x="8563162" y="550477"/>
            <a:chExt cx="3128095" cy="3128095"/>
          </a:xfrm>
        </p:grpSpPr>
        <p:pic>
          <p:nvPicPr>
            <p:cNvPr id="5" name="Graphic 4" descr="User with solid fill">
              <a:extLst>
                <a:ext uri="{FF2B5EF4-FFF2-40B4-BE49-F238E27FC236}">
                  <a16:creationId xmlns:a16="http://schemas.microsoft.com/office/drawing/2014/main" id="{F37A69E4-8657-4523-8677-53F3FABA62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63162" y="550477"/>
              <a:ext cx="3128095" cy="3128095"/>
            </a:xfrm>
            <a:prstGeom prst="rect">
              <a:avLst/>
            </a:prstGeom>
          </p:spPr>
        </p:pic>
        <p:pic>
          <p:nvPicPr>
            <p:cNvPr id="7" name="Graphic 6" descr="Hourglass Finished with solid fill">
              <a:extLst>
                <a:ext uri="{FF2B5EF4-FFF2-40B4-BE49-F238E27FC236}">
                  <a16:creationId xmlns:a16="http://schemas.microsoft.com/office/drawing/2014/main" id="{BCAA7B1D-4032-E8CE-9D88-04E133877A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34507" y="227129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23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4589F-C015-C5FE-FE81-F0A8FAD9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F078C1-3029-0ABA-5FF5-5BE3C09D36FB}"/>
              </a:ext>
            </a:extLst>
          </p:cNvPr>
          <p:cNvSpPr txBox="1"/>
          <p:nvPr/>
        </p:nvSpPr>
        <p:spPr>
          <a:xfrm>
            <a:off x="404490" y="741567"/>
            <a:ext cx="95215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Evidence describes outcomes,  it does not choose an action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56C4B7-802C-A38A-CFDE-C78643E2C5F5}"/>
              </a:ext>
            </a:extLst>
          </p:cNvPr>
          <p:cNvSpPr txBox="1"/>
          <p:nvPr/>
        </p:nvSpPr>
        <p:spPr>
          <a:xfrm>
            <a:off x="404490" y="1884505"/>
            <a:ext cx="115789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predicted risk tells us what might happen.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 effect estimate tells us how an intervention might change that outcome.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Neither tells us automatically which option is best.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Decision = evidence + available options </a:t>
            </a: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+ consequences + patient values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statistical result is an input to the decision, </a:t>
            </a:r>
            <a:b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the decision itself.</a:t>
            </a:r>
          </a:p>
        </p:txBody>
      </p:sp>
    </p:spTree>
    <p:extLst>
      <p:ext uri="{BB962C8B-B14F-4D97-AF65-F5344CB8AC3E}">
        <p14:creationId xmlns:p14="http://schemas.microsoft.com/office/powerpoint/2010/main" val="1382233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32A92-F6A0-C7CD-1C1D-07C54B25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E86824-53B7-5EE6-960A-FBD38F7BC97E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Start by defining the available actions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A1FB0-FC81-18B8-9E05-9595E82C128F}"/>
              </a:ext>
            </a:extLst>
          </p:cNvPr>
          <p:cNvSpPr txBox="1"/>
          <p:nvPr/>
        </p:nvSpPr>
        <p:spPr>
          <a:xfrm>
            <a:off x="500743" y="1167178"/>
            <a:ext cx="819808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Before comparing options, make sure all the options are visible.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</a:t>
            </a:r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BRAN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— Benefits: What might improve?</a:t>
            </a: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— Risks: What harms or disadvantages are possible?</a:t>
            </a: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— Alternatives: What else could we do?</a:t>
            </a: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— Nothing new: What might happen if we continue current care?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“Do nothing” rarely means that nothing happens.</a:t>
            </a:r>
          </a:p>
        </p:txBody>
      </p:sp>
    </p:spTree>
    <p:extLst>
      <p:ext uri="{BB962C8B-B14F-4D97-AF65-F5344CB8AC3E}">
        <p14:creationId xmlns:p14="http://schemas.microsoft.com/office/powerpoint/2010/main" val="247162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10A75-F84D-3029-407F-B7EEC6576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229C64-1949-A314-FC1B-840F06A9ECD7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Population evidence must be translated to the individual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347D6-FB4C-BFAF-7EB3-7A768A34969D}"/>
              </a:ext>
            </a:extLst>
          </p:cNvPr>
          <p:cNvSpPr txBox="1"/>
          <p:nvPr/>
        </p:nvSpPr>
        <p:spPr>
          <a:xfrm>
            <a:off x="500742" y="1980758"/>
            <a:ext cx="852708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Imagine that, among 100 similar patients:</a:t>
            </a: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30 would be readmitted with usual care;</a:t>
            </a: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 would be readmitted with additional support.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programme may prevent approximately 10 readmissions per 100 patients.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But it cannot tell us: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whether Sam would otherwise be readmitted;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whether Sam would personally benefit;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whether Sam would experience a burden or harm.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Population evidence estimates possibilities, </a:t>
            </a:r>
            <a:b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does not reveal an individual future.</a:t>
            </a:r>
          </a:p>
        </p:txBody>
      </p:sp>
      <p:pic>
        <p:nvPicPr>
          <p:cNvPr id="5" name="Graphic 4" descr="Group of people with solid fill">
            <a:extLst>
              <a:ext uri="{FF2B5EF4-FFF2-40B4-BE49-F238E27FC236}">
                <a16:creationId xmlns:a16="http://schemas.microsoft.com/office/drawing/2014/main" id="{1A5E6DB6-BDD2-5F93-C2C7-4F5417EAF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7826" y="463485"/>
            <a:ext cx="2663431" cy="266343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18C6AC3-6062-AC6A-5927-FD3589E8DDB5}"/>
              </a:ext>
            </a:extLst>
          </p:cNvPr>
          <p:cNvGrpSpPr/>
          <p:nvPr/>
        </p:nvGrpSpPr>
        <p:grpSpPr>
          <a:xfrm>
            <a:off x="6445604" y="3972542"/>
            <a:ext cx="1994034" cy="2101644"/>
            <a:chOff x="8563162" y="550477"/>
            <a:chExt cx="3128095" cy="3128095"/>
          </a:xfrm>
        </p:grpSpPr>
        <p:pic>
          <p:nvPicPr>
            <p:cNvPr id="8" name="Graphic 7" descr="User with solid fill">
              <a:extLst>
                <a:ext uri="{FF2B5EF4-FFF2-40B4-BE49-F238E27FC236}">
                  <a16:creationId xmlns:a16="http://schemas.microsoft.com/office/drawing/2014/main" id="{088D7302-BB3F-9CFF-F66D-CCCB29295E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63162" y="550477"/>
              <a:ext cx="3128095" cy="3128095"/>
            </a:xfrm>
            <a:prstGeom prst="rect">
              <a:avLst/>
            </a:prstGeom>
          </p:spPr>
        </p:pic>
        <p:pic>
          <p:nvPicPr>
            <p:cNvPr id="9" name="Graphic 8" descr="Hourglass Finished with solid fill">
              <a:extLst>
                <a:ext uri="{FF2B5EF4-FFF2-40B4-BE49-F238E27FC236}">
                  <a16:creationId xmlns:a16="http://schemas.microsoft.com/office/drawing/2014/main" id="{4E8408A7-B18D-2135-C716-FB75F94FCA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34507" y="227129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5078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CEEAF-1678-15F5-8F74-398AE16A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9333ED-77FC-4C30-EBCA-7105F168894F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Baseline risk changes the expected benefit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AE7C1-B4DC-9370-D032-2A555450436F}"/>
              </a:ext>
            </a:extLst>
          </p:cNvPr>
          <p:cNvSpPr txBox="1"/>
          <p:nvPr/>
        </p:nvSpPr>
        <p:spPr>
          <a:xfrm>
            <a:off x="500743" y="4147746"/>
            <a:ext cx="74937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relative effect is the same, but the expected absolute benefit is different.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Patients at higher baseline risk generally have more opportunity to benefit when the relative treatment effect remains constant.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Would the intervention look equally worthwhile in both groups?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51E163-0880-8028-9729-45B8F1ACA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14563"/>
              </p:ext>
            </p:extLst>
          </p:nvPr>
        </p:nvGraphicFramePr>
        <p:xfrm>
          <a:off x="500743" y="2519281"/>
          <a:ext cx="7908759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6253">
                  <a:extLst>
                    <a:ext uri="{9D8B030D-6E8A-4147-A177-3AD203B41FA5}">
                      <a16:colId xmlns:a16="http://schemas.microsoft.com/office/drawing/2014/main" val="184713419"/>
                    </a:ext>
                  </a:extLst>
                </a:gridCol>
                <a:gridCol w="2636253">
                  <a:extLst>
                    <a:ext uri="{9D8B030D-6E8A-4147-A177-3AD203B41FA5}">
                      <a16:colId xmlns:a16="http://schemas.microsoft.com/office/drawing/2014/main" val="1845711061"/>
                    </a:ext>
                  </a:extLst>
                </a:gridCol>
                <a:gridCol w="2636253">
                  <a:extLst>
                    <a:ext uri="{9D8B030D-6E8A-4147-A177-3AD203B41FA5}">
                      <a16:colId xmlns:a16="http://schemas.microsoft.com/office/drawing/2014/main" val="3172623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Baseline risk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Risk with intervention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Absolute reduction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2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tx1"/>
                          </a:solidFill>
                        </a:rPr>
                        <a:t>10 percentage 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208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tx1"/>
                          </a:solidFill>
                        </a:rPr>
                        <a:t>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 percentage 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61605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0938695-B2EF-C5A4-F2C9-A0DC9122BDB8}"/>
              </a:ext>
            </a:extLst>
          </p:cNvPr>
          <p:cNvSpPr txBox="1"/>
          <p:nvPr/>
        </p:nvSpPr>
        <p:spPr>
          <a:xfrm>
            <a:off x="500743" y="1587987"/>
            <a:ext cx="72490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Suppose an intervention reduces risk by approximately one-third.</a:t>
            </a:r>
          </a:p>
        </p:txBody>
      </p:sp>
    </p:spTree>
    <p:extLst>
      <p:ext uri="{BB962C8B-B14F-4D97-AF65-F5344CB8AC3E}">
        <p14:creationId xmlns:p14="http://schemas.microsoft.com/office/powerpoint/2010/main" val="126736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62987-7A2D-59AF-B284-186E006B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76EFEA-0070-E434-765D-CDE4A155E477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Benefits, harms and burdens belong in the same comparison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E8809-285D-4EF3-DC6F-FC133750F63A}"/>
              </a:ext>
            </a:extLst>
          </p:cNvPr>
          <p:cNvSpPr txBox="1"/>
          <p:nvPr/>
        </p:nvSpPr>
        <p:spPr>
          <a:xfrm>
            <a:off x="500743" y="1812315"/>
            <a:ext cx="749372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Sam, additional support might offer: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Possible benefit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lower chance of readmission;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earlier recognition of deterioration;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greater reassurance.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Possible harms or burdens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additional appointments;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travel and time commitments;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anxiety from increased monitoring;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opportunity costs for Sam and the service.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decision can be clinically reasonable and still be burdensome.</a:t>
            </a:r>
          </a:p>
        </p:txBody>
      </p:sp>
    </p:spTree>
    <p:extLst>
      <p:ext uri="{BB962C8B-B14F-4D97-AF65-F5344CB8AC3E}">
        <p14:creationId xmlns:p14="http://schemas.microsoft.com/office/powerpoint/2010/main" val="2402764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086B5-08CC-0D77-C2A0-CF45BABA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6317F4-9A87-2649-56C3-CB4E492942AD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relevant outcomes depend on the decision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AC3CB-28C2-32CC-BE53-FCB7F90505AA}"/>
              </a:ext>
            </a:extLst>
          </p:cNvPr>
          <p:cNvSpPr txBox="1"/>
          <p:nvPr/>
        </p:nvSpPr>
        <p:spPr>
          <a:xfrm>
            <a:off x="500743" y="1439337"/>
            <a:ext cx="901623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Different people may care about different consequences: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avoiding hospital admission;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living longer;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reducing symptoms;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remaining independent;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avoiding adverse effects;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spending less time attending healthcare;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reducing uncertainty.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outcome easiest to measure is not always the outcome most important to the patient.</a:t>
            </a:r>
          </a:p>
        </p:txBody>
      </p:sp>
    </p:spTree>
    <p:extLst>
      <p:ext uri="{BB962C8B-B14F-4D97-AF65-F5344CB8AC3E}">
        <p14:creationId xmlns:p14="http://schemas.microsoft.com/office/powerpoint/2010/main" val="1427906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E24F6-B0FA-AEE7-DF82-613023BA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A3FEEF-CC34-878A-C17C-74CE6265215F}"/>
              </a:ext>
            </a:extLst>
          </p:cNvPr>
          <p:cNvSpPr txBox="1"/>
          <p:nvPr/>
        </p:nvSpPr>
        <p:spPr>
          <a:xfrm>
            <a:off x="500742" y="463485"/>
            <a:ext cx="8471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Patient values can change which action is preferred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9894F-BC83-AE03-D3A2-D826BDAE0B6C}"/>
              </a:ext>
            </a:extLst>
          </p:cNvPr>
          <p:cNvSpPr txBox="1"/>
          <p:nvPr/>
        </p:nvSpPr>
        <p:spPr>
          <a:xfrm>
            <a:off x="500742" y="1270895"/>
            <a:ext cx="793339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 and Jo have the same predicted risk and face the same options.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 says:</a:t>
            </a:r>
          </a:p>
          <a:p>
            <a:r>
              <a:rPr lang="en-GB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“I want to avoid another admission, even if that means several extra appointments.”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Jo says:</a:t>
            </a:r>
          </a:p>
          <a:p>
            <a:r>
              <a:rPr lang="en-GB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“Appointments are exhausting. I would accept more risk to spend less time in hospital.”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Neither preference changes the evidence. The preferences change how the consequences are valued, and may change the preferred action.</a:t>
            </a:r>
          </a:p>
        </p:txBody>
      </p:sp>
    </p:spTree>
    <p:extLst>
      <p:ext uri="{BB962C8B-B14F-4D97-AF65-F5344CB8AC3E}">
        <p14:creationId xmlns:p14="http://schemas.microsoft.com/office/powerpoint/2010/main" val="2171557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879A5-56DF-C880-1E4C-F48B3889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FAD7E5-8B27-CB4C-0CC5-49965319CF81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good decision makes its reasoning visible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476CEB-991E-E24B-E88A-2417BDA27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219" b="28523"/>
          <a:stretch>
            <a:fillRect/>
          </a:stretch>
        </p:blipFill>
        <p:spPr>
          <a:xfrm>
            <a:off x="500743" y="1142649"/>
            <a:ext cx="7772400" cy="2021305"/>
          </a:xfrm>
          <a:prstGeom prst="rect">
            <a:avLst/>
          </a:prstGeom>
        </p:spPr>
      </p:pic>
      <p:pic>
        <p:nvPicPr>
          <p:cNvPr id="5" name="Picture 4" descr="Pathway with missing patient-values stage">
            <a:extLst>
              <a:ext uri="{FF2B5EF4-FFF2-40B4-BE49-F238E27FC236}">
                <a16:creationId xmlns:a16="http://schemas.microsoft.com/office/drawing/2014/main" id="{FFF718CA-1DE4-55C4-CDBA-976B53D10C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262" b="29581"/>
          <a:stretch>
            <a:fillRect/>
          </a:stretch>
        </p:blipFill>
        <p:spPr>
          <a:xfrm>
            <a:off x="500743" y="4330903"/>
            <a:ext cx="7772400" cy="19731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596289-4477-D1C2-8020-61762C9EDAF8}"/>
              </a:ext>
            </a:extLst>
          </p:cNvPr>
          <p:cNvSpPr txBox="1"/>
          <p:nvPr/>
        </p:nvSpPr>
        <p:spPr>
          <a:xfrm>
            <a:off x="500743" y="3331930"/>
            <a:ext cx="69001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You must consider what goes wrong if you ignore one step of REBM informing decision making…</a:t>
            </a:r>
          </a:p>
        </p:txBody>
      </p:sp>
    </p:spTree>
    <p:extLst>
      <p:ext uri="{BB962C8B-B14F-4D97-AF65-F5344CB8AC3E}">
        <p14:creationId xmlns:p14="http://schemas.microsoft.com/office/powerpoint/2010/main" val="852683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466588" y="3095607"/>
            <a:ext cx="85102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8.2 Thresholds and trade-offs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38811-4587-87A3-BA0A-9C86492D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983E24-7153-EB8B-4BDB-CB3EE13CD2B4}"/>
              </a:ext>
            </a:extLst>
          </p:cNvPr>
          <p:cNvSpPr txBox="1"/>
          <p:nvPr/>
        </p:nvSpPr>
        <p:spPr>
          <a:xfrm>
            <a:off x="500743" y="463485"/>
            <a:ext cx="8271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decision threshold is the tipping point for action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9D58F-AECF-ACAB-B5C8-3937106D7847}"/>
              </a:ext>
            </a:extLst>
          </p:cNvPr>
          <p:cNvSpPr txBox="1"/>
          <p:nvPr/>
        </p:nvSpPr>
        <p:spPr>
          <a:xfrm>
            <a:off x="500743" y="1752158"/>
            <a:ext cx="79454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Sam’s predicted risk of readmission is 30%.</a:t>
            </a:r>
          </a:p>
          <a:p>
            <a:r>
              <a:rPr lang="en-GB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what predicted risk would you offer intensive follow-up?</a:t>
            </a:r>
          </a:p>
          <a:p>
            <a:endParaRPr lang="en-GB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Choose your threshold:</a:t>
            </a:r>
          </a:p>
          <a:p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5% — 10% — 20% — 30% — 50%</a:t>
            </a:r>
          </a:p>
        </p:txBody>
      </p:sp>
    </p:spTree>
    <p:extLst>
      <p:ext uri="{BB962C8B-B14F-4D97-AF65-F5344CB8AC3E}">
        <p14:creationId xmlns:p14="http://schemas.microsoft.com/office/powerpoint/2010/main" val="252479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F743-F95D-ADCC-E137-7956438A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985D2E-26B4-39AB-70DC-75E367228387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Below the threshold, the expected harms outweigh the benefits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16542B-6386-8496-8191-AECA66A43CD5}"/>
              </a:ext>
            </a:extLst>
          </p:cNvPr>
          <p:cNvSpPr txBox="1"/>
          <p:nvPr/>
        </p:nvSpPr>
        <p:spPr>
          <a:xfrm>
            <a:off x="500743" y="2017603"/>
            <a:ext cx="8746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0%                                              			            		            	          100%</a:t>
            </a:r>
          </a:p>
          <a:p>
            <a:r>
              <a:rPr lang="en-GB" dirty="0"/>
              <a:t>───────────────────────●──────────────────────────────────────────────────</a:t>
            </a:r>
          </a:p>
          <a:p>
            <a:r>
              <a:rPr lang="en-GB" dirty="0"/>
              <a:t>Do not intervene	        Threshold       		       		         Offer intervention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C608A-6111-73D3-2AF1-7526B91D8032}"/>
              </a:ext>
            </a:extLst>
          </p:cNvPr>
          <p:cNvSpPr txBox="1"/>
          <p:nvPr/>
        </p:nvSpPr>
        <p:spPr>
          <a:xfrm>
            <a:off x="576999" y="3532193"/>
            <a:ext cx="73748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Below the threshold, the intervention is not expected to offer enough benefit to justify its harms and burdens.</a:t>
            </a:r>
            <a:b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Above the threshold, the expected benefit is judged sufficient to justify acting.</a:t>
            </a:r>
            <a:b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the threshold, the options are finely balanced.</a:t>
            </a:r>
            <a:b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threshold translates a continuous estimate into a choice.</a:t>
            </a:r>
          </a:p>
        </p:txBody>
      </p:sp>
    </p:spTree>
    <p:extLst>
      <p:ext uri="{BB962C8B-B14F-4D97-AF65-F5344CB8AC3E}">
        <p14:creationId xmlns:p14="http://schemas.microsoft.com/office/powerpoint/2010/main" val="3902375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F268-249D-3312-3FA3-F603FF2B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365BB7-B5CC-0A19-BFCC-255E51B6681E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Above the threshold, the expected benefits outweigh the harms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46E4F-CC49-383A-AA6E-BA5EF06D94DC}"/>
              </a:ext>
            </a:extLst>
          </p:cNvPr>
          <p:cNvSpPr txBox="1"/>
          <p:nvPr/>
        </p:nvSpPr>
        <p:spPr>
          <a:xfrm>
            <a:off x="500743" y="1776221"/>
            <a:ext cx="74937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Imagine a simplified decision: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Giving the intervention to a patient who would be readmitted produces a benefit.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Giving it to a patient who would not be readmitted produces burden without that benefit.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giving it to a patient who is readmitted represents a missed opportunity.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threshold asks:</a:t>
            </a: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much intervention burden are we willing to accept to prevent one important outcome?</a:t>
            </a:r>
          </a:p>
        </p:txBody>
      </p:sp>
    </p:spTree>
    <p:extLst>
      <p:ext uri="{BB962C8B-B14F-4D97-AF65-F5344CB8AC3E}">
        <p14:creationId xmlns:p14="http://schemas.microsoft.com/office/powerpoint/2010/main" val="1237579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6CB9-C79B-DC24-E51A-E1AA5F24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55A14E-E8CD-A83F-4EEE-964A1204B1A0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threshold depends on the consequences of being wrong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3C1A0-FB96-CBD9-A9F9-67085C8AD41A}"/>
              </a:ext>
            </a:extLst>
          </p:cNvPr>
          <p:cNvSpPr txBox="1"/>
          <p:nvPr/>
        </p:nvSpPr>
        <p:spPr>
          <a:xfrm>
            <a:off x="500743" y="1776222"/>
            <a:ext cx="80657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Suppose intensive follow-up: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prevents readmission in some patients who would otherwise be readmitted;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requires several appointments for everyone who receives it;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occasionally causes distress or unnecessary investigation.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intensive follow-up prevented 20 readmissions, </a:t>
            </a:r>
            <a:br>
              <a:rPr lang="en-GB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would you offer it to all 100?</a:t>
            </a: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…what if it prevented 10?</a:t>
            </a: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…what if it prevented 5?</a:t>
            </a: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…what if it prevented only 1?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point at which you change your answer reveals the trade-off you are willing to accept.</a:t>
            </a:r>
          </a:p>
        </p:txBody>
      </p:sp>
    </p:spTree>
    <p:extLst>
      <p:ext uri="{BB962C8B-B14F-4D97-AF65-F5344CB8AC3E}">
        <p14:creationId xmlns:p14="http://schemas.microsoft.com/office/powerpoint/2010/main" val="702127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45D48-A18A-E88C-24AC-F8A1EB93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11922D-8B4E-A0D1-4629-C0A1A413AC76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Lower thresholds identify more patients, </a:t>
            </a:r>
            <a:b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but expose more to harm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BDE2E7-D6E6-A7E3-9EEF-80ECAAAF2E4C}"/>
              </a:ext>
            </a:extLst>
          </p:cNvPr>
          <p:cNvSpPr txBox="1"/>
          <p:nvPr/>
        </p:nvSpPr>
        <p:spPr>
          <a:xfrm>
            <a:off x="506244" y="1896537"/>
            <a:ext cx="749372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Moving the threshold from 30% to 10% means more patients receive the intervention.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Potential advantage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patients who would experience the outcome are offered help.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Potential disadvantage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patients who would not experience the outcome receive an unnecessary intervention.</a:t>
            </a:r>
          </a:p>
        </p:txBody>
      </p:sp>
    </p:spTree>
    <p:extLst>
      <p:ext uri="{BB962C8B-B14F-4D97-AF65-F5344CB8AC3E}">
        <p14:creationId xmlns:p14="http://schemas.microsoft.com/office/powerpoint/2010/main" val="3657167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A4CB-C301-5D00-3282-D73FC343C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7DB90D-39E1-CA10-DD02-723A9F6C854D}"/>
              </a:ext>
            </a:extLst>
          </p:cNvPr>
          <p:cNvSpPr txBox="1"/>
          <p:nvPr/>
        </p:nvSpPr>
        <p:spPr>
          <a:xfrm>
            <a:off x="500743" y="463485"/>
            <a:ext cx="82146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Higher thresholds reduce unnecessary treatment, but miss more benefit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1215F-FDBC-DD59-344E-C43E6A3462A9}"/>
              </a:ext>
            </a:extLst>
          </p:cNvPr>
          <p:cNvSpPr txBox="1"/>
          <p:nvPr/>
        </p:nvSpPr>
        <p:spPr>
          <a:xfrm>
            <a:off x="500743" y="1860443"/>
            <a:ext cx="749372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Moving the threshold from 10% to 30% means fewer patients receive the intervention.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Potential advantage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fewer patients receive unnecessary or burdensome care.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Potential disadvantage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patients who might have benefited are not offered the intervention.</a:t>
            </a:r>
          </a:p>
        </p:txBody>
      </p:sp>
    </p:spTree>
    <p:extLst>
      <p:ext uri="{BB962C8B-B14F-4D97-AF65-F5344CB8AC3E}">
        <p14:creationId xmlns:p14="http://schemas.microsoft.com/office/powerpoint/2010/main" val="1036377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1324-54E6-6D2B-27EA-046718E23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28E95C-7543-3424-5CF5-1DFAFC63C4C7}"/>
              </a:ext>
            </a:extLst>
          </p:cNvPr>
          <p:cNvSpPr txBox="1"/>
          <p:nvPr/>
        </p:nvSpPr>
        <p:spPr>
          <a:xfrm>
            <a:off x="500742" y="463485"/>
            <a:ext cx="89290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same risk can cross one threshold but not another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F3CB3B-D8CC-8D5F-E091-F336BCA920B0}"/>
              </a:ext>
            </a:extLst>
          </p:cNvPr>
          <p:cNvSpPr txBox="1"/>
          <p:nvPr/>
        </p:nvSpPr>
        <p:spPr>
          <a:xfrm>
            <a:off x="500742" y="1377757"/>
            <a:ext cx="806574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 has a 20% predicted risk.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Option A: A brief telephone call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low cost;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little inconvenience;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minimal risk of harm.</a:t>
            </a: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Likely threshold: relatively low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Option B: Admission for an invasive procedure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substantial burden;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meaningful risk of complications;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major use of time and resources.</a:t>
            </a: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Likely threshold: relatively high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patient’s risk has not changed. What changed was the intervention, and therefore the amount of evidence needed to justify it.</a:t>
            </a:r>
          </a:p>
        </p:txBody>
      </p:sp>
    </p:spTree>
    <p:extLst>
      <p:ext uri="{BB962C8B-B14F-4D97-AF65-F5344CB8AC3E}">
        <p14:creationId xmlns:p14="http://schemas.microsoft.com/office/powerpoint/2010/main" val="374458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5427-4CBD-0929-20FD-3095CF02B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6D36BA-A1E6-2F03-DD9B-F87B7909D14F}"/>
              </a:ext>
            </a:extLst>
          </p:cNvPr>
          <p:cNvSpPr txBox="1"/>
          <p:nvPr/>
        </p:nvSpPr>
        <p:spPr>
          <a:xfrm>
            <a:off x="500743" y="463485"/>
            <a:ext cx="8498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Different consequences create different thresholds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98890A-1180-B25F-EBE1-B7F942236A58}"/>
              </a:ext>
            </a:extLst>
          </p:cNvPr>
          <p:cNvSpPr txBox="1"/>
          <p:nvPr/>
        </p:nvSpPr>
        <p:spPr>
          <a:xfrm>
            <a:off x="518275" y="3960286"/>
            <a:ext cx="74937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have seen this structure before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Hypothesis testing: statistical conclusion versus the truth</a:t>
            </a:r>
            <a:b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Type I error ≈ false positive; Type II error ≈ false negative.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Prediction: predicted outcome versus observed outcome</a:t>
            </a:r>
            <a:b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False positive or false negative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Clinical decisions: chosen action versus what would otherwise happen. Unnecessary intervention or missed opportunity to benefit.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5E11EA-B0CA-04D3-AA0E-6C4AD1C11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734914"/>
              </p:ext>
            </p:extLst>
          </p:nvPr>
        </p:nvGraphicFramePr>
        <p:xfrm>
          <a:off x="597569" y="1462630"/>
          <a:ext cx="7776411" cy="21602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2137">
                  <a:extLst>
                    <a:ext uri="{9D8B030D-6E8A-4147-A177-3AD203B41FA5}">
                      <a16:colId xmlns:a16="http://schemas.microsoft.com/office/drawing/2014/main" val="977679103"/>
                    </a:ext>
                  </a:extLst>
                </a:gridCol>
                <a:gridCol w="2592137">
                  <a:extLst>
                    <a:ext uri="{9D8B030D-6E8A-4147-A177-3AD203B41FA5}">
                      <a16:colId xmlns:a16="http://schemas.microsoft.com/office/drawing/2014/main" val="2674381435"/>
                    </a:ext>
                  </a:extLst>
                </a:gridCol>
                <a:gridCol w="2592137">
                  <a:extLst>
                    <a:ext uri="{9D8B030D-6E8A-4147-A177-3AD203B41FA5}">
                      <a16:colId xmlns:a16="http://schemas.microsoft.com/office/drawing/2014/main" val="1782156839"/>
                    </a:ext>
                  </a:extLst>
                </a:gridCol>
              </a:tblGrid>
              <a:tr h="723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Decision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Patient is readmitted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Patient is not readmitted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999296"/>
                  </a:ext>
                </a:extLst>
              </a:tr>
              <a:tr h="713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Offer intervention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Opportunity to 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Possibly unnecessary intervention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474211"/>
                  </a:ext>
                </a:extLst>
              </a:tr>
              <a:tr h="723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Do not offer intervention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Missed opportunity to 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Avoids unnecessary intervention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241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212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0834-669D-2C71-6739-80A70A27C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B5CEC6-3793-E4E4-BF68-B4A0AC1871A0}"/>
              </a:ext>
            </a:extLst>
          </p:cNvPr>
          <p:cNvSpPr txBox="1"/>
          <p:nvPr/>
        </p:nvSpPr>
        <p:spPr>
          <a:xfrm>
            <a:off x="500742" y="463485"/>
            <a:ext cx="8186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Patient preferences can move the threshold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2310C-4FE3-669D-E007-0175074F24AC}"/>
              </a:ext>
            </a:extLst>
          </p:cNvPr>
          <p:cNvSpPr txBox="1"/>
          <p:nvPr/>
        </p:nvSpPr>
        <p:spPr>
          <a:xfrm>
            <a:off x="500742" y="1347653"/>
            <a:ext cx="89320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 and Jo both have a 20% predicted risk.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</a:t>
            </a:r>
          </a:p>
          <a:p>
            <a:r>
              <a:rPr lang="en-GB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“Another admission would be devastating. I would accept several extra appointments to reduce the chance.”</a:t>
            </a: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Sam’s threshold may be lower.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Jo</a:t>
            </a:r>
          </a:p>
          <a:p>
            <a:r>
              <a:rPr lang="en-GB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“Healthcare appointments are extremely difficult for me. I would only choose this if the expected benefit were substantial.”</a:t>
            </a: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Jo’s threshold may be higher.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evidence can be shared while the preferred action differs.</a:t>
            </a:r>
          </a:p>
        </p:txBody>
      </p:sp>
    </p:spTree>
    <p:extLst>
      <p:ext uri="{BB962C8B-B14F-4D97-AF65-F5344CB8AC3E}">
        <p14:creationId xmlns:p14="http://schemas.microsoft.com/office/powerpoint/2010/main" val="641719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B0FDC-70BB-CA52-A7BE-9723EC54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7E754B-39AD-A338-2F47-6D24F17DAD2F}"/>
              </a:ext>
            </a:extLst>
          </p:cNvPr>
          <p:cNvSpPr txBox="1"/>
          <p:nvPr/>
        </p:nvSpPr>
        <p:spPr>
          <a:xfrm>
            <a:off x="500742" y="263309"/>
            <a:ext cx="8186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Thresholds are guides, not universal rules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4C14A-469B-293A-2447-B6FB4F3BB330}"/>
              </a:ext>
            </a:extLst>
          </p:cNvPr>
          <p:cNvSpPr txBox="1"/>
          <p:nvPr/>
        </p:nvSpPr>
        <p:spPr>
          <a:xfrm>
            <a:off x="500742" y="964741"/>
            <a:ext cx="89320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decision threshold may vary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intervention being considered;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severity of the outcome;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size and certainty of the expected benefit;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adverse effects and treatment burden;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available alternatives;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feasibility and resources;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matters to the patient.</a:t>
            </a:r>
          </a:p>
          <a:p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 the clinical question is not simply:</a:t>
            </a: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“Is the risk above 20%?”</a:t>
            </a:r>
          </a:p>
          <a:p>
            <a:endParaRPr lang="en-GB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is:</a:t>
            </a: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“Given this risk, this intervention and this patient, has the balance shifted towards action?”</a:t>
            </a:r>
          </a:p>
        </p:txBody>
      </p:sp>
    </p:spTree>
    <p:extLst>
      <p:ext uri="{BB962C8B-B14F-4D97-AF65-F5344CB8AC3E}">
        <p14:creationId xmlns:p14="http://schemas.microsoft.com/office/powerpoint/2010/main" val="1400998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8.3 Making decision under uncertainty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3C55-1938-5CAA-C15A-092F5CF76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585F89-66EA-B0D1-CB2E-5A02416D9F7A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Every clinical decision contains uncertainty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FF664-5074-93EC-8202-887B3503D67A}"/>
              </a:ext>
            </a:extLst>
          </p:cNvPr>
          <p:cNvSpPr txBox="1"/>
          <p:nvPr/>
        </p:nvSpPr>
        <p:spPr>
          <a:xfrm>
            <a:off x="500743" y="2037089"/>
            <a:ext cx="107954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Uncertainty can enter at several points: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patient: 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the baseline risk estimate accurate?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evidence: 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the estimated effect accurate?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context: 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Does the research apply to this patient?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future: 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will actually happen?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values: </a:t>
            </a: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will the patient experience each outcome?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Uncertainty is not a defect that can always be removed.</a:t>
            </a:r>
          </a:p>
        </p:txBody>
      </p:sp>
    </p:spTree>
    <p:extLst>
      <p:ext uri="{BB962C8B-B14F-4D97-AF65-F5344CB8AC3E}">
        <p14:creationId xmlns:p14="http://schemas.microsoft.com/office/powerpoint/2010/main" val="410648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B431-F1DE-C07A-6BC5-6D66A56C9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69CCB5-22E8-7478-79DD-7B609230CF23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Confidence intervals describe a range of compatible effects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F47378-5EF4-7EE0-ECBE-83EB08AA9B3E}"/>
              </a:ext>
            </a:extLst>
          </p:cNvPr>
          <p:cNvSpPr txBox="1"/>
          <p:nvPr/>
        </p:nvSpPr>
        <p:spPr>
          <a:xfrm>
            <a:off x="500743" y="1673935"/>
            <a:ext cx="106727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Suppose intensive follow-up is estimated to reduce readmissions by: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 fewer readmissions per 100 patients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a confidence interval from: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fewer to 16 fewer per 100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evidence is compatible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relatively small benefit;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central estimate;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substantially larger benefit.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confidence interval does not tell us which value is the truth.</a:t>
            </a:r>
          </a:p>
        </p:txBody>
      </p:sp>
    </p:spTree>
    <p:extLst>
      <p:ext uri="{BB962C8B-B14F-4D97-AF65-F5344CB8AC3E}">
        <p14:creationId xmlns:p14="http://schemas.microsoft.com/office/powerpoint/2010/main" val="2641494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BEF9-1785-F4FF-27DD-518FD881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B0B384-72F0-6892-0C6C-9462CE6C77DA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key question is whether uncertainty could change the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050ED-5D14-B44A-4480-62A781919DF8}"/>
              </a:ext>
            </a:extLst>
          </p:cNvPr>
          <p:cNvSpPr txBox="1"/>
          <p:nvPr/>
        </p:nvSpPr>
        <p:spPr>
          <a:xfrm>
            <a:off x="748035" y="1775884"/>
            <a:ext cx="8351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Imagine the threshold for offering intensive follow-up is an expected reduction of: </a:t>
            </a: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5 readmissions per 100 patients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72F967-B653-65E8-BAB3-A7F3B97F7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924982"/>
              </p:ext>
            </p:extLst>
          </p:nvPr>
        </p:nvGraphicFramePr>
        <p:xfrm>
          <a:off x="748035" y="2842063"/>
          <a:ext cx="7246434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3217">
                  <a:extLst>
                    <a:ext uri="{9D8B030D-6E8A-4147-A177-3AD203B41FA5}">
                      <a16:colId xmlns:a16="http://schemas.microsoft.com/office/drawing/2014/main" val="1860152195"/>
                    </a:ext>
                  </a:extLst>
                </a:gridCol>
                <a:gridCol w="3623217">
                  <a:extLst>
                    <a:ext uri="{9D8B030D-6E8A-4147-A177-3AD203B41FA5}">
                      <a16:colId xmlns:a16="http://schemas.microsoft.com/office/drawing/2014/main" val="2609232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solidFill>
                            <a:schemeClr val="bg1"/>
                          </a:solidFill>
                        </a:rPr>
                        <a:t>Plausible effect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Decision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82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 fewer per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Do not offer routinely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688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 fewer per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Offer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39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16 fewer per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Offer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1523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E7D82A-3FAD-95B1-1666-165C9484CF37}"/>
              </a:ext>
            </a:extLst>
          </p:cNvPr>
          <p:cNvSpPr txBox="1"/>
          <p:nvPr/>
        </p:nvSpPr>
        <p:spPr>
          <a:xfrm>
            <a:off x="636522" y="4629942"/>
            <a:ext cx="76599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confidence interval includes values on both sides of the decision threshold.</a:t>
            </a:r>
          </a:p>
          <a:p>
            <a:pPr>
              <a:buNone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evidence does not point unambiguously to one action.</a:t>
            </a: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6811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EEBD1-9296-0748-0E61-82F8C925F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26FF4D-CE42-7194-1225-672D1C4B4147}"/>
              </a:ext>
            </a:extLst>
          </p:cNvPr>
          <p:cNvSpPr txBox="1"/>
          <p:nvPr/>
        </p:nvSpPr>
        <p:spPr>
          <a:xfrm>
            <a:off x="500743" y="463485"/>
            <a:ext cx="87861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Consider what happens near both ends of the interval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1B159-1AD7-22BF-52B6-16CC2BF33A0B}"/>
              </a:ext>
            </a:extLst>
          </p:cNvPr>
          <p:cNvSpPr txBox="1"/>
          <p:nvPr/>
        </p:nvSpPr>
        <p:spPr>
          <a:xfrm>
            <a:off x="500743" y="1590466"/>
            <a:ext cx="103828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Ask two questions:</a:t>
            </a:r>
          </a:p>
          <a:p>
            <a:endParaRPr lang="en-GB" sz="28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the true benefit were near the lower limit…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Would the intervention still be worthwhile?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the true benefit were near the upper limit…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Would withholding the intervention still be reasonable?</a:t>
            </a:r>
          </a:p>
          <a:p>
            <a:endParaRPr lang="en-GB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the preferred action changes, uncertainty is decision-relevant.</a:t>
            </a:r>
          </a:p>
          <a:p>
            <a:r>
              <a:rPr lang="en-GB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the action remains the same, the decision may be robust.</a:t>
            </a:r>
          </a:p>
        </p:txBody>
      </p:sp>
    </p:spTree>
    <p:extLst>
      <p:ext uri="{BB962C8B-B14F-4D97-AF65-F5344CB8AC3E}">
        <p14:creationId xmlns:p14="http://schemas.microsoft.com/office/powerpoint/2010/main" val="2613665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853C3-AE3D-AAD3-5A77-CC66F439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C7E83D-FBD8-1AD5-3D38-C58EF086CDC6}"/>
              </a:ext>
            </a:extLst>
          </p:cNvPr>
          <p:cNvSpPr txBox="1"/>
          <p:nvPr/>
        </p:nvSpPr>
        <p:spPr>
          <a:xfrm>
            <a:off x="500742" y="595687"/>
            <a:ext cx="89290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Scenario analysis makes uncertainty decision-relevant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30B72-B578-5E4F-9C86-95F94F776ED0}"/>
              </a:ext>
            </a:extLst>
          </p:cNvPr>
          <p:cNvSpPr txBox="1"/>
          <p:nvPr/>
        </p:nvSpPr>
        <p:spPr>
          <a:xfrm>
            <a:off x="500742" y="3446417"/>
            <a:ext cx="74937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Scenario analysis does not predict three different futures.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asks:</a:t>
            </a: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Would our decision survive reasonable changes in what we assume?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5B22B5-BAD8-BE12-33B8-BF8B16EF6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063652"/>
              </p:ext>
            </p:extLst>
          </p:nvPr>
        </p:nvGraphicFramePr>
        <p:xfrm>
          <a:off x="500742" y="1551142"/>
          <a:ext cx="8294784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4928">
                  <a:extLst>
                    <a:ext uri="{9D8B030D-6E8A-4147-A177-3AD203B41FA5}">
                      <a16:colId xmlns:a16="http://schemas.microsoft.com/office/drawing/2014/main" val="4145905548"/>
                    </a:ext>
                  </a:extLst>
                </a:gridCol>
                <a:gridCol w="2764928">
                  <a:extLst>
                    <a:ext uri="{9D8B030D-6E8A-4147-A177-3AD203B41FA5}">
                      <a16:colId xmlns:a16="http://schemas.microsoft.com/office/drawing/2014/main" val="3867520749"/>
                    </a:ext>
                  </a:extLst>
                </a:gridCol>
                <a:gridCol w="2764928">
                  <a:extLst>
                    <a:ext uri="{9D8B030D-6E8A-4147-A177-3AD203B41FA5}">
                      <a16:colId xmlns:a16="http://schemas.microsoft.com/office/drawing/2014/main" val="1910633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Scenario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Assumed benefit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Preferred action</a:t>
                      </a:r>
                    </a:p>
                  </a:txBody>
                  <a:tcPr anchor="ctr">
                    <a:solidFill>
                      <a:srgbClr val="031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874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Pessimistic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 fewer per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Continue usual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478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Central estimate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10 fewer per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Offer follow-up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191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Optimistic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16 fewer per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Offer follow-up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250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097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341D2-30A9-0591-1B1E-D35872525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B26CD4-6263-C14F-E83C-C77168702D01}"/>
              </a:ext>
            </a:extLst>
          </p:cNvPr>
          <p:cNvSpPr txBox="1"/>
          <p:nvPr/>
        </p:nvSpPr>
        <p:spPr>
          <a:xfrm>
            <a:off x="500742" y="463485"/>
            <a:ext cx="9100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Some decisions are robust to uncertainty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6A85A-C15A-F6AF-2F7E-1EB8EC0F3B08}"/>
              </a:ext>
            </a:extLst>
          </p:cNvPr>
          <p:cNvSpPr txBox="1"/>
          <p:nvPr/>
        </p:nvSpPr>
        <p:spPr>
          <a:xfrm>
            <a:off x="500742" y="1423197"/>
            <a:ext cx="749372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Suppose the intervention threshold is 5 fewer readmissions per 100, and the confidence interval is: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 to 18 fewer per 100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 plausible effect remains on the same side of the threshold.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exact benefit remains uncertain, but the preferred action does not change.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0184DC-8D2C-211A-CE16-89B80716E556}"/>
              </a:ext>
            </a:extLst>
          </p:cNvPr>
          <p:cNvSpPr txBox="1"/>
          <p:nvPr/>
        </p:nvSpPr>
        <p:spPr>
          <a:xfrm>
            <a:off x="330739" y="5645341"/>
            <a:ext cx="78337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dirty="0"/>
              <a:t>5 fewer      		     8 fewer          	   13 fewer          	  18 fewer</a:t>
            </a:r>
          </a:p>
          <a:p>
            <a:r>
              <a:rPr lang="en-GB" dirty="0">
                <a:solidFill>
                  <a:srgbClr val="C00000"/>
                </a:solidFill>
              </a:rPr>
              <a:t>               ●</a:t>
            </a:r>
            <a:r>
              <a:rPr lang="en-GB" dirty="0"/>
              <a:t>────────────────────●──────────────●──────────────●</a:t>
            </a:r>
          </a:p>
          <a:p>
            <a:r>
              <a:rPr lang="en-GB" dirty="0"/>
              <a:t>              				all favour action</a:t>
            </a:r>
          </a:p>
        </p:txBody>
      </p:sp>
    </p:spTree>
    <p:extLst>
      <p:ext uri="{BB962C8B-B14F-4D97-AF65-F5344CB8AC3E}">
        <p14:creationId xmlns:p14="http://schemas.microsoft.com/office/powerpoint/2010/main" val="2652719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5CC40-579D-F7CB-3CFF-58D286D4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E93C47-EAFA-4D83-F01E-7EF86192A40F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Other decisions are sensitive to small changes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B5346-A7D5-60C8-7386-180B21DF6050}"/>
              </a:ext>
            </a:extLst>
          </p:cNvPr>
          <p:cNvSpPr txBox="1"/>
          <p:nvPr/>
        </p:nvSpPr>
        <p:spPr>
          <a:xfrm>
            <a:off x="500743" y="1317471"/>
            <a:ext cx="74937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Now suppose the confidence interval is: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to 9 fewer readmissions per 100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 threshold remains 5 fewer per 100.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B3168-D578-8D17-800F-ED6BA93B79D8}"/>
              </a:ext>
            </a:extLst>
          </p:cNvPr>
          <p:cNvSpPr txBox="1"/>
          <p:nvPr/>
        </p:nvSpPr>
        <p:spPr>
          <a:xfrm>
            <a:off x="500743" y="3636409"/>
            <a:ext cx="6099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1 fewer               		5 fewer               	             9 fewer</a:t>
            </a:r>
          </a:p>
          <a:p>
            <a:r>
              <a:rPr lang="en-GB" dirty="0">
                <a:solidFill>
                  <a:srgbClr val="C00000"/>
                </a:solidFill>
              </a:rPr>
              <a:t>●────────────────────────</a:t>
            </a:r>
            <a:r>
              <a:rPr lang="en-GB" dirty="0"/>
              <a:t>│──────────────────────●</a:t>
            </a:r>
          </a:p>
          <a:p>
            <a:r>
              <a:rPr lang="en-GB" dirty="0"/>
              <a:t> do not offer        	               threshold                 	           offer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63FE5-80B7-071C-E24A-CC0977BB1782}"/>
              </a:ext>
            </a:extLst>
          </p:cNvPr>
          <p:cNvSpPr txBox="1"/>
          <p:nvPr/>
        </p:nvSpPr>
        <p:spPr>
          <a:xfrm>
            <a:off x="500743" y="5329977"/>
            <a:ext cx="95064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Small changes in the assumed benefit can change the preferred action.</a:t>
            </a:r>
          </a:p>
          <a:p>
            <a:pPr>
              <a:buNone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is a </a:t>
            </a: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decision-sensitive zone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6541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306EE-E51F-82EE-091C-B089AD19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E70644-238B-36D9-6F9F-BC26D3096640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More information is useful only when it could change the decision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4E87D-DF53-2FE7-74F8-D6F86A1A0C37}"/>
              </a:ext>
            </a:extLst>
          </p:cNvPr>
          <p:cNvSpPr txBox="1"/>
          <p:nvPr/>
        </p:nvSpPr>
        <p:spPr>
          <a:xfrm>
            <a:off x="523045" y="1846179"/>
            <a:ext cx="69705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Additional information may be valuable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decision is closely balanced;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plausible effects support different actions;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consequences are important;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decision can safely wait; a practical test or further evidence could reduce uncertainty.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information may add little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 plausible scenario supports the same action;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waiting would cause greater harm;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new information is unlikely to resolve the uncertainty.</a:t>
            </a:r>
          </a:p>
        </p:txBody>
      </p:sp>
      <p:pic>
        <p:nvPicPr>
          <p:cNvPr id="5" name="Picture 4" descr="Three decision buttons">
            <a:extLst>
              <a:ext uri="{FF2B5EF4-FFF2-40B4-BE49-F238E27FC236}">
                <a16:creationId xmlns:a16="http://schemas.microsoft.com/office/drawing/2014/main" id="{B44D3384-737E-69F3-5A20-08583E3FBB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4" t="24531" r="1403" b="26471"/>
          <a:stretch>
            <a:fillRect/>
          </a:stretch>
        </p:blipFill>
        <p:spPr>
          <a:xfrm>
            <a:off x="7736184" y="4478473"/>
            <a:ext cx="4319504" cy="123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36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250A-259C-B9FB-4288-BD509002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C4BA5-1A1F-F7F7-051F-B7C4B21C3165}"/>
              </a:ext>
            </a:extLst>
          </p:cNvPr>
          <p:cNvSpPr txBox="1"/>
          <p:nvPr/>
        </p:nvSpPr>
        <p:spPr>
          <a:xfrm>
            <a:off x="500742" y="463485"/>
            <a:ext cx="88147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Uncertainty should be communicated, not hidden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E92EE-B4E0-BD2B-1520-BA253194074C}"/>
              </a:ext>
            </a:extLst>
          </p:cNvPr>
          <p:cNvSpPr txBox="1"/>
          <p:nvPr/>
        </p:nvSpPr>
        <p:spPr>
          <a:xfrm>
            <a:off x="500742" y="1131536"/>
            <a:ext cx="915621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Avoid:</a:t>
            </a:r>
          </a:p>
          <a:p>
            <a:r>
              <a:rPr lang="en-GB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“The intervention reduces readmissions by 10%.”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Prefer:</a:t>
            </a:r>
          </a:p>
          <a:p>
            <a:r>
              <a:rPr lang="en-GB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“Our best estimate is about 10 fewer readmissions per 100 patients, but the true benefit may plausibly be smaller or larger.”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explain: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is known;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remains uncertain;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whether the uncertainty could alter the choice;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each option might mean for the patient.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precise number can still describe an uncertain estimate.</a:t>
            </a:r>
          </a:p>
        </p:txBody>
      </p:sp>
    </p:spTree>
    <p:extLst>
      <p:ext uri="{BB962C8B-B14F-4D97-AF65-F5344CB8AC3E}">
        <p14:creationId xmlns:p14="http://schemas.microsoft.com/office/powerpoint/2010/main" val="4027078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35FF-2B61-9307-BD92-98E91A1D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2C74C9-FCD3-DA33-869D-97B77CB956A6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Shared decisions combine evidence, uncertainty and patient values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91887-C264-3215-B5B8-419293796D65}"/>
              </a:ext>
            </a:extLst>
          </p:cNvPr>
          <p:cNvSpPr txBox="1"/>
          <p:nvPr/>
        </p:nvSpPr>
        <p:spPr>
          <a:xfrm>
            <a:off x="500743" y="1870200"/>
            <a:ext cx="74937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useful conversation asks: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are the options?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might happen with each option?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certain are those estimates?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Which outcomes matter most to this patient?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Would reasonable uncertainty change the preferred choice?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Closing question for Sam:</a:t>
            </a: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intensive follow-up offers a possible but uncertain reduction in readmission, what would Sam need to know before deciding?</a:t>
            </a:r>
          </a:p>
        </p:txBody>
      </p:sp>
    </p:spTree>
    <p:extLst>
      <p:ext uri="{BB962C8B-B14F-4D97-AF65-F5344CB8AC3E}">
        <p14:creationId xmlns:p14="http://schemas.microsoft.com/office/powerpoint/2010/main" val="36578896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2846393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8.4 Recording results and decisions in R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7DFB-9CCD-C75E-0213-F7AE7328F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F46A38-D53E-2855-4D52-D5FCCBCFC25A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reproducible result is not automatically a traceable decision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2F045-3408-88DF-8AA1-9BAF9CA20C5D}"/>
              </a:ext>
            </a:extLst>
          </p:cNvPr>
          <p:cNvSpPr txBox="1"/>
          <p:nvPr/>
        </p:nvSpPr>
        <p:spPr>
          <a:xfrm>
            <a:off x="500743" y="1784815"/>
            <a:ext cx="799011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Topic 07, we preserved: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analysis dataset;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model;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predictions;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evaluation results;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random seed and software environment.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But a model object does not record: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which result informed the decision;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which threshold was used;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which assumptions were made;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why one action was preferred.</a:t>
            </a:r>
          </a:p>
          <a:p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Reproducibility recreates the analysis. Traceability explains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29936070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74271-0062-F2A5-63C4-64A8EBCC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FC89B7-470B-67E7-6765-56EE11A98701}"/>
              </a:ext>
            </a:extLst>
          </p:cNvPr>
          <p:cNvSpPr txBox="1"/>
          <p:nvPr/>
        </p:nvSpPr>
        <p:spPr>
          <a:xfrm>
            <a:off x="500743" y="463485"/>
            <a:ext cx="74937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Meaningful object names make the analysis easier to follow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F35B3-E585-51E3-1723-E81E2C5CB122}"/>
              </a:ext>
            </a:extLst>
          </p:cNvPr>
          <p:cNvSpPr txBox="1"/>
          <p:nvPr/>
        </p:nvSpPr>
        <p:spPr>
          <a:xfrm>
            <a:off x="500742" y="1783135"/>
            <a:ext cx="78506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Avoid storing important results under names such as x, answer or final.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6DD9ED-586B-A5DF-7630-8B1F8BD11D6E}"/>
              </a:ext>
            </a:extLst>
          </p:cNvPr>
          <p:cNvSpPr/>
          <p:nvPr/>
        </p:nvSpPr>
        <p:spPr>
          <a:xfrm>
            <a:off x="500742" y="2548788"/>
            <a:ext cx="7850671" cy="29376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predicted_risk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&lt;- 0.30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risk_lower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&lt;- 0.22</a:t>
            </a: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risk_upper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&lt;- 0.39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decision_threshold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&lt;- 0.20</a:t>
            </a:r>
          </a:p>
          <a:p>
            <a:pPr lvl="1"/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agreed_action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"Offer intensive follow-up"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85C6F-AE97-416F-1D57-875B33C587B6}"/>
              </a:ext>
            </a:extLst>
          </p:cNvPr>
          <p:cNvSpPr txBox="1"/>
          <p:nvPr/>
        </p:nvSpPr>
        <p:spPr>
          <a:xfrm>
            <a:off x="500742" y="5851943"/>
            <a:ext cx="7850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Each object has one clear purpose. Typing an object name retrieves its stored value. Meaningful names make code easier to read, check and revisit.</a:t>
            </a:r>
          </a:p>
        </p:txBody>
      </p:sp>
    </p:spTree>
    <p:extLst>
      <p:ext uri="{BB962C8B-B14F-4D97-AF65-F5344CB8AC3E}">
        <p14:creationId xmlns:p14="http://schemas.microsoft.com/office/powerpoint/2010/main" val="13506314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C5C1-DF17-FF6E-16F6-E139779E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AC3738-8D5C-5A5A-D7E8-A123B6EF440B}"/>
              </a:ext>
            </a:extLst>
          </p:cNvPr>
          <p:cNvSpPr txBox="1"/>
          <p:nvPr/>
        </p:nvSpPr>
        <p:spPr>
          <a:xfrm>
            <a:off x="500742" y="463485"/>
            <a:ext cx="8186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Store estimates instead of copying them manually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C3563-F550-B534-A3E9-4D93070FDB51}"/>
              </a:ext>
            </a:extLst>
          </p:cNvPr>
          <p:cNvSpPr txBox="1"/>
          <p:nvPr/>
        </p:nvSpPr>
        <p:spPr>
          <a:xfrm>
            <a:off x="500742" y="1457538"/>
            <a:ext cx="7493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result can be used directly in a later calculation: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46182E-6294-EA67-7CD0-1509656FD6F7}"/>
              </a:ext>
            </a:extLst>
          </p:cNvPr>
          <p:cNvSpPr/>
          <p:nvPr/>
        </p:nvSpPr>
        <p:spPr>
          <a:xfrm>
            <a:off x="500742" y="2113359"/>
            <a:ext cx="7850671" cy="19283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suggested_action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if_else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predicted_risk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&gt;=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decision_threshold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"Offer intensive follow-up",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"Continue usual care"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78D33-ECC8-68F8-539F-83014D7017A4}"/>
              </a:ext>
            </a:extLst>
          </p:cNvPr>
          <p:cNvSpPr txBox="1"/>
          <p:nvPr/>
        </p:nvSpPr>
        <p:spPr>
          <a:xfrm>
            <a:off x="500742" y="4483766"/>
            <a:ext cx="74937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action will update automatically if the risk or threshold changes.</a:t>
            </a:r>
            <a:b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Manual copying breaks the connection between result and decision.</a:t>
            </a:r>
          </a:p>
        </p:txBody>
      </p:sp>
    </p:spTree>
    <p:extLst>
      <p:ext uri="{BB962C8B-B14F-4D97-AF65-F5344CB8AC3E}">
        <p14:creationId xmlns:p14="http://schemas.microsoft.com/office/powerpoint/2010/main" val="4472156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F16FC-1F3A-92F8-5A62-E7F746AC8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24989-8922-BEF7-DF56-E6C8F6800D07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Turn important results into a tidy table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24809-8583-6825-C0EC-74A8602F41A4}"/>
              </a:ext>
            </a:extLst>
          </p:cNvPr>
          <p:cNvSpPr txBox="1"/>
          <p:nvPr/>
        </p:nvSpPr>
        <p:spPr>
          <a:xfrm>
            <a:off x="500742" y="5101776"/>
            <a:ext cx="977537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Read this as:</a:t>
            </a:r>
          </a:p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“Create one row containing the estimate, uncertainty, </a:t>
            </a:r>
            <a:b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threshold and resulting actions.”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D6DF21-F4AE-2379-9A06-36BBA05A9FBD}"/>
              </a:ext>
            </a:extLst>
          </p:cNvPr>
          <p:cNvSpPr/>
          <p:nvPr/>
        </p:nvSpPr>
        <p:spPr>
          <a:xfrm>
            <a:off x="500743" y="1590139"/>
            <a:ext cx="7850671" cy="31988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decision_record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tibble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patient_id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"S001",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predicted_risk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predicted_risk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risk_lower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risk_lower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risk_upper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risk_upper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threshold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decision_threshold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suggested_action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suggested_action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agreed_action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agreed_action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883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E683-0ECE-06E0-32CB-39914CC5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BCD0FC-35DD-8DCC-A8C3-5CB84D67C422}"/>
              </a:ext>
            </a:extLst>
          </p:cNvPr>
          <p:cNvSpPr txBox="1"/>
          <p:nvPr/>
        </p:nvSpPr>
        <p:spPr>
          <a:xfrm>
            <a:off x="500743" y="463485"/>
            <a:ext cx="8900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Keep assumptions alongside the results they produced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EA145-3352-144E-A248-31326352589E}"/>
              </a:ext>
            </a:extLst>
          </p:cNvPr>
          <p:cNvSpPr/>
          <p:nvPr/>
        </p:nvSpPr>
        <p:spPr>
          <a:xfrm>
            <a:off x="500743" y="1267420"/>
            <a:ext cx="8207828" cy="31988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decision_record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decision_record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mutate(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population = "Adults eligible for discharge",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outcome = "Readmission",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time_horizon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"30 days",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comparator = "Usual care",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intervention = "Intensive follow-up",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threshold_reason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= "Locally agreed"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213BA-3FE1-8BB1-4C4B-AA0EA0E5B4E6}"/>
              </a:ext>
            </a:extLst>
          </p:cNvPr>
          <p:cNvSpPr txBox="1"/>
          <p:nvPr/>
        </p:nvSpPr>
        <p:spPr>
          <a:xfrm>
            <a:off x="500743" y="4713417"/>
            <a:ext cx="37882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decision record now states: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who the result concerns;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which outcome was estimated;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over what period;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which options were compared;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why the threshold was selected.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7115A-E9C7-88F0-4B6E-F3200406306F}"/>
              </a:ext>
            </a:extLst>
          </p:cNvPr>
          <p:cNvSpPr txBox="1"/>
          <p:nvPr/>
        </p:nvSpPr>
        <p:spPr>
          <a:xfrm>
            <a:off x="4855031" y="54731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Important:</a:t>
            </a:r>
            <a:r>
              <a:rPr lang="en-GB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Use non-identifiable study IDs and approved secure storage for real clinical data.</a:t>
            </a:r>
          </a:p>
        </p:txBody>
      </p:sp>
    </p:spTree>
    <p:extLst>
      <p:ext uri="{BB962C8B-B14F-4D97-AF65-F5344CB8AC3E}">
        <p14:creationId xmlns:p14="http://schemas.microsoft.com/office/powerpoint/2010/main" val="3067561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F491D-7643-7ACC-41BF-CA9EF7F3E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80E844-BCFA-9479-801E-15C88EA14AF1}"/>
              </a:ext>
            </a:extLst>
          </p:cNvPr>
          <p:cNvSpPr txBox="1"/>
          <p:nvPr/>
        </p:nvSpPr>
        <p:spPr>
          <a:xfrm>
            <a:off x="500742" y="463485"/>
            <a:ext cx="79465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Select and arrange the results deliberately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A43400-0CF9-FF49-E2C8-B22E4B669956}"/>
              </a:ext>
            </a:extLst>
          </p:cNvPr>
          <p:cNvSpPr txBox="1"/>
          <p:nvPr/>
        </p:nvSpPr>
        <p:spPr>
          <a:xfrm>
            <a:off x="500742" y="1414701"/>
            <a:ext cx="8882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clean results table contains the information needed by its reader.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DD172-3799-2916-334C-F1830087E1C9}"/>
              </a:ext>
            </a:extLst>
          </p:cNvPr>
          <p:cNvSpPr/>
          <p:nvPr/>
        </p:nvSpPr>
        <p:spPr>
          <a:xfrm>
            <a:off x="500742" y="2135571"/>
            <a:ext cx="8447315" cy="20880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decision_summary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decision_record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select(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patient_id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population, outcome,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time_horizon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predicted_risk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risk_lower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risk_upper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threshold,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suggested_action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patient_priority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agreed_action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decision_status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4E29B-9070-3BF4-0E3B-EEBE5BB7727D}"/>
              </a:ext>
            </a:extLst>
          </p:cNvPr>
          <p:cNvSpPr txBox="1"/>
          <p:nvPr/>
        </p:nvSpPr>
        <p:spPr>
          <a:xfrm>
            <a:off x="500742" y="4680415"/>
            <a:ext cx="8882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Selecting columns deliberately is safer than exporting every object in the workspace.</a:t>
            </a:r>
          </a:p>
        </p:txBody>
      </p:sp>
    </p:spTree>
    <p:extLst>
      <p:ext uri="{BB962C8B-B14F-4D97-AF65-F5344CB8AC3E}">
        <p14:creationId xmlns:p14="http://schemas.microsoft.com/office/powerpoint/2010/main" val="41508547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D3A7F-1353-DADF-E9D8-470CA991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664C51-10C1-FEB7-4CD3-F6DDEFCC59F7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Export tables and save complete R objects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F2F3B-CED3-20F1-2278-DC6532DADD30}"/>
              </a:ext>
            </a:extLst>
          </p:cNvPr>
          <p:cNvSpPr txBox="1"/>
          <p:nvPr/>
        </p:nvSpPr>
        <p:spPr>
          <a:xfrm>
            <a:off x="500743" y="1490008"/>
            <a:ext cx="105809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.csv files are easy to inspect and share appropriately.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r>
              <a:rPr lang="en-GB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rds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files preserve R-specific structures and data types.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Neither format replaces secure data handling or documentation.</a:t>
            </a: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Always reopen saved results and check that they contain what you expected.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FE7E9C-3A29-61CF-D586-108CC17DA4F6}"/>
              </a:ext>
            </a:extLst>
          </p:cNvPr>
          <p:cNvSpPr/>
          <p:nvPr/>
        </p:nvSpPr>
        <p:spPr>
          <a:xfrm>
            <a:off x="500743" y="3932304"/>
            <a:ext cx="8447315" cy="12275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write_csv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decision_summary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"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decision_summary.csv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")</a:t>
            </a: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saveRDS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decision_summary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"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decision_summary.rds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190429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5A8A9-CD7D-8BAB-1CDD-168AB070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35F762-2E0F-1947-2EA0-78186C35C47F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A decision record connects evidence to action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14A5A-4AB5-B579-1A7B-B3F8DAFA6F15}"/>
              </a:ext>
            </a:extLst>
          </p:cNvPr>
          <p:cNvSpPr txBox="1"/>
          <p:nvPr/>
        </p:nvSpPr>
        <p:spPr>
          <a:xfrm>
            <a:off x="500743" y="1382286"/>
            <a:ext cx="8665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Before completing an analysis, ask: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Have the important results been stored?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uncertainty retained?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the threshold recorded?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Are assumptions visible?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the model suggestion distinguished from the agreed action?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the final table be recreated from the code?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Has identifiable information been handled appropriately?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goal is not to record every object R creates.</a:t>
            </a:r>
          </a:p>
          <a:p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goal is to preserve enough information to answer:</a:t>
            </a:r>
          </a:p>
          <a:p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evidence informed this decision, and how did it lead to this action?</a:t>
            </a:r>
          </a:p>
        </p:txBody>
      </p:sp>
    </p:spTree>
    <p:extLst>
      <p:ext uri="{BB962C8B-B14F-4D97-AF65-F5344CB8AC3E}">
        <p14:creationId xmlns:p14="http://schemas.microsoft.com/office/powerpoint/2010/main" val="41406348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3" y="1026808"/>
            <a:ext cx="10465128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have explored how clinical decisions move beyond statistical results by considering the available actions, expected benefits, harms and burdens, decision thresholds, uncertainty and what matters to the patient.</a:t>
            </a:r>
          </a:p>
          <a:p>
            <a:endParaRPr lang="en-GB" sz="24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have also seen how R can preserve the evidence, assumptions and reasoning that connect a result to an agreed action. In the code-along, we will create a decision record, explore how changing risks and thresholds affects the suggested action, and export the results in a clear and reproducible format.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8383</TotalTime>
  <Words>3145</Words>
  <Application>Microsoft Macintosh PowerPoint</Application>
  <PresentationFormat>Widescreen</PresentationFormat>
  <Paragraphs>486</Paragraphs>
  <Slides>45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Aptos Display</vt:lpstr>
      <vt:lpstr>Aptos Mono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59</cp:revision>
  <cp:lastPrinted>2026-04-30T09:46:23Z</cp:lastPrinted>
  <dcterms:created xsi:type="dcterms:W3CDTF">2026-04-30T09:42:16Z</dcterms:created>
  <dcterms:modified xsi:type="dcterms:W3CDTF">2026-08-22T15:28:36Z</dcterms:modified>
</cp:coreProperties>
</file>