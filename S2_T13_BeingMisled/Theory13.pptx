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2" r:id="rId2"/>
    <p:sldId id="273" r:id="rId3"/>
    <p:sldId id="278" r:id="rId4"/>
    <p:sldId id="280" r:id="rId5"/>
    <p:sldId id="327" r:id="rId6"/>
    <p:sldId id="281" r:id="rId7"/>
    <p:sldId id="418" r:id="rId8"/>
    <p:sldId id="279" r:id="rId9"/>
    <p:sldId id="419" r:id="rId10"/>
    <p:sldId id="286" r:id="rId11"/>
    <p:sldId id="420" r:id="rId12"/>
    <p:sldId id="32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D42"/>
    <a:srgbClr val="C1EDF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849"/>
    <p:restoredTop sz="92877"/>
  </p:normalViewPr>
  <p:slideViewPr>
    <p:cSldViewPr snapToGrid="0">
      <p:cViewPr varScale="1">
        <p:scale>
          <a:sx n="46" d="100"/>
          <a:sy n="46" d="100"/>
        </p:scale>
        <p:origin x="176" y="1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1FE25-85C4-1244-BCDC-A22C8126A90B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FE25D-C5C3-B245-93C4-8392A840C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17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575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411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D3CE0-FD9B-8842-D5C8-8DB2F968D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10E69-72CA-FC7A-9BC7-1AC5930CF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097B0-9DD0-6EF5-2E3F-C0266C500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15D74-10BA-FA4D-2355-CADC6825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061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75286-D343-6836-DD0A-5C64ABA26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87E55E-9C0E-5C62-617A-A24AC2698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5B481-B869-A80C-4B73-9B298F981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1DAC3-2011-77BB-CB6D-A32257BDB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792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E2B61-3A52-295E-9197-F84C2333D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C63D9-370E-11B3-4EFF-2AF5A625C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3FAA0-B11B-37E6-3663-6BFBD53E0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FD540-AB85-64E1-308B-E797BF2A5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33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505C6-39F5-4F27-D40D-0C552DF32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1C3FD-A143-13ED-C3DE-44269DB22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0D406-68E3-A6FF-0717-9682B50F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4169-2998-760E-F009-BA73C15F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D6149-715F-CBD8-1BC1-252FDECF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64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FC7-4CB5-1110-8068-A272DE62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6E31-BCA2-19C4-F10D-E116793D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A4E93-D777-2A92-CC0B-8E93D4CC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74C13-0EDE-16CA-1A7F-A3081BB7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B55D2-EA13-82B7-61DD-36323F20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40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0CC5-DAAD-5017-7875-018654CB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23382-1E94-3453-4D25-9D42A769D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C57F6-8D3F-49A9-0449-5DCF99AC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02CD-213C-78F1-9445-9442CD9E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9E4FD-7B5C-A4EC-CDE4-934A146E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89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2C21-3C92-73D8-73F7-5A7F6353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CE01-0E6F-9333-9288-5177AAB21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AE897-528F-B3AB-369F-8F922D5DA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A2E7C-3000-46E3-1557-0A2A5989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C56C4-1833-19A9-A856-1362253B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17E1E-D416-F9E1-AA74-7A63174E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74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A7B0F-AF3B-22D6-59DA-18783570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EFC78-D38A-CD38-4C31-12AD35B53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DF4DE-FFB5-E407-7FDD-317522B9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658F7-4D59-1FC7-B0D5-D814BFB54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49413-0679-DAD6-D1A8-7984ECDCA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7FDA1-F7BD-9471-B19E-0F3380F2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E888D-6D81-9C6F-CBB7-3BD89D5A7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9F34B-BC78-7478-2C5C-05DFF5BF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00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8A18-8C50-2B7C-124F-FC2D75B8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CB492-845D-F323-F212-4ABE54B0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33A63-D9EE-8652-2DB1-2F724A0F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AB4C0-8DCE-9C75-29FC-A2B90EEC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7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C090E-1783-2F69-2F60-354C5B1F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91562-6997-5ADA-B8AD-237FD964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4520F-211E-9BBA-C4D4-EC317AFF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77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2A3C-FEC4-3066-32AD-66066DE3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D78B6-3242-CFA7-AD59-D982A2F22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B09B6-B1DE-85B8-9FDF-DD7E79B60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EF645-FB11-0E66-BEC1-1F5E9C0C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95CB1-8DEA-15F4-C397-F8224C5A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42B52-20D6-2E65-938B-960A5C55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06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6B90-FC20-FA7D-3342-B206F308D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4BBA3-031C-687D-BEE1-D7E4912E8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0E133-E815-97FC-CA2D-322B2AACD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53E93-530E-54E2-FA19-BBF652B1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4B090-851C-580D-F20E-33624283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AEBB-FEE3-D746-FA37-DE33B848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47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F3C5-9215-5C7B-D4F0-F26B882C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10E7-A0D9-CF06-B540-497A78168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B22E8-0BDA-D4B9-84B0-029693CD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A19D-4A77-4412-B6B5-9BF62B826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E568E-0D09-699C-341E-7FBE1E8A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97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2FBFA-D8C3-8A98-5DE5-6BF9F2951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89761-4252-46DF-BE0E-D4F201C4E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35D4C-5533-2CC4-1F64-BD58C242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36BBC-1218-5CF6-5FBD-4A0B5853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CCAA5-73AC-5BD8-340C-A97B105A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88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271B1-6719-4EB1-EAE0-3C9E560E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D6A9E-EA6D-5B12-1AFD-5663E3A6A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0E9A7-AABF-56CA-B7EE-B52C7F5FE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888E3-25B4-73F3-4668-8B2ED1101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94BD5-47DC-7819-F9FA-149765A0E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67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F5E2EF-FD9E-B482-DEAD-AB4626EE6F93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Topic 13: Are we being misled?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69DFD77-03D5-E162-AFB9-0D5714BC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68E5B26F-99CF-244A-FFE8-D00929AD8CE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3178" y="3656150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7749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9CDCC65B-C285-5408-6FD6-A502E5C0AE3D}"/>
              </a:ext>
            </a:extLst>
          </p:cNvPr>
          <p:cNvSpPr txBox="1">
            <a:spLocks/>
          </p:cNvSpPr>
          <p:nvPr/>
        </p:nvSpPr>
        <p:spPr>
          <a:xfrm>
            <a:off x="416822" y="484055"/>
            <a:ext cx="10555978" cy="6699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68708-309E-85E8-D513-913B4FDBDC39}"/>
              </a:ext>
            </a:extLst>
          </p:cNvPr>
          <p:cNvSpPr txBox="1"/>
          <p:nvPr/>
        </p:nvSpPr>
        <p:spPr>
          <a:xfrm>
            <a:off x="416822" y="1349899"/>
            <a:ext cx="9793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08CA803C-E0AA-BEAF-4C04-B2AB590D5EA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84125" y="2537852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2734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7A4882-6016-04E4-C16B-380D29551A36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This topic…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8F128-6E60-8FCA-F828-497A6279C073}"/>
              </a:ext>
            </a:extLst>
          </p:cNvPr>
          <p:cNvSpPr txBox="1"/>
          <p:nvPr/>
        </p:nvSpPr>
        <p:spPr>
          <a:xfrm>
            <a:off x="500744" y="1328577"/>
            <a:ext cx="836086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Outcome selection can change the apparent conclusion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Selective reporting and undisclosed flexibility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Outcome bias: the core experiment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Reproducing the outcome-bias effect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4201F3-6770-3B8B-D596-D8E7D2E3DDAE}"/>
              </a:ext>
            </a:extLst>
          </p:cNvPr>
          <p:cNvCxnSpPr>
            <a:cxnSpLocks/>
          </p:cNvCxnSpPr>
          <p:nvPr/>
        </p:nvCxnSpPr>
        <p:spPr>
          <a:xfrm>
            <a:off x="1163783" y="6232360"/>
            <a:ext cx="10150989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6219C6-14A1-1B48-5A50-CB68B1A38433}"/>
              </a:ext>
            </a:extLst>
          </p:cNvPr>
          <p:cNvSpPr txBox="1"/>
          <p:nvPr/>
        </p:nvSpPr>
        <p:spPr>
          <a:xfrm>
            <a:off x="1163783" y="5669036"/>
            <a:ext cx="98782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13.1 Outcome selection can change the apparent conclusion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1A814286-F216-E50D-C00A-43EA34B66AD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1186" y="2251004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3901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4D1A1-4766-28B4-B84C-B00BC312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18EE5A-8EAF-D775-559F-62EBE5883B70}"/>
              </a:ext>
            </a:extLst>
          </p:cNvPr>
          <p:cNvSpPr txBox="1"/>
          <p:nvPr/>
        </p:nvSpPr>
        <p:spPr>
          <a:xfrm>
            <a:off x="524470" y="3095607"/>
            <a:ext cx="8082817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13.1 Outcome selection can change the apparent conclusion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9801A6C-1B88-9796-06C1-B2575F81E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B7C7B813-7E13-6DC2-4AAF-49C859D54DF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3178" y="3656150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1504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526C7-D33C-71EB-BE2B-4E78FBEE4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6B412C-F23D-EE2C-94F2-E75D3B380F9D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A6D6D3-83F0-F3F2-DE1D-581F74A42036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414233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7C101-AC8D-22F3-CDE2-9952DB49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743FA7-F3D4-F343-457C-F097AFEF3C84}"/>
              </a:ext>
            </a:extLst>
          </p:cNvPr>
          <p:cNvSpPr txBox="1"/>
          <p:nvPr/>
        </p:nvSpPr>
        <p:spPr>
          <a:xfrm>
            <a:off x="441188" y="2808381"/>
            <a:ext cx="8510200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13.2 Selective reporting and undisclosed flexibility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861E90F-0966-58D9-AF11-FE3C43D28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53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1162C-59A6-F9D2-1466-B691F13E1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B0A622-C731-910F-75D7-436465A09243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0FCB9-EE8E-33BA-7536-08B57C74B593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216884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32147-E62F-27A8-8B11-1F8CEC7B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AE7D90-F368-4DD5-59E2-07DE50455E82}"/>
              </a:ext>
            </a:extLst>
          </p:cNvPr>
          <p:cNvSpPr txBox="1"/>
          <p:nvPr/>
        </p:nvSpPr>
        <p:spPr>
          <a:xfrm>
            <a:off x="460575" y="2911734"/>
            <a:ext cx="6943115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13.3 Outcome bias: the core experiment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30686E1-B47B-B70D-9591-65F8A3DE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2F966DB7-98BA-F828-3801-C809A861BF1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649" y="3513179"/>
            <a:ext cx="2783822" cy="278382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18163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20B5D-2093-A86B-6760-569EE47FC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D84539-8F9C-2D5F-C9E1-943B6949545C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476BAD-9847-7E31-1266-98EC6D7AA57E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3401708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E5477-25FD-7E79-1B57-705F3827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D008B5-7D66-403D-E952-E1B70DB55CC4}"/>
              </a:ext>
            </a:extLst>
          </p:cNvPr>
          <p:cNvSpPr txBox="1"/>
          <p:nvPr/>
        </p:nvSpPr>
        <p:spPr>
          <a:xfrm>
            <a:off x="623861" y="2846393"/>
            <a:ext cx="6484862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13.4 Reproducing the outcome-bias effect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34280A4-0268-BDF1-53C8-D7C2A67A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8A78C76B-360B-505F-C987-CDFC9DC2D3D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4317" y="3513179"/>
            <a:ext cx="2783822" cy="278382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11634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DECA6-D1E3-3014-6533-C07CEDD3B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70065B-D267-81FE-311D-F1B53E2DA372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83B28-92EC-0885-45DC-C972AE8FF78C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4250482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FE9BF-930E-0A88-049A-8C6D658D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B87C5B-C1E1-586C-4DF8-4AD6AB15B5B4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What you need to do next…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FBF80-4DB0-FFED-AB2E-F97CFA3B6861}"/>
              </a:ext>
            </a:extLst>
          </p:cNvPr>
          <p:cNvSpPr txBox="1"/>
          <p:nvPr/>
        </p:nvSpPr>
        <p:spPr>
          <a:xfrm>
            <a:off x="500743" y="1026808"/>
            <a:ext cx="1046512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INSERT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048D93-CE3B-2C04-DE0A-2C7A2ADB27C0}"/>
              </a:ext>
            </a:extLst>
          </p:cNvPr>
          <p:cNvCxnSpPr>
            <a:cxnSpLocks/>
          </p:cNvCxnSpPr>
          <p:nvPr/>
        </p:nvCxnSpPr>
        <p:spPr>
          <a:xfrm>
            <a:off x="7391399" y="6232360"/>
            <a:ext cx="3923373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606799-C9AB-D73E-8140-7F2FF5803538}"/>
              </a:ext>
            </a:extLst>
          </p:cNvPr>
          <p:cNvSpPr txBox="1"/>
          <p:nvPr/>
        </p:nvSpPr>
        <p:spPr>
          <a:xfrm>
            <a:off x="7391399" y="5669037"/>
            <a:ext cx="3650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 the code-along…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" name="Camera 1">
            <a:extLst>
              <a:ext uri="{FF2B5EF4-FFF2-40B4-BE49-F238E27FC236}">
                <a16:creationId xmlns:a16="http://schemas.microsoft.com/office/drawing/2014/main" id="{8554CC08-E38D-A5C9-F184-A55A858F9D6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743" y="4382246"/>
            <a:ext cx="2164669" cy="216466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427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8301</TotalTime>
  <Words>94</Words>
  <Application>Microsoft Macintosh PowerPoint</Application>
  <PresentationFormat>Widescreen</PresentationFormat>
  <Paragraphs>29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Oldnall</dc:creator>
  <cp:lastModifiedBy>Chris Oldnall</cp:lastModifiedBy>
  <cp:revision>58</cp:revision>
  <cp:lastPrinted>2026-04-30T09:46:23Z</cp:lastPrinted>
  <dcterms:created xsi:type="dcterms:W3CDTF">2026-04-30T09:42:16Z</dcterms:created>
  <dcterms:modified xsi:type="dcterms:W3CDTF">2026-08-14T15:41:38Z</dcterms:modified>
</cp:coreProperties>
</file>