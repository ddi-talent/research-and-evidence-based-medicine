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57" r:id="rId3"/>
    <p:sldId id="273" r:id="rId4"/>
    <p:sldId id="274" r:id="rId5"/>
    <p:sldId id="275" r:id="rId6"/>
    <p:sldId id="276" r:id="rId7"/>
    <p:sldId id="27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591"/>
  </p:normalViewPr>
  <p:slideViewPr>
    <p:cSldViewPr snapToGrid="0">
      <p:cViewPr varScale="1">
        <p:scale>
          <a:sx n="95" d="100"/>
          <a:sy n="95" d="100"/>
        </p:scale>
        <p:origin x="200" y="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E17D-FF12-AB7B-58D9-AC07CBD9C1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EEDA825-FEEB-74F7-8C7A-126A8B7939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EE41CAB9-8E88-3DCC-A54B-0089EA886ECB}"/>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A1056E7F-819A-19DD-2A17-0D491ECB2E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80787F-7AB5-0D91-7BAB-6E08D10F5365}"/>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1044655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560D-BA74-8058-2029-178000ADDC3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B760075-2CCC-2303-E59A-AF3B9E47DE1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BC70932-A4C3-716F-33B4-55EF76E8FE7E}"/>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792D7830-F95E-A554-8DAC-129954D11D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379184-4F22-D340-4C95-A19E0A6FC407}"/>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2519314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68D5A-9FFA-8B0A-DD8A-846F10FE74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9D4E89E-0BFD-D581-1F50-5112BEA981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7F2D90E-67D3-C042-D276-D29739726A9B}"/>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ECC502D6-65C8-9182-569F-53944F57D0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1C68FC-61B8-EDA6-5138-37E0363E458A}"/>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1393640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FB8E-58AC-7558-DAC2-A425EE8CD34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6F01059-9B05-8779-E116-27A4956353F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34BEAC5-CF6D-CBA7-64E2-A58DD358DE6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7F8DB28-DBCF-20BC-CEDE-033EA099BAE1}"/>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6" name="Footer Placeholder 5">
            <a:extLst>
              <a:ext uri="{FF2B5EF4-FFF2-40B4-BE49-F238E27FC236}">
                <a16:creationId xmlns:a16="http://schemas.microsoft.com/office/drawing/2014/main" id="{9D795D00-3E21-AB9C-5178-BD13E2065FF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AFA200-BD1A-9165-AD40-44C7B5378DE1}"/>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1159406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BCDE-3ABD-B4B4-1DA8-5D4EBD2A44E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769FB26-49BB-4AA7-0CC2-DB2019D5B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5236488-A82C-BA6B-2EFE-87E89B28A71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B58BB09-570F-563A-B0B5-48CAD375D4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A4FBA3A-3537-94F5-9C17-DAB56938FD1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0670EB0-97DB-4227-0B47-818E980D1F13}"/>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8" name="Footer Placeholder 7">
            <a:extLst>
              <a:ext uri="{FF2B5EF4-FFF2-40B4-BE49-F238E27FC236}">
                <a16:creationId xmlns:a16="http://schemas.microsoft.com/office/drawing/2014/main" id="{04539F6A-584F-1202-6EFF-7036006774F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327E755-662B-F113-776C-701C806ED60E}"/>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1343510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3E24D-9AE0-7604-20BA-093B40E2E4B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BAD4BD0-28B1-1B30-C3D9-9310C646965F}"/>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4" name="Footer Placeholder 3">
            <a:extLst>
              <a:ext uri="{FF2B5EF4-FFF2-40B4-BE49-F238E27FC236}">
                <a16:creationId xmlns:a16="http://schemas.microsoft.com/office/drawing/2014/main" id="{8B86FF3E-9B4E-C6C1-4A40-B5008D11F52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191B92-D5C5-4F9A-0F1F-005DFE23D8EF}"/>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39320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083D21-1416-60B2-13D3-457370259CBB}"/>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3" name="Footer Placeholder 2">
            <a:extLst>
              <a:ext uri="{FF2B5EF4-FFF2-40B4-BE49-F238E27FC236}">
                <a16:creationId xmlns:a16="http://schemas.microsoft.com/office/drawing/2014/main" id="{85759C9F-9BF3-7B58-A27A-37396973B5B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577A48-A54B-B20A-4458-8EA4D6E3511D}"/>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3907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5F8EA-FF83-09E9-0938-C3033DC0305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4D96F66-9253-86BC-ABA5-0D818F6892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86240A1-BA6F-4EF2-D78F-AFD62F08C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C8C6A8-9884-47A8-FC04-2463E20CD0FC}"/>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6" name="Footer Placeholder 5">
            <a:extLst>
              <a:ext uri="{FF2B5EF4-FFF2-40B4-BE49-F238E27FC236}">
                <a16:creationId xmlns:a16="http://schemas.microsoft.com/office/drawing/2014/main" id="{E4B07EBF-3C5E-7F14-B688-066BDFFFD75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621AA8-B62C-36F8-03B0-4466D23BE863}"/>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2041620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D054-53B3-EC1C-108B-D30B0AB87C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F63CD9E-4D9D-0F40-9F0A-C9285587A8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8DF9739-2134-9E46-4116-4CAE0C5A9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8B93D9-4A71-2492-A740-5E24DDBC7FC9}"/>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6" name="Footer Placeholder 5">
            <a:extLst>
              <a:ext uri="{FF2B5EF4-FFF2-40B4-BE49-F238E27FC236}">
                <a16:creationId xmlns:a16="http://schemas.microsoft.com/office/drawing/2014/main" id="{7D041D04-0626-D160-CCD4-634AF1C42A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99F157-1C5D-4241-91A8-1E82884D7F5A}"/>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312351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D1C-5F7A-7180-C5FC-20651CEFB00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7C040330-FEE6-380D-502A-D81A9C9537E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06C4606-D567-C148-7580-483BDAA37F46}"/>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47377D6D-39FA-3058-465E-CB534F4726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B678A0-1996-A85F-98C9-309843EB8A1F}"/>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81854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F11227-51D0-6E9F-835D-F2F77588BFC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018B26D-C1B4-441C-3F4C-AE218272BF1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464747E-B713-E5CD-4F02-BA7198136871}"/>
              </a:ext>
            </a:extLst>
          </p:cNvPr>
          <p:cNvSpPr>
            <a:spLocks noGrp="1"/>
          </p:cNvSpPr>
          <p:nvPr>
            <p:ph type="dt" sz="half" idx="10"/>
          </p:nvPr>
        </p:nvSpPr>
        <p:spPr/>
        <p:txBody>
          <a:body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2118BD30-8596-31D3-8C01-D1C20D089B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C66A05-AF01-18CE-6A0B-525916C9ADD5}"/>
              </a:ext>
            </a:extLst>
          </p:cNvPr>
          <p:cNvSpPr>
            <a:spLocks noGrp="1"/>
          </p:cNvSpPr>
          <p:nvPr>
            <p:ph type="sldNum" sz="quarter" idx="12"/>
          </p:nvPr>
        </p:nvSpPr>
        <p:spPr/>
        <p:txBody>
          <a:bodyPr/>
          <a:lstStyle/>
          <a:p>
            <a:fld id="{70AB112C-28D1-CA4E-A37E-BC07DC18E98B}" type="slidenum">
              <a:rPr lang="en-GB" smtClean="0"/>
              <a:t>‹#›</a:t>
            </a:fld>
            <a:endParaRPr lang="en-GB"/>
          </a:p>
        </p:txBody>
      </p:sp>
    </p:spTree>
    <p:extLst>
      <p:ext uri="{BB962C8B-B14F-4D97-AF65-F5344CB8AC3E}">
        <p14:creationId xmlns:p14="http://schemas.microsoft.com/office/powerpoint/2010/main" val="1271498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BE4B3E-E966-A674-AF43-88BFA630DB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698D0F6D-AC1F-9166-0ACB-9E3F5F842B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675436-EE0F-208F-5432-50DF158EB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BB15BF-E858-F24F-A835-7170A471FE8A}" type="datetimeFigureOut">
              <a:rPr lang="en-GB" smtClean="0"/>
              <a:t>11/06/2026</a:t>
            </a:fld>
            <a:endParaRPr lang="en-GB"/>
          </a:p>
        </p:txBody>
      </p:sp>
      <p:sp>
        <p:nvSpPr>
          <p:cNvPr id="5" name="Footer Placeholder 4">
            <a:extLst>
              <a:ext uri="{FF2B5EF4-FFF2-40B4-BE49-F238E27FC236}">
                <a16:creationId xmlns:a16="http://schemas.microsoft.com/office/drawing/2014/main" id="{9D974757-8508-899C-115B-FB27931BD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E04EC3F-5CA4-E428-488D-195A0124D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B112C-28D1-CA4E-A37E-BC07DC18E98B}" type="slidenum">
              <a:rPr lang="en-GB" smtClean="0"/>
              <a:t>‹#›</a:t>
            </a:fld>
            <a:endParaRPr lang="en-GB"/>
          </a:p>
        </p:txBody>
      </p:sp>
    </p:spTree>
    <p:extLst>
      <p:ext uri="{BB962C8B-B14F-4D97-AF65-F5344CB8AC3E}">
        <p14:creationId xmlns:p14="http://schemas.microsoft.com/office/powerpoint/2010/main" val="1795468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F90877-43F4-A032-C0EE-7688808F2EE7}"/>
              </a:ext>
            </a:extLst>
          </p:cNvPr>
          <p:cNvSpPr/>
          <p:nvPr/>
        </p:nvSpPr>
        <p:spPr>
          <a:xfrm>
            <a:off x="756058" y="3782174"/>
            <a:ext cx="1833122" cy="18326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6FF5E2EF-FD9E-B482-DEAD-AB4626EE6F93}"/>
              </a:ext>
            </a:extLst>
          </p:cNvPr>
          <p:cNvSpPr txBox="1"/>
          <p:nvPr/>
        </p:nvSpPr>
        <p:spPr>
          <a:xfrm>
            <a:off x="684193" y="2074403"/>
            <a:ext cx="10944278" cy="1241237"/>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Research and Evidence Based Medicine</a:t>
            </a:r>
          </a:p>
          <a:p>
            <a:r>
              <a:rPr lang="en-GB" sz="3733" noProof="1">
                <a:solidFill>
                  <a:schemeClr val="bg1"/>
                </a:solidFill>
                <a:latin typeface="Source Sans Pro" panose="020B0503030403020204" pitchFamily="34" charset="0"/>
                <a:ea typeface="Source Sans Pro" panose="020B0503030403020204" pitchFamily="34" charset="0"/>
              </a:rPr>
              <a:t>[INSERT TITLE OF YOUR RESEARCH/CASE STUDY]</a:t>
            </a:r>
          </a:p>
        </p:txBody>
      </p:sp>
      <p:sp>
        <p:nvSpPr>
          <p:cNvPr id="7" name="TextBox 6">
            <a:extLst>
              <a:ext uri="{FF2B5EF4-FFF2-40B4-BE49-F238E27FC236}">
                <a16:creationId xmlns:a16="http://schemas.microsoft.com/office/drawing/2014/main" id="{5FBD2082-F96D-9D01-033C-A4E9ACAB3F03}"/>
              </a:ext>
            </a:extLst>
          </p:cNvPr>
          <p:cNvSpPr txBox="1"/>
          <p:nvPr/>
        </p:nvSpPr>
        <p:spPr>
          <a:xfrm>
            <a:off x="684193" y="5718297"/>
            <a:ext cx="3009119" cy="461665"/>
          </a:xfrm>
          <a:prstGeom prst="rect">
            <a:avLst/>
          </a:prstGeom>
          <a:noFill/>
        </p:spPr>
        <p:txBody>
          <a:bodyPr wrap="square" rtlCol="0">
            <a:spAutoFit/>
          </a:bodyPr>
          <a:lstStyle/>
          <a:p>
            <a:r>
              <a:rPr lang="en-GB" sz="2400" noProof="1">
                <a:solidFill>
                  <a:schemeClr val="bg1"/>
                </a:solidFill>
                <a:latin typeface="Source Sans Pro" panose="020B0503030403020204" pitchFamily="34" charset="0"/>
                <a:ea typeface="Source Sans Pro" panose="020B0503030403020204" pitchFamily="34" charset="0"/>
              </a:rPr>
              <a:t>[INSERT YOUR NAME]</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sp>
        <p:nvSpPr>
          <p:cNvPr id="4" name="TextBox 3">
            <a:extLst>
              <a:ext uri="{FF2B5EF4-FFF2-40B4-BE49-F238E27FC236}">
                <a16:creationId xmlns:a16="http://schemas.microsoft.com/office/drawing/2014/main" id="{2AA76935-4B01-3791-04F9-C1155A993D05}"/>
              </a:ext>
            </a:extLst>
          </p:cNvPr>
          <p:cNvSpPr txBox="1"/>
          <p:nvPr/>
        </p:nvSpPr>
        <p:spPr>
          <a:xfrm>
            <a:off x="684193" y="6179962"/>
            <a:ext cx="3538183" cy="461665"/>
          </a:xfrm>
          <a:prstGeom prst="rect">
            <a:avLst/>
          </a:prstGeom>
          <a:noFill/>
        </p:spPr>
        <p:txBody>
          <a:bodyPr wrap="square" rtlCol="0">
            <a:spAutoFit/>
          </a:bodyPr>
          <a:lstStyle/>
          <a:p>
            <a:r>
              <a:rPr lang="en-GB" sz="2400" noProof="1">
                <a:solidFill>
                  <a:schemeClr val="bg1"/>
                </a:solidFill>
                <a:latin typeface="Source Sans Pro" panose="020B0503030403020204" pitchFamily="34" charset="0"/>
                <a:ea typeface="Source Sans Pro" panose="020B0503030403020204" pitchFamily="34" charset="0"/>
              </a:rPr>
              <a:t>[INSERT YOUR POSITION]</a:t>
            </a:r>
          </a:p>
        </p:txBody>
      </p:sp>
      <p:sp>
        <p:nvSpPr>
          <p:cNvPr id="5" name="TextBox 4">
            <a:extLst>
              <a:ext uri="{FF2B5EF4-FFF2-40B4-BE49-F238E27FC236}">
                <a16:creationId xmlns:a16="http://schemas.microsoft.com/office/drawing/2014/main" id="{6785426F-FB0E-3D67-8C18-78461D2353CE}"/>
              </a:ext>
            </a:extLst>
          </p:cNvPr>
          <p:cNvSpPr txBox="1"/>
          <p:nvPr/>
        </p:nvSpPr>
        <p:spPr>
          <a:xfrm>
            <a:off x="784443" y="4283005"/>
            <a:ext cx="1776352" cy="830997"/>
          </a:xfrm>
          <a:prstGeom prst="rect">
            <a:avLst/>
          </a:prstGeom>
          <a:noFill/>
        </p:spPr>
        <p:txBody>
          <a:bodyPr wrap="square" rtlCol="0">
            <a:spAutoFit/>
          </a:bodyPr>
          <a:lstStyle/>
          <a:p>
            <a:r>
              <a:rPr lang="en-GB" sz="2400" noProof="1">
                <a:latin typeface="Source Sans Pro" panose="020B0503030403020204" pitchFamily="34" charset="0"/>
                <a:ea typeface="Source Sans Pro" panose="020B0503030403020204" pitchFamily="34" charset="0"/>
              </a:rPr>
              <a:t>[INSERT HEADSHOT]</a:t>
            </a:r>
          </a:p>
        </p:txBody>
      </p:sp>
      <p:pic>
        <p:nvPicPr>
          <p:cNvPr id="8" name="Camera 7">
            <a:extLst>
              <a:ext uri="{FF2B5EF4-FFF2-40B4-BE49-F238E27FC236}">
                <a16:creationId xmlns:a16="http://schemas.microsoft.com/office/drawing/2014/main" id="{89A320EA-63B7-A114-EA0D-51E07509BB0B}"/>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8258738" y="3747795"/>
            <a:ext cx="2656273" cy="2656273"/>
          </a:xfrm>
          <a:prstGeom prst="ellipse">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0C29F-53C7-3BAB-55B8-BD37EA3BC7A0}"/>
              </a:ext>
            </a:extLst>
          </p:cNvPr>
          <p:cNvSpPr>
            <a:spLocks noGrp="1"/>
          </p:cNvSpPr>
          <p:nvPr>
            <p:ph type="title"/>
          </p:nvPr>
        </p:nvSpPr>
        <p:spPr>
          <a:xfrm>
            <a:off x="838200" y="660960"/>
            <a:ext cx="10515600" cy="961739"/>
          </a:xfrm>
        </p:spPr>
        <p:txBody>
          <a:bodyPr>
            <a:normAutofit/>
          </a:bodyPr>
          <a:lstStyle/>
          <a:p>
            <a:r>
              <a:rPr lang="en-GB" b="1" dirty="0">
                <a:latin typeface="Source Sans Pro" panose="020B0503030403020204" pitchFamily="34" charset="0"/>
                <a:ea typeface="Source Sans Pro" panose="020B0503030403020204" pitchFamily="34" charset="0"/>
              </a:rPr>
              <a:t>What is the clinical [decision or problem]?</a:t>
            </a:r>
          </a:p>
        </p:txBody>
      </p:sp>
      <p:sp>
        <p:nvSpPr>
          <p:cNvPr id="3" name="Content Placeholder 2">
            <a:extLst>
              <a:ext uri="{FF2B5EF4-FFF2-40B4-BE49-F238E27FC236}">
                <a16:creationId xmlns:a16="http://schemas.microsoft.com/office/drawing/2014/main" id="{EA3DC2A9-A308-4A13-EA64-43C33BFCF6D2}"/>
              </a:ext>
            </a:extLst>
          </p:cNvPr>
          <p:cNvSpPr>
            <a:spLocks noGrp="1"/>
          </p:cNvSpPr>
          <p:nvPr>
            <p:ph idx="1"/>
          </p:nvPr>
        </p:nvSpPr>
        <p:spPr>
          <a:xfrm>
            <a:off x="838200" y="2259106"/>
            <a:ext cx="4930588" cy="4106116"/>
          </a:xfrm>
        </p:spPr>
        <p:txBody>
          <a:bodyPr>
            <a:normAutofit lnSpcReduction="10000"/>
          </a:bodyPr>
          <a:lstStyle/>
          <a:p>
            <a:pPr marL="0" indent="0">
              <a:buNone/>
            </a:pPr>
            <a:r>
              <a:rPr lang="en-GB" dirty="0">
                <a:latin typeface="Source Sans Pro" panose="020B0503030403020204" pitchFamily="34" charset="0"/>
                <a:ea typeface="Source Sans Pro" panose="020B0503030403020204" pitchFamily="34" charset="0"/>
              </a:rPr>
              <a:t>Explain the real-world problem that motivates your work. Start with the patients, population, healthcare system, or scientific challenge rather than your research methods. Assume students know very little about the topic. Focus on why this problem matters and what consequences it has if it is not solved.</a:t>
            </a:r>
          </a:p>
        </p:txBody>
      </p:sp>
      <p:pic>
        <p:nvPicPr>
          <p:cNvPr id="4" name="Camera 3">
            <a:extLst>
              <a:ext uri="{FF2B5EF4-FFF2-40B4-BE49-F238E27FC236}">
                <a16:creationId xmlns:a16="http://schemas.microsoft.com/office/drawing/2014/main" id="{6FFC2D3D-05FA-D39F-555D-81F0C613319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3311789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03AB-6601-3B32-6995-3FDCDC6AC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F9F1D-62AA-8814-E0DB-435F3CB61E62}"/>
              </a:ext>
            </a:extLst>
          </p:cNvPr>
          <p:cNvSpPr>
            <a:spLocks noGrp="1"/>
          </p:cNvSpPr>
          <p:nvPr>
            <p:ph type="title"/>
          </p:nvPr>
        </p:nvSpPr>
        <p:spPr>
          <a:xfrm>
            <a:off x="838200" y="660960"/>
            <a:ext cx="10515600" cy="961739"/>
          </a:xfrm>
        </p:spPr>
        <p:txBody>
          <a:bodyPr>
            <a:noAutofit/>
          </a:bodyPr>
          <a:lstStyle/>
          <a:p>
            <a:r>
              <a:rPr lang="en-GB" sz="3200" b="1" dirty="0">
                <a:latin typeface="Source Sans Pro" panose="020B0503030403020204" pitchFamily="34" charset="0"/>
                <a:ea typeface="Source Sans Pro" panose="020B0503030403020204" pitchFamily="34" charset="0"/>
              </a:rPr>
              <a:t>The Decision or Uncertainty</a:t>
            </a:r>
          </a:p>
        </p:txBody>
      </p:sp>
      <p:sp>
        <p:nvSpPr>
          <p:cNvPr id="3" name="Content Placeholder 2">
            <a:extLst>
              <a:ext uri="{FF2B5EF4-FFF2-40B4-BE49-F238E27FC236}">
                <a16:creationId xmlns:a16="http://schemas.microsoft.com/office/drawing/2014/main" id="{C68096FB-D575-1853-18E4-AB8E23D7D4E9}"/>
              </a:ext>
            </a:extLst>
          </p:cNvPr>
          <p:cNvSpPr>
            <a:spLocks noGrp="1"/>
          </p:cNvSpPr>
          <p:nvPr>
            <p:ph idx="1"/>
          </p:nvPr>
        </p:nvSpPr>
        <p:spPr>
          <a:xfrm>
            <a:off x="838200" y="2136494"/>
            <a:ext cx="5670176" cy="4106116"/>
          </a:xfrm>
        </p:spPr>
        <p:txBody>
          <a:bodyPr>
            <a:normAutofit fontScale="85000" lnSpcReduction="20000"/>
          </a:bodyPr>
          <a:lstStyle/>
          <a:p>
            <a:pPr marL="0" indent="0">
              <a:buNone/>
            </a:pPr>
            <a:r>
              <a:rPr lang="en-GB" dirty="0">
                <a:latin typeface="Source Sans Pro" panose="020B0503030403020204" pitchFamily="34" charset="0"/>
                <a:ea typeface="Source Sans Pro" panose="020B0503030403020204" pitchFamily="34" charset="0"/>
              </a:rPr>
              <a:t>Describe the uncertainty that exists. What are clinicians, researchers, policymakers, or patients trying to decide? Why is the answer not already obvious? Focus on the question rather than the solution.</a:t>
            </a:r>
          </a:p>
          <a:p>
            <a:pPr marL="0" indent="0">
              <a:buNone/>
            </a:pPr>
            <a:r>
              <a:rPr lang="en-GB" dirty="0">
                <a:latin typeface="Source Sans Pro" panose="020B0503030403020204" pitchFamily="34" charset="0"/>
                <a:ea typeface="Source Sans Pro" panose="020B0503030403020204" pitchFamily="34" charset="0"/>
              </a:rPr>
              <a:t>Examples:</a:t>
            </a:r>
          </a:p>
          <a:p>
            <a:r>
              <a:rPr lang="en-GB" dirty="0">
                <a:latin typeface="Source Sans Pro" panose="020B0503030403020204" pitchFamily="34" charset="0"/>
                <a:ea typeface="Source Sans Pro" panose="020B0503030403020204" pitchFamily="34" charset="0"/>
              </a:rPr>
              <a:t>Which treatment should be offered?</a:t>
            </a:r>
          </a:p>
          <a:p>
            <a:r>
              <a:rPr lang="en-GB" dirty="0">
                <a:latin typeface="Source Sans Pro" panose="020B0503030403020204" pitchFamily="34" charset="0"/>
                <a:ea typeface="Source Sans Pro" panose="020B0503030403020204" pitchFamily="34" charset="0"/>
              </a:rPr>
              <a:t>Which patients are at highest risk?</a:t>
            </a:r>
          </a:p>
          <a:p>
            <a:r>
              <a:rPr lang="en-GB" dirty="0">
                <a:latin typeface="Source Sans Pro" panose="020B0503030403020204" pitchFamily="34" charset="0"/>
                <a:ea typeface="Source Sans Pro" panose="020B0503030403020204" pitchFamily="34" charset="0"/>
              </a:rPr>
              <a:t>What causes this disease?</a:t>
            </a:r>
          </a:p>
          <a:p>
            <a:r>
              <a:rPr lang="en-GB" dirty="0">
                <a:latin typeface="Source Sans Pro" panose="020B0503030403020204" pitchFamily="34" charset="0"/>
                <a:ea typeface="Source Sans Pro" panose="020B0503030403020204" pitchFamily="34" charset="0"/>
              </a:rPr>
              <a:t>Which intervention should be prioritised?</a:t>
            </a:r>
          </a:p>
          <a:p>
            <a:r>
              <a:rPr lang="en-GB" dirty="0">
                <a:latin typeface="Source Sans Pro" panose="020B0503030403020204" pitchFamily="34" charset="0"/>
                <a:ea typeface="Source Sans Pro" panose="020B0503030403020204" pitchFamily="34" charset="0"/>
              </a:rPr>
              <a:t>How should limited resources be allocated?</a:t>
            </a:r>
          </a:p>
        </p:txBody>
      </p:sp>
      <p:pic>
        <p:nvPicPr>
          <p:cNvPr id="4" name="Camera 3">
            <a:extLst>
              <a:ext uri="{FF2B5EF4-FFF2-40B4-BE49-F238E27FC236}">
                <a16:creationId xmlns:a16="http://schemas.microsoft.com/office/drawing/2014/main" id="{69B08E8B-04D8-AC1A-CC02-4B41311208C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1626474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6307E-DC67-9928-1965-CA54DB8BF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71356-EF8D-A613-11BA-C77C2352039A}"/>
              </a:ext>
            </a:extLst>
          </p:cNvPr>
          <p:cNvSpPr>
            <a:spLocks noGrp="1"/>
          </p:cNvSpPr>
          <p:nvPr>
            <p:ph type="title"/>
          </p:nvPr>
        </p:nvSpPr>
        <p:spPr>
          <a:xfrm>
            <a:off x="838200" y="660960"/>
            <a:ext cx="10515600" cy="961739"/>
          </a:xfrm>
        </p:spPr>
        <p:txBody>
          <a:bodyPr>
            <a:normAutofit/>
          </a:bodyPr>
          <a:lstStyle/>
          <a:p>
            <a:r>
              <a:rPr lang="en-GB" b="1" dirty="0">
                <a:latin typeface="Source Sans Pro" panose="020B0503030403020204" pitchFamily="34" charset="0"/>
                <a:ea typeface="Source Sans Pro" panose="020B0503030403020204" pitchFamily="34" charset="0"/>
              </a:rPr>
              <a:t>How does evidence help?</a:t>
            </a:r>
          </a:p>
        </p:txBody>
      </p:sp>
      <p:sp>
        <p:nvSpPr>
          <p:cNvPr id="3" name="Content Placeholder 2">
            <a:extLst>
              <a:ext uri="{FF2B5EF4-FFF2-40B4-BE49-F238E27FC236}">
                <a16:creationId xmlns:a16="http://schemas.microsoft.com/office/drawing/2014/main" id="{38638552-E660-A20C-B6C9-FADC49121CC8}"/>
              </a:ext>
            </a:extLst>
          </p:cNvPr>
          <p:cNvSpPr>
            <a:spLocks noGrp="1"/>
          </p:cNvSpPr>
          <p:nvPr>
            <p:ph idx="1"/>
          </p:nvPr>
        </p:nvSpPr>
        <p:spPr>
          <a:xfrm>
            <a:off x="838200" y="2259106"/>
            <a:ext cx="4930588" cy="4106116"/>
          </a:xfrm>
        </p:spPr>
        <p:txBody>
          <a:bodyPr/>
          <a:lstStyle/>
          <a:p>
            <a:pPr marL="0" indent="0">
              <a:buNone/>
            </a:pPr>
            <a:r>
              <a:rPr lang="en-GB" dirty="0">
                <a:latin typeface="Source Sans Pro" panose="020B0503030403020204" pitchFamily="34" charset="0"/>
                <a:ea typeface="Source Sans Pro" panose="020B0503030403020204" pitchFamily="34" charset="0"/>
              </a:rPr>
              <a:t>Explain what information is needed to reduce uncertainty. What evidence would make us more confident in a decision? Avoid discussing statistical tests. Focus on the role evidence plays in improving decisions.</a:t>
            </a:r>
          </a:p>
        </p:txBody>
      </p:sp>
      <p:pic>
        <p:nvPicPr>
          <p:cNvPr id="4" name="Camera 3">
            <a:extLst>
              <a:ext uri="{FF2B5EF4-FFF2-40B4-BE49-F238E27FC236}">
                <a16:creationId xmlns:a16="http://schemas.microsoft.com/office/drawing/2014/main" id="{42A75610-A0E1-7FE4-C97B-BD992CB63F3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4007354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F23F-B521-530E-4865-EEA93013E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80E38-165F-A334-4FC1-F90BAF0B07F4}"/>
              </a:ext>
            </a:extLst>
          </p:cNvPr>
          <p:cNvSpPr>
            <a:spLocks noGrp="1"/>
          </p:cNvSpPr>
          <p:nvPr>
            <p:ph type="title"/>
          </p:nvPr>
        </p:nvSpPr>
        <p:spPr>
          <a:xfrm>
            <a:off x="838200" y="660960"/>
            <a:ext cx="10515600" cy="961739"/>
          </a:xfrm>
        </p:spPr>
        <p:txBody>
          <a:bodyPr>
            <a:normAutofit/>
          </a:bodyPr>
          <a:lstStyle/>
          <a:p>
            <a:r>
              <a:rPr lang="en-GB" b="1" dirty="0">
                <a:latin typeface="Source Sans Pro" panose="020B0503030403020204" pitchFamily="34" charset="0"/>
                <a:ea typeface="Source Sans Pro" panose="020B0503030403020204" pitchFamily="34" charset="0"/>
              </a:rPr>
              <a:t>Where does the data come from?</a:t>
            </a:r>
          </a:p>
        </p:txBody>
      </p:sp>
      <p:sp>
        <p:nvSpPr>
          <p:cNvPr id="3" name="Content Placeholder 2">
            <a:extLst>
              <a:ext uri="{FF2B5EF4-FFF2-40B4-BE49-F238E27FC236}">
                <a16:creationId xmlns:a16="http://schemas.microsoft.com/office/drawing/2014/main" id="{696D1AB1-0F4F-D233-0D3A-BF9DC903391F}"/>
              </a:ext>
            </a:extLst>
          </p:cNvPr>
          <p:cNvSpPr>
            <a:spLocks noGrp="1"/>
          </p:cNvSpPr>
          <p:nvPr>
            <p:ph idx="1"/>
          </p:nvPr>
        </p:nvSpPr>
        <p:spPr>
          <a:xfrm>
            <a:off x="838200" y="2136494"/>
            <a:ext cx="4930588" cy="4106116"/>
          </a:xfrm>
        </p:spPr>
        <p:txBody>
          <a:bodyPr/>
          <a:lstStyle/>
          <a:p>
            <a:pPr marL="0" indent="0">
              <a:buNone/>
            </a:pPr>
            <a:r>
              <a:rPr lang="en-GB" dirty="0">
                <a:latin typeface="Source Sans Pro" panose="020B0503030403020204" pitchFamily="34" charset="0"/>
                <a:ea typeface="Source Sans Pro" panose="020B0503030403020204" pitchFamily="34" charset="0"/>
              </a:rPr>
              <a:t>Introduce the data source behind the problem. Explain what information can realistically be collected and what challenges exist in obtaining reliable evidence. Students should appreciate that evidence comes from imperfect data collected in real-world settings.</a:t>
            </a:r>
          </a:p>
        </p:txBody>
      </p:sp>
      <p:pic>
        <p:nvPicPr>
          <p:cNvPr id="4" name="Camera 3">
            <a:extLst>
              <a:ext uri="{FF2B5EF4-FFF2-40B4-BE49-F238E27FC236}">
                <a16:creationId xmlns:a16="http://schemas.microsoft.com/office/drawing/2014/main" id="{D1C4CE29-A522-B2CD-ECEF-8E2500ECDC3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4139490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205D-E29C-F1B4-331A-0FD7812BF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2DD37D-1202-DF36-4589-E96FBC859CB4}"/>
              </a:ext>
            </a:extLst>
          </p:cNvPr>
          <p:cNvSpPr>
            <a:spLocks noGrp="1"/>
          </p:cNvSpPr>
          <p:nvPr>
            <p:ph type="title"/>
          </p:nvPr>
        </p:nvSpPr>
        <p:spPr>
          <a:xfrm>
            <a:off x="838200" y="660960"/>
            <a:ext cx="10515600" cy="961739"/>
          </a:xfrm>
        </p:spPr>
        <p:txBody>
          <a:bodyPr>
            <a:normAutofit/>
          </a:bodyPr>
          <a:lstStyle/>
          <a:p>
            <a:r>
              <a:rPr lang="en-GB" b="1" dirty="0">
                <a:latin typeface="Source Sans Pro" panose="020B0503030403020204" pitchFamily="34" charset="0"/>
                <a:ea typeface="Source Sans Pro" panose="020B0503030403020204" pitchFamily="34" charset="0"/>
              </a:rPr>
              <a:t>What makes this difficult?</a:t>
            </a:r>
          </a:p>
        </p:txBody>
      </p:sp>
      <p:sp>
        <p:nvSpPr>
          <p:cNvPr id="3" name="Content Placeholder 2">
            <a:extLst>
              <a:ext uri="{FF2B5EF4-FFF2-40B4-BE49-F238E27FC236}">
                <a16:creationId xmlns:a16="http://schemas.microsoft.com/office/drawing/2014/main" id="{B1EBB795-B1E6-3F34-6A04-318AC21534C6}"/>
              </a:ext>
            </a:extLst>
          </p:cNvPr>
          <p:cNvSpPr>
            <a:spLocks noGrp="1"/>
          </p:cNvSpPr>
          <p:nvPr>
            <p:ph idx="1"/>
          </p:nvPr>
        </p:nvSpPr>
        <p:spPr>
          <a:xfrm>
            <a:off x="838200" y="2136494"/>
            <a:ext cx="4930588" cy="4106116"/>
          </a:xfrm>
        </p:spPr>
        <p:txBody>
          <a:bodyPr/>
          <a:lstStyle/>
          <a:p>
            <a:pPr marL="0" indent="0">
              <a:buNone/>
            </a:pPr>
            <a:r>
              <a:rPr lang="en-GB" dirty="0">
                <a:latin typeface="Source Sans Pro" panose="020B0503030403020204" pitchFamily="34" charset="0"/>
                <a:ea typeface="Source Sans Pro" panose="020B0503030403020204" pitchFamily="34" charset="0"/>
              </a:rPr>
              <a:t>Highlight the challenges that make this an interesting evidence problem. These might include confounding, bias, rare outcomes, missing data, uncertainty, competing priorities, ethical considerations, population differences, or measurement difficulties.</a:t>
            </a:r>
          </a:p>
        </p:txBody>
      </p:sp>
      <p:pic>
        <p:nvPicPr>
          <p:cNvPr id="4" name="Camera 3">
            <a:extLst>
              <a:ext uri="{FF2B5EF4-FFF2-40B4-BE49-F238E27FC236}">
                <a16:creationId xmlns:a16="http://schemas.microsoft.com/office/drawing/2014/main" id="{250BCE27-F841-1C51-208F-E68FF99235B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2209184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916A-AFA5-3598-A070-CBF33789B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B5F80-9C46-A9F4-7ACA-90F1AD734020}"/>
              </a:ext>
            </a:extLst>
          </p:cNvPr>
          <p:cNvSpPr>
            <a:spLocks noGrp="1"/>
          </p:cNvSpPr>
          <p:nvPr>
            <p:ph type="title"/>
          </p:nvPr>
        </p:nvSpPr>
        <p:spPr>
          <a:xfrm>
            <a:off x="838200" y="660960"/>
            <a:ext cx="10515600" cy="961739"/>
          </a:xfrm>
        </p:spPr>
        <p:txBody>
          <a:bodyPr>
            <a:normAutofit/>
          </a:bodyPr>
          <a:lstStyle/>
          <a:p>
            <a:r>
              <a:rPr lang="en-GB" b="1" dirty="0">
                <a:latin typeface="Source Sans Pro" panose="020B0503030403020204" pitchFamily="34" charset="0"/>
                <a:ea typeface="Source Sans Pro" panose="020B0503030403020204" pitchFamily="34" charset="0"/>
              </a:rPr>
              <a:t>References</a:t>
            </a:r>
          </a:p>
        </p:txBody>
      </p:sp>
      <p:sp>
        <p:nvSpPr>
          <p:cNvPr id="3" name="Content Placeholder 2">
            <a:extLst>
              <a:ext uri="{FF2B5EF4-FFF2-40B4-BE49-F238E27FC236}">
                <a16:creationId xmlns:a16="http://schemas.microsoft.com/office/drawing/2014/main" id="{7532E045-FF00-B0D0-E380-42012A68E975}"/>
              </a:ext>
            </a:extLst>
          </p:cNvPr>
          <p:cNvSpPr>
            <a:spLocks noGrp="1"/>
          </p:cNvSpPr>
          <p:nvPr>
            <p:ph idx="1"/>
          </p:nvPr>
        </p:nvSpPr>
        <p:spPr>
          <a:xfrm>
            <a:off x="838200" y="2259106"/>
            <a:ext cx="4930588" cy="4106116"/>
          </a:xfrm>
        </p:spPr>
        <p:txBody>
          <a:bodyPr/>
          <a:lstStyle/>
          <a:p>
            <a:pPr marL="0" indent="0">
              <a:buNone/>
            </a:pPr>
            <a:r>
              <a:rPr lang="en-GB" dirty="0">
                <a:latin typeface="Source Sans Pro" panose="020B0503030403020204" pitchFamily="34" charset="0"/>
                <a:ea typeface="Source Sans Pro" panose="020B0503030403020204" pitchFamily="34" charset="0"/>
              </a:rPr>
              <a:t>INSERT REFERENCES IF APPROPRIATE</a:t>
            </a:r>
          </a:p>
          <a:p>
            <a:pPr marL="0" indent="0">
              <a:buNone/>
            </a:pPr>
            <a:endParaRPr lang="en-GB" dirty="0">
              <a:latin typeface="Source Sans Pro" panose="020B0503030403020204" pitchFamily="34" charset="0"/>
              <a:ea typeface="Source Sans Pro" panose="020B0503030403020204" pitchFamily="34" charset="0"/>
            </a:endParaRPr>
          </a:p>
          <a:p>
            <a:pPr marL="0" indent="0">
              <a:buNone/>
            </a:pPr>
            <a:r>
              <a:rPr lang="en-GB" dirty="0">
                <a:latin typeface="Source Sans Pro" panose="020B0503030403020204" pitchFamily="34" charset="0"/>
                <a:ea typeface="Source Sans Pro" panose="020B0503030403020204" pitchFamily="34" charset="0"/>
              </a:rPr>
              <a:t>INSERT CONTACT DETAILS IF YOU WANT [BY NO MEANS NECESSARY!]</a:t>
            </a:r>
          </a:p>
        </p:txBody>
      </p:sp>
      <p:pic>
        <p:nvPicPr>
          <p:cNvPr id="4" name="Camera 3">
            <a:extLst>
              <a:ext uri="{FF2B5EF4-FFF2-40B4-BE49-F238E27FC236}">
                <a16:creationId xmlns:a16="http://schemas.microsoft.com/office/drawing/2014/main" id="{F807F8BD-0E94-71B4-18D9-93BD029F1B0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2"/>
              </a:ext>
            </a:extLst>
          </a:blip>
          <a:stretch>
            <a:fillRect/>
          </a:stretch>
        </p:blipFill>
        <p:spPr>
          <a:xfrm>
            <a:off x="8110821" y="2861416"/>
            <a:ext cx="2656273" cy="2656273"/>
          </a:xfrm>
          <a:prstGeom prst="ellipse">
            <a:avLst/>
          </a:prstGeom>
        </p:spPr>
      </p:pic>
    </p:spTree>
    <p:extLst>
      <p:ext uri="{BB962C8B-B14F-4D97-AF65-F5344CB8AC3E}">
        <p14:creationId xmlns:p14="http://schemas.microsoft.com/office/powerpoint/2010/main" val="2431621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312</Words>
  <Application>Microsoft Macintosh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Source Sans Pro</vt:lpstr>
      <vt:lpstr>Office Theme</vt:lpstr>
      <vt:lpstr>PowerPoint Presentation</vt:lpstr>
      <vt:lpstr>What is the clinical [decision or problem]?</vt:lpstr>
      <vt:lpstr>The Decision or Uncertainty</vt:lpstr>
      <vt:lpstr>How does evidence help?</vt:lpstr>
      <vt:lpstr>Where does the data come from?</vt:lpstr>
      <vt:lpstr>What makes this difficult?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1</cp:revision>
  <dcterms:created xsi:type="dcterms:W3CDTF">2026-06-11T14:31:30Z</dcterms:created>
  <dcterms:modified xsi:type="dcterms:W3CDTF">2026-06-11T15:09:51Z</dcterms:modified>
</cp:coreProperties>
</file>