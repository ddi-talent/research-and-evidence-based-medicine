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72" r:id="rId2"/>
    <p:sldId id="273" r:id="rId3"/>
    <p:sldId id="278" r:id="rId4"/>
    <p:sldId id="279" r:id="rId5"/>
    <p:sldId id="257" r:id="rId6"/>
    <p:sldId id="298" r:id="rId7"/>
    <p:sldId id="299" r:id="rId8"/>
    <p:sldId id="338" r:id="rId9"/>
    <p:sldId id="310" r:id="rId10"/>
    <p:sldId id="339" r:id="rId11"/>
    <p:sldId id="340" r:id="rId12"/>
    <p:sldId id="314" r:id="rId13"/>
    <p:sldId id="341" r:id="rId14"/>
    <p:sldId id="282" r:id="rId15"/>
    <p:sldId id="342" r:id="rId16"/>
    <p:sldId id="292" r:id="rId17"/>
    <p:sldId id="293" r:id="rId18"/>
    <p:sldId id="345" r:id="rId19"/>
    <p:sldId id="346" r:id="rId20"/>
    <p:sldId id="347" r:id="rId21"/>
    <p:sldId id="324" r:id="rId22"/>
    <p:sldId id="350" r:id="rId23"/>
    <p:sldId id="280" r:id="rId24"/>
    <p:sldId id="329" r:id="rId25"/>
    <p:sldId id="330" r:id="rId26"/>
    <p:sldId id="331" r:id="rId27"/>
    <p:sldId id="332" r:id="rId28"/>
    <p:sldId id="333" r:id="rId29"/>
    <p:sldId id="266" r:id="rId30"/>
    <p:sldId id="334" r:id="rId31"/>
    <p:sldId id="335" r:id="rId32"/>
    <p:sldId id="336" r:id="rId33"/>
    <p:sldId id="353" r:id="rId34"/>
    <p:sldId id="348" r:id="rId35"/>
    <p:sldId id="349" r:id="rId36"/>
    <p:sldId id="354" r:id="rId37"/>
    <p:sldId id="304" r:id="rId38"/>
    <p:sldId id="307" r:id="rId39"/>
    <p:sldId id="281" r:id="rId40"/>
    <p:sldId id="351" r:id="rId41"/>
    <p:sldId id="268" r:id="rId42"/>
    <p:sldId id="260" r:id="rId43"/>
    <p:sldId id="262" r:id="rId44"/>
    <p:sldId id="274" r:id="rId45"/>
    <p:sldId id="264" r:id="rId46"/>
    <p:sldId id="275" r:id="rId47"/>
    <p:sldId id="352" r:id="rId48"/>
    <p:sldId id="286" r:id="rId49"/>
    <p:sldId id="287" r:id="rId50"/>
    <p:sldId id="355" r:id="rId51"/>
    <p:sldId id="356" r:id="rId52"/>
    <p:sldId id="357" r:id="rId53"/>
    <p:sldId id="358" r:id="rId54"/>
    <p:sldId id="359" r:id="rId55"/>
    <p:sldId id="360" r:id="rId56"/>
    <p:sldId id="362" r:id="rId57"/>
    <p:sldId id="361" r:id="rId58"/>
    <p:sldId id="28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1D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17"/>
    <p:restoredTop sz="94799"/>
  </p:normalViewPr>
  <p:slideViewPr>
    <p:cSldViewPr snapToGrid="0">
      <p:cViewPr varScale="1">
        <p:scale>
          <a:sx n="119" d="100"/>
          <a:sy n="119" d="100"/>
        </p:scale>
        <p:origin x="3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1FE25-85C4-1244-BCDC-A22C8126A90B}" type="datetimeFigureOut">
              <a:rPr lang="en-GB" smtClean="0"/>
              <a:t>09/07/2026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FE25D-C5C3-B245-93C4-8392A840C482}" type="slidenum">
              <a:rPr lang="en-GB" smtClean="0"/>
              <a:t>‹#›</a:t>
            </a:fld>
            <a:endParaRPr lang="en-GB"/>
          </a:p>
        </p:txBody>
      </p:sp>
    </p:spTree>
    <p:extLst>
      <p:ext uri="{BB962C8B-B14F-4D97-AF65-F5344CB8AC3E}">
        <p14:creationId xmlns:p14="http://schemas.microsoft.com/office/powerpoint/2010/main" val="173517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fa0e3c75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fa0e3c75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45e02c6f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45e02c6f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fa0e3c75b8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fa0e3c75b8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2C0DEF6A-C484-C7E9-DCA5-81E8286D05E0}"/>
            </a:ext>
          </a:extLst>
        </p:cNvPr>
        <p:cNvGrpSpPr/>
        <p:nvPr/>
      </p:nvGrpSpPr>
      <p:grpSpPr>
        <a:xfrm>
          <a:off x="0" y="0"/>
          <a:ext cx="0" cy="0"/>
          <a:chOff x="0" y="0"/>
          <a:chExt cx="0" cy="0"/>
        </a:xfrm>
      </p:grpSpPr>
      <p:sp>
        <p:nvSpPr>
          <p:cNvPr id="162" name="Google Shape;162;gfa0e3c75b8_0_74:notes">
            <a:extLst>
              <a:ext uri="{FF2B5EF4-FFF2-40B4-BE49-F238E27FC236}">
                <a16:creationId xmlns:a16="http://schemas.microsoft.com/office/drawing/2014/main" id="{0F551497-F60C-C715-54FC-2211AAF0CA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fa0e3c75b8_0_74:notes">
            <a:extLst>
              <a:ext uri="{FF2B5EF4-FFF2-40B4-BE49-F238E27FC236}">
                <a16:creationId xmlns:a16="http://schemas.microsoft.com/office/drawing/2014/main" id="{45D47D06-DBCE-012E-8918-8024C15009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1917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fa0e3c75b8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fa0e3c75b8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4317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89F60BE-1C64-EFB3-2DF5-89B72335E523}"/>
            </a:ext>
          </a:extLst>
        </p:cNvPr>
        <p:cNvGrpSpPr/>
        <p:nvPr/>
      </p:nvGrpSpPr>
      <p:grpSpPr>
        <a:xfrm>
          <a:off x="0" y="0"/>
          <a:ext cx="0" cy="0"/>
          <a:chOff x="0" y="0"/>
          <a:chExt cx="0" cy="0"/>
        </a:xfrm>
      </p:grpSpPr>
      <p:sp>
        <p:nvSpPr>
          <p:cNvPr id="184" name="Google Shape;184;gfa0e3c75b8_0_79:notes">
            <a:extLst>
              <a:ext uri="{FF2B5EF4-FFF2-40B4-BE49-F238E27FC236}">
                <a16:creationId xmlns:a16="http://schemas.microsoft.com/office/drawing/2014/main" id="{32920045-00A9-B4B1-1FDA-91F0068747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fa0e3c75b8_0_79:notes">
            <a:extLst>
              <a:ext uri="{FF2B5EF4-FFF2-40B4-BE49-F238E27FC236}">
                <a16:creationId xmlns:a16="http://schemas.microsoft.com/office/drawing/2014/main" id="{97DD832E-52A6-343C-2CE7-F79FF094D2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4061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fa0e3c75b8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fa0e3c75b8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04c173d56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04c173d56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972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fa0e3c75b8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fa0e3c75b8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04c173d56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04c173d56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04c173d56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04c173d56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04c173d56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04c173d56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8159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fa0e3c75b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fa0e3c75b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9BABDED2-0DAB-0ED3-15C0-58BF6130126B}"/>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DB9BE1E3-AC76-59A2-F815-97056F917E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5797A284-54AA-8571-9CAC-7963E28193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9979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1B176062-BA0A-13CC-FA11-FD40C72948DB}"/>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76034161-901B-A305-738A-27B4AC54F4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40BBFD4D-CF1A-A144-5361-2C97A6CCE2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4703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DF50C227-894F-05C1-5AF8-89D62A502851}"/>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F06CB9D0-BC4D-5AC9-41C5-F3EB9E23DF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F96E23FC-F791-0785-7568-4D09BB442A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9133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C16FF6B4-0E9F-439F-6122-F160AD786EE9}"/>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B3DBC742-62BD-2EF1-A707-66873F71E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CB0D95C8-6BE9-E850-A211-789D925ED2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0998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A0DC0D0A-4E37-6685-9EF4-F6EEF1209477}"/>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96E0134B-0385-85FD-BD58-777DF23BAE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2E8E112C-11AB-C877-B7DE-62A39DB49E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1326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8076ba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5725692C-C1C9-4004-EF5F-C7CDC5729367}"/>
            </a:ext>
          </a:extLst>
        </p:cNvPr>
        <p:cNvGrpSpPr/>
        <p:nvPr/>
      </p:nvGrpSpPr>
      <p:grpSpPr>
        <a:xfrm>
          <a:off x="0" y="0"/>
          <a:ext cx="0" cy="0"/>
          <a:chOff x="0" y="0"/>
          <a:chExt cx="0" cy="0"/>
        </a:xfrm>
      </p:grpSpPr>
      <p:sp>
        <p:nvSpPr>
          <p:cNvPr id="118" name="Google Shape;118;g1048076babc_0_0:notes">
            <a:extLst>
              <a:ext uri="{FF2B5EF4-FFF2-40B4-BE49-F238E27FC236}">
                <a16:creationId xmlns:a16="http://schemas.microsoft.com/office/drawing/2014/main" id="{DE062AAC-3D1B-2FD0-26A3-06BCC65FA8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a:extLst>
              <a:ext uri="{FF2B5EF4-FFF2-40B4-BE49-F238E27FC236}">
                <a16:creationId xmlns:a16="http://schemas.microsoft.com/office/drawing/2014/main" id="{508095A3-B40F-554C-BC18-D46EF6D0CA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0049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C4BEC35C-C042-912A-3809-0D5A4DC1AD6C}"/>
            </a:ext>
          </a:extLst>
        </p:cNvPr>
        <p:cNvGrpSpPr/>
        <p:nvPr/>
      </p:nvGrpSpPr>
      <p:grpSpPr>
        <a:xfrm>
          <a:off x="0" y="0"/>
          <a:ext cx="0" cy="0"/>
          <a:chOff x="0" y="0"/>
          <a:chExt cx="0" cy="0"/>
        </a:xfrm>
      </p:grpSpPr>
      <p:sp>
        <p:nvSpPr>
          <p:cNvPr id="118" name="Google Shape;118;g1048076babc_0_0:notes">
            <a:extLst>
              <a:ext uri="{FF2B5EF4-FFF2-40B4-BE49-F238E27FC236}">
                <a16:creationId xmlns:a16="http://schemas.microsoft.com/office/drawing/2014/main" id="{99CFEDC5-9498-78AC-09A1-2D3E661C1F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a:extLst>
              <a:ext uri="{FF2B5EF4-FFF2-40B4-BE49-F238E27FC236}">
                <a16:creationId xmlns:a16="http://schemas.microsoft.com/office/drawing/2014/main" id="{9E85FB10-164E-66A2-8DF0-58FC2AB551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7094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083F03B1-8CC5-A464-D96A-EF83EA76EA3B}"/>
            </a:ext>
          </a:extLst>
        </p:cNvPr>
        <p:cNvGrpSpPr/>
        <p:nvPr/>
      </p:nvGrpSpPr>
      <p:grpSpPr>
        <a:xfrm>
          <a:off x="0" y="0"/>
          <a:ext cx="0" cy="0"/>
          <a:chOff x="0" y="0"/>
          <a:chExt cx="0" cy="0"/>
        </a:xfrm>
      </p:grpSpPr>
      <p:sp>
        <p:nvSpPr>
          <p:cNvPr id="118" name="Google Shape;118;g1048076babc_0_0:notes">
            <a:extLst>
              <a:ext uri="{FF2B5EF4-FFF2-40B4-BE49-F238E27FC236}">
                <a16:creationId xmlns:a16="http://schemas.microsoft.com/office/drawing/2014/main" id="{FB99830C-C2E9-921F-497A-CEF91CD2E0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a:extLst>
              <a:ext uri="{FF2B5EF4-FFF2-40B4-BE49-F238E27FC236}">
                <a16:creationId xmlns:a16="http://schemas.microsoft.com/office/drawing/2014/main" id="{FD85B36C-B4CF-845F-AEBA-3DDDBEAED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7748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05C6-39F5-4F27-D40D-0C552DF32F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CB1C3FD-A143-13ED-C3DE-44269DB222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580D406-68E3-A6FF-0717-9682B50F9BCA}"/>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5" name="Footer Placeholder 4">
            <a:extLst>
              <a:ext uri="{FF2B5EF4-FFF2-40B4-BE49-F238E27FC236}">
                <a16:creationId xmlns:a16="http://schemas.microsoft.com/office/drawing/2014/main" id="{6D3C4169-2998-760E-F009-BA73C15FB6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CD6149-715F-CBD8-1BC1-252FDECF185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4664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0FC7-4CB5-1110-8068-A272DE621E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82B6E31-BCA2-19C4-F10D-E116793D1E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BAA4E93-D777-2A92-CC0B-8E93D4CC3A7F}"/>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5" name="Footer Placeholder 4">
            <a:extLst>
              <a:ext uri="{FF2B5EF4-FFF2-40B4-BE49-F238E27FC236}">
                <a16:creationId xmlns:a16="http://schemas.microsoft.com/office/drawing/2014/main" id="{C7674C13-0EDE-16CA-1A7F-A3081BB797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6B55D2-EA13-82B7-61DD-36323F20797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52140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0CC5-DAAD-5017-7875-018654CB477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0123382-1E94-3453-4D25-9D42A769D0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EFC57F6-8D3F-49A9-0449-5DCF99AC0F19}"/>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5" name="Footer Placeholder 4">
            <a:extLst>
              <a:ext uri="{FF2B5EF4-FFF2-40B4-BE49-F238E27FC236}">
                <a16:creationId xmlns:a16="http://schemas.microsoft.com/office/drawing/2014/main" id="{0E1602CD-213C-78F1-9445-9442CD9E5F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39E4FD-7B5C-A4EC-CDE4-934A146EBE4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73189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2C21-3C92-73D8-73F7-5A7F635333C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626CE01-0E6F-9333-9288-5177AAB216A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AEAE897-528F-B3AB-369F-8F922D5DA6E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F4A2E7C-3000-46E3-1557-0A2A59899294}"/>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6" name="Footer Placeholder 5">
            <a:extLst>
              <a:ext uri="{FF2B5EF4-FFF2-40B4-BE49-F238E27FC236}">
                <a16:creationId xmlns:a16="http://schemas.microsoft.com/office/drawing/2014/main" id="{F9EC56C4-1833-19A9-A856-1362253B89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B17E1E-D416-F9E1-AA74-7A63174E220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58274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7B0F-AF3B-22D6-59DA-1878357030D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51EFC78-D38A-CD38-4C31-12AD35B53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5DF4DE-FFB5-E407-7FDD-317522B9BC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58658F7-4D59-1FC7-B0D5-D814BFB54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B149413-0679-DAD6-D1A8-7984ECDCA4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2B7FDA1-F7BD-9471-B19E-0F3380F22A04}"/>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8" name="Footer Placeholder 7">
            <a:extLst>
              <a:ext uri="{FF2B5EF4-FFF2-40B4-BE49-F238E27FC236}">
                <a16:creationId xmlns:a16="http://schemas.microsoft.com/office/drawing/2014/main" id="{EA6E888D-6D81-9C6F-CBB7-3BD89D5A7C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89F34B-BC78-7478-2C5C-05DFF5BF84A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86100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8A18-8C50-2B7C-124F-FC2D75B8E2E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3FCB492-845D-F323-F212-4ABE54B0AB82}"/>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4" name="Footer Placeholder 3">
            <a:extLst>
              <a:ext uri="{FF2B5EF4-FFF2-40B4-BE49-F238E27FC236}">
                <a16:creationId xmlns:a16="http://schemas.microsoft.com/office/drawing/2014/main" id="{14933A63-D9EE-8652-2DB1-2F724A0F3AB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FAB4C0-8DCE-9C75-29FC-A2B90EEC132B}"/>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3527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AC090E-1783-2F69-2F60-354C5B1FC552}"/>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3" name="Footer Placeholder 2">
            <a:extLst>
              <a:ext uri="{FF2B5EF4-FFF2-40B4-BE49-F238E27FC236}">
                <a16:creationId xmlns:a16="http://schemas.microsoft.com/office/drawing/2014/main" id="{ED191562-6997-5ADA-B8AD-237FD96426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334520F-211E-9BBA-C4D4-EC317AFF384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92077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2A3C-FEC4-3066-32AD-66066DE30F5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7D78B6-3242-CFA7-AD59-D982A2F222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9AB09B6-B1DE-85B8-9FDF-DD7E79B60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CEF645-FB11-0E66-BEC1-1F5E9C0C4423}"/>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6" name="Footer Placeholder 5">
            <a:extLst>
              <a:ext uri="{FF2B5EF4-FFF2-40B4-BE49-F238E27FC236}">
                <a16:creationId xmlns:a16="http://schemas.microsoft.com/office/drawing/2014/main" id="{6AB95CB1-8DEA-15F4-C397-F8224C5A46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E42B52-20D6-2E65-938B-960A5C559DFD}"/>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877065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6B90-FC20-FA7D-3342-B206F308DB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064BBA3-031C-687D-BEE1-D7E4912E8C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E0E133-E815-97FC-CA2D-322B2AACD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F53E93-530E-54E2-FA19-BBF652B1FE4A}"/>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6" name="Footer Placeholder 5">
            <a:extLst>
              <a:ext uri="{FF2B5EF4-FFF2-40B4-BE49-F238E27FC236}">
                <a16:creationId xmlns:a16="http://schemas.microsoft.com/office/drawing/2014/main" id="{E3A4B090-851C-580D-F20E-3362428397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ABAEBB-FEE3-D746-FA37-DE33B8486F0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86947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F3C5-9215-5C7B-D4F0-F26B882CC711}"/>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5F610E7-A0D9-CF06-B540-497A781685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BB22E8-0BDA-D4B9-84B0-029693CD3956}"/>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5" name="Footer Placeholder 4">
            <a:extLst>
              <a:ext uri="{FF2B5EF4-FFF2-40B4-BE49-F238E27FC236}">
                <a16:creationId xmlns:a16="http://schemas.microsoft.com/office/drawing/2014/main" id="{F8FDA19D-4A77-4412-B6B5-9BF62B8267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5E568E-0D09-699C-341E-7FBE1E8A5EF9}"/>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617976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82FBFA-D8C3-8A98-5DE5-6BF9F295125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FB89761-4252-46DF-BE0E-D4F201C4E97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735D4C-5533-2CC4-1F64-BD58C2420B36}"/>
              </a:ext>
            </a:extLst>
          </p:cNvPr>
          <p:cNvSpPr>
            <a:spLocks noGrp="1"/>
          </p:cNvSpPr>
          <p:nvPr>
            <p:ph type="dt" sz="half" idx="10"/>
          </p:nvPr>
        </p:nvSpPr>
        <p:spPr/>
        <p:txBody>
          <a:bodyPr/>
          <a:lstStyle/>
          <a:p>
            <a:fld id="{C50F6BED-B3FB-8548-A220-F135D64A6F38}" type="datetimeFigureOut">
              <a:rPr lang="en-GB" smtClean="0"/>
              <a:t>09/07/2026</a:t>
            </a:fld>
            <a:endParaRPr lang="en-GB"/>
          </a:p>
        </p:txBody>
      </p:sp>
      <p:sp>
        <p:nvSpPr>
          <p:cNvPr id="5" name="Footer Placeholder 4">
            <a:extLst>
              <a:ext uri="{FF2B5EF4-FFF2-40B4-BE49-F238E27FC236}">
                <a16:creationId xmlns:a16="http://schemas.microsoft.com/office/drawing/2014/main" id="{B3636BBC-1218-5CF6-5FBD-4A0B58533F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6CCAA5-73AC-5BD8-340C-A97B105ACAF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930880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87413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29855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6271B1-6719-4EB1-EAE0-3C9E560E98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12D6A9E-EA6D-5B12-1AFD-5663E3A6A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B40E9A7-AABF-56CA-B7EE-B52C7F5FE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F6BED-B3FB-8548-A220-F135D64A6F38}" type="datetimeFigureOut">
              <a:rPr lang="en-GB" smtClean="0"/>
              <a:t>09/07/2026</a:t>
            </a:fld>
            <a:endParaRPr lang="en-GB"/>
          </a:p>
        </p:txBody>
      </p:sp>
      <p:sp>
        <p:nvSpPr>
          <p:cNvPr id="5" name="Footer Placeholder 4">
            <a:extLst>
              <a:ext uri="{FF2B5EF4-FFF2-40B4-BE49-F238E27FC236}">
                <a16:creationId xmlns:a16="http://schemas.microsoft.com/office/drawing/2014/main" id="{64E888E3-25B4-73F3-4668-8B2ED1101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5594BD5-47DC-7819-F9FA-149765A0E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804DBB-899E-664F-A9D1-6118EFCEA42B}" type="slidenum">
              <a:rPr lang="en-GB" smtClean="0"/>
              <a:t>‹#›</a:t>
            </a:fld>
            <a:endParaRPr lang="en-GB"/>
          </a:p>
        </p:txBody>
      </p:sp>
    </p:spTree>
    <p:extLst>
      <p:ext uri="{BB962C8B-B14F-4D97-AF65-F5344CB8AC3E}">
        <p14:creationId xmlns:p14="http://schemas.microsoft.com/office/powerpoint/2010/main" val="421367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7"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NULL"/><Relationship Id="rId5" Type="http://schemas.openxmlformats.org/officeDocument/2006/relationships/image" Target="NUL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svg"/><Relationship Id="rId5" Type="http://schemas.openxmlformats.org/officeDocument/2006/relationships/image" Target="NULL"/></Relationships>
</file>

<file path=ppt/slides/_rels/slide16.xml.rels><?xml version="1.0" encoding="UTF-8" standalone="yes"?>
<Relationships xmlns="http://schemas.openxmlformats.org/package/2006/relationships"><Relationship Id="rId7" Type="http://schemas.openxmlformats.org/officeDocument/2006/relationships/image" Target="../media/image2.sv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NULL"/></Relationships>
</file>

<file path=ppt/slides/_rels/slide18.xml.rels><?xml version="1.0" encoding="UTF-8" standalone="yes"?>
<Relationships xmlns="http://schemas.openxmlformats.org/package/2006/relationships"><Relationship Id="rId7" Type="http://schemas.openxmlformats.org/officeDocument/2006/relationships/image" Target="../media/image2.svg"/><Relationship Id="rId1" Type="http://schemas.openxmlformats.org/officeDocument/2006/relationships/slideLayout" Target="../slideLayouts/slideLayout12.xml"/><Relationship Id="rId6" Type="http://schemas.openxmlformats.org/officeDocument/2006/relationships/image" Target="NULL"/><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30.jpg"/></Relationships>
</file>

<file path=ppt/slides/_rels/slide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F5E2EF-FD9E-B482-DEAD-AB4626EE6F93}"/>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Topic 01: Describing Data</a:t>
            </a:r>
          </a:p>
        </p:txBody>
      </p:sp>
      <p:pic>
        <p:nvPicPr>
          <p:cNvPr id="9" name="Picture 8" descr="A black background with white text&#10;&#10;AI-generated content may be incorrect.">
            <a:extLst>
              <a:ext uri="{FF2B5EF4-FFF2-40B4-BE49-F238E27FC236}">
                <a16:creationId xmlns:a16="http://schemas.microsoft.com/office/drawing/2014/main" id="{369DFD77-03D5-E162-AFB9-0D5714BC634C}"/>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E3C167AA-002C-1922-395B-14B966CE45B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71071" y="4239601"/>
            <a:ext cx="2057400" cy="2057400"/>
          </a:xfrm>
          <a:prstGeom prst="ellipse">
            <a:avLst/>
          </a:prstGeom>
        </p:spPr>
      </p:pic>
    </p:spTree>
    <p:extLst>
      <p:ext uri="{BB962C8B-B14F-4D97-AF65-F5344CB8AC3E}">
        <p14:creationId xmlns:p14="http://schemas.microsoft.com/office/powerpoint/2010/main" val="4077492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5;p26">
            <a:extLst>
              <a:ext uri="{FF2B5EF4-FFF2-40B4-BE49-F238E27FC236}">
                <a16:creationId xmlns:a16="http://schemas.microsoft.com/office/drawing/2014/main" id="{9CDCC65B-C285-5408-6FD6-A502E5C0AE3D}"/>
              </a:ext>
            </a:extLst>
          </p:cNvPr>
          <p:cNvSpPr txBox="1">
            <a:spLocks/>
          </p:cNvSpPr>
          <p:nvPr/>
        </p:nvSpPr>
        <p:spPr>
          <a:xfrm>
            <a:off x="427580" y="384348"/>
            <a:ext cx="10117640"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What does it mean to describe data?</a:t>
            </a:r>
          </a:p>
        </p:txBody>
      </p:sp>
      <p:sp>
        <p:nvSpPr>
          <p:cNvPr id="3" name="Google Shape;116;p26">
            <a:extLst>
              <a:ext uri="{FF2B5EF4-FFF2-40B4-BE49-F238E27FC236}">
                <a16:creationId xmlns:a16="http://schemas.microsoft.com/office/drawing/2014/main" id="{7359F510-70A1-0934-F910-D45BA59409FD}"/>
              </a:ext>
            </a:extLst>
          </p:cNvPr>
          <p:cNvSpPr txBox="1">
            <a:spLocks/>
          </p:cNvSpPr>
          <p:nvPr/>
        </p:nvSpPr>
        <p:spPr>
          <a:xfrm>
            <a:off x="427580" y="1376979"/>
            <a:ext cx="10921738" cy="4871421"/>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In medicine we often want to understand the make-up of some population, biological measurement, or the efficiency of some process. </a:t>
            </a:r>
          </a:p>
          <a:p>
            <a:pPr marL="0" indent="0">
              <a:spcBef>
                <a:spcPts val="1200"/>
              </a:spcBef>
              <a:buNone/>
            </a:pPr>
            <a:endParaRPr lang="en-GB" sz="2400" noProof="1">
              <a:latin typeface="Source Sans Pro" panose="020B0503030403020204" pitchFamily="34" charset="0"/>
              <a:ea typeface="Source Sans Pro" panose="020B0503030403020204" pitchFamily="34" charset="0"/>
            </a:endParaRPr>
          </a:p>
          <a:p>
            <a:pPr marL="0" indent="0">
              <a:spcBef>
                <a:spcPts val="1200"/>
              </a:spcBef>
              <a:buNone/>
            </a:pPr>
            <a:r>
              <a:rPr lang="en-GB" sz="2400" noProof="1">
                <a:latin typeface="Source Sans Pro" panose="020B0503030403020204" pitchFamily="34" charset="0"/>
                <a:ea typeface="Source Sans Pro" panose="020B0503030403020204" pitchFamily="34" charset="0"/>
              </a:rPr>
              <a:t>This might be using…</a:t>
            </a:r>
          </a:p>
          <a:p>
            <a:pPr marL="457200" indent="-457200">
              <a:spcBef>
                <a:spcPts val="1200"/>
              </a:spcBef>
              <a:buFont typeface="+mj-lt"/>
              <a:buAutoNum type="arabicPeriod"/>
            </a:pPr>
            <a:r>
              <a:rPr lang="en-GB" sz="2400" noProof="1">
                <a:latin typeface="Source Sans Pro" panose="020B0503030403020204" pitchFamily="34" charset="0"/>
                <a:ea typeface="Source Sans Pro" panose="020B0503030403020204" pitchFamily="34" charset="0"/>
              </a:rPr>
              <a:t>Descriptive statistics</a:t>
            </a:r>
          </a:p>
          <a:p>
            <a:pPr marL="457200" indent="-457200">
              <a:spcBef>
                <a:spcPts val="1200"/>
              </a:spcBef>
              <a:buFont typeface="+mj-lt"/>
              <a:buAutoNum type="arabicPeriod"/>
            </a:pPr>
            <a:r>
              <a:rPr lang="en-GB" sz="2400" noProof="1">
                <a:latin typeface="Source Sans Pro" panose="020B0503030403020204" pitchFamily="34" charset="0"/>
                <a:ea typeface="Source Sans Pro" panose="020B0503030403020204" pitchFamily="34" charset="0"/>
              </a:rPr>
              <a:t>Data visualisation</a:t>
            </a:r>
          </a:p>
          <a:p>
            <a:pPr marL="457200" indent="-457200">
              <a:spcBef>
                <a:spcPts val="1200"/>
              </a:spcBef>
              <a:buFont typeface="+mj-lt"/>
              <a:buAutoNum type="arabicPeriod"/>
            </a:pPr>
            <a:r>
              <a:rPr lang="en-GB" sz="2400" noProof="1">
                <a:latin typeface="Source Sans Pro" panose="020B0503030403020204" pitchFamily="34" charset="0"/>
                <a:ea typeface="Source Sans Pro" panose="020B0503030403020204" pitchFamily="34" charset="0"/>
              </a:rPr>
              <a:t>Distributions</a:t>
            </a:r>
          </a:p>
          <a:p>
            <a:pPr marL="457200" indent="-457200">
              <a:spcBef>
                <a:spcPts val="1200"/>
              </a:spcBef>
              <a:buFont typeface="+mj-lt"/>
              <a:buAutoNum type="arabicPeriod"/>
            </a:pPr>
            <a:endParaRPr lang="en-GB" sz="2400" noProof="1">
              <a:latin typeface="Source Sans Pro" panose="020B0503030403020204" pitchFamily="34" charset="0"/>
              <a:ea typeface="Source Sans Pro" panose="020B0503030403020204" pitchFamily="34" charset="0"/>
            </a:endParaRPr>
          </a:p>
          <a:p>
            <a:pPr marL="0" indent="0">
              <a:spcBef>
                <a:spcPts val="1200"/>
              </a:spcBef>
              <a:buNone/>
            </a:pPr>
            <a:r>
              <a:rPr lang="en-GB" sz="2400" noProof="1">
                <a:latin typeface="Source Sans Pro" panose="020B0503030403020204" pitchFamily="34" charset="0"/>
                <a:ea typeface="Source Sans Pro" panose="020B0503030403020204" pitchFamily="34" charset="0"/>
              </a:rPr>
              <a:t>When we make any of the above, we have to use data. Typically lots of it…and the day of calculating/drawing things by hand is well gone!</a:t>
            </a:r>
          </a:p>
        </p:txBody>
      </p:sp>
      <p:pic>
        <p:nvPicPr>
          <p:cNvPr id="4" name="Camera 3">
            <a:extLst>
              <a:ext uri="{FF2B5EF4-FFF2-40B4-BE49-F238E27FC236}">
                <a16:creationId xmlns:a16="http://schemas.microsoft.com/office/drawing/2014/main" id="{04103941-2F2C-7FC7-3C96-4BB6A6B4786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624398" y="2783989"/>
            <a:ext cx="2057400" cy="2057400"/>
          </a:xfrm>
          <a:prstGeom prst="ellipse">
            <a:avLst/>
          </a:prstGeom>
        </p:spPr>
      </p:pic>
    </p:spTree>
    <p:extLst>
      <p:ext uri="{BB962C8B-B14F-4D97-AF65-F5344CB8AC3E}">
        <p14:creationId xmlns:p14="http://schemas.microsoft.com/office/powerpoint/2010/main" val="112734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A4882-6016-04E4-C16B-380D29551A36}"/>
              </a:ext>
            </a:extLst>
          </p:cNvPr>
          <p:cNvSpPr txBox="1"/>
          <p:nvPr/>
        </p:nvSpPr>
        <p:spPr>
          <a:xfrm>
            <a:off x="500743" y="463485"/>
            <a:ext cx="5878287"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This topic…</a:t>
            </a:r>
            <a:endParaRPr lang="en-GB" sz="2800" noProof="1">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1368F128-6E60-8FCA-F828-497A6279C073}"/>
              </a:ext>
            </a:extLst>
          </p:cNvPr>
          <p:cNvSpPr txBox="1"/>
          <p:nvPr/>
        </p:nvSpPr>
        <p:spPr>
          <a:xfrm>
            <a:off x="500744" y="1328577"/>
            <a:ext cx="83608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Variables, Measures of Central Tendency and Spread</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Data Visulisation</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Distributional Shapes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R Foundations and Principles</a:t>
            </a:r>
          </a:p>
        </p:txBody>
      </p:sp>
      <p:cxnSp>
        <p:nvCxnSpPr>
          <p:cNvPr id="7" name="Straight Arrow Connector 6">
            <a:extLst>
              <a:ext uri="{FF2B5EF4-FFF2-40B4-BE49-F238E27FC236}">
                <a16:creationId xmlns:a16="http://schemas.microsoft.com/office/drawing/2014/main" id="{6F4201F3-6770-3B8B-D596-D8E7D2E3DDAE}"/>
              </a:ext>
            </a:extLst>
          </p:cNvPr>
          <p:cNvCxnSpPr>
            <a:cxnSpLocks/>
          </p:cNvCxnSpPr>
          <p:nvPr/>
        </p:nvCxnSpPr>
        <p:spPr>
          <a:xfrm>
            <a:off x="1894114" y="6232360"/>
            <a:ext cx="9420658"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E6219C6-14A1-1B48-5A50-CB68B1A38433}"/>
              </a:ext>
            </a:extLst>
          </p:cNvPr>
          <p:cNvSpPr txBox="1"/>
          <p:nvPr/>
        </p:nvSpPr>
        <p:spPr>
          <a:xfrm>
            <a:off x="1817914" y="5669037"/>
            <a:ext cx="9224159"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1.1 Variables, Measures of Central Tendency and Spread</a:t>
            </a:r>
            <a:endParaRPr lang="en-GB" sz="2800" noProof="1">
              <a:latin typeface="Source Sans Pro" panose="020B0503030403020204" pitchFamily="34" charset="0"/>
              <a:ea typeface="Source Sans Pro" panose="020B0503030403020204" pitchFamily="34" charset="0"/>
            </a:endParaRPr>
          </a:p>
        </p:txBody>
      </p:sp>
      <p:pic>
        <p:nvPicPr>
          <p:cNvPr id="2" name="Camera 1">
            <a:extLst>
              <a:ext uri="{FF2B5EF4-FFF2-40B4-BE49-F238E27FC236}">
                <a16:creationId xmlns:a16="http://schemas.microsoft.com/office/drawing/2014/main" id="{687A9BDB-DD70-D5F7-6947-74A29CA1E93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6804212" y="2740958"/>
            <a:ext cx="2057400" cy="2057400"/>
          </a:xfrm>
          <a:prstGeom prst="ellipse">
            <a:avLst/>
          </a:prstGeom>
        </p:spPr>
      </p:pic>
    </p:spTree>
    <p:extLst>
      <p:ext uri="{BB962C8B-B14F-4D97-AF65-F5344CB8AC3E}">
        <p14:creationId xmlns:p14="http://schemas.microsoft.com/office/powerpoint/2010/main" val="183901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2C532147-E62F-27A8-8B11-1F8CEC7B53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AE7D90-F368-4DD5-59E2-07DE50455E82}"/>
              </a:ext>
            </a:extLst>
          </p:cNvPr>
          <p:cNvSpPr txBox="1"/>
          <p:nvPr/>
        </p:nvSpPr>
        <p:spPr>
          <a:xfrm>
            <a:off x="623861" y="3095607"/>
            <a:ext cx="10944278" cy="1241237"/>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1.1 Variables, Measures of </a:t>
            </a:r>
            <a:br>
              <a:rPr lang="en-GB" sz="3733" b="1" noProof="1">
                <a:solidFill>
                  <a:schemeClr val="bg1"/>
                </a:solidFill>
                <a:latin typeface="Source Sans Pro" panose="020B0503030403020204" pitchFamily="34" charset="0"/>
                <a:ea typeface="Source Sans Pro" panose="020B0503030403020204" pitchFamily="34" charset="0"/>
              </a:rPr>
            </a:br>
            <a:r>
              <a:rPr lang="en-GB" sz="3733" b="1" noProof="1">
                <a:solidFill>
                  <a:schemeClr val="bg1"/>
                </a:solidFill>
                <a:latin typeface="Source Sans Pro" panose="020B0503030403020204" pitchFamily="34" charset="0"/>
                <a:ea typeface="Source Sans Pro" panose="020B0503030403020204" pitchFamily="34" charset="0"/>
              </a:rPr>
              <a:t>Central Tendency and Spread</a:t>
            </a:r>
          </a:p>
        </p:txBody>
      </p:sp>
      <p:pic>
        <p:nvPicPr>
          <p:cNvPr id="9" name="Picture 8" descr="A black background with white text&#10;&#10;AI-generated content may be incorrect.">
            <a:extLst>
              <a:ext uri="{FF2B5EF4-FFF2-40B4-BE49-F238E27FC236}">
                <a16:creationId xmlns:a16="http://schemas.microsoft.com/office/drawing/2014/main" id="{230686E1-B47B-B70D-9591-65F8A3DEFE65}"/>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2C7336C1-CA3C-4692-BE19-DF7E2F7EEB4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71071" y="4239601"/>
            <a:ext cx="2057400" cy="2057400"/>
          </a:xfrm>
          <a:prstGeom prst="ellipse">
            <a:avLst/>
          </a:prstGeom>
        </p:spPr>
      </p:pic>
    </p:spTree>
    <p:extLst>
      <p:ext uri="{BB962C8B-B14F-4D97-AF65-F5344CB8AC3E}">
        <p14:creationId xmlns:p14="http://schemas.microsoft.com/office/powerpoint/2010/main" val="91816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26649" y="586243"/>
            <a:ext cx="2986221" cy="871714"/>
          </a:xfrm>
          <a:prstGeom prst="rect">
            <a:avLst/>
          </a:prstGeom>
        </p:spPr>
        <p:txBody>
          <a:bodyPr spcFirstLastPara="1" wrap="square" lIns="121900" tIns="121900" rIns="121900" bIns="121900" anchor="t" anchorCtr="0">
            <a:normAutofit fontScale="90000"/>
          </a:bodyPr>
          <a:lstStyle/>
          <a:p>
            <a:pPr algn="ctr"/>
            <a:r>
              <a:rPr lang="en-GB" sz="4800" b="1" dirty="0">
                <a:latin typeface="Source Sans Pro" panose="020B0503030403020204" pitchFamily="34" charset="0"/>
                <a:ea typeface="Source Sans Pro" panose="020B0503030403020204" pitchFamily="34" charset="0"/>
              </a:rPr>
              <a:t>Data types</a:t>
            </a:r>
          </a:p>
        </p:txBody>
      </p:sp>
      <p:sp>
        <p:nvSpPr>
          <p:cNvPr id="2" name="Rectangle 1">
            <a:extLst>
              <a:ext uri="{FF2B5EF4-FFF2-40B4-BE49-F238E27FC236}">
                <a16:creationId xmlns:a16="http://schemas.microsoft.com/office/drawing/2014/main" id="{C5A7D122-C26A-F13A-C02B-EA47481514CD}"/>
              </a:ext>
            </a:extLst>
          </p:cNvPr>
          <p:cNvSpPr/>
          <p:nvPr/>
        </p:nvSpPr>
        <p:spPr>
          <a:xfrm>
            <a:off x="914400" y="3429000"/>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Variable X</a:t>
            </a:r>
          </a:p>
        </p:txBody>
      </p:sp>
      <p:sp>
        <p:nvSpPr>
          <p:cNvPr id="3" name="Rectangle 2">
            <a:extLst>
              <a:ext uri="{FF2B5EF4-FFF2-40B4-BE49-F238E27FC236}">
                <a16:creationId xmlns:a16="http://schemas.microsoft.com/office/drawing/2014/main" id="{B0679D9A-EF73-22DF-5146-5B516C5CA4DB}"/>
              </a:ext>
            </a:extLst>
          </p:cNvPr>
          <p:cNvSpPr/>
          <p:nvPr/>
        </p:nvSpPr>
        <p:spPr>
          <a:xfrm>
            <a:off x="3810000" y="4927599"/>
            <a:ext cx="358648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Quantitative</a:t>
            </a:r>
          </a:p>
          <a:p>
            <a:pPr algn="ctr"/>
            <a:r>
              <a:rPr lang="en-GB" dirty="0"/>
              <a:t>“Numbers measure amount”</a:t>
            </a:r>
          </a:p>
        </p:txBody>
      </p:sp>
      <p:sp>
        <p:nvSpPr>
          <p:cNvPr id="4" name="Rectangle 3">
            <a:extLst>
              <a:ext uri="{FF2B5EF4-FFF2-40B4-BE49-F238E27FC236}">
                <a16:creationId xmlns:a16="http://schemas.microsoft.com/office/drawing/2014/main" id="{18F876F7-CA4E-CEC5-D73E-B0D2B248B08C}"/>
              </a:ext>
            </a:extLst>
          </p:cNvPr>
          <p:cNvSpPr/>
          <p:nvPr/>
        </p:nvSpPr>
        <p:spPr>
          <a:xfrm>
            <a:off x="3810000" y="1747521"/>
            <a:ext cx="358648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Categorical</a:t>
            </a:r>
          </a:p>
          <a:p>
            <a:pPr algn="ctr"/>
            <a:r>
              <a:rPr lang="en-GB" dirty="0"/>
              <a:t>“Numbers are labels or ranks”</a:t>
            </a:r>
          </a:p>
        </p:txBody>
      </p:sp>
      <p:sp>
        <p:nvSpPr>
          <p:cNvPr id="5" name="Rectangle 4">
            <a:extLst>
              <a:ext uri="{FF2B5EF4-FFF2-40B4-BE49-F238E27FC236}">
                <a16:creationId xmlns:a16="http://schemas.microsoft.com/office/drawing/2014/main" id="{35C802E4-8F2F-A7BB-4FC8-2D0DDBDA82E5}"/>
              </a:ext>
            </a:extLst>
          </p:cNvPr>
          <p:cNvSpPr/>
          <p:nvPr/>
        </p:nvSpPr>
        <p:spPr>
          <a:xfrm>
            <a:off x="8698740" y="1117600"/>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Ordinal</a:t>
            </a:r>
          </a:p>
        </p:txBody>
      </p:sp>
      <p:sp>
        <p:nvSpPr>
          <p:cNvPr id="6" name="Rectangle 5">
            <a:extLst>
              <a:ext uri="{FF2B5EF4-FFF2-40B4-BE49-F238E27FC236}">
                <a16:creationId xmlns:a16="http://schemas.microsoft.com/office/drawing/2014/main" id="{8A5DE991-7036-102E-3FD2-AFE2473BC22C}"/>
              </a:ext>
            </a:extLst>
          </p:cNvPr>
          <p:cNvSpPr/>
          <p:nvPr/>
        </p:nvSpPr>
        <p:spPr>
          <a:xfrm>
            <a:off x="8698740" y="2357120"/>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Nominal</a:t>
            </a:r>
          </a:p>
        </p:txBody>
      </p:sp>
      <p:sp>
        <p:nvSpPr>
          <p:cNvPr id="7" name="Rectangle 6">
            <a:extLst>
              <a:ext uri="{FF2B5EF4-FFF2-40B4-BE49-F238E27FC236}">
                <a16:creationId xmlns:a16="http://schemas.microsoft.com/office/drawing/2014/main" id="{38C1E86B-3D07-3A7F-DD34-2DDC0360CF12}"/>
              </a:ext>
            </a:extLst>
          </p:cNvPr>
          <p:cNvSpPr/>
          <p:nvPr/>
        </p:nvSpPr>
        <p:spPr>
          <a:xfrm>
            <a:off x="8698740" y="4323081"/>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Discrete</a:t>
            </a:r>
          </a:p>
        </p:txBody>
      </p:sp>
      <p:sp>
        <p:nvSpPr>
          <p:cNvPr id="8" name="Rectangle 7">
            <a:extLst>
              <a:ext uri="{FF2B5EF4-FFF2-40B4-BE49-F238E27FC236}">
                <a16:creationId xmlns:a16="http://schemas.microsoft.com/office/drawing/2014/main" id="{99F5F482-DBAE-D58D-D858-3C6D80193E37}"/>
              </a:ext>
            </a:extLst>
          </p:cNvPr>
          <p:cNvSpPr/>
          <p:nvPr/>
        </p:nvSpPr>
        <p:spPr>
          <a:xfrm>
            <a:off x="8698740" y="5562601"/>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Continuous</a:t>
            </a:r>
          </a:p>
        </p:txBody>
      </p:sp>
      <p:cxnSp>
        <p:nvCxnSpPr>
          <p:cNvPr id="10" name="Straight Arrow Connector 9">
            <a:extLst>
              <a:ext uri="{FF2B5EF4-FFF2-40B4-BE49-F238E27FC236}">
                <a16:creationId xmlns:a16="http://schemas.microsoft.com/office/drawing/2014/main" id="{82E1F248-CAD7-3FE5-B150-26BB2CB7D3AA}"/>
              </a:ext>
            </a:extLst>
          </p:cNvPr>
          <p:cNvCxnSpPr/>
          <p:nvPr/>
        </p:nvCxnSpPr>
        <p:spPr>
          <a:xfrm flipV="1">
            <a:off x="3015740" y="2352038"/>
            <a:ext cx="794260" cy="1076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C38CFA4-AF5F-A3C4-C71B-8DB8CBF04F2C}"/>
              </a:ext>
            </a:extLst>
          </p:cNvPr>
          <p:cNvCxnSpPr/>
          <p:nvPr/>
        </p:nvCxnSpPr>
        <p:spPr>
          <a:xfrm>
            <a:off x="3015740" y="4048760"/>
            <a:ext cx="794260" cy="894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E8F0163-167B-52D4-1DB2-5B8022A4EA60}"/>
              </a:ext>
            </a:extLst>
          </p:cNvPr>
          <p:cNvCxnSpPr>
            <a:endCxn id="5" idx="1"/>
          </p:cNvCxnSpPr>
          <p:nvPr/>
        </p:nvCxnSpPr>
        <p:spPr>
          <a:xfrm flipV="1">
            <a:off x="7396480" y="1427480"/>
            <a:ext cx="1302260" cy="3047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3208E88-D46E-E79A-CCA2-D2793C317F32}"/>
              </a:ext>
            </a:extLst>
          </p:cNvPr>
          <p:cNvCxnSpPr>
            <a:endCxn id="6" idx="1"/>
          </p:cNvCxnSpPr>
          <p:nvPr/>
        </p:nvCxnSpPr>
        <p:spPr>
          <a:xfrm>
            <a:off x="7396480" y="2352038"/>
            <a:ext cx="1302260" cy="314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645EF67-C577-F47C-E0D6-1ED568B391CD}"/>
              </a:ext>
            </a:extLst>
          </p:cNvPr>
          <p:cNvCxnSpPr>
            <a:endCxn id="7" idx="1"/>
          </p:cNvCxnSpPr>
          <p:nvPr/>
        </p:nvCxnSpPr>
        <p:spPr>
          <a:xfrm flipV="1">
            <a:off x="7396480" y="4632961"/>
            <a:ext cx="1302260" cy="309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9FC26B0-CD6A-1439-5142-1408FABE5FAF}"/>
              </a:ext>
            </a:extLst>
          </p:cNvPr>
          <p:cNvCxnSpPr>
            <a:endCxn id="8" idx="1"/>
          </p:cNvCxnSpPr>
          <p:nvPr/>
        </p:nvCxnSpPr>
        <p:spPr>
          <a:xfrm>
            <a:off x="7396480" y="5562601"/>
            <a:ext cx="1302260" cy="309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Slide Number Placeholder 21">
            <a:extLst>
              <a:ext uri="{FF2B5EF4-FFF2-40B4-BE49-F238E27FC236}">
                <a16:creationId xmlns:a16="http://schemas.microsoft.com/office/drawing/2014/main" id="{8A4C38A5-D5D1-4DD4-350F-01A553D0B142}"/>
              </a:ext>
            </a:extLst>
          </p:cNvPr>
          <p:cNvSpPr>
            <a:spLocks noGrp="1"/>
          </p:cNvSpPr>
          <p:nvPr>
            <p:ph type="sldNum" idx="12"/>
          </p:nvPr>
        </p:nvSpPr>
        <p:spPr/>
        <p:txBody>
          <a:bodyPr/>
          <a:lstStyle/>
          <a:p>
            <a:fld id="{00000000-1234-1234-1234-123412341234}" type="slidenum">
              <a:rPr lang="en-GB" smtClean="0"/>
              <a:pPr/>
              <a:t>5</a:t>
            </a:fld>
            <a:endParaRPr lang="en-GB" dirty="0"/>
          </a:p>
        </p:txBody>
      </p:sp>
      <p:pic>
        <p:nvPicPr>
          <p:cNvPr id="9" name="Camera 8">
            <a:extLst>
              <a:ext uri="{FF2B5EF4-FFF2-40B4-BE49-F238E27FC236}">
                <a16:creationId xmlns:a16="http://schemas.microsoft.com/office/drawing/2014/main" id="{99CC0AD2-597F-AC29-7DF1-D79AA42607F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4544820" y="2618740"/>
            <a:ext cx="2057400" cy="2057400"/>
          </a:xfrm>
          <a:prstGeom prst="ellipse">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2595285" y="441641"/>
            <a:ext cx="700143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Measuring central tendency</a:t>
            </a:r>
          </a:p>
        </p:txBody>
      </p:sp>
      <p:sp>
        <p:nvSpPr>
          <p:cNvPr id="158" name="Google Shape;158;p29"/>
          <p:cNvSpPr txBox="1">
            <a:spLocks noGrp="1"/>
          </p:cNvSpPr>
          <p:nvPr>
            <p:ph type="body" idx="1"/>
          </p:nvPr>
        </p:nvSpPr>
        <p:spPr>
          <a:xfrm>
            <a:off x="883440" y="1373565"/>
            <a:ext cx="10425120" cy="985662"/>
          </a:xfrm>
          <a:prstGeom prst="rect">
            <a:avLst/>
          </a:prstGeom>
        </p:spPr>
        <p:txBody>
          <a:bodyPr spcFirstLastPara="1" wrap="square" lIns="121900" tIns="121900" rIns="121900" bIns="121900" anchor="t" anchorCtr="0">
            <a:normAutofit lnSpcReduction="10000"/>
          </a:bodyPr>
          <a:lstStyle/>
          <a:p>
            <a:pPr marL="0" indent="0" algn="ctr">
              <a:buNone/>
            </a:pPr>
            <a:r>
              <a:rPr lang="en-GB" dirty="0">
                <a:latin typeface="Source Sans Pro" panose="020B0503030403020204" pitchFamily="34" charset="0"/>
                <a:ea typeface="Source Sans Pro" panose="020B0503030403020204" pitchFamily="34" charset="0"/>
              </a:rPr>
              <a:t>We often have the (very natural) question which is…</a:t>
            </a:r>
          </a:p>
          <a:p>
            <a:pPr marL="0" indent="0" algn="ctr">
              <a:buNone/>
            </a:pPr>
            <a:r>
              <a:rPr lang="en-GB" dirty="0">
                <a:latin typeface="Source Sans Pro" panose="020B0503030403020204" pitchFamily="34" charset="0"/>
                <a:ea typeface="Source Sans Pro" panose="020B0503030403020204" pitchFamily="34" charset="0"/>
              </a:rPr>
              <a:t>What’s a ‘typical’ (or average) value in the sample (or population)?</a:t>
            </a:r>
          </a:p>
        </p:txBody>
      </p:sp>
      <p:sp>
        <p:nvSpPr>
          <p:cNvPr id="2" name="Slide Number Placeholder 1">
            <a:extLst>
              <a:ext uri="{FF2B5EF4-FFF2-40B4-BE49-F238E27FC236}">
                <a16:creationId xmlns:a16="http://schemas.microsoft.com/office/drawing/2014/main" id="{6E9631EF-2CB5-2BF5-1243-3C8BA0C5422B}"/>
              </a:ext>
            </a:extLst>
          </p:cNvPr>
          <p:cNvSpPr>
            <a:spLocks noGrp="1"/>
          </p:cNvSpPr>
          <p:nvPr>
            <p:ph type="sldNum" idx="12"/>
          </p:nvPr>
        </p:nvSpPr>
        <p:spPr/>
        <p:txBody>
          <a:bodyPr/>
          <a:lstStyle/>
          <a:p>
            <a:fld id="{00000000-1234-1234-1234-123412341234}" type="slidenum">
              <a:rPr lang="en-GB" smtClean="0"/>
              <a:pPr/>
              <a:t>6</a:t>
            </a:fld>
            <a:endParaRPr lang="en-GB" dirty="0"/>
          </a:p>
        </p:txBody>
      </p:sp>
      <p:pic>
        <p:nvPicPr>
          <p:cNvPr id="5" name="Picture 4">
            <a:extLst>
              <a:ext uri="{FF2B5EF4-FFF2-40B4-BE49-F238E27FC236}">
                <a16:creationId xmlns:a16="http://schemas.microsoft.com/office/drawing/2014/main" id="{9CC3F3E3-DF8A-F783-33F9-412276D134AF}"/>
              </a:ext>
            </a:extLst>
          </p:cNvPr>
          <p:cNvPicPr>
            <a:picLocks noChangeAspect="1"/>
          </p:cNvPicPr>
          <p:nvPr/>
        </p:nvPicPr>
        <p:blipFill>
          <a:blip r:embed="rId3"/>
          <a:stretch>
            <a:fillRect/>
          </a:stretch>
        </p:blipFill>
        <p:spPr>
          <a:xfrm>
            <a:off x="802190" y="2618740"/>
            <a:ext cx="5829300" cy="3886200"/>
          </a:xfrm>
          <a:prstGeom prst="rect">
            <a:avLst/>
          </a:prstGeom>
        </p:spPr>
      </p:pic>
      <p:cxnSp>
        <p:nvCxnSpPr>
          <p:cNvPr id="7" name="Google Shape;304;p48">
            <a:extLst>
              <a:ext uri="{FF2B5EF4-FFF2-40B4-BE49-F238E27FC236}">
                <a16:creationId xmlns:a16="http://schemas.microsoft.com/office/drawing/2014/main" id="{B52291AA-89A1-D2EB-5585-FC3833DD373F}"/>
              </a:ext>
            </a:extLst>
          </p:cNvPr>
          <p:cNvCxnSpPr>
            <a:cxnSpLocks/>
          </p:cNvCxnSpPr>
          <p:nvPr/>
        </p:nvCxnSpPr>
        <p:spPr>
          <a:xfrm flipH="1" flipV="1">
            <a:off x="3566160" y="3129569"/>
            <a:ext cx="1371600" cy="487391"/>
          </a:xfrm>
          <a:prstGeom prst="straightConnector1">
            <a:avLst/>
          </a:prstGeom>
          <a:noFill/>
          <a:ln w="9525" cap="flat" cmpd="sng">
            <a:solidFill>
              <a:schemeClr val="dk2"/>
            </a:solidFill>
            <a:prstDash val="solid"/>
            <a:round/>
            <a:headEnd type="none" w="med" len="med"/>
            <a:tailEnd type="triangle" w="med" len="med"/>
          </a:ln>
        </p:spPr>
      </p:cxnSp>
      <p:sp>
        <p:nvSpPr>
          <p:cNvPr id="9" name="TextBox 8">
            <a:extLst>
              <a:ext uri="{FF2B5EF4-FFF2-40B4-BE49-F238E27FC236}">
                <a16:creationId xmlns:a16="http://schemas.microsoft.com/office/drawing/2014/main" id="{D015A2FD-A8CD-7CAB-1C0C-B3776B6E3CAA}"/>
              </a:ext>
            </a:extLst>
          </p:cNvPr>
          <p:cNvSpPr txBox="1"/>
          <p:nvPr/>
        </p:nvSpPr>
        <p:spPr>
          <a:xfrm>
            <a:off x="4836139" y="3466218"/>
            <a:ext cx="1584960" cy="646331"/>
          </a:xfrm>
          <a:prstGeom prst="rect">
            <a:avLst/>
          </a:prstGeom>
          <a:noFill/>
        </p:spPr>
        <p:txBody>
          <a:bodyPr wrap="square" rtlCol="0">
            <a:spAutoFit/>
          </a:bodyPr>
          <a:lstStyle/>
          <a:p>
            <a:pPr algn="ctr"/>
            <a:r>
              <a:rPr lang="en-GB" dirty="0">
                <a:latin typeface="Source Sans Pro" panose="020B0503030403020204" pitchFamily="34" charset="0"/>
                <a:ea typeface="Source Sans Pro" panose="020B0503030403020204" pitchFamily="34" charset="0"/>
              </a:rPr>
              <a:t>Somewhere here?</a:t>
            </a:r>
          </a:p>
        </p:txBody>
      </p:sp>
      <p:pic>
        <p:nvPicPr>
          <p:cNvPr id="3" name="Camera 2">
            <a:extLst>
              <a:ext uri="{FF2B5EF4-FFF2-40B4-BE49-F238E27FC236}">
                <a16:creationId xmlns:a16="http://schemas.microsoft.com/office/drawing/2014/main" id="{C6AE0B75-644A-D07F-F3A4-9543B20E9BA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7943009" y="3259725"/>
            <a:ext cx="2057400" cy="2057400"/>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731520" y="571918"/>
            <a:ext cx="275432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The mean</a:t>
            </a:r>
          </a:p>
        </p:txBody>
      </p:sp>
      <p:sp>
        <p:nvSpPr>
          <p:cNvPr id="168" name="Google Shape;168;p30"/>
          <p:cNvSpPr txBox="1"/>
          <p:nvPr/>
        </p:nvSpPr>
        <p:spPr>
          <a:xfrm>
            <a:off x="415600" y="6003043"/>
            <a:ext cx="3242000" cy="523180"/>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GB" b="1" i="1" kern="0" dirty="0">
                <a:solidFill>
                  <a:srgbClr val="2E2E30"/>
                </a:solidFill>
                <a:highlight>
                  <a:srgbClr val="FFFFFF"/>
                </a:highlight>
                <a:latin typeface="Source Sans Pro" panose="020B0503030403020204" pitchFamily="34" charset="0"/>
                <a:ea typeface="Source Sans Pro" panose="020B0503030403020204" pitchFamily="34" charset="0"/>
                <a:cs typeface="Arial"/>
                <a:sym typeface="Arial"/>
              </a:rPr>
              <a:t>Note: x̄ is pronounced “x bar”</a:t>
            </a:r>
            <a:endParaRPr lang="en-GB" b="1" i="1" kern="0" dirty="0">
              <a:solidFill>
                <a:srgbClr val="000000"/>
              </a:solidFill>
              <a:latin typeface="Source Sans Pro" panose="020B0503030403020204" pitchFamily="34" charset="0"/>
              <a:ea typeface="Source Sans Pro" panose="020B0503030403020204" pitchFamily="34" charset="0"/>
              <a:cs typeface="Arial"/>
              <a:sym typeface="Arial"/>
            </a:endParaRPr>
          </a:p>
        </p:txBody>
      </p:sp>
      <p:sp>
        <p:nvSpPr>
          <p:cNvPr id="2" name="Slide Number Placeholder 1">
            <a:extLst>
              <a:ext uri="{FF2B5EF4-FFF2-40B4-BE49-F238E27FC236}">
                <a16:creationId xmlns:a16="http://schemas.microsoft.com/office/drawing/2014/main" id="{4913382D-F8CC-F11F-93B2-34F230673896}"/>
              </a:ext>
            </a:extLst>
          </p:cNvPr>
          <p:cNvSpPr>
            <a:spLocks noGrp="1"/>
          </p:cNvSpPr>
          <p:nvPr>
            <p:ph type="sldNum" idx="12"/>
          </p:nvPr>
        </p:nvSpPr>
        <p:spPr/>
        <p:txBody>
          <a:bodyPr/>
          <a:lstStyle/>
          <a:p>
            <a:fld id="{00000000-1234-1234-1234-123412341234}" type="slidenum">
              <a:rPr lang="en-GB" smtClean="0"/>
              <a:pPr/>
              <a:t>7</a:t>
            </a:fld>
            <a:endParaRPr lang="en-GB" dirty="0"/>
          </a:p>
        </p:txBody>
      </p:sp>
      <mc:AlternateContent xmlns:mc="http://schemas.openxmlformats.org/markup-compatibility/2006" xmlns:a14="http://schemas.microsoft.com/office/drawing/2010/main">
        <mc:Choice Requires="a14">
          <p:sp>
            <p:nvSpPr>
              <p:cNvPr id="5" name="Google Shape;91;p19">
                <a:extLst>
                  <a:ext uri="{FF2B5EF4-FFF2-40B4-BE49-F238E27FC236}">
                    <a16:creationId xmlns:a16="http://schemas.microsoft.com/office/drawing/2014/main" id="{0A5E4307-92B6-D6F3-3B1B-936891F2B8B5}"/>
                  </a:ext>
                </a:extLst>
              </p:cNvPr>
              <p:cNvSpPr txBox="1">
                <a:spLocks noGrp="1"/>
              </p:cNvSpPr>
              <p:nvPr>
                <p:ph type="body" idx="1"/>
              </p:nvPr>
            </p:nvSpPr>
            <p:spPr>
              <a:xfrm>
                <a:off x="731520" y="1501554"/>
                <a:ext cx="10231120" cy="1085773"/>
              </a:xfrm>
              <a:prstGeom prst="rect">
                <a:avLst/>
              </a:prstGeom>
            </p:spPr>
            <p:txBody>
              <a:bodyPr spcFirstLastPara="1" wrap="square" lIns="121900" tIns="121900" rIns="121900" bIns="121900" anchor="t" anchorCtr="0">
                <a:noAutofit/>
              </a:bodyPr>
              <a:lstStyle/>
              <a:p>
                <a:pPr marL="0" indent="0">
                  <a:buNone/>
                </a:pPr>
                <a:r>
                  <a:rPr lang="en-GB" sz="2800" dirty="0">
                    <a:latin typeface="Source Sans Pro" panose="020B0503030403020204" pitchFamily="34" charset="0"/>
                    <a:ea typeface="Source Sans Pro" panose="020B0503030403020204" pitchFamily="34" charset="0"/>
                  </a:rPr>
                  <a:t>The sample mean of a numerical variable is the sum of the values of all ‘n’ observations (</a:t>
                </a:r>
                <a14:m>
                  <m:oMath xmlns:m="http://schemas.openxmlformats.org/officeDocument/2006/math">
                    <m:sSub>
                      <m:sSubPr>
                        <m:ctrlPr>
                          <a:rPr lang="en-GB" sz="2800" b="0" i="1" smtClean="0">
                            <a:latin typeface="Cambria Math" panose="02040503050406030204" pitchFamily="18" charset="0"/>
                            <a:ea typeface="Source Sans Pro" panose="020B0503030403020204" pitchFamily="34" charset="0"/>
                          </a:rPr>
                        </m:ctrlPr>
                      </m:sSubPr>
                      <m:e>
                        <m:r>
                          <a:rPr lang="en-GB" sz="2800" b="0" i="1" smtClean="0">
                            <a:latin typeface="Cambria Math" panose="02040503050406030204" pitchFamily="18" charset="0"/>
                            <a:ea typeface="Source Sans Pro" panose="020B0503030403020204" pitchFamily="34" charset="0"/>
                          </a:rPr>
                          <m:t>𝑥</m:t>
                        </m:r>
                      </m:e>
                      <m:sub>
                        <m:r>
                          <a:rPr lang="en-GB" sz="2800" b="0" i="1" smtClean="0">
                            <a:latin typeface="Cambria Math" panose="02040503050406030204" pitchFamily="18" charset="0"/>
                            <a:ea typeface="Source Sans Pro" panose="020B0503030403020204" pitchFamily="34" charset="0"/>
                          </a:rPr>
                          <m:t>1</m:t>
                        </m:r>
                      </m:sub>
                    </m:sSub>
                    <m:r>
                      <a:rPr lang="en-GB" sz="2800" b="0" i="1" smtClean="0">
                        <a:latin typeface="Cambria Math" panose="02040503050406030204" pitchFamily="18" charset="0"/>
                        <a:ea typeface="Source Sans Pro" panose="020B0503030403020204" pitchFamily="34" charset="0"/>
                      </a:rPr>
                      <m:t>, </m:t>
                    </m:r>
                    <m:sSub>
                      <m:sSubPr>
                        <m:ctrlPr>
                          <a:rPr lang="en-GB" sz="2800" b="0" i="1" smtClean="0">
                            <a:latin typeface="Cambria Math" panose="02040503050406030204" pitchFamily="18" charset="0"/>
                            <a:ea typeface="Source Sans Pro" panose="020B0503030403020204" pitchFamily="34" charset="0"/>
                          </a:rPr>
                        </m:ctrlPr>
                      </m:sSubPr>
                      <m:e>
                        <m:r>
                          <a:rPr lang="en-GB" sz="2800" b="0" i="1" smtClean="0">
                            <a:latin typeface="Cambria Math" panose="02040503050406030204" pitchFamily="18" charset="0"/>
                            <a:ea typeface="Source Sans Pro" panose="020B0503030403020204" pitchFamily="34" charset="0"/>
                          </a:rPr>
                          <m:t>𝑥</m:t>
                        </m:r>
                      </m:e>
                      <m:sub>
                        <m:r>
                          <a:rPr lang="en-GB" sz="2800" b="0" i="1" smtClean="0">
                            <a:latin typeface="Cambria Math" panose="02040503050406030204" pitchFamily="18" charset="0"/>
                            <a:ea typeface="Source Sans Pro" panose="020B0503030403020204" pitchFamily="34" charset="0"/>
                          </a:rPr>
                          <m:t>2</m:t>
                        </m:r>
                      </m:sub>
                    </m:sSub>
                    <m:r>
                      <a:rPr lang="en-GB" sz="2800" b="0" i="1" smtClean="0">
                        <a:latin typeface="Cambria Math" panose="02040503050406030204" pitchFamily="18" charset="0"/>
                        <a:ea typeface="Source Sans Pro" panose="020B0503030403020204" pitchFamily="34" charset="0"/>
                      </a:rPr>
                      <m:t>, … ,  </m:t>
                    </m:r>
                    <m:sSub>
                      <m:sSubPr>
                        <m:ctrlPr>
                          <a:rPr lang="en-GB" sz="2800" b="0" i="1" smtClean="0">
                            <a:latin typeface="Cambria Math" panose="02040503050406030204" pitchFamily="18" charset="0"/>
                            <a:ea typeface="Source Sans Pro" panose="020B0503030403020204" pitchFamily="34" charset="0"/>
                          </a:rPr>
                        </m:ctrlPr>
                      </m:sSubPr>
                      <m:e>
                        <m:r>
                          <a:rPr lang="en-GB" sz="2800" b="0" i="1" smtClean="0">
                            <a:latin typeface="Cambria Math" panose="02040503050406030204" pitchFamily="18" charset="0"/>
                            <a:ea typeface="Source Sans Pro" panose="020B0503030403020204" pitchFamily="34" charset="0"/>
                          </a:rPr>
                          <m:t>𝑥</m:t>
                        </m:r>
                      </m:e>
                      <m:sub>
                        <m:r>
                          <a:rPr lang="en-GB" sz="2800" b="0" i="1" smtClean="0">
                            <a:latin typeface="Cambria Math" panose="02040503050406030204" pitchFamily="18" charset="0"/>
                            <a:ea typeface="Source Sans Pro" panose="020B0503030403020204" pitchFamily="34" charset="0"/>
                          </a:rPr>
                          <m:t>𝑛</m:t>
                        </m:r>
                      </m:sub>
                    </m:sSub>
                    <m:r>
                      <a:rPr lang="en-GB" sz="2800" b="0" i="1" smtClean="0">
                        <a:latin typeface="Cambria Math" panose="02040503050406030204" pitchFamily="18" charset="0"/>
                        <a:ea typeface="Source Sans Pro" panose="020B0503030403020204" pitchFamily="34" charset="0"/>
                      </a:rPr>
                      <m:t>)</m:t>
                    </m:r>
                  </m:oMath>
                </a14:m>
                <a:r>
                  <a:rPr lang="en-GB" sz="2800" dirty="0">
                    <a:latin typeface="Source Sans Pro" panose="020B0503030403020204" pitchFamily="34" charset="0"/>
                    <a:ea typeface="Source Sans Pro" panose="020B0503030403020204" pitchFamily="34" charset="0"/>
                  </a:rPr>
                  <a:t> divided by the number of observations:</a:t>
                </a:r>
              </a:p>
            </p:txBody>
          </p:sp>
        </mc:Choice>
        <mc:Fallback xmlns="">
          <p:sp>
            <p:nvSpPr>
              <p:cNvPr id="5" name="Google Shape;91;p19">
                <a:extLst>
                  <a:ext uri="{FF2B5EF4-FFF2-40B4-BE49-F238E27FC236}">
                    <a16:creationId xmlns:a16="http://schemas.microsoft.com/office/drawing/2014/main" id="{0A5E4307-92B6-D6F3-3B1B-936891F2B8B5}"/>
                  </a:ext>
                </a:extLst>
              </p:cNvPr>
              <p:cNvSpPr txBox="1">
                <a:spLocks noGrp="1" noRot="1" noChangeAspect="1" noMove="1" noResize="1" noEditPoints="1" noAdjustHandles="1" noChangeArrowheads="1" noChangeShapeType="1" noTextEdit="1"/>
              </p:cNvSpPr>
              <p:nvPr>
                <p:ph type="body" idx="1"/>
              </p:nvPr>
            </p:nvSpPr>
            <p:spPr>
              <a:xfrm>
                <a:off x="731520" y="1501554"/>
                <a:ext cx="10231120" cy="1085773"/>
              </a:xfrm>
              <a:prstGeom prst="rect">
                <a:avLst/>
              </a:prstGeom>
              <a:blipFill>
                <a:blip r:embed="rId5"/>
                <a:stretch>
                  <a:fillRect l="-991" b="-6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809DBB-52D9-AB7C-D6DB-04BF8E0E7823}"/>
                  </a:ext>
                </a:extLst>
              </p:cNvPr>
              <p:cNvSpPr txBox="1"/>
              <p:nvPr/>
            </p:nvSpPr>
            <p:spPr>
              <a:xfrm>
                <a:off x="903280" y="3683000"/>
                <a:ext cx="7223760" cy="2973186"/>
              </a:xfrm>
              <a:prstGeom prst="rect">
                <a:avLst/>
              </a:prstGeom>
              <a:noFill/>
            </p:spPr>
            <p:txBody>
              <a:bodyPr wrap="square" lIns="0" tIns="0" rIns="0" bIns="0" rtlCol="0">
                <a:spAutoFit/>
              </a:bodyPr>
              <a:lstStyle/>
              <a:p>
                <a14:m>
                  <m:oMath xmlns:m="http://schemas.openxmlformats.org/officeDocument/2006/math">
                    <m:acc>
                      <m:accPr>
                        <m:chr m:val="̅"/>
                        <m:ctrlPr>
                          <a:rPr lang="en-GB" sz="5400" b="0" i="1" smtClean="0">
                            <a:latin typeface="Cambria Math" panose="02040503050406030204" pitchFamily="18" charset="0"/>
                          </a:rPr>
                        </m:ctrlPr>
                      </m:accPr>
                      <m:e>
                        <m:r>
                          <a:rPr lang="en-GB" sz="5400" b="0" i="1" smtClean="0">
                            <a:latin typeface="Cambria Math" panose="02040503050406030204" pitchFamily="18" charset="0"/>
                          </a:rPr>
                          <m:t>𝑥</m:t>
                        </m:r>
                      </m:e>
                    </m:acc>
                    <m:r>
                      <a:rPr lang="en-GB" sz="5400" b="0" i="1" smtClean="0">
                        <a:latin typeface="Cambria Math" panose="02040503050406030204" pitchFamily="18" charset="0"/>
                      </a:rPr>
                      <m:t>=</m:t>
                    </m:r>
                    <m:f>
                      <m:fPr>
                        <m:ctrlPr>
                          <a:rPr lang="en-GB" sz="5400" b="0" i="1" smtClean="0">
                            <a:latin typeface="Cambria Math" panose="02040503050406030204" pitchFamily="18" charset="0"/>
                          </a:rPr>
                        </m:ctrlPr>
                      </m:fPr>
                      <m:num>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𝑥</m:t>
                            </m:r>
                          </m:e>
                          <m:sub>
                            <m:r>
                              <a:rPr lang="en-GB" sz="5400" b="0" i="1" smtClean="0">
                                <a:latin typeface="Cambria Math" panose="02040503050406030204" pitchFamily="18" charset="0"/>
                              </a:rPr>
                              <m:t>1</m:t>
                            </m:r>
                          </m:sub>
                        </m:sSub>
                        <m:r>
                          <a:rPr lang="en-GB" sz="5400" b="0" i="1" smtClean="0">
                            <a:latin typeface="Cambria Math" panose="02040503050406030204" pitchFamily="18" charset="0"/>
                          </a:rPr>
                          <m:t>+</m:t>
                        </m:r>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𝑥</m:t>
                            </m:r>
                          </m:e>
                          <m:sub>
                            <m:r>
                              <a:rPr lang="en-GB" sz="5400" b="0" i="1" smtClean="0">
                                <a:latin typeface="Cambria Math" panose="02040503050406030204" pitchFamily="18" charset="0"/>
                              </a:rPr>
                              <m:t>2</m:t>
                            </m:r>
                          </m:sub>
                        </m:sSub>
                        <m:r>
                          <a:rPr lang="en-GB" sz="5400" b="0" i="1" smtClean="0">
                            <a:latin typeface="Cambria Math" panose="02040503050406030204" pitchFamily="18" charset="0"/>
                          </a:rPr>
                          <m:t>+…+</m:t>
                        </m:r>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𝑥</m:t>
                            </m:r>
                          </m:e>
                          <m:sub>
                            <m:r>
                              <a:rPr lang="en-GB" sz="5400" b="0" i="1" smtClean="0">
                                <a:latin typeface="Cambria Math" panose="02040503050406030204" pitchFamily="18" charset="0"/>
                              </a:rPr>
                              <m:t>𝑛</m:t>
                            </m:r>
                          </m:sub>
                        </m:sSub>
                      </m:num>
                      <m:den>
                        <m:r>
                          <a:rPr lang="en-GB" sz="5400" b="0" i="1" smtClean="0">
                            <a:latin typeface="Cambria Math" panose="02040503050406030204" pitchFamily="18" charset="0"/>
                          </a:rPr>
                          <m:t>𝑛</m:t>
                        </m:r>
                      </m:den>
                    </m:f>
                  </m:oMath>
                </a14:m>
                <a:r>
                  <a:rPr lang="en-GB" sz="5400" dirty="0"/>
                  <a:t> =</a:t>
                </a:r>
                <a14:m>
                  <m:oMath xmlns:m="http://schemas.openxmlformats.org/officeDocument/2006/math">
                    <m:f>
                      <m:fPr>
                        <m:ctrlPr>
                          <a:rPr lang="en-GB" sz="5400" b="0" i="1" dirty="0" smtClean="0">
                            <a:latin typeface="Cambria Math" panose="02040503050406030204" pitchFamily="18" charset="0"/>
                          </a:rPr>
                        </m:ctrlPr>
                      </m:fPr>
                      <m:num>
                        <m:nary>
                          <m:naryPr>
                            <m:chr m:val="∑"/>
                            <m:ctrlPr>
                              <a:rPr lang="en-GB" sz="5400" b="0" i="1" dirty="0" smtClean="0">
                                <a:latin typeface="Cambria Math" panose="02040503050406030204" pitchFamily="18" charset="0"/>
                              </a:rPr>
                            </m:ctrlPr>
                          </m:naryPr>
                          <m:sub>
                            <m:r>
                              <a:rPr lang="en-GB" sz="5400" b="0" i="1" dirty="0" smtClean="0">
                                <a:latin typeface="Cambria Math" panose="02040503050406030204" pitchFamily="18" charset="0"/>
                              </a:rPr>
                              <m:t>𝑖</m:t>
                            </m:r>
                            <m:r>
                              <a:rPr lang="en-GB" sz="5400" b="0" i="1" dirty="0" smtClean="0">
                                <a:latin typeface="Cambria Math" panose="02040503050406030204" pitchFamily="18" charset="0"/>
                              </a:rPr>
                              <m:t>=1</m:t>
                            </m:r>
                          </m:sub>
                          <m:sup>
                            <m:r>
                              <a:rPr lang="en-GB" sz="5400" b="0" i="1" dirty="0" smtClean="0">
                                <a:latin typeface="Cambria Math" panose="02040503050406030204" pitchFamily="18" charset="0"/>
                              </a:rPr>
                              <m:t>𝑛</m:t>
                            </m:r>
                          </m:sup>
                          <m:e>
                            <m:sSub>
                              <m:sSubPr>
                                <m:ctrlPr>
                                  <a:rPr lang="en-GB" sz="5400" b="0" i="1" dirty="0" smtClean="0">
                                    <a:latin typeface="Cambria Math" panose="02040503050406030204" pitchFamily="18" charset="0"/>
                                  </a:rPr>
                                </m:ctrlPr>
                              </m:sSubPr>
                              <m:e>
                                <m:r>
                                  <a:rPr lang="en-GB" sz="5400" b="0" i="1" dirty="0" smtClean="0">
                                    <a:latin typeface="Cambria Math" panose="02040503050406030204" pitchFamily="18" charset="0"/>
                                  </a:rPr>
                                  <m:t>𝑥</m:t>
                                </m:r>
                              </m:e>
                              <m:sub>
                                <m:r>
                                  <a:rPr lang="en-GB" sz="5400" b="0" i="1" dirty="0" smtClean="0">
                                    <a:latin typeface="Cambria Math" panose="02040503050406030204" pitchFamily="18" charset="0"/>
                                  </a:rPr>
                                  <m:t>𝑖</m:t>
                                </m:r>
                              </m:sub>
                            </m:sSub>
                          </m:e>
                        </m:nary>
                      </m:num>
                      <m:den>
                        <m:r>
                          <a:rPr lang="en-GB" sz="5400" b="0" i="1" dirty="0" smtClean="0">
                            <a:latin typeface="Cambria Math" panose="02040503050406030204" pitchFamily="18" charset="0"/>
                          </a:rPr>
                          <m:t>𝑛</m:t>
                        </m:r>
                      </m:den>
                    </m:f>
                  </m:oMath>
                </a14:m>
                <a:endParaRPr lang="en-GB" sz="5400" b="0" dirty="0"/>
              </a:p>
              <a:p>
                <a:endParaRPr lang="en-GB" sz="5400" b="0" dirty="0"/>
              </a:p>
              <a:p>
                <a:endParaRPr lang="en-GB" sz="5400" dirty="0"/>
              </a:p>
            </p:txBody>
          </p:sp>
        </mc:Choice>
        <mc:Fallback xmlns="">
          <p:sp>
            <p:nvSpPr>
              <p:cNvPr id="6" name="TextBox 5">
                <a:extLst>
                  <a:ext uri="{FF2B5EF4-FFF2-40B4-BE49-F238E27FC236}">
                    <a16:creationId xmlns:a16="http://schemas.microsoft.com/office/drawing/2014/main" id="{A5809DBB-52D9-AB7C-D6DB-04BF8E0E7823}"/>
                  </a:ext>
                </a:extLst>
              </p:cNvPr>
              <p:cNvSpPr txBox="1">
                <a:spLocks noRot="1" noChangeAspect="1" noMove="1" noResize="1" noEditPoints="1" noAdjustHandles="1" noChangeArrowheads="1" noChangeShapeType="1" noTextEdit="1"/>
              </p:cNvSpPr>
              <p:nvPr/>
            </p:nvSpPr>
            <p:spPr>
              <a:xfrm>
                <a:off x="903280" y="3683000"/>
                <a:ext cx="7223760" cy="2973186"/>
              </a:xfrm>
              <a:prstGeom prst="rect">
                <a:avLst/>
              </a:prstGeom>
              <a:blipFill>
                <a:blip r:embed="rId6"/>
                <a:stretch>
                  <a:fillRect l="-2285" t="-30932"/>
                </a:stretch>
              </a:blipFill>
            </p:spPr>
            <p:txBody>
              <a:bodyPr/>
              <a:lstStyle/>
              <a:p>
                <a:r>
                  <a:rPr lang="en-US">
                    <a:noFill/>
                  </a:rPr>
                  <a:t> </a:t>
                </a:r>
              </a:p>
            </p:txBody>
          </p:sp>
        </mc:Fallback>
      </mc:AlternateContent>
      <p:pic>
        <p:nvPicPr>
          <p:cNvPr id="3" name="Camera 2">
            <a:extLst>
              <a:ext uri="{FF2B5EF4-FFF2-40B4-BE49-F238E27FC236}">
                <a16:creationId xmlns:a16="http://schemas.microsoft.com/office/drawing/2014/main" id="{843951C3-325A-78D8-59F3-B879FD71C4C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7"/>
              </a:ext>
            </a:extLst>
          </a:blip>
          <a:stretch>
            <a:fillRect/>
          </a:stretch>
        </p:blipFill>
        <p:spPr>
          <a:xfrm>
            <a:off x="8683125" y="3266485"/>
            <a:ext cx="2057400" cy="2057400"/>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21193A11-7223-6628-8F1C-B17B95662A8E}"/>
            </a:ext>
          </a:extLst>
        </p:cNvPr>
        <p:cNvGrpSpPr/>
        <p:nvPr/>
      </p:nvGrpSpPr>
      <p:grpSpPr>
        <a:xfrm>
          <a:off x="0" y="0"/>
          <a:ext cx="0" cy="0"/>
          <a:chOff x="0" y="0"/>
          <a:chExt cx="0" cy="0"/>
        </a:xfrm>
      </p:grpSpPr>
      <p:sp>
        <p:nvSpPr>
          <p:cNvPr id="165" name="Google Shape;165;p30">
            <a:extLst>
              <a:ext uri="{FF2B5EF4-FFF2-40B4-BE49-F238E27FC236}">
                <a16:creationId xmlns:a16="http://schemas.microsoft.com/office/drawing/2014/main" id="{7D6B7ABD-13D0-3AF2-1549-898392C99D67}"/>
              </a:ext>
            </a:extLst>
          </p:cNvPr>
          <p:cNvSpPr txBox="1">
            <a:spLocks noGrp="1"/>
          </p:cNvSpPr>
          <p:nvPr>
            <p:ph type="title"/>
          </p:nvPr>
        </p:nvSpPr>
        <p:spPr>
          <a:xfrm>
            <a:off x="903280" y="597831"/>
            <a:ext cx="267812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The mean</a:t>
            </a:r>
          </a:p>
        </p:txBody>
      </p:sp>
      <p:sp>
        <p:nvSpPr>
          <p:cNvPr id="2" name="Slide Number Placeholder 1">
            <a:extLst>
              <a:ext uri="{FF2B5EF4-FFF2-40B4-BE49-F238E27FC236}">
                <a16:creationId xmlns:a16="http://schemas.microsoft.com/office/drawing/2014/main" id="{DA2108BF-AD55-D29B-3862-61AD19117D19}"/>
              </a:ext>
            </a:extLst>
          </p:cNvPr>
          <p:cNvSpPr>
            <a:spLocks noGrp="1"/>
          </p:cNvSpPr>
          <p:nvPr>
            <p:ph type="sldNum" idx="12"/>
          </p:nvPr>
        </p:nvSpPr>
        <p:spPr/>
        <p:txBody>
          <a:bodyPr/>
          <a:lstStyle/>
          <a:p>
            <a:fld id="{00000000-1234-1234-1234-123412341234}" type="slidenum">
              <a:rPr lang="en-GB" smtClean="0"/>
              <a:pPr/>
              <a:t>8</a:t>
            </a:fld>
            <a:endParaRPr lang="en-GB" dirty="0"/>
          </a:p>
        </p:txBody>
      </p:sp>
      <p:pic>
        <p:nvPicPr>
          <p:cNvPr id="7" name="Picture 6">
            <a:extLst>
              <a:ext uri="{FF2B5EF4-FFF2-40B4-BE49-F238E27FC236}">
                <a16:creationId xmlns:a16="http://schemas.microsoft.com/office/drawing/2014/main" id="{F43C313E-67F7-50B0-7016-5E48C8B7811A}"/>
              </a:ext>
            </a:extLst>
          </p:cNvPr>
          <p:cNvPicPr>
            <a:picLocks noChangeAspect="1"/>
          </p:cNvPicPr>
          <p:nvPr/>
        </p:nvPicPr>
        <p:blipFill>
          <a:blip r:embed="rId3"/>
          <a:stretch>
            <a:fillRect/>
          </a:stretch>
        </p:blipFill>
        <p:spPr>
          <a:xfrm>
            <a:off x="1051560" y="1717039"/>
            <a:ext cx="6507035" cy="4338023"/>
          </a:xfrm>
          <a:prstGeom prst="rect">
            <a:avLst/>
          </a:prstGeom>
        </p:spPr>
      </p:pic>
      <p:pic>
        <p:nvPicPr>
          <p:cNvPr id="3" name="Camera 2">
            <a:extLst>
              <a:ext uri="{FF2B5EF4-FFF2-40B4-BE49-F238E27FC236}">
                <a16:creationId xmlns:a16="http://schemas.microsoft.com/office/drawing/2014/main" id="{2CAF2688-7606-DA9B-F431-19FC999B32C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8663771" y="2528205"/>
            <a:ext cx="2057400" cy="2057400"/>
          </a:xfrm>
          <a:prstGeom prst="ellipse">
            <a:avLst/>
          </a:prstGeom>
        </p:spPr>
      </p:pic>
    </p:spTree>
    <p:extLst>
      <p:ext uri="{BB962C8B-B14F-4D97-AF65-F5344CB8AC3E}">
        <p14:creationId xmlns:p14="http://schemas.microsoft.com/office/powerpoint/2010/main" val="128116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p:nvPr>
        </p:nvSpPr>
        <p:spPr>
          <a:xfrm>
            <a:off x="689920" y="583207"/>
            <a:ext cx="2500320" cy="763600"/>
          </a:xfrm>
          <a:prstGeom prst="rect">
            <a:avLst/>
          </a:prstGeom>
        </p:spPr>
        <p:txBody>
          <a:bodyPr spcFirstLastPara="1" wrap="square" lIns="121900" tIns="121900" rIns="121900" bIns="121900" anchor="t" anchorCtr="0">
            <a:normAutofit fontScale="90000"/>
          </a:bodyPr>
          <a:lstStyle/>
          <a:p>
            <a:r>
              <a:rPr lang="en-GB" sz="3600" b="1" dirty="0">
                <a:latin typeface="Source Sans Pro" panose="020B0503030403020204" pitchFamily="34" charset="0"/>
                <a:ea typeface="Source Sans Pro" panose="020B0503030403020204" pitchFamily="34" charset="0"/>
              </a:rPr>
              <a:t>The median</a:t>
            </a:r>
          </a:p>
        </p:txBody>
      </p:sp>
      <p:sp>
        <p:nvSpPr>
          <p:cNvPr id="188" name="Google Shape;188;p33"/>
          <p:cNvSpPr txBox="1">
            <a:spLocks noGrp="1"/>
          </p:cNvSpPr>
          <p:nvPr>
            <p:ph type="body" idx="1"/>
          </p:nvPr>
        </p:nvSpPr>
        <p:spPr>
          <a:xfrm>
            <a:off x="689920" y="1465513"/>
            <a:ext cx="3892240" cy="596967"/>
          </a:xfrm>
          <a:prstGeom prst="rect">
            <a:avLst/>
          </a:prstGeom>
        </p:spPr>
        <p:txBody>
          <a:bodyPr spcFirstLastPara="1" wrap="square" lIns="121900" tIns="121900" rIns="121900" bIns="121900" anchor="t" anchorCtr="0">
            <a:normAutofit fontScale="62500" lnSpcReduction="20000"/>
          </a:bodyPr>
          <a:lstStyle/>
          <a:p>
            <a:pPr marL="0" indent="0">
              <a:buNone/>
            </a:pPr>
            <a:r>
              <a:rPr lang="en-GB" dirty="0">
                <a:latin typeface="Source Sans Pro" panose="020B0503030403020204" pitchFamily="34" charset="0"/>
                <a:ea typeface="Source Sans Pro" panose="020B0503030403020204" pitchFamily="34" charset="0"/>
              </a:rPr>
              <a:t>The value of the middle data point.</a:t>
            </a:r>
          </a:p>
          <a:p>
            <a:pPr indent="0">
              <a:spcBef>
                <a:spcPts val="1600"/>
              </a:spcBef>
              <a:spcAft>
                <a:spcPts val="1600"/>
              </a:spcAft>
              <a:buNone/>
            </a:pPr>
            <a:endParaRPr lang="en-GB" dirty="0">
              <a:latin typeface="Source Sans Pro" panose="020B0503030403020204" pitchFamily="34" charset="0"/>
              <a:ea typeface="Source Sans Pro" panose="020B0503030403020204" pitchFamily="34" charset="0"/>
            </a:endParaRPr>
          </a:p>
        </p:txBody>
      </p:sp>
      <p:sp>
        <p:nvSpPr>
          <p:cNvPr id="2" name="Slide Number Placeholder 1">
            <a:extLst>
              <a:ext uri="{FF2B5EF4-FFF2-40B4-BE49-F238E27FC236}">
                <a16:creationId xmlns:a16="http://schemas.microsoft.com/office/drawing/2014/main" id="{B87BB2C2-6BCA-6C78-C746-C2C5FE5BB1DE}"/>
              </a:ext>
            </a:extLst>
          </p:cNvPr>
          <p:cNvSpPr>
            <a:spLocks noGrp="1"/>
          </p:cNvSpPr>
          <p:nvPr>
            <p:ph type="sldNum" idx="12"/>
          </p:nvPr>
        </p:nvSpPr>
        <p:spPr/>
        <p:txBody>
          <a:bodyPr/>
          <a:lstStyle/>
          <a:p>
            <a:fld id="{00000000-1234-1234-1234-123412341234}" type="slidenum">
              <a:rPr lang="en-GB" smtClean="0"/>
              <a:pPr/>
              <a:t>9</a:t>
            </a:fld>
            <a:endParaRPr lang="en-GB" dirty="0"/>
          </a:p>
        </p:txBody>
      </p:sp>
      <p:pic>
        <p:nvPicPr>
          <p:cNvPr id="3" name="Picture 2" descr="Finding the Median: An Easy To Understand Guide">
            <a:extLst>
              <a:ext uri="{FF2B5EF4-FFF2-40B4-BE49-F238E27FC236}">
                <a16:creationId xmlns:a16="http://schemas.microsoft.com/office/drawing/2014/main" id="{43D56AB0-E979-85A1-793E-85A149402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190" y="2461340"/>
            <a:ext cx="5727700" cy="3200400"/>
          </a:xfrm>
          <a:prstGeom prst="rect">
            <a:avLst/>
          </a:prstGeom>
          <a:noFill/>
          <a:extLst>
            <a:ext uri="{909E8E84-426E-40DD-AFC4-6F175D3DCCD1}">
              <a14:hiddenFill xmlns:a14="http://schemas.microsoft.com/office/drawing/2010/main">
                <a:solidFill>
                  <a:srgbClr val="FFFFFF"/>
                </a:solidFill>
              </a14:hiddenFill>
            </a:ext>
          </a:extLst>
        </p:spPr>
      </p:pic>
      <p:pic>
        <p:nvPicPr>
          <p:cNvPr id="4" name="Camera 3">
            <a:extLst>
              <a:ext uri="{FF2B5EF4-FFF2-40B4-BE49-F238E27FC236}">
                <a16:creationId xmlns:a16="http://schemas.microsoft.com/office/drawing/2014/main" id="{D52F0C70-3107-39FE-A662-B33A12CC415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7943009" y="3259725"/>
            <a:ext cx="2057400" cy="2057400"/>
          </a:xfrm>
          <a:prstGeom prst="ellipse">
            <a:avLst/>
          </a:prstGeom>
        </p:spPr>
      </p:pic>
    </p:spTree>
    <p:extLst>
      <p:ext uri="{BB962C8B-B14F-4D97-AF65-F5344CB8AC3E}">
        <p14:creationId xmlns:p14="http://schemas.microsoft.com/office/powerpoint/2010/main" val="2649027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8635E9DC-57DC-65EC-C5B0-0BFDDC99A861}"/>
            </a:ext>
          </a:extLst>
        </p:cNvPr>
        <p:cNvGrpSpPr/>
        <p:nvPr/>
      </p:nvGrpSpPr>
      <p:grpSpPr>
        <a:xfrm>
          <a:off x="0" y="0"/>
          <a:ext cx="0" cy="0"/>
          <a:chOff x="0" y="0"/>
          <a:chExt cx="0" cy="0"/>
        </a:xfrm>
      </p:grpSpPr>
      <p:sp>
        <p:nvSpPr>
          <p:cNvPr id="187" name="Google Shape;187;p33">
            <a:extLst>
              <a:ext uri="{FF2B5EF4-FFF2-40B4-BE49-F238E27FC236}">
                <a16:creationId xmlns:a16="http://schemas.microsoft.com/office/drawing/2014/main" id="{8A9D6A04-E109-0A88-005A-E4E19EF8F883}"/>
              </a:ext>
            </a:extLst>
          </p:cNvPr>
          <p:cNvSpPr txBox="1">
            <a:spLocks noGrp="1"/>
          </p:cNvSpPr>
          <p:nvPr>
            <p:ph type="title"/>
          </p:nvPr>
        </p:nvSpPr>
        <p:spPr>
          <a:xfrm>
            <a:off x="689920" y="583207"/>
            <a:ext cx="2500320" cy="763600"/>
          </a:xfrm>
          <a:prstGeom prst="rect">
            <a:avLst/>
          </a:prstGeom>
        </p:spPr>
        <p:txBody>
          <a:bodyPr spcFirstLastPara="1" wrap="square" lIns="121900" tIns="121900" rIns="121900" bIns="121900" anchor="t" anchorCtr="0">
            <a:normAutofit fontScale="90000"/>
          </a:bodyPr>
          <a:lstStyle/>
          <a:p>
            <a:r>
              <a:rPr lang="en-GB" sz="3600" b="1" dirty="0">
                <a:latin typeface="Source Sans Pro" panose="020B0503030403020204" pitchFamily="34" charset="0"/>
                <a:ea typeface="Source Sans Pro" panose="020B0503030403020204" pitchFamily="34" charset="0"/>
              </a:rPr>
              <a:t>The median</a:t>
            </a:r>
          </a:p>
        </p:txBody>
      </p:sp>
      <p:sp>
        <p:nvSpPr>
          <p:cNvPr id="2" name="Slide Number Placeholder 1">
            <a:extLst>
              <a:ext uri="{FF2B5EF4-FFF2-40B4-BE49-F238E27FC236}">
                <a16:creationId xmlns:a16="http://schemas.microsoft.com/office/drawing/2014/main" id="{5D1E6967-8A8E-996E-6C88-1609A536597A}"/>
              </a:ext>
            </a:extLst>
          </p:cNvPr>
          <p:cNvSpPr>
            <a:spLocks noGrp="1"/>
          </p:cNvSpPr>
          <p:nvPr>
            <p:ph type="sldNum" idx="12"/>
          </p:nvPr>
        </p:nvSpPr>
        <p:spPr/>
        <p:txBody>
          <a:bodyPr/>
          <a:lstStyle/>
          <a:p>
            <a:fld id="{00000000-1234-1234-1234-123412341234}" type="slidenum">
              <a:rPr lang="en-GB" smtClean="0"/>
              <a:pPr/>
              <a:t>10</a:t>
            </a:fld>
            <a:endParaRPr lang="en-GB" dirty="0"/>
          </a:p>
        </p:txBody>
      </p:sp>
      <p:pic>
        <p:nvPicPr>
          <p:cNvPr id="7" name="Picture 6">
            <a:extLst>
              <a:ext uri="{FF2B5EF4-FFF2-40B4-BE49-F238E27FC236}">
                <a16:creationId xmlns:a16="http://schemas.microsoft.com/office/drawing/2014/main" id="{3A848720-7068-16AD-32E8-E3461CF8F142}"/>
              </a:ext>
            </a:extLst>
          </p:cNvPr>
          <p:cNvPicPr>
            <a:picLocks noChangeAspect="1"/>
          </p:cNvPicPr>
          <p:nvPr/>
        </p:nvPicPr>
        <p:blipFill>
          <a:blip r:embed="rId3"/>
          <a:stretch>
            <a:fillRect/>
          </a:stretch>
        </p:blipFill>
        <p:spPr>
          <a:xfrm>
            <a:off x="689920" y="1963346"/>
            <a:ext cx="6381415" cy="4254277"/>
          </a:xfrm>
          <a:prstGeom prst="rect">
            <a:avLst/>
          </a:prstGeom>
        </p:spPr>
      </p:pic>
      <p:pic>
        <p:nvPicPr>
          <p:cNvPr id="5" name="Camera 4">
            <a:extLst>
              <a:ext uri="{FF2B5EF4-FFF2-40B4-BE49-F238E27FC236}">
                <a16:creationId xmlns:a16="http://schemas.microsoft.com/office/drawing/2014/main" id="{EA45CD24-8E02-E28D-3DA7-544BC046F56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7943009" y="3259725"/>
            <a:ext cx="2057400" cy="2057400"/>
          </a:xfrm>
          <a:prstGeom prst="ellipse">
            <a:avLst/>
          </a:prstGeom>
        </p:spPr>
      </p:pic>
    </p:spTree>
    <p:extLst>
      <p:ext uri="{BB962C8B-B14F-4D97-AF65-F5344CB8AC3E}">
        <p14:creationId xmlns:p14="http://schemas.microsoft.com/office/powerpoint/2010/main" val="900112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5"/>
          <p:cNvSpPr txBox="1">
            <a:spLocks noGrp="1"/>
          </p:cNvSpPr>
          <p:nvPr>
            <p:ph type="title"/>
          </p:nvPr>
        </p:nvSpPr>
        <p:spPr>
          <a:xfrm>
            <a:off x="415600" y="593367"/>
            <a:ext cx="2176993" cy="763600"/>
          </a:xfrm>
          <a:prstGeom prst="rect">
            <a:avLst/>
          </a:prstGeom>
        </p:spPr>
        <p:txBody>
          <a:bodyPr spcFirstLastPara="1" wrap="square" lIns="121900" tIns="121900" rIns="121900" bIns="121900" anchor="t" anchorCtr="0">
            <a:normAutofit/>
          </a:bodyPr>
          <a:lstStyle/>
          <a:p>
            <a:r>
              <a:rPr lang="en-GB" sz="3200" b="1" dirty="0">
                <a:latin typeface="Source Sans Pro" panose="020B0503030403020204" pitchFamily="34" charset="0"/>
                <a:ea typeface="Source Sans Pro" panose="020B0503030403020204" pitchFamily="34" charset="0"/>
              </a:rPr>
              <a:t>The mode</a:t>
            </a:r>
          </a:p>
        </p:txBody>
      </p:sp>
      <p:sp>
        <p:nvSpPr>
          <p:cNvPr id="203" name="Google Shape;203;p35"/>
          <p:cNvSpPr txBox="1">
            <a:spLocks noGrp="1"/>
          </p:cNvSpPr>
          <p:nvPr>
            <p:ph type="body" idx="1"/>
          </p:nvPr>
        </p:nvSpPr>
        <p:spPr>
          <a:xfrm>
            <a:off x="415600" y="1356967"/>
            <a:ext cx="5890708" cy="696000"/>
          </a:xfrm>
          <a:prstGeom prst="rect">
            <a:avLst/>
          </a:prstGeom>
        </p:spPr>
        <p:txBody>
          <a:bodyPr spcFirstLastPara="1" wrap="square" lIns="121900" tIns="121900" rIns="121900" bIns="121900" anchor="t" anchorCtr="0">
            <a:noAutofit/>
          </a:bodyPr>
          <a:lstStyle/>
          <a:p>
            <a:pPr marL="0" indent="0">
              <a:spcAft>
                <a:spcPts val="1600"/>
              </a:spcAft>
              <a:buNone/>
            </a:pPr>
            <a:r>
              <a:rPr lang="en-GB" dirty="0">
                <a:latin typeface="Source Sans Pro" panose="020B0503030403020204" pitchFamily="34" charset="0"/>
                <a:ea typeface="Source Sans Pro" panose="020B0503030403020204" pitchFamily="34" charset="0"/>
              </a:rPr>
              <a:t>The most frequently occurring value.</a:t>
            </a:r>
          </a:p>
        </p:txBody>
      </p:sp>
      <p:sp>
        <p:nvSpPr>
          <p:cNvPr id="2" name="Slide Number Placeholder 1">
            <a:extLst>
              <a:ext uri="{FF2B5EF4-FFF2-40B4-BE49-F238E27FC236}">
                <a16:creationId xmlns:a16="http://schemas.microsoft.com/office/drawing/2014/main" id="{2BBCAA3E-51F0-F363-6D7D-A22C5773C1C3}"/>
              </a:ext>
            </a:extLst>
          </p:cNvPr>
          <p:cNvSpPr>
            <a:spLocks noGrp="1"/>
          </p:cNvSpPr>
          <p:nvPr>
            <p:ph type="sldNum" idx="12"/>
          </p:nvPr>
        </p:nvSpPr>
        <p:spPr/>
        <p:txBody>
          <a:bodyPr/>
          <a:lstStyle/>
          <a:p>
            <a:fld id="{00000000-1234-1234-1234-123412341234}" type="slidenum">
              <a:rPr lang="en-GB" smtClean="0"/>
              <a:pPr/>
              <a:t>11</a:t>
            </a:fld>
            <a:endParaRPr lang="en-GB" dirty="0"/>
          </a:p>
        </p:txBody>
      </p:sp>
      <p:pic>
        <p:nvPicPr>
          <p:cNvPr id="3" name="Picture 2">
            <a:extLst>
              <a:ext uri="{FF2B5EF4-FFF2-40B4-BE49-F238E27FC236}">
                <a16:creationId xmlns:a16="http://schemas.microsoft.com/office/drawing/2014/main" id="{20430778-52AC-BC01-0B5B-C95F9AF5D8D6}"/>
              </a:ext>
            </a:extLst>
          </p:cNvPr>
          <p:cNvPicPr>
            <a:picLocks noChangeAspect="1"/>
          </p:cNvPicPr>
          <p:nvPr/>
        </p:nvPicPr>
        <p:blipFill>
          <a:blip r:embed="rId3"/>
          <a:stretch>
            <a:fillRect/>
          </a:stretch>
        </p:blipFill>
        <p:spPr>
          <a:xfrm>
            <a:off x="961913" y="2412299"/>
            <a:ext cx="5890708" cy="3927139"/>
          </a:xfrm>
          <a:prstGeom prst="rect">
            <a:avLst/>
          </a:prstGeom>
        </p:spPr>
      </p:pic>
      <p:pic>
        <p:nvPicPr>
          <p:cNvPr id="4" name="Camera 3">
            <a:extLst>
              <a:ext uri="{FF2B5EF4-FFF2-40B4-BE49-F238E27FC236}">
                <a16:creationId xmlns:a16="http://schemas.microsoft.com/office/drawing/2014/main" id="{D241249B-9293-6F94-8BA4-0C4BEE3E1A9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7943009" y="3259725"/>
            <a:ext cx="2057400" cy="2057400"/>
          </a:xfrm>
          <a:prstGeom prst="ellipse">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title"/>
          </p:nvPr>
        </p:nvSpPr>
        <p:spPr>
          <a:xfrm>
            <a:off x="928192" y="933447"/>
            <a:ext cx="969410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Measuring the spread in the distribution</a:t>
            </a:r>
          </a:p>
        </p:txBody>
      </p:sp>
      <p:sp>
        <p:nvSpPr>
          <p:cNvPr id="221" name="Google Shape;221;p37"/>
          <p:cNvSpPr txBox="1">
            <a:spLocks noGrp="1"/>
          </p:cNvSpPr>
          <p:nvPr>
            <p:ph type="body" idx="1"/>
          </p:nvPr>
        </p:nvSpPr>
        <p:spPr>
          <a:xfrm>
            <a:off x="2323470" y="1945686"/>
            <a:ext cx="7545059" cy="873080"/>
          </a:xfrm>
          <a:prstGeom prst="rect">
            <a:avLst/>
          </a:prstGeom>
        </p:spPr>
        <p:txBody>
          <a:bodyPr spcFirstLastPara="1" wrap="square" lIns="121900" tIns="121900" rIns="121900" bIns="121900" anchor="t" anchorCtr="0">
            <a:normAutofit fontScale="62500" lnSpcReduction="20000"/>
          </a:bodyPr>
          <a:lstStyle/>
          <a:p>
            <a:r>
              <a:rPr lang="en-GB" dirty="0">
                <a:solidFill>
                  <a:schemeClr val="tx1"/>
                </a:solidFill>
                <a:latin typeface="Source Sans Pro" panose="020B0503030403020204" pitchFamily="34" charset="0"/>
                <a:ea typeface="Source Sans Pro" panose="020B0503030403020204" pitchFamily="34" charset="0"/>
              </a:rPr>
              <a:t>How similar or varied the values in the distribution are to each other</a:t>
            </a:r>
          </a:p>
          <a:p>
            <a:r>
              <a:rPr lang="en-GB" dirty="0">
                <a:solidFill>
                  <a:schemeClr val="tx1"/>
                </a:solidFill>
                <a:latin typeface="Source Sans Pro" panose="020B0503030403020204" pitchFamily="34" charset="0"/>
                <a:ea typeface="Source Sans Pro" panose="020B0503030403020204" pitchFamily="34" charset="0"/>
              </a:rPr>
              <a:t>Are the values tightly clustered, or spread over a wide range?</a:t>
            </a:r>
          </a:p>
        </p:txBody>
      </p:sp>
      <p:sp>
        <p:nvSpPr>
          <p:cNvPr id="2" name="Slide Number Placeholder 1">
            <a:extLst>
              <a:ext uri="{FF2B5EF4-FFF2-40B4-BE49-F238E27FC236}">
                <a16:creationId xmlns:a16="http://schemas.microsoft.com/office/drawing/2014/main" id="{1CC5211C-B489-74BA-42F1-6BD052EA7BE0}"/>
              </a:ext>
            </a:extLst>
          </p:cNvPr>
          <p:cNvSpPr>
            <a:spLocks noGrp="1"/>
          </p:cNvSpPr>
          <p:nvPr>
            <p:ph type="sldNum" idx="12"/>
          </p:nvPr>
        </p:nvSpPr>
        <p:spPr/>
        <p:txBody>
          <a:bodyPr/>
          <a:lstStyle/>
          <a:p>
            <a:fld id="{00000000-1234-1234-1234-123412341234}" type="slidenum">
              <a:rPr lang="en-GB" smtClean="0"/>
              <a:pPr/>
              <a:t>12</a:t>
            </a:fld>
            <a:endParaRPr lang="en-GB" dirty="0"/>
          </a:p>
        </p:txBody>
      </p:sp>
      <p:sp>
        <p:nvSpPr>
          <p:cNvPr id="3" name="Google Shape;226;p38">
            <a:extLst>
              <a:ext uri="{FF2B5EF4-FFF2-40B4-BE49-F238E27FC236}">
                <a16:creationId xmlns:a16="http://schemas.microsoft.com/office/drawing/2014/main" id="{70DAED92-775F-E70A-605B-E35D61D7B2FE}"/>
              </a:ext>
            </a:extLst>
          </p:cNvPr>
          <p:cNvSpPr txBox="1">
            <a:spLocks/>
          </p:cNvSpPr>
          <p:nvPr/>
        </p:nvSpPr>
        <p:spPr>
          <a:xfrm>
            <a:off x="659438" y="3067405"/>
            <a:ext cx="4199431" cy="1571803"/>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GB" i="1" kern="0" dirty="0">
                <a:latin typeface="Source Sans Pro" panose="020B0503030403020204" pitchFamily="34" charset="0"/>
                <a:ea typeface="Source Sans Pro" panose="020B0503030403020204" pitchFamily="34" charset="0"/>
              </a:rPr>
              <a:t>Standard deviation (SD)</a:t>
            </a:r>
          </a:p>
          <a:p>
            <a:pPr algn="ctr"/>
            <a:r>
              <a:rPr lang="en-GB" i="1" kern="0" dirty="0">
                <a:latin typeface="Source Sans Pro" panose="020B0503030403020204" pitchFamily="34" charset="0"/>
                <a:ea typeface="Source Sans Pro" panose="020B0503030403020204" pitchFamily="34" charset="0"/>
              </a:rPr>
              <a:t>and</a:t>
            </a:r>
          </a:p>
          <a:p>
            <a:pPr algn="ctr"/>
            <a:r>
              <a:rPr lang="en-GB" i="1" kern="0" dirty="0">
                <a:latin typeface="Source Sans Pro" panose="020B0503030403020204" pitchFamily="34" charset="0"/>
                <a:ea typeface="Source Sans Pro" panose="020B0503030403020204" pitchFamily="34" charset="0"/>
              </a:rPr>
              <a:t>Variance</a:t>
            </a:r>
          </a:p>
        </p:txBody>
      </p:sp>
      <p:sp>
        <p:nvSpPr>
          <p:cNvPr id="4" name="Google Shape;226;p38">
            <a:extLst>
              <a:ext uri="{FF2B5EF4-FFF2-40B4-BE49-F238E27FC236}">
                <a16:creationId xmlns:a16="http://schemas.microsoft.com/office/drawing/2014/main" id="{7CB3D648-8AB2-85BC-9A5B-D95A99FCF12D}"/>
              </a:ext>
            </a:extLst>
          </p:cNvPr>
          <p:cNvSpPr txBox="1">
            <a:spLocks/>
          </p:cNvSpPr>
          <p:nvPr/>
        </p:nvSpPr>
        <p:spPr>
          <a:xfrm>
            <a:off x="3675527" y="4639208"/>
            <a:ext cx="4199431" cy="1571803"/>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GB" i="1" kern="0" dirty="0">
                <a:latin typeface="Source Sans Pro" panose="020B0503030403020204" pitchFamily="34" charset="0"/>
                <a:ea typeface="Source Sans Pro" panose="020B0503030403020204" pitchFamily="34" charset="0"/>
              </a:rPr>
              <a:t>Range</a:t>
            </a:r>
          </a:p>
          <a:p>
            <a:pPr algn="ctr"/>
            <a:r>
              <a:rPr lang="en-GB" i="1" kern="0" dirty="0">
                <a:latin typeface="Source Sans Pro" panose="020B0503030403020204" pitchFamily="34" charset="0"/>
                <a:ea typeface="Source Sans Pro" panose="020B0503030403020204" pitchFamily="34" charset="0"/>
              </a:rPr>
              <a:t>and</a:t>
            </a:r>
          </a:p>
          <a:p>
            <a:pPr algn="ctr"/>
            <a:r>
              <a:rPr lang="en-GB" i="1" kern="0" dirty="0">
                <a:latin typeface="Source Sans Pro" panose="020B0503030403020204" pitchFamily="34" charset="0"/>
                <a:ea typeface="Source Sans Pro" panose="020B0503030403020204" pitchFamily="34" charset="0"/>
              </a:rPr>
              <a:t>Interquartile-range</a:t>
            </a:r>
          </a:p>
        </p:txBody>
      </p:sp>
      <p:pic>
        <p:nvPicPr>
          <p:cNvPr id="5" name="Camera 4">
            <a:extLst>
              <a:ext uri="{FF2B5EF4-FFF2-40B4-BE49-F238E27FC236}">
                <a16:creationId xmlns:a16="http://schemas.microsoft.com/office/drawing/2014/main" id="{8BF7D87A-D491-721A-9DC7-C426F991606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943009" y="3259725"/>
            <a:ext cx="2057400" cy="2057400"/>
          </a:xfrm>
          <a:prstGeom prst="ellipse">
            <a:avLst/>
          </a:prstGeom>
        </p:spPr>
      </p:pic>
    </p:spTree>
    <p:extLst>
      <p:ext uri="{BB962C8B-B14F-4D97-AF65-F5344CB8AC3E}">
        <p14:creationId xmlns:p14="http://schemas.microsoft.com/office/powerpoint/2010/main" val="3419048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8"/>
          <p:cNvSpPr txBox="1">
            <a:spLocks noGrp="1"/>
          </p:cNvSpPr>
          <p:nvPr>
            <p:ph type="title"/>
          </p:nvPr>
        </p:nvSpPr>
        <p:spPr>
          <a:xfrm>
            <a:off x="415600" y="593367"/>
            <a:ext cx="5930771"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p:sp>
        <p:nvSpPr>
          <p:cNvPr id="227" name="Google Shape;227;p38"/>
          <p:cNvSpPr txBox="1">
            <a:spLocks noGrp="1"/>
          </p:cNvSpPr>
          <p:nvPr>
            <p:ph type="body" idx="1"/>
          </p:nvPr>
        </p:nvSpPr>
        <p:spPr>
          <a:xfrm>
            <a:off x="415600" y="1536633"/>
            <a:ext cx="8674612" cy="1174294"/>
          </a:xfrm>
          <a:prstGeom prst="rect">
            <a:avLst/>
          </a:prstGeom>
        </p:spPr>
        <p:txBody>
          <a:bodyPr spcFirstLastPara="1" wrap="square" lIns="121900" tIns="121900" rIns="121900" bIns="121900" anchor="t" anchorCtr="0">
            <a:normAutofit fontScale="77500" lnSpcReduction="20000"/>
          </a:bodyPr>
          <a:lstStyle/>
          <a:p>
            <a:pPr marL="0" indent="0">
              <a:buNone/>
            </a:pPr>
            <a:r>
              <a:rPr lang="en-GB" dirty="0">
                <a:solidFill>
                  <a:schemeClr val="tx1"/>
                </a:solidFill>
                <a:latin typeface="Source Sans Pro" panose="020B0503030403020204" pitchFamily="34" charset="0"/>
                <a:ea typeface="Source Sans Pro" panose="020B0503030403020204" pitchFamily="34" charset="0"/>
              </a:rPr>
              <a:t>SD = the typical distance between an observation and the mean</a:t>
            </a:r>
          </a:p>
          <a:p>
            <a:pPr marL="0" indent="0">
              <a:spcBef>
                <a:spcPts val="1600"/>
              </a:spcBef>
              <a:buClr>
                <a:schemeClr val="dk1"/>
              </a:buClr>
              <a:buSzPts val="1100"/>
              <a:buNone/>
            </a:pPr>
            <a:r>
              <a:rPr lang="en-GB" dirty="0">
                <a:solidFill>
                  <a:schemeClr val="tx1"/>
                </a:solidFill>
                <a:latin typeface="Source Sans Pro" panose="020B0503030403020204" pitchFamily="34" charset="0"/>
                <a:ea typeface="Source Sans Pro" panose="020B0503030403020204" pitchFamily="34" charset="0"/>
              </a:rPr>
              <a:t>We calculate it in 3 steps. Let’s illustrate looking at a sample of Pulse data from NHANES</a:t>
            </a:r>
          </a:p>
          <a:p>
            <a:pPr marL="0" indent="0">
              <a:spcBef>
                <a:spcPts val="1600"/>
              </a:spcBef>
              <a:spcAft>
                <a:spcPts val="1600"/>
              </a:spcAft>
              <a:buNone/>
            </a:pPr>
            <a:endParaRPr lang="en-GB" dirty="0">
              <a:latin typeface="Source Sans Pro" panose="020B0503030403020204" pitchFamily="34" charset="0"/>
              <a:ea typeface="Source Sans Pro" panose="020B0503030403020204" pitchFamily="34" charset="0"/>
            </a:endParaRPr>
          </a:p>
        </p:txBody>
      </p:sp>
      <p:sp>
        <p:nvSpPr>
          <p:cNvPr id="2" name="Slide Number Placeholder 1">
            <a:extLst>
              <a:ext uri="{FF2B5EF4-FFF2-40B4-BE49-F238E27FC236}">
                <a16:creationId xmlns:a16="http://schemas.microsoft.com/office/drawing/2014/main" id="{38F452CF-1133-098E-4DF6-2A63A3059934}"/>
              </a:ext>
            </a:extLst>
          </p:cNvPr>
          <p:cNvSpPr>
            <a:spLocks noGrp="1"/>
          </p:cNvSpPr>
          <p:nvPr>
            <p:ph type="sldNum" idx="12"/>
          </p:nvPr>
        </p:nvSpPr>
        <p:spPr/>
        <p:txBody>
          <a:bodyPr/>
          <a:lstStyle/>
          <a:p>
            <a:fld id="{00000000-1234-1234-1234-123412341234}" type="slidenum">
              <a:rPr lang="en-GB" smtClean="0"/>
              <a:pPr/>
              <a:t>13</a:t>
            </a:fld>
            <a:endParaRPr lang="en-GB" dirty="0"/>
          </a:p>
        </p:txBody>
      </p:sp>
      <p:pic>
        <p:nvPicPr>
          <p:cNvPr id="3" name="Camera 2">
            <a:extLst>
              <a:ext uri="{FF2B5EF4-FFF2-40B4-BE49-F238E27FC236}">
                <a16:creationId xmlns:a16="http://schemas.microsoft.com/office/drawing/2014/main" id="{0EBD251A-5447-F417-B6ED-F371562F1D5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943009" y="3259725"/>
            <a:ext cx="2057400" cy="2057400"/>
          </a:xfrm>
          <a:prstGeom prst="ellipse">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39"/>
          <p:cNvSpPr txBox="1">
            <a:spLocks noGrp="1"/>
          </p:cNvSpPr>
          <p:nvPr>
            <p:ph type="body" idx="1"/>
          </p:nvPr>
        </p:nvSpPr>
        <p:spPr>
          <a:xfrm>
            <a:off x="415600" y="1536633"/>
            <a:ext cx="11360800" cy="5081881"/>
          </a:xfrm>
          <a:prstGeom prst="rect">
            <a:avLst/>
          </a:prstGeom>
        </p:spPr>
        <p:txBody>
          <a:bodyPr spcFirstLastPara="1" wrap="square" lIns="121900" tIns="121900" rIns="121900" bIns="121900" anchor="t" anchorCtr="0">
            <a:noAutofit/>
          </a:bodyPr>
          <a:lstStyle/>
          <a:p>
            <a:pPr marL="0" indent="0">
              <a:buNone/>
            </a:pPr>
            <a:r>
              <a:rPr lang="en-GB" dirty="0">
                <a:solidFill>
                  <a:schemeClr val="dk1"/>
                </a:solidFill>
                <a:latin typeface="Source Sans Pro" panose="020B0503030403020204" pitchFamily="34" charset="0"/>
                <a:ea typeface="Source Sans Pro" panose="020B0503030403020204" pitchFamily="34" charset="0"/>
              </a:rPr>
              <a:t>Sample data: </a:t>
            </a:r>
            <a:r>
              <a:rPr lang="en-GB" dirty="0">
                <a:solidFill>
                  <a:srgbClr val="FF0000"/>
                </a:solidFill>
                <a:latin typeface="Source Sans Pro" panose="020B0503030403020204" pitchFamily="34" charset="0"/>
                <a:ea typeface="Source Sans Pro" panose="020B0503030403020204" pitchFamily="34" charset="0"/>
              </a:rPr>
              <a:t>59</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1">
                    <a:lumMod val="75000"/>
                  </a:schemeClr>
                </a:solidFill>
                <a:latin typeface="Source Sans Pro" panose="020B0503030403020204" pitchFamily="34" charset="0"/>
                <a:ea typeface="Source Sans Pro" panose="020B0503030403020204" pitchFamily="34" charset="0"/>
              </a:rPr>
              <a:t>65</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4">
                    <a:lumMod val="75000"/>
                  </a:schemeClr>
                </a:solidFill>
                <a:latin typeface="Source Sans Pro" panose="020B0503030403020204" pitchFamily="34" charset="0"/>
                <a:ea typeface="Source Sans Pro" panose="020B0503030403020204" pitchFamily="34" charset="0"/>
              </a:rPr>
              <a:t>68</a:t>
            </a:r>
            <a:r>
              <a:rPr lang="en-GB" dirty="0">
                <a:solidFill>
                  <a:schemeClr val="dk1"/>
                </a:solidFill>
                <a:latin typeface="Source Sans Pro" panose="020B0503030403020204" pitchFamily="34" charset="0"/>
                <a:ea typeface="Source Sans Pro" panose="020B0503030403020204" pitchFamily="34" charset="0"/>
              </a:rPr>
              <a:t>    70    70    72    74    78    84    90   </a:t>
            </a:r>
            <a:r>
              <a:rPr lang="en-GB" dirty="0">
                <a:solidFill>
                  <a:srgbClr val="00B050"/>
                </a:solidFill>
                <a:latin typeface="Source Sans Pro" panose="020B0503030403020204" pitchFamily="34" charset="0"/>
                <a:ea typeface="Source Sans Pro" panose="020B0503030403020204" pitchFamily="34" charset="0"/>
              </a:rPr>
              <a:t>92</a:t>
            </a:r>
            <a:r>
              <a:rPr lang="en-GB" dirty="0">
                <a:latin typeface="Source Sans Pro" panose="020B0503030403020204" pitchFamily="34" charset="0"/>
                <a:ea typeface="Source Sans Pro" panose="020B0503030403020204" pitchFamily="34" charset="0"/>
              </a:rPr>
              <a:t>   </a:t>
            </a:r>
            <a:r>
              <a:rPr lang="en-GB" dirty="0">
                <a:solidFill>
                  <a:schemeClr val="dk1"/>
                </a:solidFill>
                <a:latin typeface="Source Sans Pro" panose="020B0503030403020204" pitchFamily="34" charset="0"/>
                <a:ea typeface="Source Sans Pro" panose="020B0503030403020204" pitchFamily="34" charset="0"/>
              </a:rPr>
              <a:t>Mean = 74.7</a:t>
            </a:r>
          </a:p>
          <a:p>
            <a:pPr marL="0" indent="0">
              <a:spcBef>
                <a:spcPts val="1600"/>
              </a:spcBef>
              <a:buNone/>
            </a:pPr>
            <a:r>
              <a:rPr lang="en-GB" b="1" dirty="0">
                <a:solidFill>
                  <a:schemeClr val="dk1"/>
                </a:solidFill>
                <a:latin typeface="Source Sans Pro" panose="020B0503030403020204" pitchFamily="34" charset="0"/>
                <a:ea typeface="Source Sans Pro" panose="020B0503030403020204" pitchFamily="34" charset="0"/>
              </a:rPr>
              <a:t>Step 1: Calculate deviations</a:t>
            </a:r>
          </a:p>
          <a:p>
            <a:pPr marL="0" indent="0">
              <a:spcBef>
                <a:spcPts val="1600"/>
              </a:spcBef>
              <a:buNone/>
            </a:pPr>
            <a:r>
              <a:rPr lang="en-GB" dirty="0">
                <a:solidFill>
                  <a:schemeClr val="dk1"/>
                </a:solidFill>
                <a:latin typeface="Source Sans Pro" panose="020B0503030403020204" pitchFamily="34" charset="0"/>
                <a:ea typeface="Source Sans Pro" panose="020B0503030403020204" pitchFamily="34" charset="0"/>
              </a:rPr>
              <a:t>Deviation = the distance of a single observation from the mean</a:t>
            </a:r>
          </a:p>
          <a:p>
            <a:pPr marL="0" indent="0">
              <a:spcBef>
                <a:spcPts val="1600"/>
              </a:spcBef>
              <a:buNone/>
            </a:pPr>
            <a:r>
              <a:rPr lang="en-GB" dirty="0">
                <a:solidFill>
                  <a:srgbClr val="FF0000"/>
                </a:solidFill>
                <a:latin typeface="Source Sans Pro" panose="020B0503030403020204" pitchFamily="34" charset="0"/>
                <a:ea typeface="Source Sans Pro" panose="020B0503030403020204" pitchFamily="34" charset="0"/>
              </a:rPr>
              <a:t>x</a:t>
            </a:r>
            <a:r>
              <a:rPr lang="en-GB" baseline="-25000" dirty="0">
                <a:solidFill>
                  <a:srgbClr val="FF0000"/>
                </a:solidFill>
                <a:latin typeface="Source Sans Pro" panose="020B0503030403020204" pitchFamily="34" charset="0"/>
                <a:ea typeface="Source Sans Pro" panose="020B0503030403020204" pitchFamily="34" charset="0"/>
              </a:rPr>
              <a:t>1</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rgbClr val="FF0000"/>
                </a:solidFill>
                <a:latin typeface="Source Sans Pro" panose="020B0503030403020204" pitchFamily="34" charset="0"/>
                <a:ea typeface="Source Sans Pro" panose="020B0503030403020204" pitchFamily="34" charset="0"/>
              </a:rPr>
              <a:t>59</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- 15.7</a:t>
            </a:r>
          </a:p>
          <a:p>
            <a:pPr marL="0" indent="0">
              <a:spcBef>
                <a:spcPts val="1600"/>
              </a:spcBef>
              <a:buNone/>
            </a:pPr>
            <a:r>
              <a:rPr lang="en-GB" dirty="0">
                <a:solidFill>
                  <a:schemeClr val="accent1">
                    <a:lumMod val="75000"/>
                  </a:schemeClr>
                </a:solidFill>
                <a:latin typeface="Source Sans Pro" panose="020B0503030403020204" pitchFamily="34" charset="0"/>
                <a:ea typeface="Source Sans Pro" panose="020B0503030403020204" pitchFamily="34" charset="0"/>
              </a:rPr>
              <a:t>x</a:t>
            </a:r>
            <a:r>
              <a:rPr lang="en-GB" baseline="-25000" dirty="0">
                <a:solidFill>
                  <a:schemeClr val="accent1">
                    <a:lumMod val="75000"/>
                  </a:schemeClr>
                </a:solidFill>
                <a:latin typeface="Source Sans Pro" panose="020B0503030403020204" pitchFamily="34" charset="0"/>
                <a:ea typeface="Source Sans Pro" panose="020B0503030403020204" pitchFamily="34" charset="0"/>
              </a:rPr>
              <a:t>2</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1">
                    <a:lumMod val="75000"/>
                  </a:schemeClr>
                </a:solidFill>
                <a:latin typeface="Source Sans Pro" panose="020B0503030403020204" pitchFamily="34" charset="0"/>
                <a:ea typeface="Source Sans Pro" panose="020B0503030403020204" pitchFamily="34" charset="0"/>
              </a:rPr>
              <a:t>65</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- 9.7</a:t>
            </a:r>
          </a:p>
          <a:p>
            <a:pPr marL="0" indent="0">
              <a:spcBef>
                <a:spcPts val="1600"/>
              </a:spcBef>
              <a:buNone/>
            </a:pPr>
            <a:r>
              <a:rPr lang="en-GB" dirty="0">
                <a:solidFill>
                  <a:schemeClr val="accent4">
                    <a:lumMod val="75000"/>
                  </a:schemeClr>
                </a:solidFill>
                <a:latin typeface="Source Sans Pro" panose="020B0503030403020204" pitchFamily="34" charset="0"/>
                <a:ea typeface="Source Sans Pro" panose="020B0503030403020204" pitchFamily="34" charset="0"/>
              </a:rPr>
              <a:t>x</a:t>
            </a:r>
            <a:r>
              <a:rPr lang="en-GB" baseline="-25000" dirty="0">
                <a:solidFill>
                  <a:schemeClr val="accent4">
                    <a:lumMod val="75000"/>
                  </a:schemeClr>
                </a:solidFill>
                <a:latin typeface="Source Sans Pro" panose="020B0503030403020204" pitchFamily="34" charset="0"/>
                <a:ea typeface="Source Sans Pro" panose="020B0503030403020204" pitchFamily="34" charset="0"/>
              </a:rPr>
              <a:t>3</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4">
                    <a:lumMod val="75000"/>
                  </a:schemeClr>
                </a:solidFill>
                <a:latin typeface="Source Sans Pro" panose="020B0503030403020204" pitchFamily="34" charset="0"/>
                <a:ea typeface="Source Sans Pro" panose="020B0503030403020204" pitchFamily="34" charset="0"/>
              </a:rPr>
              <a:t>68</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- 6.7</a:t>
            </a:r>
            <a:br>
              <a:rPr lang="en-GB" b="1" dirty="0">
                <a:solidFill>
                  <a:schemeClr val="dk1"/>
                </a:solidFill>
                <a:latin typeface="Source Sans Pro" panose="020B0503030403020204" pitchFamily="34" charset="0"/>
                <a:ea typeface="Source Sans Pro" panose="020B0503030403020204" pitchFamily="34" charset="0"/>
              </a:rPr>
            </a:br>
            <a:r>
              <a:rPr lang="en-GB" b="1" dirty="0">
                <a:solidFill>
                  <a:schemeClr val="dk1"/>
                </a:solidFill>
                <a:latin typeface="Source Sans Pro" panose="020B0503030403020204" pitchFamily="34" charset="0"/>
                <a:ea typeface="Source Sans Pro" panose="020B0503030403020204" pitchFamily="34" charset="0"/>
              </a:rPr>
              <a:t>...</a:t>
            </a:r>
            <a:endParaRPr lang="en-GB" dirty="0">
              <a:solidFill>
                <a:schemeClr val="tx1"/>
              </a:solidFill>
              <a:latin typeface="Source Sans Pro" panose="020B0503030403020204" pitchFamily="34" charset="0"/>
              <a:ea typeface="Source Sans Pro" panose="020B0503030403020204" pitchFamily="34" charset="0"/>
            </a:endParaRPr>
          </a:p>
          <a:p>
            <a:pPr marL="0" indent="0">
              <a:spcBef>
                <a:spcPts val="1600"/>
              </a:spcBef>
              <a:spcAft>
                <a:spcPts val="1600"/>
              </a:spcAft>
              <a:buClr>
                <a:schemeClr val="dk1"/>
              </a:buClr>
              <a:buSzPts val="1100"/>
              <a:buNone/>
            </a:pPr>
            <a:r>
              <a:rPr lang="en-GB" dirty="0">
                <a:solidFill>
                  <a:srgbClr val="00B050"/>
                </a:solidFill>
                <a:latin typeface="Source Sans Pro" panose="020B0503030403020204" pitchFamily="34" charset="0"/>
                <a:ea typeface="Source Sans Pro" panose="020B0503030403020204" pitchFamily="34" charset="0"/>
              </a:rPr>
              <a:t>x</a:t>
            </a:r>
            <a:r>
              <a:rPr lang="en-GB" baseline="-25000" dirty="0">
                <a:solidFill>
                  <a:srgbClr val="00B050"/>
                </a:solidFill>
                <a:latin typeface="Source Sans Pro" panose="020B0503030403020204" pitchFamily="34" charset="0"/>
                <a:ea typeface="Source Sans Pro" panose="020B0503030403020204" pitchFamily="34" charset="0"/>
              </a:rPr>
              <a:t>11</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rgbClr val="00B050"/>
                </a:solidFill>
                <a:latin typeface="Source Sans Pro" panose="020B0503030403020204" pitchFamily="34" charset="0"/>
                <a:ea typeface="Source Sans Pro" panose="020B0503030403020204" pitchFamily="34" charset="0"/>
              </a:rPr>
              <a:t>92</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17.3</a:t>
            </a:r>
          </a:p>
        </p:txBody>
      </p:sp>
      <p:sp>
        <p:nvSpPr>
          <p:cNvPr id="2" name="Slide Number Placeholder 1">
            <a:extLst>
              <a:ext uri="{FF2B5EF4-FFF2-40B4-BE49-F238E27FC236}">
                <a16:creationId xmlns:a16="http://schemas.microsoft.com/office/drawing/2014/main" id="{CE20A178-063E-FFFB-9D4C-416DB0D8D4CC}"/>
              </a:ext>
            </a:extLst>
          </p:cNvPr>
          <p:cNvSpPr>
            <a:spLocks noGrp="1"/>
          </p:cNvSpPr>
          <p:nvPr>
            <p:ph type="sldNum" idx="12"/>
          </p:nvPr>
        </p:nvSpPr>
        <p:spPr/>
        <p:txBody>
          <a:bodyPr/>
          <a:lstStyle/>
          <a:p>
            <a:fld id="{00000000-1234-1234-1234-123412341234}" type="slidenum">
              <a:rPr lang="en-GB" smtClean="0"/>
              <a:pPr/>
              <a:t>14</a:t>
            </a:fld>
            <a:endParaRPr lang="en-GB" dirty="0"/>
          </a:p>
        </p:txBody>
      </p:sp>
      <p:sp>
        <p:nvSpPr>
          <p:cNvPr id="5" name="Google Shape;226;p38">
            <a:extLst>
              <a:ext uri="{FF2B5EF4-FFF2-40B4-BE49-F238E27FC236}">
                <a16:creationId xmlns:a16="http://schemas.microsoft.com/office/drawing/2014/main" id="{BA1DDBC0-CE53-34A6-C89F-58FC7C2F0CE9}"/>
              </a:ext>
            </a:extLst>
          </p:cNvPr>
          <p:cNvSpPr txBox="1">
            <a:spLocks noGrp="1"/>
          </p:cNvSpPr>
          <p:nvPr>
            <p:ph type="title"/>
          </p:nvPr>
        </p:nvSpPr>
        <p:spPr>
          <a:xfrm>
            <a:off x="415600" y="593367"/>
            <a:ext cx="568040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p:pic>
        <p:nvPicPr>
          <p:cNvPr id="3" name="Camera 2">
            <a:extLst>
              <a:ext uri="{FF2B5EF4-FFF2-40B4-BE49-F238E27FC236}">
                <a16:creationId xmlns:a16="http://schemas.microsoft.com/office/drawing/2014/main" id="{966982CD-32A5-D764-0E54-2D951698A89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943009" y="3743819"/>
            <a:ext cx="2057400" cy="2057400"/>
          </a:xfrm>
          <a:prstGeom prst="ellipse">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0"/>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p:sp>
        <p:nvSpPr>
          <p:cNvPr id="239" name="Google Shape;239;p40"/>
          <p:cNvSpPr txBox="1">
            <a:spLocks noGrp="1"/>
          </p:cNvSpPr>
          <p:nvPr>
            <p:ph type="body" idx="1"/>
          </p:nvPr>
        </p:nvSpPr>
        <p:spPr>
          <a:xfrm>
            <a:off x="415600" y="2503833"/>
            <a:ext cx="5333200" cy="3588000"/>
          </a:xfrm>
          <a:prstGeom prst="rect">
            <a:avLst/>
          </a:prstGeom>
        </p:spPr>
        <p:txBody>
          <a:bodyPr spcFirstLastPara="1" wrap="square" lIns="121900" tIns="121900" rIns="121900" bIns="121900" anchor="t" anchorCtr="0">
            <a:normAutofit/>
          </a:bodyPr>
          <a:lstStyle/>
          <a:p>
            <a:pPr marL="0" indent="0">
              <a:buNone/>
            </a:pPr>
            <a:r>
              <a:rPr lang="en-GB" sz="2267" b="1" dirty="0">
                <a:solidFill>
                  <a:schemeClr val="bg2"/>
                </a:solidFill>
                <a:latin typeface="Source Sans Pro" panose="020B0503030403020204" pitchFamily="34" charset="0"/>
                <a:ea typeface="Source Sans Pro" panose="020B0503030403020204" pitchFamily="34" charset="0"/>
              </a:rPr>
              <a:t>Step 1: Calculate deviations</a:t>
            </a:r>
            <a:endParaRPr lang="en-GB" sz="2267" dirty="0">
              <a:solidFill>
                <a:schemeClr val="bg2"/>
              </a:solidFill>
              <a:latin typeface="Source Sans Pro" panose="020B0503030403020204" pitchFamily="34" charset="0"/>
              <a:ea typeface="Source Sans Pro" panose="020B0503030403020204" pitchFamily="34" charset="0"/>
            </a:endParaRP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1</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59 - 74.7 = </a:t>
            </a:r>
            <a:r>
              <a:rPr lang="en-GB" sz="2267" b="1" dirty="0">
                <a:solidFill>
                  <a:schemeClr val="bg2"/>
                </a:solidFill>
                <a:latin typeface="Source Sans Pro" panose="020B0503030403020204" pitchFamily="34" charset="0"/>
                <a:ea typeface="Source Sans Pro" panose="020B0503030403020204" pitchFamily="34" charset="0"/>
              </a:rPr>
              <a:t>- 15.7</a:t>
            </a: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2</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65 - 74.7 = </a:t>
            </a:r>
            <a:r>
              <a:rPr lang="en-GB" sz="2267" b="1" dirty="0">
                <a:solidFill>
                  <a:schemeClr val="bg2"/>
                </a:solidFill>
                <a:latin typeface="Source Sans Pro" panose="020B0503030403020204" pitchFamily="34" charset="0"/>
                <a:ea typeface="Source Sans Pro" panose="020B0503030403020204" pitchFamily="34" charset="0"/>
              </a:rPr>
              <a:t>- 9.7</a:t>
            </a: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3</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68 - 74.7 = </a:t>
            </a:r>
            <a:r>
              <a:rPr lang="en-GB" sz="2267" b="1" dirty="0">
                <a:solidFill>
                  <a:schemeClr val="bg2"/>
                </a:solidFill>
                <a:latin typeface="Source Sans Pro" panose="020B0503030403020204" pitchFamily="34" charset="0"/>
                <a:ea typeface="Source Sans Pro" panose="020B0503030403020204" pitchFamily="34" charset="0"/>
              </a:rPr>
              <a:t>- 6.7</a:t>
            </a:r>
          </a:p>
          <a:p>
            <a:pPr marL="0" indent="0">
              <a:spcBef>
                <a:spcPts val="1600"/>
              </a:spcBef>
              <a:buNone/>
            </a:pPr>
            <a:r>
              <a:rPr lang="en-GB" sz="2400" b="1" dirty="0">
                <a:solidFill>
                  <a:schemeClr val="dk1"/>
                </a:solidFill>
                <a:latin typeface="Source Sans Pro" panose="020B0503030403020204" pitchFamily="34" charset="0"/>
                <a:ea typeface="Source Sans Pro" panose="020B0503030403020204" pitchFamily="34" charset="0"/>
              </a:rPr>
              <a:t>...</a:t>
            </a:r>
            <a:endParaRPr lang="en-GB" sz="2267" b="1" dirty="0">
              <a:solidFill>
                <a:schemeClr val="bg2"/>
              </a:solidFill>
              <a:latin typeface="Source Sans Pro" panose="020B0503030403020204" pitchFamily="34" charset="0"/>
              <a:ea typeface="Source Sans Pro" panose="020B0503030403020204" pitchFamily="34" charset="0"/>
            </a:endParaRPr>
          </a:p>
          <a:p>
            <a:pPr marL="0" indent="0">
              <a:spcBef>
                <a:spcPts val="1600"/>
              </a:spcBef>
              <a:spcAft>
                <a:spcPts val="1600"/>
              </a:spcAft>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11</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92 - 74.7 = </a:t>
            </a:r>
            <a:r>
              <a:rPr lang="en-GB" sz="2267" b="1" dirty="0">
                <a:solidFill>
                  <a:schemeClr val="bg2"/>
                </a:solidFill>
                <a:latin typeface="Source Sans Pro" panose="020B0503030403020204" pitchFamily="34" charset="0"/>
                <a:ea typeface="Source Sans Pro" panose="020B0503030403020204" pitchFamily="34" charset="0"/>
              </a:rPr>
              <a:t>17.3</a:t>
            </a:r>
          </a:p>
        </p:txBody>
      </p:sp>
      <mc:AlternateContent xmlns:mc="http://schemas.openxmlformats.org/markup-compatibility/2006" xmlns:a14="http://schemas.microsoft.com/office/drawing/2010/main">
        <mc:Choice Requires="a14">
          <p:sp>
            <p:nvSpPr>
              <p:cNvPr id="240" name="Google Shape;240;p40"/>
              <p:cNvSpPr txBox="1">
                <a:spLocks noGrp="1"/>
              </p:cNvSpPr>
              <p:nvPr>
                <p:ph type="body" idx="2"/>
              </p:nvPr>
            </p:nvSpPr>
            <p:spPr>
              <a:xfrm>
                <a:off x="6443200" y="2503900"/>
                <a:ext cx="5333200" cy="3429200"/>
              </a:xfrm>
              <a:prstGeom prst="rect">
                <a:avLst/>
              </a:prstGeom>
            </p:spPr>
            <p:txBody>
              <a:bodyPr spcFirstLastPara="1" wrap="square" lIns="121900" tIns="121900" rIns="121900" bIns="121900" anchor="t" anchorCtr="0">
                <a:normAutofit/>
              </a:bodyPr>
              <a:lstStyle/>
              <a:p>
                <a:pPr marL="0" indent="0">
                  <a:buNone/>
                </a:pPr>
                <a:r>
                  <a:rPr lang="en-GB" sz="2267" b="1" dirty="0">
                    <a:solidFill>
                      <a:schemeClr val="dk1"/>
                    </a:solidFill>
                    <a:latin typeface="Source Sans Pro" panose="020B0503030403020204" pitchFamily="34" charset="0"/>
                    <a:ea typeface="Source Sans Pro" panose="020B0503030403020204" pitchFamily="34" charset="0"/>
                  </a:rPr>
                  <a:t>Step 2: Calculate variance</a:t>
                </a:r>
              </a:p>
              <a:p>
                <a:pPr marL="0" indent="0">
                  <a:spcBef>
                    <a:spcPts val="1600"/>
                  </a:spcBef>
                  <a:buNone/>
                </a:pPr>
                <a:r>
                  <a:rPr lang="en-GB" sz="2267" dirty="0">
                    <a:solidFill>
                      <a:schemeClr val="dk1"/>
                    </a:solidFill>
                    <a:latin typeface="Source Sans Pro" panose="020B0503030403020204" pitchFamily="34" charset="0"/>
                    <a:ea typeface="Source Sans Pro" panose="020B0503030403020204" pitchFamily="34" charset="0"/>
                  </a:rPr>
                  <a:t>Variance (s</a:t>
                </a:r>
                <a:r>
                  <a:rPr lang="en-GB" sz="2267" baseline="30000" dirty="0">
                    <a:solidFill>
                      <a:schemeClr val="dk1"/>
                    </a:solidFill>
                    <a:latin typeface="Source Sans Pro" panose="020B0503030403020204" pitchFamily="34" charset="0"/>
                    <a:ea typeface="Source Sans Pro" panose="020B0503030403020204" pitchFamily="34" charset="0"/>
                  </a:rPr>
                  <a:t>2</a:t>
                </a:r>
                <a:r>
                  <a:rPr lang="en-GB" sz="2267" dirty="0">
                    <a:solidFill>
                      <a:schemeClr val="dk1"/>
                    </a:solidFill>
                    <a:latin typeface="Source Sans Pro" panose="020B0503030403020204" pitchFamily="34" charset="0"/>
                    <a:ea typeface="Source Sans Pro" panose="020B0503030403020204" pitchFamily="34" charset="0"/>
                  </a:rPr>
                  <a:t>) is the average of squares of the deviations</a:t>
                </a:r>
              </a:p>
              <a:p>
                <a:pPr marL="0" indent="0">
                  <a:spcBef>
                    <a:spcPts val="1600"/>
                  </a:spcBef>
                  <a:buNone/>
                </a:pPr>
                <a:r>
                  <a:rPr lang="en-GB" sz="2400" dirty="0">
                    <a:solidFill>
                      <a:schemeClr val="tx1"/>
                    </a:solidFill>
                    <a:latin typeface="Source Sans Pro" panose="020B0503030403020204" pitchFamily="34" charset="0"/>
                    <a:ea typeface="Source Sans Pro" panose="020B0503030403020204" pitchFamily="34" charset="0"/>
                  </a:rPr>
                  <a:t>s</a:t>
                </a:r>
                <a:r>
                  <a:rPr lang="en-GB" sz="2400" baseline="30000" dirty="0">
                    <a:solidFill>
                      <a:schemeClr val="tx1"/>
                    </a:solidFill>
                    <a:latin typeface="Source Sans Pro" panose="020B0503030403020204" pitchFamily="34" charset="0"/>
                    <a:ea typeface="Source Sans Pro" panose="020B0503030403020204" pitchFamily="34" charset="0"/>
                  </a:rPr>
                  <a:t>2</a:t>
                </a:r>
                <a:r>
                  <a:rPr lang="en-GB" sz="2400" dirty="0">
                    <a:solidFill>
                      <a:schemeClr val="tx1"/>
                    </a:solidFill>
                    <a:latin typeface="Source Sans Pro" panose="020B0503030403020204" pitchFamily="34" charset="0"/>
                    <a:ea typeface="Source Sans Pro" panose="020B0503030403020204" pitchFamily="34" charset="0"/>
                  </a:rPr>
                  <a:t> = </a:t>
                </a:r>
                <a14:m>
                  <m:oMath xmlns:m="http://schemas.openxmlformats.org/officeDocument/2006/math">
                    <m:f>
                      <m:fPr>
                        <m:ctrlPr>
                          <a:rPr lang="en-GB" sz="2400" i="1" smtClean="0">
                            <a:solidFill>
                              <a:schemeClr val="tx1"/>
                            </a:solidFill>
                            <a:latin typeface="Cambria Math" panose="02040503050406030204" pitchFamily="18" charset="0"/>
                          </a:rPr>
                        </m:ctrlPr>
                      </m:fPr>
                      <m:num>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(−15.7)</m:t>
                            </m:r>
                          </m:e>
                          <m:sup>
                            <m:r>
                              <a:rPr lang="en-GB" sz="2400" i="1" smtClean="0">
                                <a:solidFill>
                                  <a:schemeClr val="tx1"/>
                                </a:solidFill>
                                <a:latin typeface="Cambria Math" panose="02040503050406030204" pitchFamily="18" charset="0"/>
                              </a:rPr>
                              <m:t>2</m:t>
                            </m:r>
                          </m:sup>
                        </m:sSup>
                        <m:r>
                          <a:rPr lang="en-GB" sz="2400" i="1" smtClean="0">
                            <a:solidFill>
                              <a:schemeClr val="tx1"/>
                            </a:solidFill>
                            <a:latin typeface="Cambria Math" panose="02040503050406030204" pitchFamily="18" charset="0"/>
                          </a:rPr>
                          <m:t>+</m:t>
                        </m:r>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(−9.7)</m:t>
                            </m:r>
                          </m:e>
                          <m:sup>
                            <m:r>
                              <a:rPr lang="en-GB" sz="2400" i="1" smtClean="0">
                                <a:solidFill>
                                  <a:schemeClr val="tx1"/>
                                </a:solidFill>
                                <a:latin typeface="Cambria Math" panose="02040503050406030204" pitchFamily="18" charset="0"/>
                              </a:rPr>
                              <m:t>2</m:t>
                            </m:r>
                          </m:sup>
                        </m:sSup>
                        <m:r>
                          <a:rPr lang="en-GB" sz="2400" i="1" smtClean="0">
                            <a:solidFill>
                              <a:schemeClr val="tx1"/>
                            </a:solidFill>
                            <a:latin typeface="Cambria Math" panose="02040503050406030204" pitchFamily="18" charset="0"/>
                          </a:rPr>
                          <m:t>+ </m:t>
                        </m:r>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(−6.7)</m:t>
                            </m:r>
                          </m:e>
                          <m:sup>
                            <m:r>
                              <a:rPr lang="en-GB" sz="2400" i="1" smtClean="0">
                                <a:solidFill>
                                  <a:schemeClr val="tx1"/>
                                </a:solidFill>
                                <a:latin typeface="Cambria Math" panose="02040503050406030204" pitchFamily="18" charset="0"/>
                              </a:rPr>
                              <m:t>2</m:t>
                            </m:r>
                          </m:sup>
                        </m:sSup>
                        <m:r>
                          <a:rPr lang="en-GB" sz="2400" i="1" smtClean="0">
                            <a:solidFill>
                              <a:schemeClr val="tx1"/>
                            </a:solidFill>
                            <a:latin typeface="Cambria Math" panose="02040503050406030204" pitchFamily="18" charset="0"/>
                          </a:rPr>
                          <m:t>+ …+ </m:t>
                        </m:r>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(17.3)</m:t>
                            </m:r>
                          </m:e>
                          <m:sup>
                            <m:r>
                              <a:rPr lang="en-GB" sz="2400" i="1" smtClean="0">
                                <a:solidFill>
                                  <a:schemeClr val="tx1"/>
                                </a:solidFill>
                                <a:latin typeface="Cambria Math" panose="02040503050406030204" pitchFamily="18" charset="0"/>
                              </a:rPr>
                              <m:t>2</m:t>
                            </m:r>
                          </m:sup>
                        </m:sSup>
                      </m:num>
                      <m:den>
                        <m:r>
                          <a:rPr lang="en-GB" sz="2400" i="1" smtClean="0">
                            <a:solidFill>
                              <a:schemeClr val="tx1"/>
                            </a:solidFill>
                            <a:latin typeface="Cambria Math" panose="02040503050406030204" pitchFamily="18" charset="0"/>
                          </a:rPr>
                          <m:t>11 −1</m:t>
                        </m:r>
                      </m:den>
                    </m:f>
                  </m:oMath>
                </a14:m>
                <a:endParaRPr lang="en-GB" sz="2400" dirty="0">
                  <a:solidFill>
                    <a:schemeClr val="tx1"/>
                  </a:solidFill>
                  <a:latin typeface="Source Sans Pro" panose="020B0503030403020204" pitchFamily="34" charset="0"/>
                  <a:ea typeface="Source Sans Pro" panose="020B0503030403020204" pitchFamily="34" charset="0"/>
                </a:endParaRPr>
              </a:p>
              <a:p>
                <a:pPr marL="0" indent="0">
                  <a:spcBef>
                    <a:spcPts val="1600"/>
                  </a:spcBef>
                  <a:buNone/>
                </a:pPr>
                <a:r>
                  <a:rPr lang="en-GB" sz="2267" dirty="0">
                    <a:solidFill>
                      <a:schemeClr val="dk1"/>
                    </a:solidFill>
                    <a:latin typeface="Source Sans Pro" panose="020B0503030403020204" pitchFamily="34" charset="0"/>
                    <a:ea typeface="Source Sans Pro" panose="020B0503030403020204" pitchFamily="34" charset="0"/>
                  </a:rPr>
                  <a:t>s</a:t>
                </a:r>
                <a:r>
                  <a:rPr lang="en-GB" sz="2267" baseline="30000" dirty="0">
                    <a:solidFill>
                      <a:schemeClr val="dk1"/>
                    </a:solidFill>
                    <a:latin typeface="Source Sans Pro" panose="020B0503030403020204" pitchFamily="34" charset="0"/>
                    <a:ea typeface="Source Sans Pro" panose="020B0503030403020204" pitchFamily="34" charset="0"/>
                  </a:rPr>
                  <a:t>2</a:t>
                </a:r>
                <a:r>
                  <a:rPr lang="en-GB" sz="2267" dirty="0">
                    <a:solidFill>
                      <a:schemeClr val="dk1"/>
                    </a:solidFill>
                    <a:latin typeface="Source Sans Pro" panose="020B0503030403020204" pitchFamily="34" charset="0"/>
                    <a:ea typeface="Source Sans Pro" panose="020B0503030403020204" pitchFamily="34" charset="0"/>
                  </a:rPr>
                  <a:t> = 106.8</a:t>
                </a:r>
              </a:p>
              <a:p>
                <a:pPr marL="0" indent="0">
                  <a:spcBef>
                    <a:spcPts val="1600"/>
                  </a:spcBef>
                  <a:spcAft>
                    <a:spcPts val="1600"/>
                  </a:spcAft>
                  <a:buNone/>
                </a:pPr>
                <a:endParaRPr lang="en-GB" sz="2267" dirty="0">
                  <a:solidFill>
                    <a:schemeClr val="dk1"/>
                  </a:solidFill>
                  <a:latin typeface="Source Sans Pro" panose="020B0503030403020204" pitchFamily="34" charset="0"/>
                  <a:ea typeface="Source Sans Pro" panose="020B0503030403020204" pitchFamily="34" charset="0"/>
                </a:endParaRPr>
              </a:p>
            </p:txBody>
          </p:sp>
        </mc:Choice>
        <mc:Fallback xmlns="">
          <p:sp>
            <p:nvSpPr>
              <p:cNvPr id="240" name="Google Shape;240;p40"/>
              <p:cNvSpPr txBox="1">
                <a:spLocks noGrp="1" noRot="1" noChangeAspect="1" noMove="1" noResize="1" noEditPoints="1" noAdjustHandles="1" noChangeArrowheads="1" noChangeShapeType="1" noTextEdit="1"/>
              </p:cNvSpPr>
              <p:nvPr>
                <p:ph type="body" idx="2"/>
              </p:nvPr>
            </p:nvSpPr>
            <p:spPr>
              <a:xfrm>
                <a:off x="6443200" y="2503900"/>
                <a:ext cx="5333200" cy="3429200"/>
              </a:xfrm>
              <a:prstGeom prst="rect">
                <a:avLst/>
              </a:prstGeom>
              <a:blipFill>
                <a:blip r:embed="rId5"/>
                <a:stretch>
                  <a:fillRect l="-118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0E77471-DDC8-CD48-9846-C0EAAAA1E0B3}"/>
              </a:ext>
            </a:extLst>
          </p:cNvPr>
          <p:cNvSpPr txBox="1"/>
          <p:nvPr/>
        </p:nvSpPr>
        <p:spPr>
          <a:xfrm>
            <a:off x="415601" y="1621971"/>
            <a:ext cx="11168743" cy="748988"/>
          </a:xfrm>
          <a:prstGeom prst="rect">
            <a:avLst/>
          </a:prstGeom>
          <a:noFill/>
        </p:spPr>
        <p:txBody>
          <a:bodyPr wrap="square" rtlCol="0">
            <a:spAutoFit/>
          </a:bodyPr>
          <a:lstStyle/>
          <a:p>
            <a:pPr defTabSz="1219170">
              <a:buClr>
                <a:srgbClr val="000000"/>
              </a:buClr>
            </a:pPr>
            <a:r>
              <a:rPr lang="en-GB" sz="2400" kern="0" dirty="0">
                <a:solidFill>
                  <a:srgbClr val="595959"/>
                </a:solidFill>
                <a:latin typeface="Source Sans Pro" panose="020B0503030403020204" pitchFamily="34" charset="0"/>
                <a:ea typeface="Source Sans Pro" panose="020B0503030403020204" pitchFamily="34" charset="0"/>
                <a:cs typeface="Arial"/>
                <a:sym typeface="Arial"/>
              </a:rPr>
              <a:t>Sample data: 59    65    68    70    70    72    74    78    84    90   92   Mean = 74.7</a:t>
            </a:r>
          </a:p>
          <a:p>
            <a:pPr defTabSz="1219170">
              <a:buClr>
                <a:srgbClr val="000000"/>
              </a:buClr>
            </a:pPr>
            <a:endParaRPr lang="en-GB" sz="1867" kern="0" dirty="0">
              <a:solidFill>
                <a:srgbClr val="000000"/>
              </a:solidFill>
              <a:latin typeface="Source Sans Pro" panose="020B0503030403020204" pitchFamily="34" charset="0"/>
              <a:ea typeface="Source Sans Pro" panose="020B0503030403020204" pitchFamily="34" charset="0"/>
              <a:cs typeface="Arial"/>
              <a:sym typeface="Arial"/>
            </a:endParaRPr>
          </a:p>
        </p:txBody>
      </p:sp>
      <p:sp>
        <p:nvSpPr>
          <p:cNvPr id="2" name="Slide Number Placeholder 1">
            <a:extLst>
              <a:ext uri="{FF2B5EF4-FFF2-40B4-BE49-F238E27FC236}">
                <a16:creationId xmlns:a16="http://schemas.microsoft.com/office/drawing/2014/main" id="{E6E0C998-8D83-8DC4-590A-9B6AB069C725}"/>
              </a:ext>
            </a:extLst>
          </p:cNvPr>
          <p:cNvSpPr>
            <a:spLocks noGrp="1"/>
          </p:cNvSpPr>
          <p:nvPr>
            <p:ph type="sldNum" idx="12"/>
          </p:nvPr>
        </p:nvSpPr>
        <p:spPr/>
        <p:txBody>
          <a:bodyPr/>
          <a:lstStyle/>
          <a:p>
            <a:fld id="{00000000-1234-1234-1234-123412341234}" type="slidenum">
              <a:rPr lang="en-GB" smtClean="0"/>
              <a:pPr/>
              <a:t>15</a:t>
            </a:fld>
            <a:endParaRPr lang="en-GB" dirty="0"/>
          </a:p>
        </p:txBody>
      </p:sp>
      <p:pic>
        <p:nvPicPr>
          <p:cNvPr id="4" name="Camera 3">
            <a:extLst>
              <a:ext uri="{FF2B5EF4-FFF2-40B4-BE49-F238E27FC236}">
                <a16:creationId xmlns:a16="http://schemas.microsoft.com/office/drawing/2014/main" id="{BC4DF68F-4443-40ED-5F6A-7727334D13E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4038600" y="3711546"/>
            <a:ext cx="2057400" cy="2057400"/>
          </a:xfrm>
          <a:prstGeom prst="ellipse">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0"/>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mc:AlternateContent xmlns:mc="http://schemas.openxmlformats.org/markup-compatibility/2006" xmlns:a14="http://schemas.microsoft.com/office/drawing/2010/main">
        <mc:Choice Requires="a14">
          <p:sp>
            <p:nvSpPr>
              <p:cNvPr id="239" name="Google Shape;239;p40"/>
              <p:cNvSpPr txBox="1">
                <a:spLocks noGrp="1"/>
              </p:cNvSpPr>
              <p:nvPr>
                <p:ph type="body" idx="1"/>
              </p:nvPr>
            </p:nvSpPr>
            <p:spPr>
              <a:xfrm>
                <a:off x="415601" y="1635000"/>
                <a:ext cx="5333200" cy="4629633"/>
              </a:xfrm>
              <a:prstGeom prst="rect">
                <a:avLst/>
              </a:prstGeom>
            </p:spPr>
            <p:txBody>
              <a:bodyPr spcFirstLastPara="1" wrap="square" lIns="121900" tIns="121900" rIns="121900" bIns="121900" anchor="t" anchorCtr="0">
                <a:normAutofit/>
              </a:bodyPr>
              <a:lstStyle/>
              <a:p>
                <a:pPr marL="0" indent="0">
                  <a:buNone/>
                </a:pPr>
                <a:r>
                  <a:rPr lang="en-GB" sz="2267" b="1" dirty="0">
                    <a:solidFill>
                      <a:schemeClr val="bg2"/>
                    </a:solidFill>
                    <a:latin typeface="Source Sans Pro" panose="020B0503030403020204" pitchFamily="34" charset="0"/>
                    <a:ea typeface="Source Sans Pro" panose="020B0503030403020204" pitchFamily="34" charset="0"/>
                  </a:rPr>
                  <a:t>Step 1: Calculate deviations</a:t>
                </a:r>
              </a:p>
              <a:p>
                <a:pPr marL="0" indent="0">
                  <a:buNone/>
                </a:pPr>
                <a:endParaRPr lang="en-GB" sz="2267" b="1" dirty="0">
                  <a:solidFill>
                    <a:schemeClr val="bg2"/>
                  </a:solidFill>
                  <a:latin typeface="Source Sans Pro" panose="020B0503030403020204" pitchFamily="34" charset="0"/>
                  <a:ea typeface="Source Sans Pro" panose="020B0503030403020204" pitchFamily="34" charset="0"/>
                </a:endParaRPr>
              </a:p>
              <a:p>
                <a:pPr marL="0" indent="0">
                  <a:buNone/>
                </a:pPr>
                <a:r>
                  <a:rPr lang="en-GB" sz="2267" b="1" dirty="0">
                    <a:solidFill>
                      <a:schemeClr val="bg2"/>
                    </a:solidFill>
                    <a:latin typeface="Source Sans Pro" panose="020B0503030403020204" pitchFamily="34" charset="0"/>
                    <a:ea typeface="Source Sans Pro" panose="020B0503030403020204" pitchFamily="34" charset="0"/>
                  </a:rPr>
                  <a:t>Step 2: Calculate variance</a:t>
                </a: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Variance (s</a:t>
                </a:r>
                <a:r>
                  <a:rPr lang="en-GB" sz="2267" baseline="30000" dirty="0">
                    <a:solidFill>
                      <a:schemeClr val="bg2"/>
                    </a:solidFill>
                    <a:latin typeface="Source Sans Pro" panose="020B0503030403020204" pitchFamily="34" charset="0"/>
                    <a:ea typeface="Source Sans Pro" panose="020B0503030403020204" pitchFamily="34" charset="0"/>
                  </a:rPr>
                  <a:t>2</a:t>
                </a:r>
                <a:r>
                  <a:rPr lang="en-GB" sz="2267" dirty="0">
                    <a:solidFill>
                      <a:schemeClr val="bg2"/>
                    </a:solidFill>
                    <a:latin typeface="Source Sans Pro" panose="020B0503030403020204" pitchFamily="34" charset="0"/>
                    <a:ea typeface="Source Sans Pro" panose="020B0503030403020204" pitchFamily="34" charset="0"/>
                  </a:rPr>
                  <a:t>) is the average of squares of the deviations</a:t>
                </a:r>
              </a:p>
              <a:p>
                <a:pPr marL="0" indent="0">
                  <a:spcBef>
                    <a:spcPts val="1600"/>
                  </a:spcBef>
                  <a:buNone/>
                </a:pPr>
                <a:r>
                  <a:rPr lang="en-GB" sz="2133" dirty="0">
                    <a:solidFill>
                      <a:schemeClr val="bg2"/>
                    </a:solidFill>
                    <a:latin typeface="Source Sans Pro" panose="020B0503030403020204" pitchFamily="34" charset="0"/>
                    <a:ea typeface="Source Sans Pro" panose="020B0503030403020204" pitchFamily="34" charset="0"/>
                  </a:rPr>
                  <a:t>s</a:t>
                </a:r>
                <a:r>
                  <a:rPr lang="en-GB" sz="2133" baseline="30000" dirty="0">
                    <a:solidFill>
                      <a:schemeClr val="bg2"/>
                    </a:solidFill>
                    <a:latin typeface="Source Sans Pro" panose="020B0503030403020204" pitchFamily="34" charset="0"/>
                    <a:ea typeface="Source Sans Pro" panose="020B0503030403020204" pitchFamily="34" charset="0"/>
                  </a:rPr>
                  <a:t>2</a:t>
                </a:r>
                <a:r>
                  <a:rPr lang="en-GB" sz="2133" dirty="0">
                    <a:solidFill>
                      <a:schemeClr val="bg2"/>
                    </a:solidFill>
                    <a:latin typeface="Source Sans Pro" panose="020B0503030403020204" pitchFamily="34" charset="0"/>
                    <a:ea typeface="Source Sans Pro" panose="020B0503030403020204" pitchFamily="34" charset="0"/>
                  </a:rPr>
                  <a:t> = </a:t>
                </a:r>
                <a14:m>
                  <m:oMath xmlns:m="http://schemas.openxmlformats.org/officeDocument/2006/math">
                    <m:f>
                      <m:fPr>
                        <m:ctrlPr>
                          <a:rPr lang="en-GB" sz="2133" i="1" smtClean="0">
                            <a:solidFill>
                              <a:schemeClr val="bg2"/>
                            </a:solidFill>
                            <a:latin typeface="Cambria Math" panose="02040503050406030204" pitchFamily="18" charset="0"/>
                          </a:rPr>
                        </m:ctrlPr>
                      </m:fPr>
                      <m:num>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(−15.7)</m:t>
                            </m:r>
                          </m:e>
                          <m:sup>
                            <m:r>
                              <a:rPr lang="en-GB" sz="2133" i="1" smtClean="0">
                                <a:solidFill>
                                  <a:schemeClr val="bg2"/>
                                </a:solidFill>
                                <a:latin typeface="Cambria Math" panose="02040503050406030204" pitchFamily="18" charset="0"/>
                              </a:rPr>
                              <m:t>2</m:t>
                            </m:r>
                          </m:sup>
                        </m:sSup>
                        <m:r>
                          <a:rPr lang="en-GB" sz="2133" i="1" smtClean="0">
                            <a:solidFill>
                              <a:schemeClr val="bg2"/>
                            </a:solidFill>
                            <a:latin typeface="Cambria Math" panose="02040503050406030204" pitchFamily="18" charset="0"/>
                          </a:rPr>
                          <m:t>+</m:t>
                        </m:r>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(−9.7)</m:t>
                            </m:r>
                          </m:e>
                          <m:sup>
                            <m:r>
                              <a:rPr lang="en-GB" sz="2133" i="1" smtClean="0">
                                <a:solidFill>
                                  <a:schemeClr val="bg2"/>
                                </a:solidFill>
                                <a:latin typeface="Cambria Math" panose="02040503050406030204" pitchFamily="18" charset="0"/>
                              </a:rPr>
                              <m:t>2</m:t>
                            </m:r>
                          </m:sup>
                        </m:sSup>
                        <m:r>
                          <a:rPr lang="en-GB" sz="2133" i="1" smtClean="0">
                            <a:solidFill>
                              <a:schemeClr val="bg2"/>
                            </a:solidFill>
                            <a:latin typeface="Cambria Math" panose="02040503050406030204" pitchFamily="18" charset="0"/>
                          </a:rPr>
                          <m:t>+ </m:t>
                        </m:r>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(−6.7)</m:t>
                            </m:r>
                          </m:e>
                          <m:sup>
                            <m:r>
                              <a:rPr lang="en-GB" sz="2133" i="1" smtClean="0">
                                <a:solidFill>
                                  <a:schemeClr val="bg2"/>
                                </a:solidFill>
                                <a:latin typeface="Cambria Math" panose="02040503050406030204" pitchFamily="18" charset="0"/>
                              </a:rPr>
                              <m:t>2</m:t>
                            </m:r>
                          </m:sup>
                        </m:sSup>
                        <m:r>
                          <a:rPr lang="en-GB" sz="2133" i="1" smtClean="0">
                            <a:solidFill>
                              <a:schemeClr val="bg2"/>
                            </a:solidFill>
                            <a:latin typeface="Cambria Math" panose="02040503050406030204" pitchFamily="18" charset="0"/>
                          </a:rPr>
                          <m:t>+ …+ </m:t>
                        </m:r>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(17.3)</m:t>
                            </m:r>
                          </m:e>
                          <m:sup>
                            <m:r>
                              <a:rPr lang="en-GB" sz="2133" i="1" smtClean="0">
                                <a:solidFill>
                                  <a:schemeClr val="bg2"/>
                                </a:solidFill>
                                <a:latin typeface="Cambria Math" panose="02040503050406030204" pitchFamily="18" charset="0"/>
                              </a:rPr>
                              <m:t>2</m:t>
                            </m:r>
                          </m:sup>
                        </m:sSup>
                      </m:num>
                      <m:den>
                        <m:r>
                          <a:rPr lang="en-GB" sz="2133" i="1" smtClean="0">
                            <a:solidFill>
                              <a:schemeClr val="bg2"/>
                            </a:solidFill>
                            <a:latin typeface="Cambria Math" panose="02040503050406030204" pitchFamily="18" charset="0"/>
                          </a:rPr>
                          <m:t>11 −1</m:t>
                        </m:r>
                      </m:den>
                    </m:f>
                  </m:oMath>
                </a14:m>
                <a:endParaRPr lang="en-GB" sz="2133" dirty="0">
                  <a:solidFill>
                    <a:schemeClr val="bg2"/>
                  </a:solidFill>
                  <a:latin typeface="Source Sans Pro" panose="020B0503030403020204" pitchFamily="34" charset="0"/>
                  <a:ea typeface="Source Sans Pro" panose="020B0503030403020204" pitchFamily="34" charset="0"/>
                </a:endParaRPr>
              </a:p>
              <a:p>
                <a:pPr marL="0" indent="0">
                  <a:spcBef>
                    <a:spcPts val="1600"/>
                  </a:spcBef>
                  <a:buNone/>
                </a:pPr>
                <a:r>
                  <a:rPr lang="en-GB" sz="2133" dirty="0">
                    <a:solidFill>
                      <a:schemeClr val="bg2"/>
                    </a:solidFill>
                    <a:latin typeface="Source Sans Pro" panose="020B0503030403020204" pitchFamily="34" charset="0"/>
                    <a:ea typeface="Source Sans Pro" panose="020B0503030403020204" pitchFamily="34" charset="0"/>
                  </a:rPr>
                  <a:t>s</a:t>
                </a:r>
                <a:r>
                  <a:rPr lang="en-GB" sz="2133" baseline="30000" dirty="0">
                    <a:solidFill>
                      <a:schemeClr val="bg2"/>
                    </a:solidFill>
                    <a:latin typeface="Source Sans Pro" panose="020B0503030403020204" pitchFamily="34" charset="0"/>
                    <a:ea typeface="Source Sans Pro" panose="020B0503030403020204" pitchFamily="34" charset="0"/>
                  </a:rPr>
                  <a:t>2</a:t>
                </a:r>
                <a:r>
                  <a:rPr lang="en-GB" sz="2133" dirty="0">
                    <a:solidFill>
                      <a:schemeClr val="bg2"/>
                    </a:solidFill>
                    <a:latin typeface="Source Sans Pro" panose="020B0503030403020204" pitchFamily="34" charset="0"/>
                    <a:ea typeface="Source Sans Pro" panose="020B0503030403020204" pitchFamily="34" charset="0"/>
                  </a:rPr>
                  <a:t> = 106.8</a:t>
                </a:r>
              </a:p>
              <a:p>
                <a:pPr marL="0" indent="0">
                  <a:buNone/>
                </a:pPr>
                <a:endParaRPr lang="en-GB" sz="2267" dirty="0">
                  <a:solidFill>
                    <a:schemeClr val="bg2"/>
                  </a:solidFill>
                  <a:latin typeface="Source Sans Pro" panose="020B0503030403020204" pitchFamily="34" charset="0"/>
                  <a:ea typeface="Source Sans Pro" panose="020B0503030403020204" pitchFamily="34" charset="0"/>
                </a:endParaRPr>
              </a:p>
            </p:txBody>
          </p:sp>
        </mc:Choice>
        <mc:Fallback xmlns="">
          <p:sp>
            <p:nvSpPr>
              <p:cNvPr id="239" name="Google Shape;239;p40"/>
              <p:cNvSpPr txBox="1">
                <a:spLocks noGrp="1" noRot="1" noChangeAspect="1" noMove="1" noResize="1" noEditPoints="1" noAdjustHandles="1" noChangeArrowheads="1" noChangeShapeType="1" noTextEdit="1"/>
              </p:cNvSpPr>
              <p:nvPr>
                <p:ph type="body" idx="1"/>
              </p:nvPr>
            </p:nvSpPr>
            <p:spPr>
              <a:xfrm>
                <a:off x="415601" y="1635000"/>
                <a:ext cx="5333200" cy="4629633"/>
              </a:xfrm>
              <a:prstGeom prst="rect">
                <a:avLst/>
              </a:prstGeom>
              <a:blipFill>
                <a:blip r:embed="rId5"/>
                <a:stretch>
                  <a:fillRect l="-9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0" name="Google Shape;240;p40"/>
              <p:cNvSpPr txBox="1">
                <a:spLocks noGrp="1"/>
              </p:cNvSpPr>
              <p:nvPr>
                <p:ph type="body" idx="2"/>
              </p:nvPr>
            </p:nvSpPr>
            <p:spPr>
              <a:xfrm>
                <a:off x="6443199" y="824188"/>
                <a:ext cx="5333200" cy="3429200"/>
              </a:xfrm>
              <a:prstGeom prst="rect">
                <a:avLst/>
              </a:prstGeom>
            </p:spPr>
            <p:txBody>
              <a:bodyPr spcFirstLastPara="1" wrap="square" lIns="121900" tIns="121900" rIns="121900" bIns="121900" anchor="t" anchorCtr="0">
                <a:normAutofit/>
              </a:bodyPr>
              <a:lstStyle/>
              <a:p>
                <a:pPr marL="0" indent="0">
                  <a:spcBef>
                    <a:spcPts val="1600"/>
                  </a:spcBef>
                  <a:spcAft>
                    <a:spcPts val="1600"/>
                  </a:spcAft>
                  <a:buNone/>
                </a:pPr>
                <a:r>
                  <a:rPr lang="en-GB" sz="2267" b="1" dirty="0">
                    <a:solidFill>
                      <a:schemeClr val="tx1"/>
                    </a:solidFill>
                    <a:latin typeface="Source Sans Pro" panose="020B0503030403020204" pitchFamily="34" charset="0"/>
                    <a:ea typeface="Source Sans Pro" panose="020B0503030403020204" pitchFamily="34" charset="0"/>
                  </a:rPr>
                  <a:t>Step 3: Take the square root of variance to obtain the standard deviation</a:t>
                </a:r>
              </a:p>
              <a:p>
                <a:pPr marL="0" indent="0">
                  <a:spcBef>
                    <a:spcPts val="1600"/>
                  </a:spcBef>
                  <a:spcAft>
                    <a:spcPts val="1600"/>
                  </a:spcAft>
                  <a:buNone/>
                </a:pPr>
                <a14:m>
                  <m:oMath xmlns:m="http://schemas.openxmlformats.org/officeDocument/2006/math">
                    <m:r>
                      <a:rPr lang="en-GB" sz="2400" i="1" smtClean="0">
                        <a:solidFill>
                          <a:schemeClr val="tx1"/>
                        </a:solidFill>
                        <a:latin typeface="Cambria Math" panose="02040503050406030204" pitchFamily="18" charset="0"/>
                      </a:rPr>
                      <m:t>𝑠</m:t>
                    </m:r>
                    <m:r>
                      <a:rPr lang="en-GB" sz="2400" i="1" smtClean="0">
                        <a:solidFill>
                          <a:schemeClr val="tx1"/>
                        </a:solidFill>
                        <a:latin typeface="Cambria Math" panose="02040503050406030204" pitchFamily="18" charset="0"/>
                      </a:rPr>
                      <m:t>= √</m:t>
                    </m:r>
                    <m:r>
                      <m:rPr>
                        <m:nor/>
                      </m:rPr>
                      <a:rPr lang="en-GB" sz="2400" i="0" dirty="0" smtClean="0">
                        <a:solidFill>
                          <a:schemeClr val="tx1"/>
                        </a:solidFill>
                        <a:latin typeface="Source Sans Pro" panose="020B0503030403020204" pitchFamily="34" charset="0"/>
                        <a:ea typeface="Source Sans Pro" panose="020B0503030403020204" pitchFamily="34" charset="0"/>
                      </a:rPr>
                      <m:t>106.8</m:t>
                    </m:r>
                  </m:oMath>
                </a14:m>
                <a:r>
                  <a:rPr lang="en-GB" sz="2400" dirty="0">
                    <a:solidFill>
                      <a:schemeClr val="tx1"/>
                    </a:solidFill>
                    <a:latin typeface="Source Sans Pro" panose="020B0503030403020204" pitchFamily="34" charset="0"/>
                    <a:ea typeface="Source Sans Pro" panose="020B0503030403020204" pitchFamily="34" charset="0"/>
                  </a:rPr>
                  <a:t> = 10.3</a:t>
                </a:r>
              </a:p>
              <a:p>
                <a:pPr marL="0" indent="0">
                  <a:spcBef>
                    <a:spcPts val="1600"/>
                  </a:spcBef>
                  <a:spcAft>
                    <a:spcPts val="1600"/>
                  </a:spcAft>
                  <a:buNone/>
                </a:pPr>
                <a:endParaRPr lang="en-GB" sz="2267" b="1" dirty="0">
                  <a:latin typeface="Source Sans Pro" panose="020B0503030403020204" pitchFamily="34" charset="0"/>
                  <a:ea typeface="Source Sans Pro" panose="020B0503030403020204" pitchFamily="34" charset="0"/>
                </a:endParaRPr>
              </a:p>
              <a:p>
                <a:pPr marL="0" indent="0">
                  <a:spcBef>
                    <a:spcPts val="1600"/>
                  </a:spcBef>
                  <a:spcAft>
                    <a:spcPts val="1600"/>
                  </a:spcAft>
                  <a:buNone/>
                </a:pPr>
                <a:endParaRPr lang="en-GB" sz="2267" dirty="0">
                  <a:solidFill>
                    <a:schemeClr val="dk1"/>
                  </a:solidFill>
                  <a:latin typeface="Source Sans Pro" panose="020B0503030403020204" pitchFamily="34" charset="0"/>
                  <a:ea typeface="Source Sans Pro" panose="020B0503030403020204" pitchFamily="34" charset="0"/>
                </a:endParaRPr>
              </a:p>
            </p:txBody>
          </p:sp>
        </mc:Choice>
        <mc:Fallback xmlns="">
          <p:sp>
            <p:nvSpPr>
              <p:cNvPr id="240" name="Google Shape;240;p40"/>
              <p:cNvSpPr txBox="1">
                <a:spLocks noGrp="1" noRot="1" noChangeAspect="1" noMove="1" noResize="1" noEditPoints="1" noAdjustHandles="1" noChangeArrowheads="1" noChangeShapeType="1" noTextEdit="1"/>
              </p:cNvSpPr>
              <p:nvPr>
                <p:ph type="body" idx="2"/>
              </p:nvPr>
            </p:nvSpPr>
            <p:spPr>
              <a:xfrm>
                <a:off x="6443199" y="824188"/>
                <a:ext cx="5333200" cy="3429200"/>
              </a:xfrm>
              <a:prstGeom prst="rect">
                <a:avLst/>
              </a:prstGeom>
              <a:blipFill>
                <a:blip r:embed="rId6"/>
                <a:stretch>
                  <a:fillRect l="-950" r="-118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6F0309F-ECA9-9FB4-4BFF-A63A8810AE5C}"/>
              </a:ext>
            </a:extLst>
          </p:cNvPr>
          <p:cNvSpPr>
            <a:spLocks noGrp="1"/>
          </p:cNvSpPr>
          <p:nvPr>
            <p:ph type="sldNum" idx="12"/>
          </p:nvPr>
        </p:nvSpPr>
        <p:spPr/>
        <p:txBody>
          <a:bodyPr/>
          <a:lstStyle/>
          <a:p>
            <a:fld id="{00000000-1234-1234-1234-123412341234}" type="slidenum">
              <a:rPr lang="en-GB" smtClean="0"/>
              <a:pPr/>
              <a:t>16</a:t>
            </a:fld>
            <a:endParaRPr lang="en-GB" dirty="0"/>
          </a:p>
        </p:txBody>
      </p:sp>
      <p:pic>
        <p:nvPicPr>
          <p:cNvPr id="3" name="Camera 2">
            <a:extLst>
              <a:ext uri="{FF2B5EF4-FFF2-40B4-BE49-F238E27FC236}">
                <a16:creationId xmlns:a16="http://schemas.microsoft.com/office/drawing/2014/main" id="{8A8093DB-435E-6A4C-AE13-830157190DB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7"/>
              </a:ext>
            </a:extLst>
          </a:blip>
          <a:stretch>
            <a:fillRect/>
          </a:stretch>
        </p:blipFill>
        <p:spPr>
          <a:xfrm>
            <a:off x="7932252" y="3550182"/>
            <a:ext cx="2057400" cy="2057400"/>
          </a:xfrm>
          <a:prstGeom prst="ellipse">
            <a:avLst/>
          </a:prstGeom>
        </p:spPr>
      </p:pic>
    </p:spTree>
    <p:extLst>
      <p:ext uri="{BB962C8B-B14F-4D97-AF65-F5344CB8AC3E}">
        <p14:creationId xmlns:p14="http://schemas.microsoft.com/office/powerpoint/2010/main" val="982721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97D01-D1D0-9E4D-AD8D-0B1F540DBF9F}"/>
              </a:ext>
            </a:extLst>
          </p:cNvPr>
          <p:cNvSpPr>
            <a:spLocks noGrp="1"/>
          </p:cNvSpPr>
          <p:nvPr>
            <p:ph type="title"/>
          </p:nvPr>
        </p:nvSpPr>
        <p:spPr>
          <a:xfrm>
            <a:off x="731520" y="593367"/>
            <a:ext cx="8989423"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Standard deviation (SD) generalisation</a:t>
            </a:r>
          </a:p>
        </p:txBody>
      </p:sp>
      <p:sp>
        <p:nvSpPr>
          <p:cNvPr id="2" name="Slide Number Placeholder 1">
            <a:extLst>
              <a:ext uri="{FF2B5EF4-FFF2-40B4-BE49-F238E27FC236}">
                <a16:creationId xmlns:a16="http://schemas.microsoft.com/office/drawing/2014/main" id="{290FE370-912A-1EFA-C2A6-72C27502C50B}"/>
              </a:ext>
            </a:extLst>
          </p:cNvPr>
          <p:cNvSpPr>
            <a:spLocks noGrp="1"/>
          </p:cNvSpPr>
          <p:nvPr>
            <p:ph type="sldNum" idx="12"/>
          </p:nvPr>
        </p:nvSpPr>
        <p:spPr/>
        <p:txBody>
          <a:bodyPr/>
          <a:lstStyle/>
          <a:p>
            <a:fld id="{00000000-1234-1234-1234-123412341234}" type="slidenum">
              <a:rPr lang="en-GB" smtClean="0"/>
              <a:pPr/>
              <a:t>17</a:t>
            </a:fld>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7F3C002-C889-B77A-31AB-F7452EDE4919}"/>
                  </a:ext>
                </a:extLst>
              </p:cNvPr>
              <p:cNvSpPr txBox="1"/>
              <p:nvPr/>
            </p:nvSpPr>
            <p:spPr>
              <a:xfrm>
                <a:off x="731520" y="4049958"/>
                <a:ext cx="6942478" cy="1703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𝑠</m:t>
                      </m:r>
                      <m:r>
                        <a:rPr lang="en-GB" sz="2800" b="0" i="1" smtClean="0">
                          <a:latin typeface="Cambria Math" panose="02040503050406030204" pitchFamily="18" charset="0"/>
                        </a:rPr>
                        <m:t>=</m:t>
                      </m:r>
                      <m:rad>
                        <m:radPr>
                          <m:degHide m:val="on"/>
                          <m:ctrlPr>
                            <a:rPr lang="en-GB" sz="2800" b="0" i="1" smtClean="0">
                              <a:latin typeface="Cambria Math" panose="02040503050406030204" pitchFamily="18" charset="0"/>
                            </a:rPr>
                          </m:ctrlPr>
                        </m:radPr>
                        <m:deg/>
                        <m:e>
                          <m:f>
                            <m:fPr>
                              <m:ctrlPr>
                                <a:rPr lang="en-GB" sz="2800" b="0" i="1" smtClean="0">
                                  <a:latin typeface="Cambria Math" panose="02040503050406030204" pitchFamily="18" charset="0"/>
                                </a:rPr>
                              </m:ctrlPr>
                            </m:fPr>
                            <m:num>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1</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2</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𝑛</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num>
                            <m:den>
                              <m:r>
                                <a:rPr lang="en-GB" sz="2800" b="0" i="1" smtClean="0">
                                  <a:latin typeface="Cambria Math" panose="02040503050406030204" pitchFamily="18" charset="0"/>
                                </a:rPr>
                                <m:t>𝑛</m:t>
                              </m:r>
                              <m:r>
                                <a:rPr lang="en-GB" sz="2800" b="0" i="1" smtClean="0">
                                  <a:latin typeface="Cambria Math" panose="02040503050406030204" pitchFamily="18" charset="0"/>
                                </a:rPr>
                                <m:t>−1</m:t>
                              </m:r>
                            </m:den>
                          </m:f>
                        </m:e>
                      </m:rad>
                    </m:oMath>
                  </m:oMathPara>
                </a14:m>
                <a:endParaRPr lang="en-GB" sz="2800" b="0" dirty="0"/>
              </a:p>
              <a:p>
                <a:endParaRPr lang="en-US" sz="2800" dirty="0"/>
              </a:p>
            </p:txBody>
          </p:sp>
        </mc:Choice>
        <mc:Fallback xmlns="">
          <p:sp>
            <p:nvSpPr>
              <p:cNvPr id="3" name="TextBox 2">
                <a:extLst>
                  <a:ext uri="{FF2B5EF4-FFF2-40B4-BE49-F238E27FC236}">
                    <a16:creationId xmlns:a16="http://schemas.microsoft.com/office/drawing/2014/main" id="{67F3C002-C889-B77A-31AB-F7452EDE4919}"/>
                  </a:ext>
                </a:extLst>
              </p:cNvPr>
              <p:cNvSpPr txBox="1">
                <a:spLocks noRot="1" noChangeAspect="1" noMove="1" noResize="1" noEditPoints="1" noAdjustHandles="1" noChangeArrowheads="1" noChangeShapeType="1" noTextEdit="1"/>
              </p:cNvSpPr>
              <p:nvPr/>
            </p:nvSpPr>
            <p:spPr>
              <a:xfrm>
                <a:off x="731520" y="4049958"/>
                <a:ext cx="6942478" cy="1703928"/>
              </a:xfrm>
              <a:prstGeom prst="rect">
                <a:avLst/>
              </a:prstGeom>
              <a:blipFill>
                <a:blip r:embed="rId4"/>
                <a:stretch>
                  <a:fillRect/>
                </a:stretch>
              </a:blipFill>
            </p:spPr>
            <p:txBody>
              <a:bodyPr/>
              <a:lstStyle/>
              <a:p>
                <a:r>
                  <a:rPr lang="en-US">
                    <a:noFill/>
                  </a:rPr>
                  <a:t> </a:t>
                </a:r>
              </a:p>
            </p:txBody>
          </p:sp>
        </mc:Fallback>
      </mc:AlternateContent>
      <p:sp>
        <p:nvSpPr>
          <p:cNvPr id="4" name="Google Shape;91;p19">
            <a:extLst>
              <a:ext uri="{FF2B5EF4-FFF2-40B4-BE49-F238E27FC236}">
                <a16:creationId xmlns:a16="http://schemas.microsoft.com/office/drawing/2014/main" id="{D7E314FD-0852-0BDD-6DFF-26B8FFBDB64A}"/>
              </a:ext>
            </a:extLst>
          </p:cNvPr>
          <p:cNvSpPr txBox="1">
            <a:spLocks noGrp="1"/>
          </p:cNvSpPr>
          <p:nvPr>
            <p:ph type="body" idx="1"/>
          </p:nvPr>
        </p:nvSpPr>
        <p:spPr>
          <a:xfrm>
            <a:off x="731520" y="1304682"/>
            <a:ext cx="10231120" cy="1628921"/>
          </a:xfrm>
          <a:prstGeom prst="rect">
            <a:avLst/>
          </a:prstGeom>
        </p:spPr>
        <p:txBody>
          <a:bodyPr spcFirstLastPara="1" wrap="square" lIns="121900" tIns="121900" rIns="121900" bIns="121900" anchor="t" anchorCtr="0">
            <a:noAutofit/>
          </a:bodyPr>
          <a:lstStyle/>
          <a:p>
            <a:pPr marL="0" indent="0">
              <a:buNone/>
            </a:pPr>
            <a:r>
              <a:rPr lang="en-GB" sz="2800" dirty="0">
                <a:latin typeface="Source Sans Pro" panose="020B0503030403020204" pitchFamily="34" charset="0"/>
                <a:ea typeface="Source Sans Pro" panose="020B0503030403020204" pitchFamily="34" charset="0"/>
              </a:rPr>
              <a:t>The sample standard deviation of a numerical variable is computed as the square root of the variance, which is the sum of the squared deviations divided by the number of observations – 1.</a:t>
            </a:r>
          </a:p>
        </p:txBody>
      </p:sp>
      <p:pic>
        <p:nvPicPr>
          <p:cNvPr id="6" name="Camera 5">
            <a:extLst>
              <a:ext uri="{FF2B5EF4-FFF2-40B4-BE49-F238E27FC236}">
                <a16:creationId xmlns:a16="http://schemas.microsoft.com/office/drawing/2014/main" id="{1CFEDD45-F18F-10A5-F96F-C5A13146F75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8566953" y="3511758"/>
            <a:ext cx="2057400" cy="2057400"/>
          </a:xfrm>
          <a:prstGeom prst="ellipse">
            <a:avLst/>
          </a:prstGeom>
        </p:spPr>
      </p:pic>
    </p:spTree>
    <p:extLst>
      <p:ext uri="{BB962C8B-B14F-4D97-AF65-F5344CB8AC3E}">
        <p14:creationId xmlns:p14="http://schemas.microsoft.com/office/powerpoint/2010/main" val="990488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ABD88-387D-5F3E-3F2F-59C5B58464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CFB971-D1E9-7F36-67FF-91820E4BA91B}"/>
              </a:ext>
            </a:extLst>
          </p:cNvPr>
          <p:cNvSpPr>
            <a:spLocks noGrp="1"/>
          </p:cNvSpPr>
          <p:nvPr>
            <p:ph type="title"/>
          </p:nvPr>
        </p:nvSpPr>
        <p:spPr>
          <a:xfrm>
            <a:off x="731520" y="593367"/>
            <a:ext cx="6372475"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Why n-1?</a:t>
            </a:r>
          </a:p>
        </p:txBody>
      </p:sp>
      <p:sp>
        <p:nvSpPr>
          <p:cNvPr id="2" name="Slide Number Placeholder 1">
            <a:extLst>
              <a:ext uri="{FF2B5EF4-FFF2-40B4-BE49-F238E27FC236}">
                <a16:creationId xmlns:a16="http://schemas.microsoft.com/office/drawing/2014/main" id="{FCDED605-4871-1CF6-C3DB-E7426620F791}"/>
              </a:ext>
            </a:extLst>
          </p:cNvPr>
          <p:cNvSpPr>
            <a:spLocks noGrp="1"/>
          </p:cNvSpPr>
          <p:nvPr>
            <p:ph type="sldNum" idx="12"/>
          </p:nvPr>
        </p:nvSpPr>
        <p:spPr/>
        <p:txBody>
          <a:bodyPr/>
          <a:lstStyle/>
          <a:p>
            <a:fld id="{00000000-1234-1234-1234-123412341234}" type="slidenum">
              <a:rPr lang="en-GB" smtClean="0"/>
              <a:pPr/>
              <a:t>18</a:t>
            </a:fld>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0127EBB-AD57-DD68-C95F-8047AE79A3DD}"/>
                  </a:ext>
                </a:extLst>
              </p:cNvPr>
              <p:cNvSpPr txBox="1"/>
              <p:nvPr/>
            </p:nvSpPr>
            <p:spPr>
              <a:xfrm>
                <a:off x="731520" y="1498915"/>
                <a:ext cx="6942478" cy="1703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𝑠</m:t>
                      </m:r>
                      <m:r>
                        <a:rPr lang="en-GB" sz="2800" b="0" i="1" smtClean="0">
                          <a:latin typeface="Cambria Math" panose="02040503050406030204" pitchFamily="18" charset="0"/>
                        </a:rPr>
                        <m:t>=</m:t>
                      </m:r>
                      <m:rad>
                        <m:radPr>
                          <m:degHide m:val="on"/>
                          <m:ctrlPr>
                            <a:rPr lang="en-GB" sz="2800" b="0" i="1" smtClean="0">
                              <a:latin typeface="Cambria Math" panose="02040503050406030204" pitchFamily="18" charset="0"/>
                            </a:rPr>
                          </m:ctrlPr>
                        </m:radPr>
                        <m:deg/>
                        <m:e>
                          <m:f>
                            <m:fPr>
                              <m:ctrlPr>
                                <a:rPr lang="en-GB" sz="2800" b="0" i="1" smtClean="0">
                                  <a:latin typeface="Cambria Math" panose="02040503050406030204" pitchFamily="18" charset="0"/>
                                </a:rPr>
                              </m:ctrlPr>
                            </m:fPr>
                            <m:num>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1</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2</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𝑛</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num>
                            <m:den>
                              <m:r>
                                <a:rPr lang="en-GB" sz="2800" b="0" i="1" smtClean="0">
                                  <a:latin typeface="Cambria Math" panose="02040503050406030204" pitchFamily="18" charset="0"/>
                                </a:rPr>
                                <m:t>𝑛</m:t>
                              </m:r>
                              <m:r>
                                <a:rPr lang="en-GB" sz="2800" b="0" i="1" smtClean="0">
                                  <a:latin typeface="Cambria Math" panose="02040503050406030204" pitchFamily="18" charset="0"/>
                                </a:rPr>
                                <m:t>−1</m:t>
                              </m:r>
                            </m:den>
                          </m:f>
                        </m:e>
                      </m:rad>
                    </m:oMath>
                  </m:oMathPara>
                </a14:m>
                <a:endParaRPr lang="en-GB" sz="2800" b="0" dirty="0"/>
              </a:p>
              <a:p>
                <a:endParaRPr lang="en-US" sz="2800" dirty="0"/>
              </a:p>
            </p:txBody>
          </p:sp>
        </mc:Choice>
        <mc:Fallback xmlns="">
          <p:sp>
            <p:nvSpPr>
              <p:cNvPr id="3" name="TextBox 2">
                <a:extLst>
                  <a:ext uri="{FF2B5EF4-FFF2-40B4-BE49-F238E27FC236}">
                    <a16:creationId xmlns:a16="http://schemas.microsoft.com/office/drawing/2014/main" id="{30127EBB-AD57-DD68-C95F-8047AE79A3DD}"/>
                  </a:ext>
                </a:extLst>
              </p:cNvPr>
              <p:cNvSpPr txBox="1">
                <a:spLocks noRot="1" noChangeAspect="1" noMove="1" noResize="1" noEditPoints="1" noAdjustHandles="1" noChangeArrowheads="1" noChangeShapeType="1" noTextEdit="1"/>
              </p:cNvSpPr>
              <p:nvPr/>
            </p:nvSpPr>
            <p:spPr>
              <a:xfrm>
                <a:off x="731520" y="1498915"/>
                <a:ext cx="6942478" cy="170392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A73B82C-285C-B00D-55B1-7870784587B1}"/>
                  </a:ext>
                </a:extLst>
              </p:cNvPr>
              <p:cNvSpPr txBox="1"/>
              <p:nvPr/>
            </p:nvSpPr>
            <p:spPr>
              <a:xfrm>
                <a:off x="576756" y="3202843"/>
                <a:ext cx="7252006" cy="3139321"/>
              </a:xfrm>
              <a:prstGeom prst="rect">
                <a:avLst/>
              </a:prstGeom>
              <a:noFill/>
            </p:spPr>
            <p:txBody>
              <a:bodyPr wrap="square">
                <a:spAutoFit/>
              </a:bodyPr>
              <a:lstStyle/>
              <a:p>
                <a:r>
                  <a:rPr lang="en-US" dirty="0"/>
                  <a:t>When you take a sample, your sample mean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𝑥</m:t>
                        </m:r>
                      </m:e>
                    </m:acc>
                  </m:oMath>
                </a14:m>
                <a:r>
                  <a:rPr lang="en-GB" dirty="0"/>
                  <a:t> </a:t>
                </a:r>
                <a:r>
                  <a:rPr lang="en-US" dirty="0"/>
                  <a:t>is itself an estimate of the (unknown) population mean. Because the sample mean is derived from the same data, it tends to “fit” your sample slightly better than the true population mean would. As a result, the calculation using﻿</a:t>
                </a:r>
                <a:r>
                  <a:rPr lang="en-GB" dirty="0"/>
                  <a:t>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𝑥</m:t>
                        </m:r>
                      </m:e>
                    </m:acc>
                  </m:oMath>
                </a14:m>
                <a:r>
                  <a:rPr lang="en-GB" dirty="0"/>
                  <a:t>  </a:t>
                </a:r>
                <a:r>
                  <a:rPr lang="en-US" dirty="0"/>
                  <a:t>tends to underestimate the true variability in the data. This underestimation becomes especially noticeable for small samples.</a:t>
                </a:r>
              </a:p>
              <a:p>
                <a:endParaRPr lang="en-US" dirty="0"/>
              </a:p>
              <a:p>
                <a:r>
                  <a:rPr lang="en-US" dirty="0"/>
                  <a:t>Bessel’s correction (n-1 instead of n) mathematically offsets this tendency to underestimate variance, making your sample variance an unbiased estimator of the population variance (i.e. its expected value is the true variance).</a:t>
                </a:r>
              </a:p>
            </p:txBody>
          </p:sp>
        </mc:Choice>
        <mc:Fallback xmlns="">
          <p:sp>
            <p:nvSpPr>
              <p:cNvPr id="15" name="TextBox 14">
                <a:extLst>
                  <a:ext uri="{FF2B5EF4-FFF2-40B4-BE49-F238E27FC236}">
                    <a16:creationId xmlns:a16="http://schemas.microsoft.com/office/drawing/2014/main" id="{7A73B82C-285C-B00D-55B1-7870784587B1}"/>
                  </a:ext>
                </a:extLst>
              </p:cNvPr>
              <p:cNvSpPr txBox="1">
                <a:spLocks noRot="1" noChangeAspect="1" noMove="1" noResize="1" noEditPoints="1" noAdjustHandles="1" noChangeArrowheads="1" noChangeShapeType="1" noTextEdit="1"/>
              </p:cNvSpPr>
              <p:nvPr/>
            </p:nvSpPr>
            <p:spPr>
              <a:xfrm>
                <a:off x="576756" y="3202843"/>
                <a:ext cx="7252006" cy="3139321"/>
              </a:xfrm>
              <a:prstGeom prst="rect">
                <a:avLst/>
              </a:prstGeom>
              <a:blipFill>
                <a:blip r:embed="rId6"/>
                <a:stretch>
                  <a:fillRect l="-699" t="-1210" r="-1224" b="-2016"/>
                </a:stretch>
              </a:blipFill>
            </p:spPr>
            <p:txBody>
              <a:bodyPr/>
              <a:lstStyle/>
              <a:p>
                <a:r>
                  <a:rPr lang="en-US">
                    <a:noFill/>
                  </a:rPr>
                  <a:t> </a:t>
                </a:r>
              </a:p>
            </p:txBody>
          </p:sp>
        </mc:Fallback>
      </mc:AlternateContent>
      <p:pic>
        <p:nvPicPr>
          <p:cNvPr id="4" name="Camera 3">
            <a:extLst>
              <a:ext uri="{FF2B5EF4-FFF2-40B4-BE49-F238E27FC236}">
                <a16:creationId xmlns:a16="http://schemas.microsoft.com/office/drawing/2014/main" id="{2EB00E09-AE13-D754-BA5D-A3EAC94B65C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7"/>
              </a:ext>
            </a:extLst>
          </a:blip>
          <a:stretch>
            <a:fillRect/>
          </a:stretch>
        </p:blipFill>
        <p:spPr>
          <a:xfrm>
            <a:off x="8911197" y="2400300"/>
            <a:ext cx="2057400" cy="2057400"/>
          </a:xfrm>
          <a:prstGeom prst="ellipse">
            <a:avLst/>
          </a:prstGeom>
        </p:spPr>
      </p:pic>
    </p:spTree>
    <p:extLst>
      <p:ext uri="{BB962C8B-B14F-4D97-AF65-F5344CB8AC3E}">
        <p14:creationId xmlns:p14="http://schemas.microsoft.com/office/powerpoint/2010/main" val="1260300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F78CD-8C54-5A35-4FE1-01D59CD107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68C6BA-76B3-0A52-A7C1-6364E823F953}"/>
              </a:ext>
            </a:extLst>
          </p:cNvPr>
          <p:cNvSpPr>
            <a:spLocks noGrp="1"/>
          </p:cNvSpPr>
          <p:nvPr>
            <p:ph type="title"/>
          </p:nvPr>
        </p:nvSpPr>
        <p:spPr>
          <a:xfrm>
            <a:off x="731520" y="593367"/>
            <a:ext cx="8902337"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How does this look for the pulse data?</a:t>
            </a:r>
          </a:p>
        </p:txBody>
      </p:sp>
      <p:sp>
        <p:nvSpPr>
          <p:cNvPr id="2" name="Slide Number Placeholder 1">
            <a:extLst>
              <a:ext uri="{FF2B5EF4-FFF2-40B4-BE49-F238E27FC236}">
                <a16:creationId xmlns:a16="http://schemas.microsoft.com/office/drawing/2014/main" id="{73C3914F-325C-35D9-1784-292786BDE10C}"/>
              </a:ext>
            </a:extLst>
          </p:cNvPr>
          <p:cNvSpPr>
            <a:spLocks noGrp="1"/>
          </p:cNvSpPr>
          <p:nvPr>
            <p:ph type="sldNum" idx="12"/>
          </p:nvPr>
        </p:nvSpPr>
        <p:spPr/>
        <p:txBody>
          <a:bodyPr/>
          <a:lstStyle/>
          <a:p>
            <a:fld id="{00000000-1234-1234-1234-123412341234}" type="slidenum">
              <a:rPr lang="en-GB" smtClean="0"/>
              <a:pPr/>
              <a:t>19</a:t>
            </a:fld>
            <a:endParaRPr lang="en-GB" dirty="0"/>
          </a:p>
        </p:txBody>
      </p:sp>
      <p:pic>
        <p:nvPicPr>
          <p:cNvPr id="4" name="Picture 3">
            <a:extLst>
              <a:ext uri="{FF2B5EF4-FFF2-40B4-BE49-F238E27FC236}">
                <a16:creationId xmlns:a16="http://schemas.microsoft.com/office/drawing/2014/main" id="{5A002D08-EE87-339F-1B5F-C9181E5CF19D}"/>
              </a:ext>
            </a:extLst>
          </p:cNvPr>
          <p:cNvPicPr>
            <a:picLocks noChangeAspect="1"/>
          </p:cNvPicPr>
          <p:nvPr/>
        </p:nvPicPr>
        <p:blipFill>
          <a:blip r:embed="rId2"/>
          <a:stretch>
            <a:fillRect/>
          </a:stretch>
        </p:blipFill>
        <p:spPr>
          <a:xfrm>
            <a:off x="731520" y="1630407"/>
            <a:ext cx="7274424" cy="4849616"/>
          </a:xfrm>
          <a:prstGeom prst="rect">
            <a:avLst/>
          </a:prstGeom>
        </p:spPr>
      </p:pic>
      <p:pic>
        <p:nvPicPr>
          <p:cNvPr id="3" name="Camera 2">
            <a:extLst>
              <a:ext uri="{FF2B5EF4-FFF2-40B4-BE49-F238E27FC236}">
                <a16:creationId xmlns:a16="http://schemas.microsoft.com/office/drawing/2014/main" id="{07B5B77C-C514-0CE9-FC19-5AF4A9C209D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911198" y="2754116"/>
            <a:ext cx="2057400" cy="2057400"/>
          </a:xfrm>
          <a:prstGeom prst="ellipse">
            <a:avLst/>
          </a:prstGeom>
        </p:spPr>
      </p:pic>
    </p:spTree>
    <p:extLst>
      <p:ext uri="{BB962C8B-B14F-4D97-AF65-F5344CB8AC3E}">
        <p14:creationId xmlns:p14="http://schemas.microsoft.com/office/powerpoint/2010/main" val="1113035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2"/>
          <p:cNvSpPr txBox="1">
            <a:spLocks noGrp="1"/>
          </p:cNvSpPr>
          <p:nvPr>
            <p:ph type="title"/>
          </p:nvPr>
        </p:nvSpPr>
        <p:spPr>
          <a:xfrm>
            <a:off x="419909" y="240639"/>
            <a:ext cx="11360800" cy="763600"/>
          </a:xfrm>
          <a:prstGeom prst="rect">
            <a:avLst/>
          </a:prstGeom>
        </p:spPr>
        <p:txBody>
          <a:bodyPr spcFirstLastPara="1" wrap="square" lIns="121900" tIns="121900" rIns="121900" bIns="121900" anchor="t" anchorCtr="0">
            <a:noAutofit/>
          </a:bodyPr>
          <a:lstStyle/>
          <a:p>
            <a:r>
              <a:rPr lang="en-GB" sz="2800" b="1" dirty="0">
                <a:latin typeface="Source Sans Pro" panose="020B0503030403020204" pitchFamily="34" charset="0"/>
                <a:ea typeface="Source Sans Pro" panose="020B0503030403020204" pitchFamily="34" charset="0"/>
              </a:rPr>
              <a:t>Range</a:t>
            </a:r>
          </a:p>
        </p:txBody>
      </p:sp>
      <p:sp>
        <p:nvSpPr>
          <p:cNvPr id="253" name="Google Shape;253;p42"/>
          <p:cNvSpPr txBox="1">
            <a:spLocks noGrp="1"/>
          </p:cNvSpPr>
          <p:nvPr>
            <p:ph type="body" idx="1"/>
          </p:nvPr>
        </p:nvSpPr>
        <p:spPr>
          <a:xfrm>
            <a:off x="412782" y="847270"/>
            <a:ext cx="11360800" cy="991671"/>
          </a:xfrm>
          <a:prstGeom prst="rect">
            <a:avLst/>
          </a:prstGeom>
        </p:spPr>
        <p:txBody>
          <a:bodyPr spcFirstLastPara="1" wrap="square" lIns="121900" tIns="121900" rIns="121900" bIns="121900" anchor="t" anchorCtr="0">
            <a:normAutofit/>
          </a:bodyPr>
          <a:lstStyle/>
          <a:p>
            <a:pPr marL="0" indent="0">
              <a:spcAft>
                <a:spcPts val="1600"/>
              </a:spcAft>
              <a:buNone/>
            </a:pPr>
            <a:r>
              <a:rPr lang="en-GB" sz="1800" dirty="0">
                <a:solidFill>
                  <a:schemeClr val="tx1"/>
                </a:solidFill>
                <a:latin typeface="Source Sans Pro" panose="020B0503030403020204" pitchFamily="34" charset="0"/>
                <a:ea typeface="Source Sans Pro" panose="020B0503030403020204" pitchFamily="34" charset="0"/>
              </a:rPr>
              <a:t>The difference between the highest and lowest point. Helps us to understand the spread in the most general terms, and potentially spot things wrong with the data.</a:t>
            </a:r>
          </a:p>
        </p:txBody>
      </p:sp>
      <p:sp>
        <p:nvSpPr>
          <p:cNvPr id="2" name="Slide Number Placeholder 1">
            <a:extLst>
              <a:ext uri="{FF2B5EF4-FFF2-40B4-BE49-F238E27FC236}">
                <a16:creationId xmlns:a16="http://schemas.microsoft.com/office/drawing/2014/main" id="{3FCEF61E-A719-FD13-EA8A-4CFEC54088C2}"/>
              </a:ext>
            </a:extLst>
          </p:cNvPr>
          <p:cNvSpPr>
            <a:spLocks noGrp="1"/>
          </p:cNvSpPr>
          <p:nvPr>
            <p:ph type="sldNum" idx="12"/>
          </p:nvPr>
        </p:nvSpPr>
        <p:spPr/>
        <p:txBody>
          <a:bodyPr/>
          <a:lstStyle/>
          <a:p>
            <a:fld id="{00000000-1234-1234-1234-123412341234}" type="slidenum">
              <a:rPr lang="en-GB" smtClean="0"/>
              <a:pPr/>
              <a:t>20</a:t>
            </a:fld>
            <a:endParaRPr lang="en-GB" dirty="0"/>
          </a:p>
        </p:txBody>
      </p:sp>
      <p:sp>
        <p:nvSpPr>
          <p:cNvPr id="3" name="Google Shape;252;p42">
            <a:extLst>
              <a:ext uri="{FF2B5EF4-FFF2-40B4-BE49-F238E27FC236}">
                <a16:creationId xmlns:a16="http://schemas.microsoft.com/office/drawing/2014/main" id="{9F8AB841-7A61-FA63-5559-30477FC9857E}"/>
              </a:ext>
            </a:extLst>
          </p:cNvPr>
          <p:cNvSpPr txBox="1">
            <a:spLocks/>
          </p:cNvSpPr>
          <p:nvPr/>
        </p:nvSpPr>
        <p:spPr>
          <a:xfrm>
            <a:off x="412782" y="2649517"/>
            <a:ext cx="11360800" cy="763600"/>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GB" b="1" kern="0" dirty="0">
                <a:latin typeface="Source Sans Pro" panose="020B0503030403020204" pitchFamily="34" charset="0"/>
                <a:ea typeface="Source Sans Pro" panose="020B0503030403020204" pitchFamily="34" charset="0"/>
              </a:rPr>
              <a:t>Interquartile range</a:t>
            </a:r>
          </a:p>
        </p:txBody>
      </p:sp>
      <p:sp>
        <p:nvSpPr>
          <p:cNvPr id="5" name="Google Shape;253;p42">
            <a:extLst>
              <a:ext uri="{FF2B5EF4-FFF2-40B4-BE49-F238E27FC236}">
                <a16:creationId xmlns:a16="http://schemas.microsoft.com/office/drawing/2014/main" id="{1E617A03-896F-5A39-FF60-4B748C8C60BB}"/>
              </a:ext>
            </a:extLst>
          </p:cNvPr>
          <p:cNvSpPr txBox="1">
            <a:spLocks/>
          </p:cNvSpPr>
          <p:nvPr/>
        </p:nvSpPr>
        <p:spPr>
          <a:xfrm>
            <a:off x="412782" y="3510311"/>
            <a:ext cx="11360800" cy="1133136"/>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0" indent="0">
              <a:spcAft>
                <a:spcPts val="1600"/>
              </a:spcAft>
              <a:buFont typeface="Arial"/>
              <a:buNone/>
            </a:pPr>
            <a:r>
              <a:rPr lang="en-GB" kern="0" dirty="0">
                <a:solidFill>
                  <a:schemeClr val="tx1"/>
                </a:solidFill>
                <a:latin typeface="Source Sans Pro" panose="020B0503030403020204" pitchFamily="34" charset="0"/>
                <a:ea typeface="Source Sans Pro" panose="020B0503030403020204" pitchFamily="34" charset="0"/>
              </a:rPr>
              <a:t>With the data arranged in ascending order, and split into quarters (i.e. four sections), what is the difference between the value at the beginning of the third and the beginning of the first.</a:t>
            </a:r>
          </a:p>
        </p:txBody>
      </p:sp>
      <p:sp>
        <p:nvSpPr>
          <p:cNvPr id="6" name="Up Arrow 5">
            <a:extLst>
              <a:ext uri="{FF2B5EF4-FFF2-40B4-BE49-F238E27FC236}">
                <a16:creationId xmlns:a16="http://schemas.microsoft.com/office/drawing/2014/main" id="{1177B222-964F-F1F8-B5C3-D3B94BE1E2AF}"/>
              </a:ext>
            </a:extLst>
          </p:cNvPr>
          <p:cNvSpPr/>
          <p:nvPr/>
        </p:nvSpPr>
        <p:spPr>
          <a:xfrm>
            <a:off x="5853697" y="5788253"/>
            <a:ext cx="239485" cy="3592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1219170">
              <a:buClr>
                <a:srgbClr val="000000"/>
              </a:buClr>
            </a:pPr>
            <a:endParaRPr lang="en-GB" sz="1867" kern="0" dirty="0">
              <a:solidFill>
                <a:srgbClr val="FFFFFF"/>
              </a:solidFill>
              <a:latin typeface="Arial"/>
              <a:sym typeface="Arial"/>
            </a:endParaRPr>
          </a:p>
        </p:txBody>
      </p:sp>
      <p:sp>
        <p:nvSpPr>
          <p:cNvPr id="7" name="TextBox 6">
            <a:extLst>
              <a:ext uri="{FF2B5EF4-FFF2-40B4-BE49-F238E27FC236}">
                <a16:creationId xmlns:a16="http://schemas.microsoft.com/office/drawing/2014/main" id="{D129671C-6F14-1BEB-C1FE-A8DA6836287C}"/>
              </a:ext>
            </a:extLst>
          </p:cNvPr>
          <p:cNvSpPr txBox="1"/>
          <p:nvPr/>
        </p:nvSpPr>
        <p:spPr>
          <a:xfrm>
            <a:off x="5456367" y="6362767"/>
            <a:ext cx="1099457" cy="379656"/>
          </a:xfrm>
          <a:prstGeom prst="rect">
            <a:avLst/>
          </a:prstGeom>
          <a:noFill/>
        </p:spPr>
        <p:txBody>
          <a:bodyPr wrap="square" rtlCol="0">
            <a:spAutoFit/>
          </a:bodyPr>
          <a:lstStyle/>
          <a:p>
            <a:pPr defTabSz="1219170">
              <a:buClr>
                <a:srgbClr val="000000"/>
              </a:buClr>
            </a:pPr>
            <a:r>
              <a:rPr lang="en-GB" sz="1867" kern="0" dirty="0">
                <a:solidFill>
                  <a:srgbClr val="000000"/>
                </a:solidFill>
                <a:latin typeface="Arial"/>
                <a:cs typeface="Arial"/>
                <a:sym typeface="Arial"/>
              </a:rPr>
              <a:t>median</a:t>
            </a:r>
          </a:p>
        </p:txBody>
      </p:sp>
      <p:sp>
        <p:nvSpPr>
          <p:cNvPr id="8" name="Up Arrow 7">
            <a:extLst>
              <a:ext uri="{FF2B5EF4-FFF2-40B4-BE49-F238E27FC236}">
                <a16:creationId xmlns:a16="http://schemas.microsoft.com/office/drawing/2014/main" id="{E3762C98-EA57-572E-95D2-FF1DA07222E8}"/>
              </a:ext>
            </a:extLst>
          </p:cNvPr>
          <p:cNvSpPr/>
          <p:nvPr/>
        </p:nvSpPr>
        <p:spPr>
          <a:xfrm>
            <a:off x="7892960" y="5788251"/>
            <a:ext cx="239485" cy="3592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1219170">
              <a:buClr>
                <a:srgbClr val="000000"/>
              </a:buClr>
            </a:pPr>
            <a:endParaRPr lang="en-GB" sz="1867" kern="0" dirty="0">
              <a:solidFill>
                <a:srgbClr val="FFFFFF"/>
              </a:solidFill>
              <a:latin typeface="Arial"/>
              <a:sym typeface="Arial"/>
            </a:endParaRPr>
          </a:p>
        </p:txBody>
      </p:sp>
      <p:sp>
        <p:nvSpPr>
          <p:cNvPr id="9" name="Up Arrow 8">
            <a:extLst>
              <a:ext uri="{FF2B5EF4-FFF2-40B4-BE49-F238E27FC236}">
                <a16:creationId xmlns:a16="http://schemas.microsoft.com/office/drawing/2014/main" id="{F5799244-8E57-CE45-9279-DC4177283300}"/>
              </a:ext>
            </a:extLst>
          </p:cNvPr>
          <p:cNvSpPr/>
          <p:nvPr/>
        </p:nvSpPr>
        <p:spPr>
          <a:xfrm>
            <a:off x="3821697" y="5788253"/>
            <a:ext cx="239485" cy="3592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1219170">
              <a:buClr>
                <a:srgbClr val="000000"/>
              </a:buClr>
            </a:pPr>
            <a:endParaRPr lang="en-GB" sz="1867" kern="0" dirty="0">
              <a:solidFill>
                <a:srgbClr val="FFFFFF"/>
              </a:solidFill>
              <a:latin typeface="Arial"/>
              <a:sym typeface="Arial"/>
            </a:endParaRPr>
          </a:p>
        </p:txBody>
      </p:sp>
      <p:sp>
        <p:nvSpPr>
          <p:cNvPr id="10" name="TextBox 9">
            <a:extLst>
              <a:ext uri="{FF2B5EF4-FFF2-40B4-BE49-F238E27FC236}">
                <a16:creationId xmlns:a16="http://schemas.microsoft.com/office/drawing/2014/main" id="{C95CB280-8E92-A197-DFA3-9964C0403092}"/>
              </a:ext>
            </a:extLst>
          </p:cNvPr>
          <p:cNvSpPr txBox="1"/>
          <p:nvPr/>
        </p:nvSpPr>
        <p:spPr>
          <a:xfrm>
            <a:off x="412783" y="5245870"/>
            <a:ext cx="10243457" cy="748988"/>
          </a:xfrm>
          <a:prstGeom prst="rect">
            <a:avLst/>
          </a:prstGeom>
          <a:noFill/>
        </p:spPr>
        <p:txBody>
          <a:bodyPr wrap="square" rtlCol="0">
            <a:spAutoFit/>
          </a:bodyPr>
          <a:lstStyle/>
          <a:p>
            <a:pPr defTabSz="1219170">
              <a:buClr>
                <a:srgbClr val="000000"/>
              </a:buClr>
            </a:pPr>
            <a:r>
              <a:rPr lang="en-GB" sz="2400" kern="0" dirty="0">
                <a:solidFill>
                  <a:srgbClr val="000000"/>
                </a:solidFill>
                <a:latin typeface="Arial"/>
                <a:cs typeface="Arial"/>
                <a:sym typeface="Arial"/>
              </a:rPr>
              <a:t>Sample data: 59    65    68    70    70    72    74    78    84    90   92</a:t>
            </a:r>
          </a:p>
          <a:p>
            <a:pPr defTabSz="1219170">
              <a:buClr>
                <a:srgbClr val="000000"/>
              </a:buClr>
            </a:pPr>
            <a:endParaRPr lang="en-GB" sz="1867" b="1" kern="0" dirty="0">
              <a:solidFill>
                <a:srgbClr val="000000"/>
              </a:solidFill>
              <a:latin typeface="Arial"/>
              <a:cs typeface="Arial"/>
              <a:sym typeface="Arial"/>
            </a:endParaRPr>
          </a:p>
        </p:txBody>
      </p:sp>
      <p:sp>
        <p:nvSpPr>
          <p:cNvPr id="11" name="TextBox 10">
            <a:extLst>
              <a:ext uri="{FF2B5EF4-FFF2-40B4-BE49-F238E27FC236}">
                <a16:creationId xmlns:a16="http://schemas.microsoft.com/office/drawing/2014/main" id="{CF7AF81F-1A94-806E-485F-2D8F318D179C}"/>
              </a:ext>
            </a:extLst>
          </p:cNvPr>
          <p:cNvSpPr txBox="1"/>
          <p:nvPr/>
        </p:nvSpPr>
        <p:spPr>
          <a:xfrm>
            <a:off x="3391711" y="6362767"/>
            <a:ext cx="1099457" cy="379656"/>
          </a:xfrm>
          <a:prstGeom prst="rect">
            <a:avLst/>
          </a:prstGeom>
          <a:noFill/>
        </p:spPr>
        <p:txBody>
          <a:bodyPr wrap="square" rtlCol="0">
            <a:spAutoFit/>
          </a:bodyPr>
          <a:lstStyle/>
          <a:p>
            <a:pPr algn="ctr" defTabSz="1219170">
              <a:buClr>
                <a:srgbClr val="000000"/>
              </a:buClr>
            </a:pPr>
            <a:r>
              <a:rPr lang="en-GB" sz="1867" kern="0" dirty="0">
                <a:solidFill>
                  <a:srgbClr val="000000"/>
                </a:solidFill>
                <a:latin typeface="Arial"/>
                <a:cs typeface="Arial"/>
                <a:sym typeface="Arial"/>
              </a:rPr>
              <a:t>Q1</a:t>
            </a:r>
          </a:p>
        </p:txBody>
      </p:sp>
      <p:sp>
        <p:nvSpPr>
          <p:cNvPr id="12" name="TextBox 11">
            <a:extLst>
              <a:ext uri="{FF2B5EF4-FFF2-40B4-BE49-F238E27FC236}">
                <a16:creationId xmlns:a16="http://schemas.microsoft.com/office/drawing/2014/main" id="{40EA64B5-5554-2661-D5AE-E34076F37789}"/>
              </a:ext>
            </a:extLst>
          </p:cNvPr>
          <p:cNvSpPr txBox="1"/>
          <p:nvPr/>
        </p:nvSpPr>
        <p:spPr>
          <a:xfrm>
            <a:off x="7462974" y="6362767"/>
            <a:ext cx="1099457" cy="379656"/>
          </a:xfrm>
          <a:prstGeom prst="rect">
            <a:avLst/>
          </a:prstGeom>
          <a:noFill/>
        </p:spPr>
        <p:txBody>
          <a:bodyPr wrap="square" rtlCol="0">
            <a:spAutoFit/>
          </a:bodyPr>
          <a:lstStyle/>
          <a:p>
            <a:pPr algn="ctr" defTabSz="1219170">
              <a:buClr>
                <a:srgbClr val="000000"/>
              </a:buClr>
            </a:pPr>
            <a:r>
              <a:rPr lang="en-GB" sz="1867" kern="0" dirty="0">
                <a:solidFill>
                  <a:srgbClr val="000000"/>
                </a:solidFill>
                <a:latin typeface="Arial"/>
                <a:cs typeface="Arial"/>
                <a:sym typeface="Arial"/>
              </a:rPr>
              <a:t>Q3</a:t>
            </a:r>
          </a:p>
        </p:txBody>
      </p:sp>
      <p:sp>
        <p:nvSpPr>
          <p:cNvPr id="13" name="TextBox 12">
            <a:extLst>
              <a:ext uri="{FF2B5EF4-FFF2-40B4-BE49-F238E27FC236}">
                <a16:creationId xmlns:a16="http://schemas.microsoft.com/office/drawing/2014/main" id="{B0BA615C-9B93-4844-A022-C5823079B33B}"/>
              </a:ext>
            </a:extLst>
          </p:cNvPr>
          <p:cNvSpPr txBox="1"/>
          <p:nvPr/>
        </p:nvSpPr>
        <p:spPr>
          <a:xfrm>
            <a:off x="419909" y="4650928"/>
            <a:ext cx="4071259" cy="379656"/>
          </a:xfrm>
          <a:prstGeom prst="rect">
            <a:avLst/>
          </a:prstGeom>
          <a:solidFill>
            <a:schemeClr val="accent6">
              <a:lumMod val="20000"/>
              <a:lumOff val="80000"/>
            </a:schemeClr>
          </a:solidFill>
          <a:ln>
            <a:solidFill>
              <a:schemeClr val="tx1"/>
            </a:solidFill>
          </a:ln>
        </p:spPr>
        <p:txBody>
          <a:bodyPr wrap="square" rtlCol="0">
            <a:spAutoFit/>
          </a:bodyPr>
          <a:lstStyle/>
          <a:p>
            <a:pPr algn="ctr" defTabSz="1219170">
              <a:buClr>
                <a:srgbClr val="000000"/>
              </a:buClr>
            </a:pPr>
            <a:r>
              <a:rPr lang="en-GB" sz="1867" kern="0" dirty="0">
                <a:solidFill>
                  <a:srgbClr val="000000"/>
                </a:solidFill>
                <a:latin typeface="Arial"/>
                <a:cs typeface="Arial"/>
                <a:sym typeface="Arial"/>
              </a:rPr>
              <a:t>Interquartile range: 84 – 68 = 16</a:t>
            </a:r>
          </a:p>
        </p:txBody>
      </p:sp>
      <p:pic>
        <p:nvPicPr>
          <p:cNvPr id="4" name="Camera 3">
            <a:extLst>
              <a:ext uri="{FF2B5EF4-FFF2-40B4-BE49-F238E27FC236}">
                <a16:creationId xmlns:a16="http://schemas.microsoft.com/office/drawing/2014/main" id="{56280F13-5A0E-1921-432F-57F95D5812A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892960" y="1325214"/>
            <a:ext cx="2057400" cy="2057400"/>
          </a:xfrm>
          <a:prstGeom prst="ellipse">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EC78-AC29-FE4C-9E91-33AB9C1BE56A}"/>
              </a:ext>
            </a:extLst>
          </p:cNvPr>
          <p:cNvSpPr>
            <a:spLocks noGrp="1"/>
          </p:cNvSpPr>
          <p:nvPr>
            <p:ph type="title"/>
          </p:nvPr>
        </p:nvSpPr>
        <p:spPr>
          <a:xfrm>
            <a:off x="598480" y="635871"/>
            <a:ext cx="2972034" cy="633005"/>
          </a:xfrm>
        </p:spPr>
        <p:txBody>
          <a:bodyPr>
            <a:normAutofit fontScale="90000"/>
          </a:bodyPr>
          <a:lstStyle/>
          <a:p>
            <a:r>
              <a:rPr lang="en-GB" b="1" dirty="0">
                <a:latin typeface="Source Sans Pro" panose="020B0503030403020204" pitchFamily="34" charset="0"/>
                <a:ea typeface="Source Sans Pro" panose="020B0503030403020204" pitchFamily="34" charset="0"/>
              </a:rPr>
              <a:t>Tips for use</a:t>
            </a:r>
          </a:p>
        </p:txBody>
      </p:sp>
      <p:sp>
        <p:nvSpPr>
          <p:cNvPr id="3" name="Text Placeholder 2">
            <a:extLst>
              <a:ext uri="{FF2B5EF4-FFF2-40B4-BE49-F238E27FC236}">
                <a16:creationId xmlns:a16="http://schemas.microsoft.com/office/drawing/2014/main" id="{C31BE430-2881-E544-9520-3BD6FCCD35F6}"/>
              </a:ext>
            </a:extLst>
          </p:cNvPr>
          <p:cNvSpPr>
            <a:spLocks noGrp="1"/>
          </p:cNvSpPr>
          <p:nvPr>
            <p:ph type="body" idx="1"/>
          </p:nvPr>
        </p:nvSpPr>
        <p:spPr>
          <a:xfrm>
            <a:off x="415600" y="1304587"/>
            <a:ext cx="5333200" cy="1380739"/>
          </a:xfrm>
        </p:spPr>
        <p:txBody>
          <a:bodyPr/>
          <a:lstStyle/>
          <a:p>
            <a:pPr marL="186262" indent="0">
              <a:buNone/>
            </a:pPr>
            <a:r>
              <a:rPr lang="en-GB" dirty="0">
                <a:solidFill>
                  <a:schemeClr val="tx1"/>
                </a:solidFill>
              </a:rPr>
              <a:t>In general, the mean and standard deviation are used for normally distributed data, without any extreme values</a:t>
            </a:r>
          </a:p>
        </p:txBody>
      </p:sp>
      <p:sp>
        <p:nvSpPr>
          <p:cNvPr id="4" name="Text Placeholder 3">
            <a:extLst>
              <a:ext uri="{FF2B5EF4-FFF2-40B4-BE49-F238E27FC236}">
                <a16:creationId xmlns:a16="http://schemas.microsoft.com/office/drawing/2014/main" id="{E19D446E-2A70-C44C-AE89-259A0FAC486E}"/>
              </a:ext>
            </a:extLst>
          </p:cNvPr>
          <p:cNvSpPr>
            <a:spLocks noGrp="1"/>
          </p:cNvSpPr>
          <p:nvPr>
            <p:ph type="body" idx="2"/>
          </p:nvPr>
        </p:nvSpPr>
        <p:spPr>
          <a:xfrm>
            <a:off x="6425149" y="1268876"/>
            <a:ext cx="5333200" cy="1380739"/>
          </a:xfrm>
        </p:spPr>
        <p:txBody>
          <a:bodyPr/>
          <a:lstStyle/>
          <a:p>
            <a:pPr marL="186262" indent="0">
              <a:buNone/>
            </a:pPr>
            <a:r>
              <a:rPr lang="en-GB" dirty="0">
                <a:solidFill>
                  <a:schemeClr val="tx1"/>
                </a:solidFill>
              </a:rPr>
              <a:t>The median and interquartile range are more robust, and can be used for skewed data, or data with extreme values</a:t>
            </a:r>
          </a:p>
        </p:txBody>
      </p:sp>
      <p:pic>
        <p:nvPicPr>
          <p:cNvPr id="8" name="Picture 7" descr="Chart, histogram&#10;&#10;Description automatically generated">
            <a:extLst>
              <a:ext uri="{FF2B5EF4-FFF2-40B4-BE49-F238E27FC236}">
                <a16:creationId xmlns:a16="http://schemas.microsoft.com/office/drawing/2014/main" id="{8043389A-1D4C-DF46-A4E6-2A40BBB3E9FC}"/>
              </a:ext>
            </a:extLst>
          </p:cNvPr>
          <p:cNvPicPr>
            <a:picLocks noChangeAspect="1"/>
          </p:cNvPicPr>
          <p:nvPr/>
        </p:nvPicPr>
        <p:blipFill>
          <a:blip r:embed="rId2"/>
          <a:stretch>
            <a:fillRect/>
          </a:stretch>
        </p:blipFill>
        <p:spPr>
          <a:xfrm>
            <a:off x="6863684" y="3097039"/>
            <a:ext cx="4894665" cy="2589673"/>
          </a:xfrm>
          <a:prstGeom prst="rect">
            <a:avLst/>
          </a:prstGeom>
        </p:spPr>
      </p:pic>
      <p:pic>
        <p:nvPicPr>
          <p:cNvPr id="10" name="Picture 9" descr="Chart, histogram&#10;&#10;Description automatically generated">
            <a:extLst>
              <a:ext uri="{FF2B5EF4-FFF2-40B4-BE49-F238E27FC236}">
                <a16:creationId xmlns:a16="http://schemas.microsoft.com/office/drawing/2014/main" id="{15F5FFE3-F1DD-0647-A697-FB3C2BEE4E28}"/>
              </a:ext>
            </a:extLst>
          </p:cNvPr>
          <p:cNvPicPr>
            <a:picLocks noChangeAspect="1"/>
          </p:cNvPicPr>
          <p:nvPr/>
        </p:nvPicPr>
        <p:blipFill>
          <a:blip r:embed="rId3"/>
          <a:stretch>
            <a:fillRect/>
          </a:stretch>
        </p:blipFill>
        <p:spPr>
          <a:xfrm>
            <a:off x="415600" y="3185129"/>
            <a:ext cx="5074521" cy="2808587"/>
          </a:xfrm>
          <a:prstGeom prst="rect">
            <a:avLst/>
          </a:prstGeom>
        </p:spPr>
      </p:pic>
      <p:sp>
        <p:nvSpPr>
          <p:cNvPr id="5" name="Slide Number Placeholder 4">
            <a:extLst>
              <a:ext uri="{FF2B5EF4-FFF2-40B4-BE49-F238E27FC236}">
                <a16:creationId xmlns:a16="http://schemas.microsoft.com/office/drawing/2014/main" id="{53EB64C8-B2FE-95FE-03BD-C6F7CBF03AB8}"/>
              </a:ext>
            </a:extLst>
          </p:cNvPr>
          <p:cNvSpPr>
            <a:spLocks noGrp="1"/>
          </p:cNvSpPr>
          <p:nvPr>
            <p:ph type="sldNum" idx="12"/>
          </p:nvPr>
        </p:nvSpPr>
        <p:spPr/>
        <p:txBody>
          <a:bodyPr/>
          <a:lstStyle/>
          <a:p>
            <a:fld id="{00000000-1234-1234-1234-123412341234}" type="slidenum">
              <a:rPr lang="en-GB" smtClean="0"/>
              <a:pPr/>
              <a:t>21</a:t>
            </a:fld>
            <a:endParaRPr lang="en-GB" dirty="0"/>
          </a:p>
        </p:txBody>
      </p:sp>
      <p:pic>
        <p:nvPicPr>
          <p:cNvPr id="6" name="Camera 5">
            <a:extLst>
              <a:ext uri="{FF2B5EF4-FFF2-40B4-BE49-F238E27FC236}">
                <a16:creationId xmlns:a16="http://schemas.microsoft.com/office/drawing/2014/main" id="{6D17530C-8954-FD21-79C0-BBCD77F1F40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4720100" y="2400300"/>
            <a:ext cx="2057400" cy="2057400"/>
          </a:xfrm>
          <a:prstGeom prst="ellipse">
            <a:avLst/>
          </a:prstGeom>
        </p:spPr>
      </p:pic>
    </p:spTree>
    <p:extLst>
      <p:ext uri="{BB962C8B-B14F-4D97-AF65-F5344CB8AC3E}">
        <p14:creationId xmlns:p14="http://schemas.microsoft.com/office/powerpoint/2010/main" val="680594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B514C-F17F-EB5A-E998-0379C76C1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81811-8208-DF28-8CED-6F1D9553A4F3}"/>
              </a:ext>
            </a:extLst>
          </p:cNvPr>
          <p:cNvSpPr>
            <a:spLocks noGrp="1"/>
          </p:cNvSpPr>
          <p:nvPr>
            <p:ph type="title"/>
          </p:nvPr>
        </p:nvSpPr>
        <p:spPr>
          <a:xfrm>
            <a:off x="598480" y="635871"/>
            <a:ext cx="3015577" cy="633005"/>
          </a:xfrm>
        </p:spPr>
        <p:txBody>
          <a:bodyPr>
            <a:normAutofit fontScale="90000"/>
          </a:bodyPr>
          <a:lstStyle/>
          <a:p>
            <a:r>
              <a:rPr lang="en-GB" b="1" dirty="0">
                <a:latin typeface="Source Sans Pro" panose="020B0503030403020204" pitchFamily="34" charset="0"/>
                <a:ea typeface="Source Sans Pro" panose="020B0503030403020204" pitchFamily="34" charset="0"/>
              </a:rPr>
              <a:t>Tips for use</a:t>
            </a:r>
          </a:p>
        </p:txBody>
      </p:sp>
      <p:sp>
        <p:nvSpPr>
          <p:cNvPr id="3" name="Text Placeholder 2">
            <a:extLst>
              <a:ext uri="{FF2B5EF4-FFF2-40B4-BE49-F238E27FC236}">
                <a16:creationId xmlns:a16="http://schemas.microsoft.com/office/drawing/2014/main" id="{4C7AA788-173F-54CA-983D-1A6659F90A98}"/>
              </a:ext>
            </a:extLst>
          </p:cNvPr>
          <p:cNvSpPr>
            <a:spLocks noGrp="1"/>
          </p:cNvSpPr>
          <p:nvPr>
            <p:ph type="body" idx="1"/>
          </p:nvPr>
        </p:nvSpPr>
        <p:spPr>
          <a:xfrm>
            <a:off x="480913" y="1374330"/>
            <a:ext cx="7708899" cy="1380739"/>
          </a:xfrm>
        </p:spPr>
        <p:txBody>
          <a:bodyPr anchor="ctr">
            <a:normAutofit/>
          </a:bodyPr>
          <a:lstStyle/>
          <a:p>
            <a:pPr marL="186262" indent="0">
              <a:buNone/>
            </a:pPr>
            <a:r>
              <a:rPr lang="en-GB" dirty="0">
                <a:solidFill>
                  <a:schemeClr val="tx1"/>
                </a:solidFill>
              </a:rPr>
              <a:t>Presenting one ‘big’ table like below may seem intuitive, but without careful dialogue to aid it the mix of measurements can simply convolute/confuse the message.</a:t>
            </a:r>
          </a:p>
        </p:txBody>
      </p:sp>
      <p:sp>
        <p:nvSpPr>
          <p:cNvPr id="5" name="Slide Number Placeholder 4">
            <a:extLst>
              <a:ext uri="{FF2B5EF4-FFF2-40B4-BE49-F238E27FC236}">
                <a16:creationId xmlns:a16="http://schemas.microsoft.com/office/drawing/2014/main" id="{E1F067D1-6825-89A2-3554-D435C2DAEAD4}"/>
              </a:ext>
            </a:extLst>
          </p:cNvPr>
          <p:cNvSpPr>
            <a:spLocks noGrp="1"/>
          </p:cNvSpPr>
          <p:nvPr>
            <p:ph type="sldNum" idx="12"/>
          </p:nvPr>
        </p:nvSpPr>
        <p:spPr/>
        <p:txBody>
          <a:bodyPr/>
          <a:lstStyle/>
          <a:p>
            <a:fld id="{00000000-1234-1234-1234-123412341234}" type="slidenum">
              <a:rPr lang="en-GB" smtClean="0"/>
              <a:pPr/>
              <a:t>22</a:t>
            </a:fld>
            <a:endParaRPr lang="en-GB" dirty="0"/>
          </a:p>
        </p:txBody>
      </p:sp>
      <p:pic>
        <p:nvPicPr>
          <p:cNvPr id="11" name="Picture 10">
            <a:extLst>
              <a:ext uri="{FF2B5EF4-FFF2-40B4-BE49-F238E27FC236}">
                <a16:creationId xmlns:a16="http://schemas.microsoft.com/office/drawing/2014/main" id="{7B6C22E9-792D-73E8-EB20-2F14E5249857}"/>
              </a:ext>
            </a:extLst>
          </p:cNvPr>
          <p:cNvPicPr>
            <a:picLocks noChangeAspect="1"/>
          </p:cNvPicPr>
          <p:nvPr/>
        </p:nvPicPr>
        <p:blipFill>
          <a:blip r:embed="rId2"/>
          <a:stretch>
            <a:fillRect/>
          </a:stretch>
        </p:blipFill>
        <p:spPr>
          <a:xfrm>
            <a:off x="598480" y="2860523"/>
            <a:ext cx="7708900" cy="3619500"/>
          </a:xfrm>
          <a:prstGeom prst="rect">
            <a:avLst/>
          </a:prstGeom>
        </p:spPr>
      </p:pic>
      <p:pic>
        <p:nvPicPr>
          <p:cNvPr id="4" name="Camera 3">
            <a:extLst>
              <a:ext uri="{FF2B5EF4-FFF2-40B4-BE49-F238E27FC236}">
                <a16:creationId xmlns:a16="http://schemas.microsoft.com/office/drawing/2014/main" id="{D3A188B9-D5A0-FCA0-1868-D75A6F845C5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954227" y="697669"/>
            <a:ext cx="2057400" cy="2057400"/>
          </a:xfrm>
          <a:prstGeom prst="ellipse">
            <a:avLst/>
          </a:prstGeom>
        </p:spPr>
      </p:pic>
    </p:spTree>
    <p:extLst>
      <p:ext uri="{BB962C8B-B14F-4D97-AF65-F5344CB8AC3E}">
        <p14:creationId xmlns:p14="http://schemas.microsoft.com/office/powerpoint/2010/main" val="1939441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1D84D1A1-4766-28B4-B84C-B00BC312E7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718EE5A-8EAF-D775-559F-62EBE5883B70}"/>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1.2 Data Visulisation</a:t>
            </a:r>
          </a:p>
        </p:txBody>
      </p:sp>
      <p:pic>
        <p:nvPicPr>
          <p:cNvPr id="9" name="Picture 8" descr="A black background with white text&#10;&#10;AI-generated content may be incorrect.">
            <a:extLst>
              <a:ext uri="{FF2B5EF4-FFF2-40B4-BE49-F238E27FC236}">
                <a16:creationId xmlns:a16="http://schemas.microsoft.com/office/drawing/2014/main" id="{B9801A6C-1B88-9796-06C1-B2575F81E2E8}"/>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C1526C72-C339-0583-34ED-6B694E16E3B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71071" y="4239601"/>
            <a:ext cx="2057400" cy="2057400"/>
          </a:xfrm>
          <a:prstGeom prst="ellipse">
            <a:avLst/>
          </a:prstGeom>
        </p:spPr>
      </p:pic>
    </p:spTree>
    <p:extLst>
      <p:ext uri="{BB962C8B-B14F-4D97-AF65-F5344CB8AC3E}">
        <p14:creationId xmlns:p14="http://schemas.microsoft.com/office/powerpoint/2010/main" val="3415045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6DAA630-C5B7-9D08-C9FA-FF9C6D556897}"/>
            </a:ext>
          </a:extLst>
        </p:cNvPr>
        <p:cNvGrpSpPr/>
        <p:nvPr/>
      </p:nvGrpSpPr>
      <p:grpSpPr>
        <a:xfrm>
          <a:off x="0" y="0"/>
          <a:ext cx="0" cy="0"/>
          <a:chOff x="0" y="0"/>
          <a:chExt cx="0" cy="0"/>
        </a:xfrm>
      </p:grpSpPr>
      <p:sp>
        <p:nvSpPr>
          <p:cNvPr id="90" name="Google Shape;90;p19">
            <a:extLst>
              <a:ext uri="{FF2B5EF4-FFF2-40B4-BE49-F238E27FC236}">
                <a16:creationId xmlns:a16="http://schemas.microsoft.com/office/drawing/2014/main" id="{8B6B4A03-9321-81A8-06B9-0D9AE5373030}"/>
              </a:ext>
            </a:extLst>
          </p:cNvPr>
          <p:cNvSpPr txBox="1">
            <a:spLocks noGrp="1"/>
          </p:cNvSpPr>
          <p:nvPr>
            <p:ph type="title"/>
          </p:nvPr>
        </p:nvSpPr>
        <p:spPr>
          <a:xfrm>
            <a:off x="766840" y="528382"/>
            <a:ext cx="10516080" cy="897647"/>
          </a:xfrm>
          <a:prstGeom prst="rect">
            <a:avLst/>
          </a:prstGeom>
        </p:spPr>
        <p:txBody>
          <a:bodyPr spcFirstLastPara="1" wrap="square" lIns="121900" tIns="121900" rIns="121900" bIns="121900" anchor="t" anchorCtr="0">
            <a:normAutofit fontScale="90000"/>
          </a:bodyPr>
          <a:lstStyle/>
          <a:p>
            <a:pPr algn="ctr"/>
            <a:r>
              <a:rPr lang="en-GB" sz="2400" b="1" dirty="0">
                <a:latin typeface="Source Sans Pro" panose="020B0503030403020204" pitchFamily="34" charset="0"/>
                <a:ea typeface="Source Sans Pro" panose="020B0503030403020204" pitchFamily="34" charset="0"/>
              </a:rPr>
              <a:t>How do we describe the distribution of a </a:t>
            </a:r>
            <a:br>
              <a:rPr lang="en-GB" sz="2400" b="1" dirty="0">
                <a:latin typeface="Source Sans Pro" panose="020B0503030403020204" pitchFamily="34" charset="0"/>
                <a:ea typeface="Source Sans Pro" panose="020B0503030403020204" pitchFamily="34" charset="0"/>
              </a:rPr>
            </a:br>
            <a:r>
              <a:rPr lang="en-GB" sz="2400" b="1" dirty="0">
                <a:latin typeface="Source Sans Pro" panose="020B0503030403020204" pitchFamily="34" charset="0"/>
                <a:ea typeface="Source Sans Pro" panose="020B0503030403020204" pitchFamily="34" charset="0"/>
              </a:rPr>
              <a:t>ordinal, nominal or discrete variable?</a:t>
            </a:r>
          </a:p>
        </p:txBody>
      </p:sp>
      <p:sp>
        <p:nvSpPr>
          <p:cNvPr id="91" name="Google Shape;91;p19">
            <a:extLst>
              <a:ext uri="{FF2B5EF4-FFF2-40B4-BE49-F238E27FC236}">
                <a16:creationId xmlns:a16="http://schemas.microsoft.com/office/drawing/2014/main" id="{3442A813-6AF3-90B6-605D-44EAA8037802}"/>
              </a:ext>
            </a:extLst>
          </p:cNvPr>
          <p:cNvSpPr txBox="1">
            <a:spLocks noGrp="1"/>
          </p:cNvSpPr>
          <p:nvPr>
            <p:ph type="body" idx="1"/>
          </p:nvPr>
        </p:nvSpPr>
        <p:spPr>
          <a:xfrm>
            <a:off x="1879600" y="1651009"/>
            <a:ext cx="8432800" cy="1085773"/>
          </a:xfrm>
          <a:prstGeom prst="rect">
            <a:avLst/>
          </a:prstGeom>
        </p:spPr>
        <p:txBody>
          <a:bodyPr spcFirstLastPara="1" wrap="square" lIns="121900" tIns="121900" rIns="121900" bIns="121900" anchor="t" anchorCtr="0">
            <a:normAutofit/>
          </a:bodyPr>
          <a:lstStyle/>
          <a:p>
            <a:pPr marL="0" indent="0">
              <a:buNone/>
            </a:pPr>
            <a:r>
              <a:rPr lang="en-GB" dirty="0">
                <a:latin typeface="Source Sans Pro" panose="020B0503030403020204" pitchFamily="34" charset="0"/>
                <a:ea typeface="Source Sans Pro" panose="020B0503030403020204" pitchFamily="34" charset="0"/>
              </a:rPr>
              <a:t>What are the outcomes in the sample, and how frequently do they occur?</a:t>
            </a:r>
          </a:p>
        </p:txBody>
      </p:sp>
      <p:sp>
        <p:nvSpPr>
          <p:cNvPr id="5" name="Slide Number Placeholder 4">
            <a:extLst>
              <a:ext uri="{FF2B5EF4-FFF2-40B4-BE49-F238E27FC236}">
                <a16:creationId xmlns:a16="http://schemas.microsoft.com/office/drawing/2014/main" id="{DA25101A-27F0-AE2A-32E6-47A52311BFC3}"/>
              </a:ext>
            </a:extLst>
          </p:cNvPr>
          <p:cNvSpPr>
            <a:spLocks noGrp="1"/>
          </p:cNvSpPr>
          <p:nvPr>
            <p:ph type="sldNum" idx="12"/>
          </p:nvPr>
        </p:nvSpPr>
        <p:spPr/>
        <p:txBody>
          <a:bodyPr/>
          <a:lstStyle/>
          <a:p>
            <a:fld id="{00000000-1234-1234-1234-123412341234}" type="slidenum">
              <a:rPr lang="en-GB" smtClean="0"/>
              <a:pPr/>
              <a:t>24</a:t>
            </a:fld>
            <a:endParaRPr lang="en-GB" dirty="0"/>
          </a:p>
        </p:txBody>
      </p:sp>
      <p:pic>
        <p:nvPicPr>
          <p:cNvPr id="2" name="Camera 1">
            <a:extLst>
              <a:ext uri="{FF2B5EF4-FFF2-40B4-BE49-F238E27FC236}">
                <a16:creationId xmlns:a16="http://schemas.microsoft.com/office/drawing/2014/main" id="{89FC434E-A0E0-F64F-B00A-2D7D0701BC6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605011" y="679382"/>
            <a:ext cx="2057400" cy="2057400"/>
          </a:xfrm>
          <a:prstGeom prst="ellipse">
            <a:avLst/>
          </a:prstGeom>
        </p:spPr>
      </p:pic>
    </p:spTree>
    <p:extLst>
      <p:ext uri="{BB962C8B-B14F-4D97-AF65-F5344CB8AC3E}">
        <p14:creationId xmlns:p14="http://schemas.microsoft.com/office/powerpoint/2010/main" val="1730745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0BD7920-3F16-8A8A-9BDA-76E8C83D8800}"/>
            </a:ext>
          </a:extLst>
        </p:cNvPr>
        <p:cNvGrpSpPr/>
        <p:nvPr/>
      </p:nvGrpSpPr>
      <p:grpSpPr>
        <a:xfrm>
          <a:off x="0" y="0"/>
          <a:ext cx="0" cy="0"/>
          <a:chOff x="0" y="0"/>
          <a:chExt cx="0" cy="0"/>
        </a:xfrm>
      </p:grpSpPr>
      <p:sp>
        <p:nvSpPr>
          <p:cNvPr id="91" name="Google Shape;91;p19">
            <a:extLst>
              <a:ext uri="{FF2B5EF4-FFF2-40B4-BE49-F238E27FC236}">
                <a16:creationId xmlns:a16="http://schemas.microsoft.com/office/drawing/2014/main" id="{5112E955-8C41-2205-3B5F-848ECA877A48}"/>
              </a:ext>
            </a:extLst>
          </p:cNvPr>
          <p:cNvSpPr txBox="1">
            <a:spLocks noGrp="1"/>
          </p:cNvSpPr>
          <p:nvPr>
            <p:ph type="body" idx="1"/>
          </p:nvPr>
        </p:nvSpPr>
        <p:spPr>
          <a:xfrm>
            <a:off x="1895565" y="1909131"/>
            <a:ext cx="8432800" cy="1085773"/>
          </a:xfrm>
          <a:prstGeom prst="rect">
            <a:avLst/>
          </a:prstGeom>
        </p:spPr>
        <p:txBody>
          <a:bodyPr spcFirstLastPara="1" wrap="square" lIns="121900" tIns="121900" rIns="121900" bIns="121900" anchor="t" anchorCtr="0">
            <a:normAutofit/>
          </a:bodyPr>
          <a:lstStyle/>
          <a:p>
            <a:pPr marL="0" indent="0">
              <a:buNone/>
            </a:pPr>
            <a:r>
              <a:rPr lang="en-GB" dirty="0">
                <a:latin typeface="Source Sans Pro" panose="020B0503030403020204" pitchFamily="34" charset="0"/>
                <a:ea typeface="Source Sans Pro" panose="020B0503030403020204" pitchFamily="34" charset="0"/>
              </a:rPr>
              <a:t>What are the outcomes in the sample, and how frequently do they occur?</a:t>
            </a:r>
          </a:p>
        </p:txBody>
      </p:sp>
      <p:sp>
        <p:nvSpPr>
          <p:cNvPr id="2" name="Google Shape;95;p19">
            <a:extLst>
              <a:ext uri="{FF2B5EF4-FFF2-40B4-BE49-F238E27FC236}">
                <a16:creationId xmlns:a16="http://schemas.microsoft.com/office/drawing/2014/main" id="{102C3CE3-8492-339B-94D5-6BF421404FF5}"/>
              </a:ext>
            </a:extLst>
          </p:cNvPr>
          <p:cNvSpPr txBox="1"/>
          <p:nvPr/>
        </p:nvSpPr>
        <p:spPr>
          <a:xfrm>
            <a:off x="1895565" y="3090466"/>
            <a:ext cx="3108960" cy="677068"/>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GB" sz="2800" b="1" kern="0" dirty="0">
                <a:solidFill>
                  <a:srgbClr val="000000"/>
                </a:solidFill>
                <a:latin typeface="Source Sans Pro" panose="020B0503030403020204" pitchFamily="34" charset="0"/>
                <a:ea typeface="Source Sans Pro" panose="020B0503030403020204" pitchFamily="34" charset="0"/>
                <a:cs typeface="Arial"/>
                <a:sym typeface="Arial"/>
              </a:rPr>
              <a:t>Frequency table</a:t>
            </a:r>
          </a:p>
        </p:txBody>
      </p:sp>
      <p:graphicFrame>
        <p:nvGraphicFramePr>
          <p:cNvPr id="4" name="Google Shape;92;p19">
            <a:extLst>
              <a:ext uri="{FF2B5EF4-FFF2-40B4-BE49-F238E27FC236}">
                <a16:creationId xmlns:a16="http://schemas.microsoft.com/office/drawing/2014/main" id="{510DCE84-5840-D3BD-875D-9D0BECC37B20}"/>
              </a:ext>
            </a:extLst>
          </p:cNvPr>
          <p:cNvGraphicFramePr/>
          <p:nvPr>
            <p:extLst>
              <p:ext uri="{D42A27DB-BD31-4B8C-83A1-F6EECF244321}">
                <p14:modId xmlns:p14="http://schemas.microsoft.com/office/powerpoint/2010/main" val="1764235178"/>
              </p:ext>
            </p:extLst>
          </p:nvPr>
        </p:nvGraphicFramePr>
        <p:xfrm>
          <a:off x="2053044" y="3891842"/>
          <a:ext cx="2514602" cy="1934256"/>
        </p:xfrm>
        <a:graphic>
          <a:graphicData uri="http://schemas.openxmlformats.org/drawingml/2006/table">
            <a:tbl>
              <a:tblPr>
                <a:noFill/>
              </a:tblPr>
              <a:tblGrid>
                <a:gridCol w="1397505">
                  <a:extLst>
                    <a:ext uri="{9D8B030D-6E8A-4147-A177-3AD203B41FA5}">
                      <a16:colId xmlns:a16="http://schemas.microsoft.com/office/drawing/2014/main" val="20000"/>
                    </a:ext>
                  </a:extLst>
                </a:gridCol>
                <a:gridCol w="1117097">
                  <a:extLst>
                    <a:ext uri="{9D8B030D-6E8A-4147-A177-3AD203B41FA5}">
                      <a16:colId xmlns:a16="http://schemas.microsoft.com/office/drawing/2014/main" val="20001"/>
                    </a:ext>
                  </a:extLst>
                </a:gridCol>
              </a:tblGrid>
              <a:tr h="644752">
                <a:tc>
                  <a:txBody>
                    <a:bodyPr/>
                    <a:lstStyle/>
                    <a:p>
                      <a:pPr marL="0" lvl="0" indent="0" algn="l" rtl="0">
                        <a:spcBef>
                          <a:spcPts val="0"/>
                        </a:spcBef>
                        <a:spcAft>
                          <a:spcPts val="0"/>
                        </a:spcAft>
                        <a:buNone/>
                      </a:pPr>
                      <a:r>
                        <a:rPr lang="en-GB" sz="1600" dirty="0"/>
                        <a:t>Outcome</a:t>
                      </a:r>
                    </a:p>
                  </a:txBody>
                  <a:tcPr marL="121900" marR="121900" marT="121900" marB="121900"/>
                </a:tc>
                <a:tc>
                  <a:txBody>
                    <a:bodyPr/>
                    <a:lstStyle/>
                    <a:p>
                      <a:pPr marL="0" lvl="0" indent="0" algn="l" rtl="0">
                        <a:spcBef>
                          <a:spcPts val="0"/>
                        </a:spcBef>
                        <a:spcAft>
                          <a:spcPts val="0"/>
                        </a:spcAft>
                        <a:buNone/>
                      </a:pPr>
                      <a:endParaRPr lang="en-GB" sz="1600" dirty="0"/>
                    </a:p>
                  </a:txBody>
                  <a:tcPr marL="121900" marR="121900" marT="121900" marB="121900"/>
                </a:tc>
                <a:extLst>
                  <a:ext uri="{0D108BD9-81ED-4DB2-BD59-A6C34878D82A}">
                    <a16:rowId xmlns:a16="http://schemas.microsoft.com/office/drawing/2014/main" val="10000"/>
                  </a:ext>
                </a:extLst>
              </a:tr>
              <a:tr h="644752">
                <a:tc>
                  <a:txBody>
                    <a:bodyPr/>
                    <a:lstStyle/>
                    <a:p>
                      <a:pPr marL="0" lvl="0" indent="0" algn="l" rtl="0">
                        <a:spcBef>
                          <a:spcPts val="0"/>
                        </a:spcBef>
                        <a:spcAft>
                          <a:spcPts val="0"/>
                        </a:spcAft>
                        <a:buNone/>
                      </a:pPr>
                      <a:r>
                        <a:rPr lang="en-GB" sz="1600" dirty="0"/>
                        <a:t>Heads</a:t>
                      </a:r>
                    </a:p>
                  </a:txBody>
                  <a:tcPr marL="121900" marR="121900" marT="121900" marB="121900"/>
                </a:tc>
                <a:tc>
                  <a:txBody>
                    <a:bodyPr/>
                    <a:lstStyle/>
                    <a:p>
                      <a:pPr marL="0" lvl="0" indent="0" algn="l" rtl="0">
                        <a:spcBef>
                          <a:spcPts val="0"/>
                        </a:spcBef>
                        <a:spcAft>
                          <a:spcPts val="0"/>
                        </a:spcAft>
                        <a:buNone/>
                      </a:pPr>
                      <a:r>
                        <a:rPr lang="en-GB" sz="1600" dirty="0"/>
                        <a:t>6</a:t>
                      </a:r>
                    </a:p>
                  </a:txBody>
                  <a:tcPr marL="121900" marR="121900" marT="121900" marB="121900"/>
                </a:tc>
                <a:extLst>
                  <a:ext uri="{0D108BD9-81ED-4DB2-BD59-A6C34878D82A}">
                    <a16:rowId xmlns:a16="http://schemas.microsoft.com/office/drawing/2014/main" val="10001"/>
                  </a:ext>
                </a:extLst>
              </a:tr>
              <a:tr h="644752">
                <a:tc>
                  <a:txBody>
                    <a:bodyPr/>
                    <a:lstStyle/>
                    <a:p>
                      <a:pPr marL="0" lvl="0" indent="0" algn="l" rtl="0">
                        <a:spcBef>
                          <a:spcPts val="0"/>
                        </a:spcBef>
                        <a:spcAft>
                          <a:spcPts val="0"/>
                        </a:spcAft>
                        <a:buNone/>
                      </a:pPr>
                      <a:r>
                        <a:rPr lang="en-GB" sz="1600" dirty="0"/>
                        <a:t>Tails</a:t>
                      </a:r>
                    </a:p>
                  </a:txBody>
                  <a:tcPr marL="121900" marR="121900" marT="121900" marB="121900"/>
                </a:tc>
                <a:tc>
                  <a:txBody>
                    <a:bodyPr/>
                    <a:lstStyle/>
                    <a:p>
                      <a:pPr marL="0" lvl="0" indent="0" algn="l" rtl="0">
                        <a:spcBef>
                          <a:spcPts val="0"/>
                        </a:spcBef>
                        <a:spcAft>
                          <a:spcPts val="0"/>
                        </a:spcAft>
                        <a:buNone/>
                      </a:pPr>
                      <a:r>
                        <a:rPr lang="en-GB" sz="1600" dirty="0"/>
                        <a:t>4</a:t>
                      </a:r>
                    </a:p>
                  </a:txBody>
                  <a:tcPr marL="121900" marR="121900" marT="121900" marB="121900"/>
                </a:tc>
                <a:extLst>
                  <a:ext uri="{0D108BD9-81ED-4DB2-BD59-A6C34878D82A}">
                    <a16:rowId xmlns:a16="http://schemas.microsoft.com/office/drawing/2014/main" val="10002"/>
                  </a:ext>
                </a:extLst>
              </a:tr>
            </a:tbl>
          </a:graphicData>
        </a:graphic>
      </p:graphicFrame>
      <p:sp>
        <p:nvSpPr>
          <p:cNvPr id="8" name="Google Shape;90;p19">
            <a:extLst>
              <a:ext uri="{FF2B5EF4-FFF2-40B4-BE49-F238E27FC236}">
                <a16:creationId xmlns:a16="http://schemas.microsoft.com/office/drawing/2014/main" id="{9F28189E-C44A-EBE9-BDA5-4C163DB78A28}"/>
              </a:ext>
            </a:extLst>
          </p:cNvPr>
          <p:cNvSpPr txBox="1">
            <a:spLocks/>
          </p:cNvSpPr>
          <p:nvPr/>
        </p:nvSpPr>
        <p:spPr>
          <a:xfrm>
            <a:off x="766840" y="528382"/>
            <a:ext cx="10516080" cy="95941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GB" sz="2400" b="1" kern="0" dirty="0">
                <a:latin typeface="Source Sans Pro" panose="020B0503030403020204" pitchFamily="34" charset="0"/>
                <a:ea typeface="Source Sans Pro" panose="020B0503030403020204" pitchFamily="34" charset="0"/>
              </a:rPr>
              <a:t>How do we describe the distribution of a </a:t>
            </a:r>
            <a:br>
              <a:rPr lang="en-GB" sz="2400" b="1" kern="0" dirty="0">
                <a:latin typeface="Source Sans Pro" panose="020B0503030403020204" pitchFamily="34" charset="0"/>
                <a:ea typeface="Source Sans Pro" panose="020B0503030403020204" pitchFamily="34" charset="0"/>
              </a:rPr>
            </a:br>
            <a:r>
              <a:rPr lang="en-GB" sz="2400" b="1" kern="0" dirty="0">
                <a:latin typeface="Source Sans Pro" panose="020B0503030403020204" pitchFamily="34" charset="0"/>
                <a:ea typeface="Source Sans Pro" panose="020B0503030403020204" pitchFamily="34" charset="0"/>
              </a:rPr>
              <a:t>ordinal, nominal or discrete variable?</a:t>
            </a:r>
          </a:p>
        </p:txBody>
      </p:sp>
      <p:sp>
        <p:nvSpPr>
          <p:cNvPr id="9" name="Slide Number Placeholder 8">
            <a:extLst>
              <a:ext uri="{FF2B5EF4-FFF2-40B4-BE49-F238E27FC236}">
                <a16:creationId xmlns:a16="http://schemas.microsoft.com/office/drawing/2014/main" id="{4E54C42A-FC42-31D2-C664-38BC1640B307}"/>
              </a:ext>
            </a:extLst>
          </p:cNvPr>
          <p:cNvSpPr>
            <a:spLocks noGrp="1"/>
          </p:cNvSpPr>
          <p:nvPr>
            <p:ph type="sldNum" idx="12"/>
          </p:nvPr>
        </p:nvSpPr>
        <p:spPr/>
        <p:txBody>
          <a:bodyPr/>
          <a:lstStyle/>
          <a:p>
            <a:fld id="{00000000-1234-1234-1234-123412341234}" type="slidenum">
              <a:rPr lang="en-GB" smtClean="0"/>
              <a:pPr/>
              <a:t>25</a:t>
            </a:fld>
            <a:endParaRPr lang="en-GB" dirty="0"/>
          </a:p>
        </p:txBody>
      </p:sp>
      <p:pic>
        <p:nvPicPr>
          <p:cNvPr id="3" name="Camera 2">
            <a:extLst>
              <a:ext uri="{FF2B5EF4-FFF2-40B4-BE49-F238E27FC236}">
                <a16:creationId xmlns:a16="http://schemas.microsoft.com/office/drawing/2014/main" id="{E0FA6258-F4C0-2D53-0FB0-F581CBBDD4E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605011" y="679382"/>
            <a:ext cx="2057400" cy="2057400"/>
          </a:xfrm>
          <a:prstGeom prst="ellipse">
            <a:avLst/>
          </a:prstGeom>
        </p:spPr>
      </p:pic>
    </p:spTree>
    <p:extLst>
      <p:ext uri="{BB962C8B-B14F-4D97-AF65-F5344CB8AC3E}">
        <p14:creationId xmlns:p14="http://schemas.microsoft.com/office/powerpoint/2010/main" val="2738582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42E7926-C0C8-13A3-D51E-51B5DCB471CA}"/>
            </a:ext>
          </a:extLst>
        </p:cNvPr>
        <p:cNvGrpSpPr/>
        <p:nvPr/>
      </p:nvGrpSpPr>
      <p:grpSpPr>
        <a:xfrm>
          <a:off x="0" y="0"/>
          <a:ext cx="0" cy="0"/>
          <a:chOff x="0" y="0"/>
          <a:chExt cx="0" cy="0"/>
        </a:xfrm>
      </p:grpSpPr>
      <p:sp>
        <p:nvSpPr>
          <p:cNvPr id="91" name="Google Shape;91;p19">
            <a:extLst>
              <a:ext uri="{FF2B5EF4-FFF2-40B4-BE49-F238E27FC236}">
                <a16:creationId xmlns:a16="http://schemas.microsoft.com/office/drawing/2014/main" id="{E32090D5-3B2F-39A0-E3AD-00D8A87DDD34}"/>
              </a:ext>
            </a:extLst>
          </p:cNvPr>
          <p:cNvSpPr txBox="1">
            <a:spLocks noGrp="1"/>
          </p:cNvSpPr>
          <p:nvPr>
            <p:ph type="body" idx="1"/>
          </p:nvPr>
        </p:nvSpPr>
        <p:spPr>
          <a:xfrm>
            <a:off x="1808480" y="1505027"/>
            <a:ext cx="8432800" cy="1085773"/>
          </a:xfrm>
          <a:prstGeom prst="rect">
            <a:avLst/>
          </a:prstGeom>
        </p:spPr>
        <p:txBody>
          <a:bodyPr spcFirstLastPara="1" wrap="square" lIns="121900" tIns="121900" rIns="121900" bIns="121900" anchor="t" anchorCtr="0">
            <a:normAutofit/>
          </a:bodyPr>
          <a:lstStyle/>
          <a:p>
            <a:pPr marL="0" indent="0">
              <a:buNone/>
            </a:pPr>
            <a:r>
              <a:rPr lang="en-GB" dirty="0">
                <a:latin typeface="Source Sans Pro" panose="020B0503030403020204" pitchFamily="34" charset="0"/>
                <a:ea typeface="Source Sans Pro" panose="020B0503030403020204" pitchFamily="34" charset="0"/>
              </a:rPr>
              <a:t>What are the outcomes in the sample, and how frequently do they occur?</a:t>
            </a:r>
          </a:p>
        </p:txBody>
      </p:sp>
      <p:pic>
        <p:nvPicPr>
          <p:cNvPr id="3" name="Google Shape;108;p21">
            <a:extLst>
              <a:ext uri="{FF2B5EF4-FFF2-40B4-BE49-F238E27FC236}">
                <a16:creationId xmlns:a16="http://schemas.microsoft.com/office/drawing/2014/main" id="{8C9A504C-608A-B108-163F-26627841F2D9}"/>
              </a:ext>
            </a:extLst>
          </p:cNvPr>
          <p:cNvPicPr preferRelativeResize="0"/>
          <p:nvPr/>
        </p:nvPicPr>
        <p:blipFill>
          <a:blip r:embed="rId3">
            <a:alphaModFix/>
          </a:blip>
          <a:stretch>
            <a:fillRect/>
          </a:stretch>
        </p:blipFill>
        <p:spPr>
          <a:xfrm>
            <a:off x="883338" y="2608030"/>
            <a:ext cx="4163279" cy="3877387"/>
          </a:xfrm>
          <a:prstGeom prst="rect">
            <a:avLst/>
          </a:prstGeom>
          <a:noFill/>
          <a:ln>
            <a:noFill/>
          </a:ln>
        </p:spPr>
      </p:pic>
      <p:sp>
        <p:nvSpPr>
          <p:cNvPr id="5" name="Google Shape;109;p21">
            <a:extLst>
              <a:ext uri="{FF2B5EF4-FFF2-40B4-BE49-F238E27FC236}">
                <a16:creationId xmlns:a16="http://schemas.microsoft.com/office/drawing/2014/main" id="{DCA1CEDF-4AE7-6406-AF3A-35525EC80C4B}"/>
              </a:ext>
            </a:extLst>
          </p:cNvPr>
          <p:cNvSpPr txBox="1"/>
          <p:nvPr/>
        </p:nvSpPr>
        <p:spPr>
          <a:xfrm>
            <a:off x="6096000" y="2705691"/>
            <a:ext cx="4769233" cy="1723508"/>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GB" sz="2400" kern="0" dirty="0">
                <a:solidFill>
                  <a:srgbClr val="000000"/>
                </a:solidFill>
                <a:latin typeface="Source Sans Pro" panose="020B0503030403020204" pitchFamily="34" charset="0"/>
                <a:ea typeface="Source Sans Pro" panose="020B0503030403020204" pitchFamily="34" charset="0"/>
                <a:cs typeface="Arial"/>
                <a:sym typeface="Arial"/>
              </a:rPr>
              <a:t>X-axis: outcome (heads and tails)</a:t>
            </a:r>
          </a:p>
          <a:p>
            <a:pPr defTabSz="1219170">
              <a:buClr>
                <a:srgbClr val="000000"/>
              </a:buClr>
            </a:pPr>
            <a:endParaRPr lang="en-GB" sz="2400"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2400" kern="0" dirty="0">
                <a:solidFill>
                  <a:srgbClr val="000000"/>
                </a:solidFill>
                <a:latin typeface="Source Sans Pro" panose="020B0503030403020204" pitchFamily="34" charset="0"/>
                <a:ea typeface="Source Sans Pro" panose="020B0503030403020204" pitchFamily="34" charset="0"/>
                <a:cs typeface="Arial"/>
                <a:sym typeface="Arial"/>
              </a:rPr>
              <a:t>Y-axis: count of how many times the outcome occurred</a:t>
            </a:r>
          </a:p>
        </p:txBody>
      </p:sp>
      <p:sp>
        <p:nvSpPr>
          <p:cNvPr id="9" name="Google Shape;90;p19">
            <a:extLst>
              <a:ext uri="{FF2B5EF4-FFF2-40B4-BE49-F238E27FC236}">
                <a16:creationId xmlns:a16="http://schemas.microsoft.com/office/drawing/2014/main" id="{3D1B0CE4-0961-FE62-2108-4EEF1D745B1F}"/>
              </a:ext>
            </a:extLst>
          </p:cNvPr>
          <p:cNvSpPr txBox="1">
            <a:spLocks noGrp="1"/>
          </p:cNvSpPr>
          <p:nvPr>
            <p:ph type="title"/>
          </p:nvPr>
        </p:nvSpPr>
        <p:spPr>
          <a:xfrm>
            <a:off x="766840" y="528382"/>
            <a:ext cx="10516080" cy="959415"/>
          </a:xfrm>
          <a:prstGeom prst="rect">
            <a:avLst/>
          </a:prstGeom>
        </p:spPr>
        <p:txBody>
          <a:bodyPr spcFirstLastPara="1" wrap="square" lIns="121900" tIns="121900" rIns="121900" bIns="121900" anchor="t" anchorCtr="0">
            <a:normAutofit/>
          </a:bodyPr>
          <a:lstStyle/>
          <a:p>
            <a:pPr algn="ctr"/>
            <a:r>
              <a:rPr lang="en-GB" sz="2400" b="1" dirty="0">
                <a:latin typeface="Source Sans Pro" panose="020B0503030403020204" pitchFamily="34" charset="0"/>
                <a:ea typeface="Source Sans Pro" panose="020B0503030403020204" pitchFamily="34" charset="0"/>
              </a:rPr>
              <a:t>How do we describe the distribution of a </a:t>
            </a:r>
            <a:br>
              <a:rPr lang="en-GB" sz="2400" b="1" dirty="0">
                <a:latin typeface="Source Sans Pro" panose="020B0503030403020204" pitchFamily="34" charset="0"/>
                <a:ea typeface="Source Sans Pro" panose="020B0503030403020204" pitchFamily="34" charset="0"/>
              </a:rPr>
            </a:br>
            <a:r>
              <a:rPr lang="en-GB" sz="2400" b="1" dirty="0">
                <a:latin typeface="Source Sans Pro" panose="020B0503030403020204" pitchFamily="34" charset="0"/>
                <a:ea typeface="Source Sans Pro" panose="020B0503030403020204" pitchFamily="34" charset="0"/>
              </a:rPr>
              <a:t>ordinal, nominal or discrete variable?</a:t>
            </a:r>
          </a:p>
        </p:txBody>
      </p:sp>
      <p:sp>
        <p:nvSpPr>
          <p:cNvPr id="10" name="Slide Number Placeholder 9">
            <a:extLst>
              <a:ext uri="{FF2B5EF4-FFF2-40B4-BE49-F238E27FC236}">
                <a16:creationId xmlns:a16="http://schemas.microsoft.com/office/drawing/2014/main" id="{2C10F533-51F2-B9F5-67FF-705835DBE889}"/>
              </a:ext>
            </a:extLst>
          </p:cNvPr>
          <p:cNvSpPr>
            <a:spLocks noGrp="1"/>
          </p:cNvSpPr>
          <p:nvPr>
            <p:ph type="sldNum" idx="12"/>
          </p:nvPr>
        </p:nvSpPr>
        <p:spPr/>
        <p:txBody>
          <a:bodyPr/>
          <a:lstStyle/>
          <a:p>
            <a:fld id="{00000000-1234-1234-1234-123412341234}" type="slidenum">
              <a:rPr lang="en-GB" smtClean="0"/>
              <a:pPr/>
              <a:t>26</a:t>
            </a:fld>
            <a:endParaRPr lang="en-GB" dirty="0"/>
          </a:p>
        </p:txBody>
      </p:sp>
      <p:pic>
        <p:nvPicPr>
          <p:cNvPr id="2" name="Camera 1">
            <a:extLst>
              <a:ext uri="{FF2B5EF4-FFF2-40B4-BE49-F238E27FC236}">
                <a16:creationId xmlns:a16="http://schemas.microsoft.com/office/drawing/2014/main" id="{E17127B1-28AA-F562-5530-C32EC8B80FE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9605011" y="679382"/>
            <a:ext cx="2057400" cy="2057400"/>
          </a:xfrm>
          <a:prstGeom prst="ellipse">
            <a:avLst/>
          </a:prstGeom>
        </p:spPr>
      </p:pic>
    </p:spTree>
    <p:extLst>
      <p:ext uri="{BB962C8B-B14F-4D97-AF65-F5344CB8AC3E}">
        <p14:creationId xmlns:p14="http://schemas.microsoft.com/office/powerpoint/2010/main" val="1096115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7173AEB-DEA0-E9D7-33B3-2B477F1F0307}"/>
            </a:ext>
          </a:extLst>
        </p:cNvPr>
        <p:cNvGrpSpPr/>
        <p:nvPr/>
      </p:nvGrpSpPr>
      <p:grpSpPr>
        <a:xfrm>
          <a:off x="0" y="0"/>
          <a:ext cx="0" cy="0"/>
          <a:chOff x="0" y="0"/>
          <a:chExt cx="0" cy="0"/>
        </a:xfrm>
      </p:grpSpPr>
      <p:sp>
        <p:nvSpPr>
          <p:cNvPr id="90" name="Google Shape;90;p19">
            <a:extLst>
              <a:ext uri="{FF2B5EF4-FFF2-40B4-BE49-F238E27FC236}">
                <a16:creationId xmlns:a16="http://schemas.microsoft.com/office/drawing/2014/main" id="{B9F445E3-D98B-819F-C23D-AF4E84C1AF6F}"/>
              </a:ext>
            </a:extLst>
          </p:cNvPr>
          <p:cNvSpPr txBox="1">
            <a:spLocks noGrp="1"/>
          </p:cNvSpPr>
          <p:nvPr>
            <p:ph type="title"/>
          </p:nvPr>
        </p:nvSpPr>
        <p:spPr>
          <a:xfrm>
            <a:off x="766840" y="645865"/>
            <a:ext cx="1051608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How do we describe the distribution of a continuous variable?</a:t>
            </a:r>
          </a:p>
        </p:txBody>
      </p:sp>
      <p:sp>
        <p:nvSpPr>
          <p:cNvPr id="91" name="Google Shape;91;p19">
            <a:extLst>
              <a:ext uri="{FF2B5EF4-FFF2-40B4-BE49-F238E27FC236}">
                <a16:creationId xmlns:a16="http://schemas.microsoft.com/office/drawing/2014/main" id="{B708E218-49DD-B865-0239-353686ADB7DC}"/>
              </a:ext>
            </a:extLst>
          </p:cNvPr>
          <p:cNvSpPr txBox="1">
            <a:spLocks noGrp="1"/>
          </p:cNvSpPr>
          <p:nvPr>
            <p:ph type="body" idx="1"/>
          </p:nvPr>
        </p:nvSpPr>
        <p:spPr>
          <a:xfrm>
            <a:off x="1287660" y="2138808"/>
            <a:ext cx="9474440" cy="638733"/>
          </a:xfrm>
          <a:prstGeom prst="rect">
            <a:avLst/>
          </a:prstGeom>
        </p:spPr>
        <p:txBody>
          <a:bodyPr spcFirstLastPara="1" wrap="square" lIns="121900" tIns="121900" rIns="121900" bIns="121900" anchor="t" anchorCtr="0">
            <a:normAutofit fontScale="62500" lnSpcReduction="20000"/>
          </a:bodyPr>
          <a:lstStyle/>
          <a:p>
            <a:pPr marL="0" indent="0">
              <a:buNone/>
            </a:pPr>
            <a:r>
              <a:rPr lang="en-GB" dirty="0">
                <a:latin typeface="Source Sans Pro" panose="020B0503030403020204" pitchFamily="34" charset="0"/>
                <a:ea typeface="Source Sans Pro" panose="020B0503030403020204" pitchFamily="34" charset="0"/>
              </a:rPr>
              <a:t>We still ask: what are the outcomes in the sample, and how frequently do they occur? (sort of)</a:t>
            </a:r>
          </a:p>
        </p:txBody>
      </p:sp>
      <p:sp>
        <p:nvSpPr>
          <p:cNvPr id="3" name="Slide Number Placeholder 2">
            <a:extLst>
              <a:ext uri="{FF2B5EF4-FFF2-40B4-BE49-F238E27FC236}">
                <a16:creationId xmlns:a16="http://schemas.microsoft.com/office/drawing/2014/main" id="{905D14E8-A649-DF66-E3F2-027D0CDC4612}"/>
              </a:ext>
            </a:extLst>
          </p:cNvPr>
          <p:cNvSpPr>
            <a:spLocks noGrp="1"/>
          </p:cNvSpPr>
          <p:nvPr>
            <p:ph type="sldNum" idx="12"/>
          </p:nvPr>
        </p:nvSpPr>
        <p:spPr/>
        <p:txBody>
          <a:bodyPr/>
          <a:lstStyle/>
          <a:p>
            <a:fld id="{00000000-1234-1234-1234-123412341234}" type="slidenum">
              <a:rPr lang="en-GB" smtClean="0"/>
              <a:pPr/>
              <a:t>27</a:t>
            </a:fld>
            <a:endParaRPr lang="en-GB" dirty="0"/>
          </a:p>
        </p:txBody>
      </p:sp>
      <p:pic>
        <p:nvPicPr>
          <p:cNvPr id="2" name="Camera 1">
            <a:extLst>
              <a:ext uri="{FF2B5EF4-FFF2-40B4-BE49-F238E27FC236}">
                <a16:creationId xmlns:a16="http://schemas.microsoft.com/office/drawing/2014/main" id="{2AB61E1E-1011-7B8F-9BE5-CF1B5B67687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246225" y="4422623"/>
            <a:ext cx="2057400" cy="2057400"/>
          </a:xfrm>
          <a:prstGeom prst="ellipse">
            <a:avLst/>
          </a:prstGeom>
        </p:spPr>
      </p:pic>
    </p:spTree>
    <p:extLst>
      <p:ext uri="{BB962C8B-B14F-4D97-AF65-F5344CB8AC3E}">
        <p14:creationId xmlns:p14="http://schemas.microsoft.com/office/powerpoint/2010/main" val="326482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02FA9BE-2351-DED9-796A-25C3D27D0CFC}"/>
            </a:ext>
          </a:extLst>
        </p:cNvPr>
        <p:cNvGrpSpPr/>
        <p:nvPr/>
      </p:nvGrpSpPr>
      <p:grpSpPr>
        <a:xfrm>
          <a:off x="0" y="0"/>
          <a:ext cx="0" cy="0"/>
          <a:chOff x="0" y="0"/>
          <a:chExt cx="0" cy="0"/>
        </a:xfrm>
      </p:grpSpPr>
      <p:sp>
        <p:nvSpPr>
          <p:cNvPr id="90" name="Google Shape;90;p19">
            <a:extLst>
              <a:ext uri="{FF2B5EF4-FFF2-40B4-BE49-F238E27FC236}">
                <a16:creationId xmlns:a16="http://schemas.microsoft.com/office/drawing/2014/main" id="{35B318AC-13CF-36D9-AB45-B2C1B89FE93C}"/>
              </a:ext>
            </a:extLst>
          </p:cNvPr>
          <p:cNvSpPr txBox="1">
            <a:spLocks noGrp="1"/>
          </p:cNvSpPr>
          <p:nvPr>
            <p:ph type="title"/>
          </p:nvPr>
        </p:nvSpPr>
        <p:spPr>
          <a:xfrm>
            <a:off x="766840" y="645865"/>
            <a:ext cx="1051608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How do we describe the distribution of a continuous variable?</a:t>
            </a:r>
          </a:p>
        </p:txBody>
      </p:sp>
      <p:sp>
        <p:nvSpPr>
          <p:cNvPr id="91" name="Google Shape;91;p19">
            <a:extLst>
              <a:ext uri="{FF2B5EF4-FFF2-40B4-BE49-F238E27FC236}">
                <a16:creationId xmlns:a16="http://schemas.microsoft.com/office/drawing/2014/main" id="{81388F05-E119-4BE5-0712-4E3EECF701A5}"/>
              </a:ext>
            </a:extLst>
          </p:cNvPr>
          <p:cNvSpPr txBox="1">
            <a:spLocks noGrp="1"/>
          </p:cNvSpPr>
          <p:nvPr>
            <p:ph type="body" idx="1"/>
          </p:nvPr>
        </p:nvSpPr>
        <p:spPr>
          <a:xfrm>
            <a:off x="1287660" y="2334751"/>
            <a:ext cx="9474440" cy="2593575"/>
          </a:xfrm>
          <a:prstGeom prst="rect">
            <a:avLst/>
          </a:prstGeom>
        </p:spPr>
        <p:txBody>
          <a:bodyPr spcFirstLastPara="1" wrap="square" lIns="121900" tIns="121900" rIns="121900" bIns="121900" anchor="t" anchorCtr="0">
            <a:normAutofit fontScale="92500" lnSpcReduction="20000"/>
          </a:bodyPr>
          <a:lstStyle/>
          <a:p>
            <a:pPr marL="0" indent="0">
              <a:buNone/>
            </a:pPr>
            <a:r>
              <a:rPr lang="en-GB" dirty="0">
                <a:latin typeface="Source Sans Pro" panose="020B0503030403020204" pitchFamily="34" charset="0"/>
                <a:ea typeface="Source Sans Pro" panose="020B0503030403020204" pitchFamily="34" charset="0"/>
              </a:rPr>
              <a:t>We still ask: what are the outcomes in the sample, and how frequently do they occur? (sort of)</a:t>
            </a:r>
          </a:p>
          <a:p>
            <a:pPr marL="0" indent="0">
              <a:buNone/>
            </a:pPr>
            <a:br>
              <a:rPr lang="en-GB" dirty="0">
                <a:latin typeface="Source Sans Pro" panose="020B0503030403020204" pitchFamily="34" charset="0"/>
                <a:ea typeface="Source Sans Pro" panose="020B0503030403020204" pitchFamily="34" charset="0"/>
              </a:rPr>
            </a:br>
            <a:r>
              <a:rPr lang="en-GB" dirty="0">
                <a:latin typeface="Source Sans Pro" panose="020B0503030403020204" pitchFamily="34" charset="0"/>
                <a:ea typeface="Source Sans Pro" panose="020B0503030403020204" pitchFamily="34" charset="0"/>
              </a:rPr>
              <a:t>Let’s look at pulse data from the NHANES data (US National Health and Nutrition Examination Study)</a:t>
            </a:r>
          </a:p>
          <a:p>
            <a:pPr marL="0" indent="0">
              <a:buNone/>
            </a:pPr>
            <a:endParaRPr lang="en-GB" dirty="0">
              <a:latin typeface="Source Sans Pro" panose="020B0503030403020204" pitchFamily="34" charset="0"/>
              <a:ea typeface="Source Sans Pro" panose="020B0503030403020204" pitchFamily="34" charset="0"/>
            </a:endParaRPr>
          </a:p>
          <a:p>
            <a:pPr marL="0" indent="0">
              <a:buNone/>
            </a:pPr>
            <a:r>
              <a:rPr lang="en-GB" dirty="0">
                <a:latin typeface="Source Sans Pro" panose="020B0503030403020204" pitchFamily="34" charset="0"/>
                <a:ea typeface="Source Sans Pro" panose="020B0503030403020204" pitchFamily="34" charset="0"/>
              </a:rPr>
              <a:t>We’ll create a frequency table. Pulse is a continuous variable, so we’ll need to split the data into intervals, or ‘bins’</a:t>
            </a:r>
          </a:p>
          <a:p>
            <a:pPr marL="0" indent="0">
              <a:buNone/>
            </a:pPr>
            <a:endParaRPr lang="en-GB" dirty="0">
              <a:latin typeface="Source Sans Pro" panose="020B0503030403020204" pitchFamily="34" charset="0"/>
              <a:ea typeface="Source Sans Pro" panose="020B0503030403020204" pitchFamily="34" charset="0"/>
            </a:endParaRPr>
          </a:p>
          <a:p>
            <a:pPr marL="0" indent="0">
              <a:buNone/>
            </a:pPr>
            <a:endParaRPr lang="en-GB" dirty="0">
              <a:latin typeface="Source Sans Pro" panose="020B0503030403020204" pitchFamily="34" charset="0"/>
              <a:ea typeface="Source Sans Pro" panose="020B0503030403020204" pitchFamily="34" charset="0"/>
            </a:endParaRPr>
          </a:p>
        </p:txBody>
      </p:sp>
      <p:sp>
        <p:nvSpPr>
          <p:cNvPr id="3" name="Slide Number Placeholder 2">
            <a:extLst>
              <a:ext uri="{FF2B5EF4-FFF2-40B4-BE49-F238E27FC236}">
                <a16:creationId xmlns:a16="http://schemas.microsoft.com/office/drawing/2014/main" id="{BD4ED0C9-67BD-2044-6FC0-9138D13518B0}"/>
              </a:ext>
            </a:extLst>
          </p:cNvPr>
          <p:cNvSpPr>
            <a:spLocks noGrp="1"/>
          </p:cNvSpPr>
          <p:nvPr>
            <p:ph type="sldNum" idx="12"/>
          </p:nvPr>
        </p:nvSpPr>
        <p:spPr/>
        <p:txBody>
          <a:bodyPr/>
          <a:lstStyle/>
          <a:p>
            <a:fld id="{00000000-1234-1234-1234-123412341234}" type="slidenum">
              <a:rPr lang="en-GB" smtClean="0"/>
              <a:pPr/>
              <a:t>28</a:t>
            </a:fld>
            <a:endParaRPr lang="en-GB" dirty="0"/>
          </a:p>
        </p:txBody>
      </p:sp>
      <p:pic>
        <p:nvPicPr>
          <p:cNvPr id="2" name="Camera 1">
            <a:extLst>
              <a:ext uri="{FF2B5EF4-FFF2-40B4-BE49-F238E27FC236}">
                <a16:creationId xmlns:a16="http://schemas.microsoft.com/office/drawing/2014/main" id="{5944A776-9091-524B-E429-CA62C6AE23FC}"/>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239211" y="4538737"/>
            <a:ext cx="2057400" cy="2057400"/>
          </a:xfrm>
          <a:prstGeom prst="ellipse">
            <a:avLst/>
          </a:prstGeom>
        </p:spPr>
      </p:pic>
    </p:spTree>
    <p:extLst>
      <p:ext uri="{BB962C8B-B14F-4D97-AF65-F5344CB8AC3E}">
        <p14:creationId xmlns:p14="http://schemas.microsoft.com/office/powerpoint/2010/main" val="2765009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BEB863E-315F-5BC7-208D-A1BC5AC241D5}"/>
              </a:ext>
            </a:extLst>
          </p:cNvPr>
          <p:cNvSpPr>
            <a:spLocks noGrp="1"/>
          </p:cNvSpPr>
          <p:nvPr>
            <p:ph type="sldNum" idx="12"/>
          </p:nvPr>
        </p:nvSpPr>
        <p:spPr/>
        <p:txBody>
          <a:bodyPr/>
          <a:lstStyle/>
          <a:p>
            <a:fld id="{00000000-1234-1234-1234-123412341234}" type="slidenum">
              <a:rPr lang="en-GB" smtClean="0"/>
              <a:pPr/>
              <a:t>29</a:t>
            </a:fld>
            <a:endParaRPr lang="en-GB" dirty="0"/>
          </a:p>
        </p:txBody>
      </p:sp>
      <p:pic>
        <p:nvPicPr>
          <p:cNvPr id="4" name="Picture 3">
            <a:extLst>
              <a:ext uri="{FF2B5EF4-FFF2-40B4-BE49-F238E27FC236}">
                <a16:creationId xmlns:a16="http://schemas.microsoft.com/office/drawing/2014/main" id="{7EEB2861-98B4-7824-A589-F28F3A63214A}"/>
              </a:ext>
            </a:extLst>
          </p:cNvPr>
          <p:cNvPicPr>
            <a:picLocks noChangeAspect="1"/>
          </p:cNvPicPr>
          <p:nvPr/>
        </p:nvPicPr>
        <p:blipFill>
          <a:blip r:embed="rId3"/>
          <a:stretch>
            <a:fillRect/>
          </a:stretch>
        </p:blipFill>
        <p:spPr>
          <a:xfrm>
            <a:off x="1328420" y="508000"/>
            <a:ext cx="4191000" cy="5842000"/>
          </a:xfrm>
          <a:prstGeom prst="rect">
            <a:avLst/>
          </a:prstGeom>
        </p:spPr>
      </p:pic>
      <p:sp>
        <p:nvSpPr>
          <p:cNvPr id="122" name="Google Shape;122;p23"/>
          <p:cNvSpPr/>
          <p:nvPr/>
        </p:nvSpPr>
        <p:spPr>
          <a:xfrm>
            <a:off x="1409607" y="993674"/>
            <a:ext cx="1231993" cy="5265183"/>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lang="en-GB" sz="1867" kern="0" dirty="0">
              <a:solidFill>
                <a:srgbClr val="000000"/>
              </a:solidFill>
              <a:latin typeface="Arial"/>
              <a:cs typeface="Arial"/>
              <a:sym typeface="Arial"/>
            </a:endParaRPr>
          </a:p>
        </p:txBody>
      </p:sp>
      <p:pic>
        <p:nvPicPr>
          <p:cNvPr id="2" name="Camera 1">
            <a:extLst>
              <a:ext uri="{FF2B5EF4-FFF2-40B4-BE49-F238E27FC236}">
                <a16:creationId xmlns:a16="http://schemas.microsoft.com/office/drawing/2014/main" id="{7B5BEEF2-E33A-1A28-7516-B539607FD2D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9246225" y="4422623"/>
            <a:ext cx="2057400" cy="2057400"/>
          </a:xfrm>
          <a:prstGeom prst="ellipse">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61D2023-CB63-FF36-2402-9B2E0C9AC2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413591-1319-9EF4-6427-9511BAF89111}"/>
              </a:ext>
            </a:extLst>
          </p:cNvPr>
          <p:cNvSpPr>
            <a:spLocks noGrp="1"/>
          </p:cNvSpPr>
          <p:nvPr>
            <p:ph type="sldNum" idx="12"/>
          </p:nvPr>
        </p:nvSpPr>
        <p:spPr/>
        <p:txBody>
          <a:bodyPr/>
          <a:lstStyle/>
          <a:p>
            <a:fld id="{00000000-1234-1234-1234-123412341234}" type="slidenum">
              <a:rPr lang="en-GB" smtClean="0"/>
              <a:pPr/>
              <a:t>30</a:t>
            </a:fld>
            <a:endParaRPr lang="en-GB" dirty="0"/>
          </a:p>
        </p:txBody>
      </p:sp>
      <p:pic>
        <p:nvPicPr>
          <p:cNvPr id="4" name="Picture 3">
            <a:extLst>
              <a:ext uri="{FF2B5EF4-FFF2-40B4-BE49-F238E27FC236}">
                <a16:creationId xmlns:a16="http://schemas.microsoft.com/office/drawing/2014/main" id="{07DA64E0-B2B8-338A-8206-0CB86B10EED7}"/>
              </a:ext>
            </a:extLst>
          </p:cNvPr>
          <p:cNvPicPr>
            <a:picLocks noChangeAspect="1"/>
          </p:cNvPicPr>
          <p:nvPr/>
        </p:nvPicPr>
        <p:blipFill>
          <a:blip r:embed="rId3"/>
          <a:stretch>
            <a:fillRect/>
          </a:stretch>
        </p:blipFill>
        <p:spPr>
          <a:xfrm>
            <a:off x="1328420" y="508000"/>
            <a:ext cx="4191000" cy="5842000"/>
          </a:xfrm>
          <a:prstGeom prst="rect">
            <a:avLst/>
          </a:prstGeom>
        </p:spPr>
      </p:pic>
      <p:sp>
        <p:nvSpPr>
          <p:cNvPr id="122" name="Google Shape;122;p23">
            <a:extLst>
              <a:ext uri="{FF2B5EF4-FFF2-40B4-BE49-F238E27FC236}">
                <a16:creationId xmlns:a16="http://schemas.microsoft.com/office/drawing/2014/main" id="{0E2A9CA5-1C93-C1F3-B8D2-84F4B65E8090}"/>
              </a:ext>
            </a:extLst>
          </p:cNvPr>
          <p:cNvSpPr/>
          <p:nvPr/>
        </p:nvSpPr>
        <p:spPr>
          <a:xfrm>
            <a:off x="4287427" y="952440"/>
            <a:ext cx="1231993" cy="5265183"/>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lang="en-GB" sz="1867" kern="0" dirty="0">
              <a:solidFill>
                <a:srgbClr val="000000"/>
              </a:solidFill>
              <a:latin typeface="Arial"/>
              <a:cs typeface="Arial"/>
              <a:sym typeface="Arial"/>
            </a:endParaRPr>
          </a:p>
        </p:txBody>
      </p:sp>
      <p:pic>
        <p:nvPicPr>
          <p:cNvPr id="2" name="Camera 1">
            <a:extLst>
              <a:ext uri="{FF2B5EF4-FFF2-40B4-BE49-F238E27FC236}">
                <a16:creationId xmlns:a16="http://schemas.microsoft.com/office/drawing/2014/main" id="{79A460CF-09E1-B4F9-B811-FE610576508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9246225" y="4422623"/>
            <a:ext cx="2057400" cy="2057400"/>
          </a:xfrm>
          <a:prstGeom prst="ellipse">
            <a:avLst/>
          </a:prstGeom>
        </p:spPr>
      </p:pic>
    </p:spTree>
    <p:extLst>
      <p:ext uri="{BB962C8B-B14F-4D97-AF65-F5344CB8AC3E}">
        <p14:creationId xmlns:p14="http://schemas.microsoft.com/office/powerpoint/2010/main" val="3206904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92911FA2-75FD-C6C0-FE34-5B78E7E1E66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38E0B9-B3AE-1089-600B-C59FE38BC43B}"/>
              </a:ext>
            </a:extLst>
          </p:cNvPr>
          <p:cNvSpPr>
            <a:spLocks noGrp="1"/>
          </p:cNvSpPr>
          <p:nvPr>
            <p:ph type="sldNum" idx="12"/>
          </p:nvPr>
        </p:nvSpPr>
        <p:spPr/>
        <p:txBody>
          <a:bodyPr/>
          <a:lstStyle/>
          <a:p>
            <a:fld id="{00000000-1234-1234-1234-123412341234}" type="slidenum">
              <a:rPr lang="en-GB" smtClean="0"/>
              <a:pPr/>
              <a:t>31</a:t>
            </a:fld>
            <a:endParaRPr lang="en-GB" dirty="0"/>
          </a:p>
        </p:txBody>
      </p:sp>
      <p:pic>
        <p:nvPicPr>
          <p:cNvPr id="6" name="Picture 5">
            <a:extLst>
              <a:ext uri="{FF2B5EF4-FFF2-40B4-BE49-F238E27FC236}">
                <a16:creationId xmlns:a16="http://schemas.microsoft.com/office/drawing/2014/main" id="{6BD1F6A5-91B9-A891-146F-2B0A3805B2E6}"/>
              </a:ext>
            </a:extLst>
          </p:cNvPr>
          <p:cNvPicPr>
            <a:picLocks noChangeAspect="1"/>
          </p:cNvPicPr>
          <p:nvPr/>
        </p:nvPicPr>
        <p:blipFill>
          <a:blip r:embed="rId3"/>
          <a:stretch>
            <a:fillRect/>
          </a:stretch>
        </p:blipFill>
        <p:spPr>
          <a:xfrm>
            <a:off x="533400" y="1485900"/>
            <a:ext cx="5829300" cy="3886200"/>
          </a:xfrm>
          <a:prstGeom prst="rect">
            <a:avLst/>
          </a:prstGeom>
        </p:spPr>
      </p:pic>
      <p:pic>
        <p:nvPicPr>
          <p:cNvPr id="2" name="Camera 1">
            <a:extLst>
              <a:ext uri="{FF2B5EF4-FFF2-40B4-BE49-F238E27FC236}">
                <a16:creationId xmlns:a16="http://schemas.microsoft.com/office/drawing/2014/main" id="{0CDD3F5E-AB0C-3709-42D5-3CA7BEEF3AC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8056053" y="2400300"/>
            <a:ext cx="2057400" cy="2057400"/>
          </a:xfrm>
          <a:prstGeom prst="ellipse">
            <a:avLst/>
          </a:prstGeom>
        </p:spPr>
      </p:pic>
    </p:spTree>
    <p:extLst>
      <p:ext uri="{BB962C8B-B14F-4D97-AF65-F5344CB8AC3E}">
        <p14:creationId xmlns:p14="http://schemas.microsoft.com/office/powerpoint/2010/main" val="3301452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DD4BE6D9-1AD7-EAE0-6E71-B124405A1AC9}"/>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45E38A61-B71B-5AD8-1E1D-B3DA8101F002}"/>
              </a:ext>
            </a:extLst>
          </p:cNvPr>
          <p:cNvPicPr>
            <a:picLocks noChangeAspect="1"/>
          </p:cNvPicPr>
          <p:nvPr/>
        </p:nvPicPr>
        <p:blipFill>
          <a:blip r:embed="rId3"/>
          <a:stretch>
            <a:fillRect/>
          </a:stretch>
        </p:blipFill>
        <p:spPr>
          <a:xfrm>
            <a:off x="445730" y="355241"/>
            <a:ext cx="3957321" cy="5935981"/>
          </a:xfrm>
          <a:prstGeom prst="rect">
            <a:avLst/>
          </a:prstGeom>
        </p:spPr>
      </p:pic>
      <p:sp>
        <p:nvSpPr>
          <p:cNvPr id="3" name="Slide Number Placeholder 2">
            <a:extLst>
              <a:ext uri="{FF2B5EF4-FFF2-40B4-BE49-F238E27FC236}">
                <a16:creationId xmlns:a16="http://schemas.microsoft.com/office/drawing/2014/main" id="{AA176C28-6497-C066-E756-9E3FEFACC860}"/>
              </a:ext>
            </a:extLst>
          </p:cNvPr>
          <p:cNvSpPr>
            <a:spLocks noGrp="1"/>
          </p:cNvSpPr>
          <p:nvPr>
            <p:ph type="sldNum" idx="12"/>
          </p:nvPr>
        </p:nvSpPr>
        <p:spPr/>
        <p:txBody>
          <a:bodyPr/>
          <a:lstStyle/>
          <a:p>
            <a:fld id="{00000000-1234-1234-1234-123412341234}" type="slidenum">
              <a:rPr lang="en-GB" smtClean="0"/>
              <a:pPr/>
              <a:t>32</a:t>
            </a:fld>
            <a:endParaRPr lang="en-GB" dirty="0"/>
          </a:p>
        </p:txBody>
      </p:sp>
      <p:sp>
        <p:nvSpPr>
          <p:cNvPr id="5" name="Google Shape;296;p48">
            <a:extLst>
              <a:ext uri="{FF2B5EF4-FFF2-40B4-BE49-F238E27FC236}">
                <a16:creationId xmlns:a16="http://schemas.microsoft.com/office/drawing/2014/main" id="{2FFC00CF-909E-6BE8-205D-5200081E0B15}"/>
              </a:ext>
            </a:extLst>
          </p:cNvPr>
          <p:cNvSpPr txBox="1"/>
          <p:nvPr/>
        </p:nvSpPr>
        <p:spPr>
          <a:xfrm>
            <a:off x="5501200" y="4145899"/>
            <a:ext cx="10236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Median</a:t>
            </a:r>
          </a:p>
        </p:txBody>
      </p:sp>
      <p:cxnSp>
        <p:nvCxnSpPr>
          <p:cNvPr id="7" name="Google Shape;297;p48">
            <a:extLst>
              <a:ext uri="{FF2B5EF4-FFF2-40B4-BE49-F238E27FC236}">
                <a16:creationId xmlns:a16="http://schemas.microsoft.com/office/drawing/2014/main" id="{F4B663FC-23EF-04D2-BD78-A6892F80A38C}"/>
              </a:ext>
            </a:extLst>
          </p:cNvPr>
          <p:cNvCxnSpPr>
            <a:cxnSpLocks/>
            <a:stCxn id="5" idx="1"/>
          </p:cNvCxnSpPr>
          <p:nvPr/>
        </p:nvCxnSpPr>
        <p:spPr>
          <a:xfrm flipH="1" flipV="1">
            <a:off x="4177243" y="4288697"/>
            <a:ext cx="1323957" cy="123954"/>
          </a:xfrm>
          <a:prstGeom prst="straightConnector1">
            <a:avLst/>
          </a:prstGeom>
          <a:noFill/>
          <a:ln w="9525" cap="flat" cmpd="sng">
            <a:solidFill>
              <a:schemeClr val="dk2"/>
            </a:solidFill>
            <a:prstDash val="solid"/>
            <a:round/>
            <a:headEnd type="none" w="med" len="med"/>
            <a:tailEnd type="triangle" w="med" len="med"/>
          </a:ln>
        </p:spPr>
      </p:cxnSp>
      <p:sp>
        <p:nvSpPr>
          <p:cNvPr id="8" name="Google Shape;298;p48">
            <a:extLst>
              <a:ext uri="{FF2B5EF4-FFF2-40B4-BE49-F238E27FC236}">
                <a16:creationId xmlns:a16="http://schemas.microsoft.com/office/drawing/2014/main" id="{0EAC0E8D-AD8A-0DC2-94E1-EE6632228CE3}"/>
              </a:ext>
            </a:extLst>
          </p:cNvPr>
          <p:cNvSpPr txBox="1"/>
          <p:nvPr/>
        </p:nvSpPr>
        <p:spPr>
          <a:xfrm>
            <a:off x="5013529" y="4678140"/>
            <a:ext cx="18504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First quartile</a:t>
            </a:r>
          </a:p>
        </p:txBody>
      </p:sp>
      <p:cxnSp>
        <p:nvCxnSpPr>
          <p:cNvPr id="9" name="Google Shape;299;p48">
            <a:extLst>
              <a:ext uri="{FF2B5EF4-FFF2-40B4-BE49-F238E27FC236}">
                <a16:creationId xmlns:a16="http://schemas.microsoft.com/office/drawing/2014/main" id="{6A546D41-A6FC-B2DD-9D3C-F9C2DEE4E938}"/>
              </a:ext>
            </a:extLst>
          </p:cNvPr>
          <p:cNvCxnSpPr>
            <a:cxnSpLocks/>
            <a:stCxn id="8" idx="1"/>
          </p:cNvCxnSpPr>
          <p:nvPr/>
        </p:nvCxnSpPr>
        <p:spPr>
          <a:xfrm flipH="1" flipV="1">
            <a:off x="4177243" y="4678044"/>
            <a:ext cx="836286" cy="266848"/>
          </a:xfrm>
          <a:prstGeom prst="straightConnector1">
            <a:avLst/>
          </a:prstGeom>
          <a:noFill/>
          <a:ln w="9525" cap="flat" cmpd="sng">
            <a:solidFill>
              <a:schemeClr val="dk2"/>
            </a:solidFill>
            <a:prstDash val="solid"/>
            <a:round/>
            <a:headEnd type="none" w="med" len="med"/>
            <a:tailEnd type="triangle" w="med" len="med"/>
          </a:ln>
        </p:spPr>
      </p:cxnSp>
      <p:sp>
        <p:nvSpPr>
          <p:cNvPr id="10" name="Google Shape;300;p48">
            <a:extLst>
              <a:ext uri="{FF2B5EF4-FFF2-40B4-BE49-F238E27FC236}">
                <a16:creationId xmlns:a16="http://schemas.microsoft.com/office/drawing/2014/main" id="{B85B4E23-77FE-B96B-5C1E-813B435F6989}"/>
              </a:ext>
            </a:extLst>
          </p:cNvPr>
          <p:cNvSpPr txBox="1"/>
          <p:nvPr/>
        </p:nvSpPr>
        <p:spPr>
          <a:xfrm>
            <a:off x="5004600" y="3612299"/>
            <a:ext cx="16840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Third quartile</a:t>
            </a:r>
          </a:p>
        </p:txBody>
      </p:sp>
      <p:cxnSp>
        <p:nvCxnSpPr>
          <p:cNvPr id="11" name="Google Shape;301;p48">
            <a:extLst>
              <a:ext uri="{FF2B5EF4-FFF2-40B4-BE49-F238E27FC236}">
                <a16:creationId xmlns:a16="http://schemas.microsoft.com/office/drawing/2014/main" id="{C2FDD9D1-1422-B057-92AB-64A0ABFEE006}"/>
              </a:ext>
            </a:extLst>
          </p:cNvPr>
          <p:cNvCxnSpPr>
            <a:cxnSpLocks/>
            <a:stCxn id="10" idx="1"/>
          </p:cNvCxnSpPr>
          <p:nvPr/>
        </p:nvCxnSpPr>
        <p:spPr>
          <a:xfrm flipH="1" flipV="1">
            <a:off x="4177243" y="3773452"/>
            <a:ext cx="827357" cy="105599"/>
          </a:xfrm>
          <a:prstGeom prst="straightConnector1">
            <a:avLst/>
          </a:prstGeom>
          <a:noFill/>
          <a:ln w="9525" cap="flat" cmpd="sng">
            <a:solidFill>
              <a:schemeClr val="dk2"/>
            </a:solidFill>
            <a:prstDash val="solid"/>
            <a:round/>
            <a:headEnd type="none" w="med" len="med"/>
            <a:tailEnd type="triangle" w="med" len="med"/>
          </a:ln>
        </p:spPr>
      </p:cxnSp>
      <p:cxnSp>
        <p:nvCxnSpPr>
          <p:cNvPr id="12" name="Google Shape;302;p48">
            <a:extLst>
              <a:ext uri="{FF2B5EF4-FFF2-40B4-BE49-F238E27FC236}">
                <a16:creationId xmlns:a16="http://schemas.microsoft.com/office/drawing/2014/main" id="{244F69BF-E9AE-496D-965F-F39EF3929BF5}"/>
              </a:ext>
            </a:extLst>
          </p:cNvPr>
          <p:cNvCxnSpPr>
            <a:cxnSpLocks/>
            <a:stCxn id="15" idx="1"/>
          </p:cNvCxnSpPr>
          <p:nvPr/>
        </p:nvCxnSpPr>
        <p:spPr>
          <a:xfrm flipH="1" flipV="1">
            <a:off x="2763520" y="1857365"/>
            <a:ext cx="2601680" cy="469254"/>
          </a:xfrm>
          <a:prstGeom prst="straightConnector1">
            <a:avLst/>
          </a:prstGeom>
          <a:noFill/>
          <a:ln w="9525" cap="flat" cmpd="sng">
            <a:solidFill>
              <a:schemeClr val="dk2"/>
            </a:solidFill>
            <a:prstDash val="solid"/>
            <a:round/>
            <a:headEnd type="none" w="med" len="med"/>
            <a:tailEnd type="triangle" w="med" len="med"/>
          </a:ln>
        </p:spPr>
      </p:cxnSp>
      <p:cxnSp>
        <p:nvCxnSpPr>
          <p:cNvPr id="13" name="Google Shape;303;p48">
            <a:extLst>
              <a:ext uri="{FF2B5EF4-FFF2-40B4-BE49-F238E27FC236}">
                <a16:creationId xmlns:a16="http://schemas.microsoft.com/office/drawing/2014/main" id="{B2D4AF2F-F024-EEB9-F197-F04CC3C74203}"/>
              </a:ext>
            </a:extLst>
          </p:cNvPr>
          <p:cNvCxnSpPr>
            <a:cxnSpLocks/>
            <a:stCxn id="15" idx="1"/>
          </p:cNvCxnSpPr>
          <p:nvPr/>
        </p:nvCxnSpPr>
        <p:spPr>
          <a:xfrm flipH="1" flipV="1">
            <a:off x="2763520" y="1040939"/>
            <a:ext cx="2601680" cy="1285680"/>
          </a:xfrm>
          <a:prstGeom prst="straightConnector1">
            <a:avLst/>
          </a:prstGeom>
          <a:noFill/>
          <a:ln w="9525" cap="flat" cmpd="sng">
            <a:solidFill>
              <a:schemeClr val="dk2"/>
            </a:solidFill>
            <a:prstDash val="solid"/>
            <a:round/>
            <a:headEnd type="none" w="med" len="med"/>
            <a:tailEnd type="triangle" w="med" len="med"/>
          </a:ln>
        </p:spPr>
      </p:cxnSp>
      <p:cxnSp>
        <p:nvCxnSpPr>
          <p:cNvPr id="14" name="Google Shape;304;p48">
            <a:extLst>
              <a:ext uri="{FF2B5EF4-FFF2-40B4-BE49-F238E27FC236}">
                <a16:creationId xmlns:a16="http://schemas.microsoft.com/office/drawing/2014/main" id="{18DB3E40-C2F0-5214-87D8-57C4BF561142}"/>
              </a:ext>
            </a:extLst>
          </p:cNvPr>
          <p:cNvCxnSpPr>
            <a:cxnSpLocks/>
            <a:stCxn id="15" idx="1"/>
          </p:cNvCxnSpPr>
          <p:nvPr/>
        </p:nvCxnSpPr>
        <p:spPr>
          <a:xfrm flipH="1" flipV="1">
            <a:off x="2763520" y="2265969"/>
            <a:ext cx="2601680" cy="60650"/>
          </a:xfrm>
          <a:prstGeom prst="straightConnector1">
            <a:avLst/>
          </a:prstGeom>
          <a:noFill/>
          <a:ln w="9525" cap="flat" cmpd="sng">
            <a:solidFill>
              <a:schemeClr val="dk2"/>
            </a:solidFill>
            <a:prstDash val="solid"/>
            <a:round/>
            <a:headEnd type="none" w="med" len="med"/>
            <a:tailEnd type="triangle" w="med" len="med"/>
          </a:ln>
        </p:spPr>
      </p:cxnSp>
      <p:sp>
        <p:nvSpPr>
          <p:cNvPr id="15" name="Google Shape;305;p48">
            <a:extLst>
              <a:ext uri="{FF2B5EF4-FFF2-40B4-BE49-F238E27FC236}">
                <a16:creationId xmlns:a16="http://schemas.microsoft.com/office/drawing/2014/main" id="{107B2994-B6BF-1883-A5C4-715C5AC3A988}"/>
              </a:ext>
            </a:extLst>
          </p:cNvPr>
          <p:cNvSpPr txBox="1"/>
          <p:nvPr/>
        </p:nvSpPr>
        <p:spPr>
          <a:xfrm>
            <a:off x="5365200" y="2059867"/>
            <a:ext cx="11596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Outliers</a:t>
            </a:r>
          </a:p>
        </p:txBody>
      </p:sp>
      <p:pic>
        <p:nvPicPr>
          <p:cNvPr id="2" name="Camera 1">
            <a:extLst>
              <a:ext uri="{FF2B5EF4-FFF2-40B4-BE49-F238E27FC236}">
                <a16:creationId xmlns:a16="http://schemas.microsoft.com/office/drawing/2014/main" id="{067AD639-DC63-7B63-784D-BB8A665792D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8056053" y="2400300"/>
            <a:ext cx="2057400" cy="2057400"/>
          </a:xfrm>
          <a:prstGeom prst="ellipse">
            <a:avLst/>
          </a:prstGeom>
        </p:spPr>
      </p:pic>
    </p:spTree>
    <p:extLst>
      <p:ext uri="{BB962C8B-B14F-4D97-AF65-F5344CB8AC3E}">
        <p14:creationId xmlns:p14="http://schemas.microsoft.com/office/powerpoint/2010/main" val="1478734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8DF81-4279-5C45-8444-7CB8B5547468}"/>
              </a:ext>
            </a:extLst>
          </p:cNvPr>
          <p:cNvSpPr>
            <a:spLocks noGrp="1"/>
          </p:cNvSpPr>
          <p:nvPr>
            <p:ph type="title"/>
          </p:nvPr>
        </p:nvSpPr>
        <p:spPr>
          <a:xfrm>
            <a:off x="838200" y="428187"/>
            <a:ext cx="10515600" cy="1325563"/>
          </a:xfrm>
        </p:spPr>
        <p:txBody>
          <a:bodyPr/>
          <a:lstStyle/>
          <a:p>
            <a:r>
              <a:rPr lang="en-GB" b="1" noProof="0" dirty="0">
                <a:latin typeface="Source Sans Pro" panose="020B0503030403020204" pitchFamily="34" charset="0"/>
                <a:ea typeface="Source Sans Pro" panose="020B0503030403020204" pitchFamily="34" charset="0"/>
              </a:rPr>
              <a:t>So far we’ve described single variables…</a:t>
            </a:r>
          </a:p>
        </p:txBody>
      </p:sp>
      <p:sp>
        <p:nvSpPr>
          <p:cNvPr id="8" name="Oval 7">
            <a:extLst>
              <a:ext uri="{FF2B5EF4-FFF2-40B4-BE49-F238E27FC236}">
                <a16:creationId xmlns:a16="http://schemas.microsoft.com/office/drawing/2014/main" id="{FD0877DA-71A1-40BA-55F6-1F3CD660A58A}"/>
              </a:ext>
            </a:extLst>
          </p:cNvPr>
          <p:cNvSpPr/>
          <p:nvPr/>
        </p:nvSpPr>
        <p:spPr>
          <a:xfrm>
            <a:off x="5016000" y="2349000"/>
            <a:ext cx="2160000" cy="21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Variable of Interest</a:t>
            </a:r>
          </a:p>
        </p:txBody>
      </p:sp>
      <p:pic>
        <p:nvPicPr>
          <p:cNvPr id="3" name="Camera 2">
            <a:extLst>
              <a:ext uri="{FF2B5EF4-FFF2-40B4-BE49-F238E27FC236}">
                <a16:creationId xmlns:a16="http://schemas.microsoft.com/office/drawing/2014/main" id="{F467CD73-4DB1-BDFA-8074-DF2FA5B37B4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2486472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26D9-56E6-8EDC-2E50-BDD598304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468D7-7DAA-643F-EFA2-724C10EFCFF3}"/>
              </a:ext>
            </a:extLst>
          </p:cNvPr>
          <p:cNvSpPr>
            <a:spLocks noGrp="1"/>
          </p:cNvSpPr>
          <p:nvPr>
            <p:ph type="title"/>
          </p:nvPr>
        </p:nvSpPr>
        <p:spPr>
          <a:xfrm>
            <a:off x="927228" y="663600"/>
            <a:ext cx="9414200"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How do we deal with underlying groups?</a:t>
            </a:r>
          </a:p>
        </p:txBody>
      </p:sp>
      <p:sp>
        <p:nvSpPr>
          <p:cNvPr id="3" name="Slide Number Placeholder 2">
            <a:extLst>
              <a:ext uri="{FF2B5EF4-FFF2-40B4-BE49-F238E27FC236}">
                <a16:creationId xmlns:a16="http://schemas.microsoft.com/office/drawing/2014/main" id="{DFA2ED7C-B948-632E-EAB6-8D1528CF56AC}"/>
              </a:ext>
            </a:extLst>
          </p:cNvPr>
          <p:cNvSpPr>
            <a:spLocks noGrp="1"/>
          </p:cNvSpPr>
          <p:nvPr>
            <p:ph type="sldNum" idx="12"/>
          </p:nvPr>
        </p:nvSpPr>
        <p:spPr/>
        <p:txBody>
          <a:bodyPr/>
          <a:lstStyle/>
          <a:p>
            <a:fld id="{00000000-1234-1234-1234-123412341234}" type="slidenum">
              <a:rPr lang="en-GB" smtClean="0"/>
              <a:pPr/>
              <a:t>34</a:t>
            </a:fld>
            <a:endParaRPr lang="en-GB" dirty="0"/>
          </a:p>
        </p:txBody>
      </p:sp>
      <p:sp>
        <p:nvSpPr>
          <p:cNvPr id="4" name="Oval 3">
            <a:extLst>
              <a:ext uri="{FF2B5EF4-FFF2-40B4-BE49-F238E27FC236}">
                <a16:creationId xmlns:a16="http://schemas.microsoft.com/office/drawing/2014/main" id="{FE11DF4F-014D-084B-7419-F59CFB096C9B}"/>
              </a:ext>
            </a:extLst>
          </p:cNvPr>
          <p:cNvSpPr/>
          <p:nvPr/>
        </p:nvSpPr>
        <p:spPr>
          <a:xfrm>
            <a:off x="5392517" y="2349000"/>
            <a:ext cx="2160000" cy="21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Variable of Interest</a:t>
            </a:r>
          </a:p>
        </p:txBody>
      </p:sp>
      <p:sp>
        <p:nvSpPr>
          <p:cNvPr id="7" name="Oval 6">
            <a:extLst>
              <a:ext uri="{FF2B5EF4-FFF2-40B4-BE49-F238E27FC236}">
                <a16:creationId xmlns:a16="http://schemas.microsoft.com/office/drawing/2014/main" id="{477D07DE-80B4-2A15-38DA-570C64B011E7}"/>
              </a:ext>
            </a:extLst>
          </p:cNvPr>
          <p:cNvSpPr/>
          <p:nvPr/>
        </p:nvSpPr>
        <p:spPr>
          <a:xfrm>
            <a:off x="1250513" y="2349000"/>
            <a:ext cx="2160000" cy="2160000"/>
          </a:xfrm>
          <a:prstGeom prst="ellipse">
            <a:avLst/>
          </a:prstGeom>
          <a:solidFill>
            <a:schemeClr val="accent2">
              <a:lumMod val="25000"/>
              <a:lumOff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Underlying Grouping</a:t>
            </a:r>
          </a:p>
        </p:txBody>
      </p:sp>
      <p:cxnSp>
        <p:nvCxnSpPr>
          <p:cNvPr id="9" name="Straight Arrow Connector 8">
            <a:extLst>
              <a:ext uri="{FF2B5EF4-FFF2-40B4-BE49-F238E27FC236}">
                <a16:creationId xmlns:a16="http://schemas.microsoft.com/office/drawing/2014/main" id="{09E1C5EF-9A02-C1A2-B758-4AC63141D569}"/>
              </a:ext>
            </a:extLst>
          </p:cNvPr>
          <p:cNvCxnSpPr>
            <a:stCxn id="7" idx="6"/>
          </p:cNvCxnSpPr>
          <p:nvPr/>
        </p:nvCxnSpPr>
        <p:spPr>
          <a:xfrm>
            <a:off x="3410513" y="3429000"/>
            <a:ext cx="19820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Camera 4">
            <a:extLst>
              <a:ext uri="{FF2B5EF4-FFF2-40B4-BE49-F238E27FC236}">
                <a16:creationId xmlns:a16="http://schemas.microsoft.com/office/drawing/2014/main" id="{7B9ECE08-E2B4-99AA-A6C3-0483A32E530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1365826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45E15-CFDA-49A7-4C7F-BBD768046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B12B3-3E23-270C-C598-DE3EA4869EDC}"/>
              </a:ext>
            </a:extLst>
          </p:cNvPr>
          <p:cNvSpPr>
            <a:spLocks noGrp="1"/>
          </p:cNvSpPr>
          <p:nvPr>
            <p:ph type="title"/>
          </p:nvPr>
        </p:nvSpPr>
        <p:spPr>
          <a:xfrm>
            <a:off x="728596" y="517296"/>
            <a:ext cx="9101204"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How do I deal with underlying groups?</a:t>
            </a:r>
          </a:p>
        </p:txBody>
      </p:sp>
      <p:sp>
        <p:nvSpPr>
          <p:cNvPr id="3" name="Slide Number Placeholder 2">
            <a:extLst>
              <a:ext uri="{FF2B5EF4-FFF2-40B4-BE49-F238E27FC236}">
                <a16:creationId xmlns:a16="http://schemas.microsoft.com/office/drawing/2014/main" id="{4686E28C-7503-9736-B39D-93068240E01A}"/>
              </a:ext>
            </a:extLst>
          </p:cNvPr>
          <p:cNvSpPr>
            <a:spLocks noGrp="1"/>
          </p:cNvSpPr>
          <p:nvPr>
            <p:ph type="sldNum" idx="12"/>
          </p:nvPr>
        </p:nvSpPr>
        <p:spPr/>
        <p:txBody>
          <a:bodyPr/>
          <a:lstStyle/>
          <a:p>
            <a:fld id="{00000000-1234-1234-1234-123412341234}" type="slidenum">
              <a:rPr lang="en-GB" smtClean="0"/>
              <a:pPr/>
              <a:t>35</a:t>
            </a:fld>
            <a:endParaRPr lang="en-GB" dirty="0"/>
          </a:p>
        </p:txBody>
      </p:sp>
      <p:sp>
        <p:nvSpPr>
          <p:cNvPr id="4" name="Oval 3">
            <a:extLst>
              <a:ext uri="{FF2B5EF4-FFF2-40B4-BE49-F238E27FC236}">
                <a16:creationId xmlns:a16="http://schemas.microsoft.com/office/drawing/2014/main" id="{74333CA2-3378-B0D3-EFEC-444ADF5DEA12}"/>
              </a:ext>
            </a:extLst>
          </p:cNvPr>
          <p:cNvSpPr/>
          <p:nvPr/>
        </p:nvSpPr>
        <p:spPr>
          <a:xfrm>
            <a:off x="5166607" y="2112332"/>
            <a:ext cx="2160000" cy="21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Pulse</a:t>
            </a:r>
          </a:p>
        </p:txBody>
      </p:sp>
      <p:sp>
        <p:nvSpPr>
          <p:cNvPr id="7" name="Oval 6">
            <a:extLst>
              <a:ext uri="{FF2B5EF4-FFF2-40B4-BE49-F238E27FC236}">
                <a16:creationId xmlns:a16="http://schemas.microsoft.com/office/drawing/2014/main" id="{C2D61128-A4F5-652C-EF1E-5491C1C1B14B}"/>
              </a:ext>
            </a:extLst>
          </p:cNvPr>
          <p:cNvSpPr/>
          <p:nvPr/>
        </p:nvSpPr>
        <p:spPr>
          <a:xfrm>
            <a:off x="1024603" y="2112332"/>
            <a:ext cx="2160000" cy="2160000"/>
          </a:xfrm>
          <a:prstGeom prst="ellipse">
            <a:avLst/>
          </a:prstGeom>
          <a:solidFill>
            <a:schemeClr val="accent2">
              <a:lumMod val="25000"/>
              <a:lumOff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Vigorous Physical Activity</a:t>
            </a:r>
          </a:p>
        </p:txBody>
      </p:sp>
      <p:cxnSp>
        <p:nvCxnSpPr>
          <p:cNvPr id="9" name="Straight Arrow Connector 8">
            <a:extLst>
              <a:ext uri="{FF2B5EF4-FFF2-40B4-BE49-F238E27FC236}">
                <a16:creationId xmlns:a16="http://schemas.microsoft.com/office/drawing/2014/main" id="{F7778FD7-F03A-C950-2F74-91946F3F88D2}"/>
              </a:ext>
            </a:extLst>
          </p:cNvPr>
          <p:cNvCxnSpPr>
            <a:stCxn id="7" idx="6"/>
          </p:cNvCxnSpPr>
          <p:nvPr/>
        </p:nvCxnSpPr>
        <p:spPr>
          <a:xfrm>
            <a:off x="3184603" y="3192332"/>
            <a:ext cx="19820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Camera 4">
            <a:extLst>
              <a:ext uri="{FF2B5EF4-FFF2-40B4-BE49-F238E27FC236}">
                <a16:creationId xmlns:a16="http://schemas.microsoft.com/office/drawing/2014/main" id="{643CC605-EB36-D972-AF26-49D897A2499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2555742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B2E7-C00F-23A2-7C3A-D0689F0DA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E0C41-5D5A-7BB3-01B5-9483A6DC15EC}"/>
              </a:ext>
            </a:extLst>
          </p:cNvPr>
          <p:cNvSpPr>
            <a:spLocks noGrp="1"/>
          </p:cNvSpPr>
          <p:nvPr>
            <p:ph type="title"/>
          </p:nvPr>
        </p:nvSpPr>
        <p:spPr>
          <a:xfrm>
            <a:off x="830933" y="593367"/>
            <a:ext cx="7427242"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Can use a ‘faceted’ histogram…</a:t>
            </a:r>
          </a:p>
        </p:txBody>
      </p:sp>
      <p:sp>
        <p:nvSpPr>
          <p:cNvPr id="3" name="Slide Number Placeholder 2">
            <a:extLst>
              <a:ext uri="{FF2B5EF4-FFF2-40B4-BE49-F238E27FC236}">
                <a16:creationId xmlns:a16="http://schemas.microsoft.com/office/drawing/2014/main" id="{A472D834-FBB5-3717-A5C3-8BD9F8C4CBCB}"/>
              </a:ext>
            </a:extLst>
          </p:cNvPr>
          <p:cNvSpPr>
            <a:spLocks noGrp="1"/>
          </p:cNvSpPr>
          <p:nvPr>
            <p:ph type="sldNum" idx="12"/>
          </p:nvPr>
        </p:nvSpPr>
        <p:spPr/>
        <p:txBody>
          <a:bodyPr/>
          <a:lstStyle/>
          <a:p>
            <a:fld id="{00000000-1234-1234-1234-123412341234}" type="slidenum">
              <a:rPr lang="en-GB" smtClean="0"/>
              <a:pPr/>
              <a:t>36</a:t>
            </a:fld>
            <a:endParaRPr lang="en-GB" dirty="0"/>
          </a:p>
        </p:txBody>
      </p:sp>
      <p:pic>
        <p:nvPicPr>
          <p:cNvPr id="4" name="Picture 3">
            <a:extLst>
              <a:ext uri="{FF2B5EF4-FFF2-40B4-BE49-F238E27FC236}">
                <a16:creationId xmlns:a16="http://schemas.microsoft.com/office/drawing/2014/main" id="{9EE4FDA8-A49F-12E2-447A-B4578A74003C}"/>
              </a:ext>
            </a:extLst>
          </p:cNvPr>
          <p:cNvPicPr>
            <a:picLocks noChangeAspect="1"/>
          </p:cNvPicPr>
          <p:nvPr/>
        </p:nvPicPr>
        <p:blipFill>
          <a:blip r:embed="rId2"/>
          <a:stretch>
            <a:fillRect/>
          </a:stretch>
        </p:blipFill>
        <p:spPr>
          <a:xfrm>
            <a:off x="415600" y="1556145"/>
            <a:ext cx="6277984" cy="4708488"/>
          </a:xfrm>
          <a:prstGeom prst="rect">
            <a:avLst/>
          </a:prstGeom>
        </p:spPr>
      </p:pic>
      <p:sp>
        <p:nvSpPr>
          <p:cNvPr id="6" name="TextBox 5">
            <a:extLst>
              <a:ext uri="{FF2B5EF4-FFF2-40B4-BE49-F238E27FC236}">
                <a16:creationId xmlns:a16="http://schemas.microsoft.com/office/drawing/2014/main" id="{2FD560F0-BC57-E7BB-F73A-C939B4B87531}"/>
              </a:ext>
            </a:extLst>
          </p:cNvPr>
          <p:cNvSpPr txBox="1"/>
          <p:nvPr/>
        </p:nvSpPr>
        <p:spPr>
          <a:xfrm>
            <a:off x="7105611" y="1773860"/>
            <a:ext cx="4191000" cy="1528945"/>
          </a:xfrm>
          <a:prstGeom prst="rect">
            <a:avLst/>
          </a:prstGeom>
          <a:noFill/>
        </p:spPr>
        <p:txBody>
          <a:bodyPr wrap="square" rtlCol="0">
            <a:spAutoFit/>
          </a:bodyPr>
          <a:lstStyle/>
          <a:p>
            <a:pP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Not great</a:t>
            </a:r>
          </a:p>
          <a:p>
            <a:pPr defTabSz="1219170">
              <a:buClr>
                <a:srgbClr val="000000"/>
              </a:buClr>
            </a:pPr>
            <a:endParaRPr lang="en-GB" sz="1867"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Difficult to see what the central tendency is, and the height of bars depends on the size of the group.</a:t>
            </a:r>
          </a:p>
        </p:txBody>
      </p:sp>
      <p:pic>
        <p:nvPicPr>
          <p:cNvPr id="5" name="Camera 4">
            <a:extLst>
              <a:ext uri="{FF2B5EF4-FFF2-40B4-BE49-F238E27FC236}">
                <a16:creationId xmlns:a16="http://schemas.microsoft.com/office/drawing/2014/main" id="{9B25B741-F87E-9DDA-725B-DCB8FBF32A3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086568" y="4160223"/>
            <a:ext cx="2057400" cy="2057400"/>
          </a:xfrm>
          <a:prstGeom prst="ellipse">
            <a:avLst/>
          </a:prstGeom>
        </p:spPr>
      </p:pic>
    </p:spTree>
    <p:extLst>
      <p:ext uri="{BB962C8B-B14F-4D97-AF65-F5344CB8AC3E}">
        <p14:creationId xmlns:p14="http://schemas.microsoft.com/office/powerpoint/2010/main" val="1874411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DFF2-BEEB-2840-98EC-4A2057499F94}"/>
              </a:ext>
            </a:extLst>
          </p:cNvPr>
          <p:cNvSpPr>
            <a:spLocks noGrp="1"/>
          </p:cNvSpPr>
          <p:nvPr>
            <p:ph type="title"/>
          </p:nvPr>
        </p:nvSpPr>
        <p:spPr>
          <a:xfrm>
            <a:off x="415599" y="514350"/>
            <a:ext cx="5846977"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The ‘faceted’ boxplot…</a:t>
            </a:r>
          </a:p>
        </p:txBody>
      </p:sp>
      <p:sp>
        <p:nvSpPr>
          <p:cNvPr id="4" name="Slide Number Placeholder 3">
            <a:extLst>
              <a:ext uri="{FF2B5EF4-FFF2-40B4-BE49-F238E27FC236}">
                <a16:creationId xmlns:a16="http://schemas.microsoft.com/office/drawing/2014/main" id="{AA6FF2A6-BDDA-EE81-4871-2B9FD5365F99}"/>
              </a:ext>
            </a:extLst>
          </p:cNvPr>
          <p:cNvSpPr>
            <a:spLocks noGrp="1"/>
          </p:cNvSpPr>
          <p:nvPr>
            <p:ph type="sldNum" idx="12"/>
          </p:nvPr>
        </p:nvSpPr>
        <p:spPr/>
        <p:txBody>
          <a:bodyPr/>
          <a:lstStyle/>
          <a:p>
            <a:fld id="{00000000-1234-1234-1234-123412341234}" type="slidenum">
              <a:rPr lang="en-GB" smtClean="0"/>
              <a:pPr/>
              <a:t>37</a:t>
            </a:fld>
            <a:endParaRPr lang="en-GB" dirty="0"/>
          </a:p>
        </p:txBody>
      </p:sp>
      <p:pic>
        <p:nvPicPr>
          <p:cNvPr id="5" name="Picture 4">
            <a:extLst>
              <a:ext uri="{FF2B5EF4-FFF2-40B4-BE49-F238E27FC236}">
                <a16:creationId xmlns:a16="http://schemas.microsoft.com/office/drawing/2014/main" id="{2E8C7859-4910-D041-2FDE-1B80A85CEC92}"/>
              </a:ext>
            </a:extLst>
          </p:cNvPr>
          <p:cNvPicPr>
            <a:picLocks noChangeAspect="1"/>
          </p:cNvPicPr>
          <p:nvPr/>
        </p:nvPicPr>
        <p:blipFill>
          <a:blip r:embed="rId2"/>
          <a:stretch>
            <a:fillRect/>
          </a:stretch>
        </p:blipFill>
        <p:spPr>
          <a:xfrm>
            <a:off x="415599" y="1516828"/>
            <a:ext cx="6435763" cy="4826822"/>
          </a:xfrm>
          <a:prstGeom prst="rect">
            <a:avLst/>
          </a:prstGeom>
        </p:spPr>
      </p:pic>
      <p:sp>
        <p:nvSpPr>
          <p:cNvPr id="6" name="TextBox 5">
            <a:extLst>
              <a:ext uri="{FF2B5EF4-FFF2-40B4-BE49-F238E27FC236}">
                <a16:creationId xmlns:a16="http://schemas.microsoft.com/office/drawing/2014/main" id="{61C57B62-0E30-E1A4-FE7F-30E5CE909514}"/>
              </a:ext>
            </a:extLst>
          </p:cNvPr>
          <p:cNvSpPr txBox="1"/>
          <p:nvPr/>
        </p:nvSpPr>
        <p:spPr>
          <a:xfrm>
            <a:off x="7195457" y="1046757"/>
            <a:ext cx="4580943" cy="1815882"/>
          </a:xfrm>
          <a:prstGeom prst="rect">
            <a:avLst/>
          </a:prstGeom>
          <a:noFill/>
        </p:spPr>
        <p:txBody>
          <a:bodyPr wrap="square" rtlCol="0">
            <a:spAutoFit/>
          </a:bodyPr>
          <a:lstStyle/>
          <a:p>
            <a:pPr defTabSz="1219170">
              <a:buClr>
                <a:srgbClr val="000000"/>
              </a:buClr>
            </a:pPr>
            <a:r>
              <a:rPr lang="en-GB" sz="1400" kern="0" dirty="0">
                <a:solidFill>
                  <a:srgbClr val="000000"/>
                </a:solidFill>
                <a:latin typeface="Source Sans Pro" panose="020B0503030403020204" pitchFamily="34" charset="0"/>
                <a:ea typeface="Source Sans Pro" panose="020B0503030403020204" pitchFamily="34" charset="0"/>
                <a:cs typeface="Arial"/>
                <a:sym typeface="Arial"/>
              </a:rPr>
              <a:t>Better!</a:t>
            </a:r>
          </a:p>
          <a:p>
            <a:pPr defTabSz="1219170">
              <a:buClr>
                <a:srgbClr val="000000"/>
              </a:buClr>
            </a:pPr>
            <a:endParaRPr lang="en-GB" sz="1400"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1400" kern="0" dirty="0">
                <a:solidFill>
                  <a:srgbClr val="000000"/>
                </a:solidFill>
                <a:latin typeface="Source Sans Pro" panose="020B0503030403020204" pitchFamily="34" charset="0"/>
                <a:ea typeface="Source Sans Pro" panose="020B0503030403020204" pitchFamily="34" charset="0"/>
                <a:cs typeface="Arial"/>
                <a:sym typeface="Arial"/>
              </a:rPr>
              <a:t>Medians and interquartile ranges are easy to compare. Size of boxes does not depend on the group size.</a:t>
            </a:r>
          </a:p>
          <a:p>
            <a:pPr defTabSz="1219170">
              <a:buClr>
                <a:srgbClr val="000000"/>
              </a:buClr>
            </a:pPr>
            <a:endParaRPr lang="en-GB" sz="1400"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1400" kern="0" dirty="0">
                <a:solidFill>
                  <a:srgbClr val="000000"/>
                </a:solidFill>
                <a:latin typeface="Source Sans Pro" panose="020B0503030403020204" pitchFamily="34" charset="0"/>
                <a:ea typeface="Source Sans Pro" panose="020B0503030403020204" pitchFamily="34" charset="0"/>
                <a:cs typeface="Arial"/>
                <a:sym typeface="Arial"/>
              </a:rPr>
              <a:t>We can start to make comments about the difference between the groups, although need ANOVA for that (which we’ll cover later in the course). </a:t>
            </a:r>
          </a:p>
        </p:txBody>
      </p:sp>
      <p:pic>
        <p:nvPicPr>
          <p:cNvPr id="3" name="Camera 2">
            <a:extLst>
              <a:ext uri="{FF2B5EF4-FFF2-40B4-BE49-F238E27FC236}">
                <a16:creationId xmlns:a16="http://schemas.microsoft.com/office/drawing/2014/main" id="{E746A634-EA81-2E95-4B52-97EE03B27E9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239211" y="3930239"/>
            <a:ext cx="2057400" cy="2057400"/>
          </a:xfrm>
          <a:prstGeom prst="ellipse">
            <a:avLst/>
          </a:prstGeom>
        </p:spPr>
      </p:pic>
    </p:spTree>
    <p:extLst>
      <p:ext uri="{BB962C8B-B14F-4D97-AF65-F5344CB8AC3E}">
        <p14:creationId xmlns:p14="http://schemas.microsoft.com/office/powerpoint/2010/main" val="3990887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B5DFED-8AE5-E591-B834-E1276D91185C}"/>
              </a:ext>
            </a:extLst>
          </p:cNvPr>
          <p:cNvSpPr>
            <a:spLocks noGrp="1"/>
          </p:cNvSpPr>
          <p:nvPr>
            <p:ph type="sldNum" idx="12"/>
          </p:nvPr>
        </p:nvSpPr>
        <p:spPr/>
        <p:txBody>
          <a:bodyPr/>
          <a:lstStyle/>
          <a:p>
            <a:fld id="{00000000-1234-1234-1234-123412341234}" type="slidenum">
              <a:rPr lang="en-GB" smtClean="0"/>
              <a:pPr/>
              <a:t>38</a:t>
            </a:fld>
            <a:endParaRPr lang="en-GB" dirty="0"/>
          </a:p>
        </p:txBody>
      </p:sp>
      <p:pic>
        <p:nvPicPr>
          <p:cNvPr id="8" name="Picture 7">
            <a:extLst>
              <a:ext uri="{FF2B5EF4-FFF2-40B4-BE49-F238E27FC236}">
                <a16:creationId xmlns:a16="http://schemas.microsoft.com/office/drawing/2014/main" id="{FB2D1CAE-AAD8-7A27-8C83-FAD4A503D1DB}"/>
              </a:ext>
            </a:extLst>
          </p:cNvPr>
          <p:cNvPicPr>
            <a:picLocks noChangeAspect="1"/>
          </p:cNvPicPr>
          <p:nvPr/>
        </p:nvPicPr>
        <p:blipFill>
          <a:blip r:embed="rId2"/>
          <a:stretch>
            <a:fillRect/>
          </a:stretch>
        </p:blipFill>
        <p:spPr>
          <a:xfrm>
            <a:off x="865094" y="1821107"/>
            <a:ext cx="5862021" cy="4396516"/>
          </a:xfrm>
          <a:prstGeom prst="rect">
            <a:avLst/>
          </a:prstGeom>
        </p:spPr>
      </p:pic>
      <p:sp>
        <p:nvSpPr>
          <p:cNvPr id="9" name="Title 1">
            <a:extLst>
              <a:ext uri="{FF2B5EF4-FFF2-40B4-BE49-F238E27FC236}">
                <a16:creationId xmlns:a16="http://schemas.microsoft.com/office/drawing/2014/main" id="{A0897342-FA58-9584-5ED4-AB7B77485466}"/>
              </a:ext>
            </a:extLst>
          </p:cNvPr>
          <p:cNvSpPr>
            <a:spLocks noGrp="1"/>
          </p:cNvSpPr>
          <p:nvPr>
            <p:ph type="title"/>
          </p:nvPr>
        </p:nvSpPr>
        <p:spPr>
          <a:xfrm>
            <a:off x="415599" y="514350"/>
            <a:ext cx="6155321"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Introducing violin plots…</a:t>
            </a:r>
          </a:p>
        </p:txBody>
      </p:sp>
      <p:sp>
        <p:nvSpPr>
          <p:cNvPr id="10" name="TextBox 9">
            <a:extLst>
              <a:ext uri="{FF2B5EF4-FFF2-40B4-BE49-F238E27FC236}">
                <a16:creationId xmlns:a16="http://schemas.microsoft.com/office/drawing/2014/main" id="{9175069B-5C4C-BAAA-A5EA-E7FCB5DADFBD}"/>
              </a:ext>
            </a:extLst>
          </p:cNvPr>
          <p:cNvSpPr txBox="1"/>
          <p:nvPr/>
        </p:nvSpPr>
        <p:spPr>
          <a:xfrm>
            <a:off x="7135906" y="1821107"/>
            <a:ext cx="4191000" cy="1241622"/>
          </a:xfrm>
          <a:prstGeom prst="rect">
            <a:avLst/>
          </a:prstGeom>
          <a:noFill/>
        </p:spPr>
        <p:txBody>
          <a:bodyPr wrap="square" rtlCol="0">
            <a:spAutoFit/>
          </a:bodyPr>
          <a:lstStyle/>
          <a:p>
            <a:pP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Allow for a holistic understanding of the distribution of the data. Loss of some definitive statistical descriptive measure but easier overview.</a:t>
            </a:r>
          </a:p>
        </p:txBody>
      </p:sp>
      <p:pic>
        <p:nvPicPr>
          <p:cNvPr id="2" name="Camera 1">
            <a:extLst>
              <a:ext uri="{FF2B5EF4-FFF2-40B4-BE49-F238E27FC236}">
                <a16:creationId xmlns:a16="http://schemas.microsoft.com/office/drawing/2014/main" id="{57B7273B-CDD9-45BB-3C7D-96B6ADB5FB3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269506" y="4019365"/>
            <a:ext cx="2057400" cy="2057400"/>
          </a:xfrm>
          <a:prstGeom prst="ellipse">
            <a:avLst/>
          </a:prstGeom>
        </p:spPr>
      </p:pic>
    </p:spTree>
    <p:extLst>
      <p:ext uri="{BB962C8B-B14F-4D97-AF65-F5344CB8AC3E}">
        <p14:creationId xmlns:p14="http://schemas.microsoft.com/office/powerpoint/2010/main" val="3028810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BB07C101-AC8D-22F3-CDE2-9952DB49DD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743FA7-F3D4-F343-457C-F097AFEF3C84}"/>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1.3 Distributional Shapes</a:t>
            </a:r>
          </a:p>
        </p:txBody>
      </p:sp>
      <p:pic>
        <p:nvPicPr>
          <p:cNvPr id="9" name="Picture 8" descr="A black background with white text&#10;&#10;AI-generated content may be incorrect.">
            <a:extLst>
              <a:ext uri="{FF2B5EF4-FFF2-40B4-BE49-F238E27FC236}">
                <a16:creationId xmlns:a16="http://schemas.microsoft.com/office/drawing/2014/main" id="{A861E90F-0966-58D9-AF11-FE3C43D28AD7}"/>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05B68ADB-0B33-AE82-9E5D-CC661BCEBB4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71071" y="4239601"/>
            <a:ext cx="2057400" cy="2057400"/>
          </a:xfrm>
          <a:prstGeom prst="ellipse">
            <a:avLst/>
          </a:prstGeom>
        </p:spPr>
      </p:pic>
    </p:spTree>
    <p:extLst>
      <p:ext uri="{BB962C8B-B14F-4D97-AF65-F5344CB8AC3E}">
        <p14:creationId xmlns:p14="http://schemas.microsoft.com/office/powerpoint/2010/main" val="670153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6365F-6AA4-724E-89C5-F9471EEE8F7B}"/>
              </a:ext>
            </a:extLst>
          </p:cNvPr>
          <p:cNvSpPr>
            <a:spLocks noGrp="1"/>
          </p:cNvSpPr>
          <p:nvPr>
            <p:ph type="title"/>
          </p:nvPr>
        </p:nvSpPr>
        <p:spPr>
          <a:xfrm>
            <a:off x="432955" y="280555"/>
            <a:ext cx="4284517" cy="798657"/>
          </a:xfrm>
        </p:spPr>
        <p:txBody>
          <a:bodyPr>
            <a:normAutofit/>
          </a:bodyPr>
          <a:lstStyle/>
          <a:p>
            <a:r>
              <a:rPr lang="en-GB" sz="2400" b="1" dirty="0">
                <a:latin typeface="Source Sans Pro" panose="020B0503030403020204" pitchFamily="34" charset="0"/>
                <a:ea typeface="Source Sans Pro" panose="020B0503030403020204" pitchFamily="34" charset="0"/>
              </a:rPr>
              <a:t>Let’s start with a histogram</a:t>
            </a:r>
          </a:p>
        </p:txBody>
      </p:sp>
      <p:pic>
        <p:nvPicPr>
          <p:cNvPr id="3" name="Picture 2">
            <a:extLst>
              <a:ext uri="{FF2B5EF4-FFF2-40B4-BE49-F238E27FC236}">
                <a16:creationId xmlns:a16="http://schemas.microsoft.com/office/drawing/2014/main" id="{41D0F879-5419-E553-A16F-4E6493809EA8}"/>
              </a:ext>
            </a:extLst>
          </p:cNvPr>
          <p:cNvPicPr>
            <a:picLocks noChangeAspect="1"/>
          </p:cNvPicPr>
          <p:nvPr/>
        </p:nvPicPr>
        <p:blipFill>
          <a:blip r:embed="rId2"/>
          <a:stretch>
            <a:fillRect/>
          </a:stretch>
        </p:blipFill>
        <p:spPr>
          <a:xfrm>
            <a:off x="540327" y="1305790"/>
            <a:ext cx="5146964" cy="5146964"/>
          </a:xfrm>
          <a:prstGeom prst="rect">
            <a:avLst/>
          </a:prstGeom>
        </p:spPr>
      </p:pic>
      <p:sp>
        <p:nvSpPr>
          <p:cNvPr id="5" name="TextBox 4">
            <a:extLst>
              <a:ext uri="{FF2B5EF4-FFF2-40B4-BE49-F238E27FC236}">
                <a16:creationId xmlns:a16="http://schemas.microsoft.com/office/drawing/2014/main" id="{A8BAEF19-31B3-97C4-1460-40F8E0168AE7}"/>
              </a:ext>
            </a:extLst>
          </p:cNvPr>
          <p:cNvSpPr txBox="1"/>
          <p:nvPr/>
        </p:nvSpPr>
        <p:spPr>
          <a:xfrm>
            <a:off x="6416139" y="993589"/>
            <a:ext cx="4430486" cy="1815882"/>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We have an intuition that height is ‘normally’ distributed for adults, but what does that mean?</a:t>
            </a:r>
          </a:p>
        </p:txBody>
      </p:sp>
      <p:pic>
        <p:nvPicPr>
          <p:cNvPr id="4" name="Camera 3">
            <a:extLst>
              <a:ext uri="{FF2B5EF4-FFF2-40B4-BE49-F238E27FC236}">
                <a16:creationId xmlns:a16="http://schemas.microsoft.com/office/drawing/2014/main" id="{CAB46F27-3A35-275F-038F-D8A7813A528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362339" y="4395354"/>
            <a:ext cx="2057400" cy="2057400"/>
          </a:xfrm>
          <a:prstGeom prst="ellipse">
            <a:avLst/>
          </a:prstGeom>
        </p:spPr>
      </p:pic>
    </p:spTree>
    <p:extLst>
      <p:ext uri="{BB962C8B-B14F-4D97-AF65-F5344CB8AC3E}">
        <p14:creationId xmlns:p14="http://schemas.microsoft.com/office/powerpoint/2010/main" val="1094433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E517-99C6-DC4B-832B-9BA2E1A3AD4D}"/>
              </a:ext>
            </a:extLst>
          </p:cNvPr>
          <p:cNvSpPr>
            <a:spLocks noGrp="1"/>
          </p:cNvSpPr>
          <p:nvPr>
            <p:ph type="title"/>
          </p:nvPr>
        </p:nvSpPr>
        <p:spPr>
          <a:xfrm>
            <a:off x="632691" y="614507"/>
            <a:ext cx="3318164" cy="622011"/>
          </a:xfrm>
        </p:spPr>
        <p:txBody>
          <a:bodyPr>
            <a:normAutofit/>
          </a:bodyPr>
          <a:lstStyle/>
          <a:p>
            <a:r>
              <a:rPr lang="en-GB" sz="2400" b="1" dirty="0">
                <a:latin typeface="Source Sans Pro" panose="020B0503030403020204" pitchFamily="34" charset="0"/>
                <a:ea typeface="Source Sans Pro" panose="020B0503030403020204" pitchFamily="34" charset="0"/>
              </a:rPr>
              <a:t>Scaling the histogram</a:t>
            </a:r>
          </a:p>
        </p:txBody>
      </p:sp>
      <p:pic>
        <p:nvPicPr>
          <p:cNvPr id="3" name="Picture 2">
            <a:extLst>
              <a:ext uri="{FF2B5EF4-FFF2-40B4-BE49-F238E27FC236}">
                <a16:creationId xmlns:a16="http://schemas.microsoft.com/office/drawing/2014/main" id="{374C519C-EB31-0FCE-4A6B-D82016130BEC}"/>
              </a:ext>
            </a:extLst>
          </p:cNvPr>
          <p:cNvPicPr>
            <a:picLocks noChangeAspect="1"/>
          </p:cNvPicPr>
          <p:nvPr/>
        </p:nvPicPr>
        <p:blipFill>
          <a:blip r:embed="rId2"/>
          <a:stretch>
            <a:fillRect/>
          </a:stretch>
        </p:blipFill>
        <p:spPr>
          <a:xfrm>
            <a:off x="5181313" y="1760969"/>
            <a:ext cx="4333009" cy="4333009"/>
          </a:xfrm>
          <a:prstGeom prst="rect">
            <a:avLst/>
          </a:prstGeom>
        </p:spPr>
      </p:pic>
      <p:sp>
        <p:nvSpPr>
          <p:cNvPr id="9" name="Oval 8">
            <a:extLst>
              <a:ext uri="{FF2B5EF4-FFF2-40B4-BE49-F238E27FC236}">
                <a16:creationId xmlns:a16="http://schemas.microsoft.com/office/drawing/2014/main" id="{F56BC923-D6A7-4A4E-BEC9-C050A3E19501}"/>
              </a:ext>
            </a:extLst>
          </p:cNvPr>
          <p:cNvSpPr/>
          <p:nvPr/>
        </p:nvSpPr>
        <p:spPr>
          <a:xfrm>
            <a:off x="5101362" y="3623107"/>
            <a:ext cx="243031" cy="608734"/>
          </a:xfrm>
          <a:prstGeom prst="ellipse">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dirty="0"/>
          </a:p>
        </p:txBody>
      </p:sp>
      <p:pic>
        <p:nvPicPr>
          <p:cNvPr id="4" name="Picture 3">
            <a:extLst>
              <a:ext uri="{FF2B5EF4-FFF2-40B4-BE49-F238E27FC236}">
                <a16:creationId xmlns:a16="http://schemas.microsoft.com/office/drawing/2014/main" id="{718C586F-75A4-028C-A031-67414B6A0A71}"/>
              </a:ext>
            </a:extLst>
          </p:cNvPr>
          <p:cNvPicPr>
            <a:picLocks noChangeAspect="1"/>
          </p:cNvPicPr>
          <p:nvPr/>
        </p:nvPicPr>
        <p:blipFill>
          <a:blip r:embed="rId3"/>
          <a:stretch>
            <a:fillRect/>
          </a:stretch>
        </p:blipFill>
        <p:spPr>
          <a:xfrm>
            <a:off x="511175" y="1760969"/>
            <a:ext cx="4333009" cy="4333009"/>
          </a:xfrm>
          <a:prstGeom prst="rect">
            <a:avLst/>
          </a:prstGeom>
        </p:spPr>
      </p:pic>
      <p:sp>
        <p:nvSpPr>
          <p:cNvPr id="6" name="Oval 5">
            <a:extLst>
              <a:ext uri="{FF2B5EF4-FFF2-40B4-BE49-F238E27FC236}">
                <a16:creationId xmlns:a16="http://schemas.microsoft.com/office/drawing/2014/main" id="{CE701B74-0145-CAB1-B488-A9A410C517AB}"/>
              </a:ext>
            </a:extLst>
          </p:cNvPr>
          <p:cNvSpPr/>
          <p:nvPr/>
        </p:nvSpPr>
        <p:spPr>
          <a:xfrm>
            <a:off x="389660" y="3623107"/>
            <a:ext cx="243031" cy="608734"/>
          </a:xfrm>
          <a:prstGeom prst="ellipse">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dirty="0"/>
          </a:p>
        </p:txBody>
      </p:sp>
      <p:pic>
        <p:nvPicPr>
          <p:cNvPr id="5" name="Camera 4">
            <a:extLst>
              <a:ext uri="{FF2B5EF4-FFF2-40B4-BE49-F238E27FC236}">
                <a16:creationId xmlns:a16="http://schemas.microsoft.com/office/drawing/2014/main" id="{02806D88-A79E-6228-01DE-31936CCF22B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9851451" y="4363857"/>
            <a:ext cx="2057400" cy="2057400"/>
          </a:xfrm>
          <a:prstGeom prst="ellipse">
            <a:avLst/>
          </a:prstGeom>
        </p:spPr>
      </p:pic>
    </p:spTree>
    <p:extLst>
      <p:ext uri="{BB962C8B-B14F-4D97-AF65-F5344CB8AC3E}">
        <p14:creationId xmlns:p14="http://schemas.microsoft.com/office/powerpoint/2010/main" val="1975364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E517-99C6-DC4B-832B-9BA2E1A3AD4D}"/>
              </a:ext>
            </a:extLst>
          </p:cNvPr>
          <p:cNvSpPr>
            <a:spLocks noGrp="1"/>
          </p:cNvSpPr>
          <p:nvPr>
            <p:ph type="title"/>
          </p:nvPr>
        </p:nvSpPr>
        <p:spPr>
          <a:xfrm>
            <a:off x="305791" y="290382"/>
            <a:ext cx="4211782" cy="570057"/>
          </a:xfrm>
        </p:spPr>
        <p:txBody>
          <a:bodyPr>
            <a:normAutofit/>
          </a:bodyPr>
          <a:lstStyle/>
          <a:p>
            <a:r>
              <a:rPr lang="en-GB" sz="2400" b="1" dirty="0">
                <a:latin typeface="Source Sans Pro" panose="020B0503030403020204" pitchFamily="34" charset="0"/>
                <a:ea typeface="Source Sans Pro" panose="020B0503030403020204" pitchFamily="34" charset="0"/>
              </a:rPr>
              <a:t>Probability density function</a:t>
            </a:r>
          </a:p>
        </p:txBody>
      </p:sp>
      <p:pic>
        <p:nvPicPr>
          <p:cNvPr id="3" name="Picture 2">
            <a:extLst>
              <a:ext uri="{FF2B5EF4-FFF2-40B4-BE49-F238E27FC236}">
                <a16:creationId xmlns:a16="http://schemas.microsoft.com/office/drawing/2014/main" id="{B9E644C7-9E1D-EEE4-1331-B876AAD481AD}"/>
              </a:ext>
            </a:extLst>
          </p:cNvPr>
          <p:cNvPicPr>
            <a:picLocks noChangeAspect="1"/>
          </p:cNvPicPr>
          <p:nvPr/>
        </p:nvPicPr>
        <p:blipFill>
          <a:blip r:embed="rId2"/>
          <a:stretch>
            <a:fillRect/>
          </a:stretch>
        </p:blipFill>
        <p:spPr>
          <a:xfrm>
            <a:off x="4288973" y="1005581"/>
            <a:ext cx="3429000" cy="3429000"/>
          </a:xfrm>
          <a:prstGeom prst="rect">
            <a:avLst/>
          </a:prstGeom>
        </p:spPr>
      </p:pic>
      <p:pic>
        <p:nvPicPr>
          <p:cNvPr id="6" name="Picture 5">
            <a:extLst>
              <a:ext uri="{FF2B5EF4-FFF2-40B4-BE49-F238E27FC236}">
                <a16:creationId xmlns:a16="http://schemas.microsoft.com/office/drawing/2014/main" id="{1C977345-B4DE-D0C4-6E5A-0F992B0C4AA7}"/>
              </a:ext>
            </a:extLst>
          </p:cNvPr>
          <p:cNvPicPr>
            <a:picLocks noChangeAspect="1"/>
          </p:cNvPicPr>
          <p:nvPr/>
        </p:nvPicPr>
        <p:blipFill>
          <a:blip r:embed="rId3"/>
          <a:stretch>
            <a:fillRect/>
          </a:stretch>
        </p:blipFill>
        <p:spPr>
          <a:xfrm>
            <a:off x="697182" y="1280557"/>
            <a:ext cx="3429000" cy="3429000"/>
          </a:xfrm>
          <a:prstGeom prst="rect">
            <a:avLst/>
          </a:prstGeom>
        </p:spPr>
      </p:pic>
      <p:pic>
        <p:nvPicPr>
          <p:cNvPr id="7" name="Picture 6">
            <a:extLst>
              <a:ext uri="{FF2B5EF4-FFF2-40B4-BE49-F238E27FC236}">
                <a16:creationId xmlns:a16="http://schemas.microsoft.com/office/drawing/2014/main" id="{19F5A412-03F7-6066-C4DA-19CC1B69987B}"/>
              </a:ext>
            </a:extLst>
          </p:cNvPr>
          <p:cNvPicPr>
            <a:picLocks noChangeAspect="1"/>
          </p:cNvPicPr>
          <p:nvPr/>
        </p:nvPicPr>
        <p:blipFill>
          <a:blip r:embed="rId4"/>
          <a:stretch>
            <a:fillRect/>
          </a:stretch>
        </p:blipFill>
        <p:spPr>
          <a:xfrm>
            <a:off x="7880764" y="1280557"/>
            <a:ext cx="3429000" cy="3429000"/>
          </a:xfrm>
          <a:prstGeom prst="rect">
            <a:avLst/>
          </a:prstGeom>
        </p:spPr>
      </p:pic>
      <p:pic>
        <p:nvPicPr>
          <p:cNvPr id="4" name="Camera 3">
            <a:extLst>
              <a:ext uri="{FF2B5EF4-FFF2-40B4-BE49-F238E27FC236}">
                <a16:creationId xmlns:a16="http://schemas.microsoft.com/office/drawing/2014/main" id="{E19C238B-F95B-7D86-2297-B13DF7BFD34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5067300" y="4656613"/>
            <a:ext cx="2057400" cy="2057400"/>
          </a:xfrm>
          <a:prstGeom prst="ellipse">
            <a:avLst/>
          </a:prstGeom>
        </p:spPr>
      </p:pic>
    </p:spTree>
    <p:extLst>
      <p:ext uri="{BB962C8B-B14F-4D97-AF65-F5344CB8AC3E}">
        <p14:creationId xmlns:p14="http://schemas.microsoft.com/office/powerpoint/2010/main" val="4079810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AF4996-14F9-F317-46AB-A1F7840CB0CD}"/>
              </a:ext>
            </a:extLst>
          </p:cNvPr>
          <p:cNvPicPr>
            <a:picLocks noChangeAspect="1"/>
          </p:cNvPicPr>
          <p:nvPr/>
        </p:nvPicPr>
        <p:blipFill>
          <a:blip r:embed="rId2"/>
          <a:stretch>
            <a:fillRect/>
          </a:stretch>
        </p:blipFill>
        <p:spPr>
          <a:xfrm>
            <a:off x="372339" y="1134289"/>
            <a:ext cx="5174674" cy="5174674"/>
          </a:xfrm>
          <a:prstGeom prst="rect">
            <a:avLst/>
          </a:prstGeom>
        </p:spPr>
      </p:pic>
      <p:sp>
        <p:nvSpPr>
          <p:cNvPr id="9" name="Title 1">
            <a:extLst>
              <a:ext uri="{FF2B5EF4-FFF2-40B4-BE49-F238E27FC236}">
                <a16:creationId xmlns:a16="http://schemas.microsoft.com/office/drawing/2014/main" id="{DD5F8E23-19A3-FBCE-76F6-8A58047FBEED}"/>
              </a:ext>
            </a:extLst>
          </p:cNvPr>
          <p:cNvSpPr>
            <a:spLocks noGrp="1"/>
          </p:cNvSpPr>
          <p:nvPr>
            <p:ph type="title"/>
          </p:nvPr>
        </p:nvSpPr>
        <p:spPr>
          <a:xfrm>
            <a:off x="365755" y="335632"/>
            <a:ext cx="3915300" cy="570057"/>
          </a:xfrm>
        </p:spPr>
        <p:txBody>
          <a:bodyPr>
            <a:normAutofit/>
          </a:bodyPr>
          <a:lstStyle/>
          <a:p>
            <a:r>
              <a:rPr lang="en-GB" sz="2400" b="1" dirty="0">
                <a:latin typeface="Source Sans Pro" panose="020B0503030403020204" pitchFamily="34" charset="0"/>
                <a:ea typeface="Source Sans Pro" panose="020B0503030403020204" pitchFamily="34" charset="0"/>
              </a:rPr>
              <a:t>Is it ‘normally distributed?</a:t>
            </a:r>
          </a:p>
        </p:txBody>
      </p:sp>
      <p:sp>
        <p:nvSpPr>
          <p:cNvPr id="5" name="TextBox 4">
            <a:extLst>
              <a:ext uri="{FF2B5EF4-FFF2-40B4-BE49-F238E27FC236}">
                <a16:creationId xmlns:a16="http://schemas.microsoft.com/office/drawing/2014/main" id="{03323CBE-72E3-4E44-9D63-CB2BB721D4BC}"/>
              </a:ext>
            </a:extLst>
          </p:cNvPr>
          <p:cNvSpPr txBox="1"/>
          <p:nvPr/>
        </p:nvSpPr>
        <p:spPr>
          <a:xfrm>
            <a:off x="860137" y="1557589"/>
            <a:ext cx="1536700" cy="646331"/>
          </a:xfrm>
          <a:prstGeom prst="rect">
            <a:avLst/>
          </a:prstGeom>
          <a:noFill/>
        </p:spPr>
        <p:txBody>
          <a:bodyPr wrap="square" rtlCol="0">
            <a:spAutoFit/>
          </a:bodyPr>
          <a:lstStyle/>
          <a:p>
            <a:r>
              <a:rPr lang="en-GB" dirty="0"/>
              <a:t>50% of data points</a:t>
            </a:r>
          </a:p>
        </p:txBody>
      </p:sp>
      <p:sp>
        <p:nvSpPr>
          <p:cNvPr id="6" name="TextBox 5">
            <a:extLst>
              <a:ext uri="{FF2B5EF4-FFF2-40B4-BE49-F238E27FC236}">
                <a16:creationId xmlns:a16="http://schemas.microsoft.com/office/drawing/2014/main" id="{EAF1C496-2D6F-EA45-8549-498578B0C636}"/>
              </a:ext>
            </a:extLst>
          </p:cNvPr>
          <p:cNvSpPr txBox="1"/>
          <p:nvPr/>
        </p:nvSpPr>
        <p:spPr>
          <a:xfrm>
            <a:off x="3923148" y="1557588"/>
            <a:ext cx="1536700" cy="646331"/>
          </a:xfrm>
          <a:prstGeom prst="rect">
            <a:avLst/>
          </a:prstGeom>
          <a:noFill/>
        </p:spPr>
        <p:txBody>
          <a:bodyPr wrap="square" rtlCol="0">
            <a:spAutoFit/>
          </a:bodyPr>
          <a:lstStyle/>
          <a:p>
            <a:r>
              <a:rPr lang="en-GB" dirty="0"/>
              <a:t>50% of data points</a:t>
            </a:r>
          </a:p>
        </p:txBody>
      </p:sp>
      <p:sp>
        <p:nvSpPr>
          <p:cNvPr id="10" name="TextBox 9">
            <a:extLst>
              <a:ext uri="{FF2B5EF4-FFF2-40B4-BE49-F238E27FC236}">
                <a16:creationId xmlns:a16="http://schemas.microsoft.com/office/drawing/2014/main" id="{539FA54C-2121-980A-A923-8D73861F773B}"/>
              </a:ext>
            </a:extLst>
          </p:cNvPr>
          <p:cNvSpPr txBox="1"/>
          <p:nvPr/>
        </p:nvSpPr>
        <p:spPr>
          <a:xfrm>
            <a:off x="6372596" y="721447"/>
            <a:ext cx="4430486" cy="1815882"/>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If data is ‘normally distributed’ then we expect the density to be 50% either side of the mean.</a:t>
            </a:r>
          </a:p>
        </p:txBody>
      </p:sp>
      <p:pic>
        <p:nvPicPr>
          <p:cNvPr id="2" name="Camera 1">
            <a:extLst>
              <a:ext uri="{FF2B5EF4-FFF2-40B4-BE49-F238E27FC236}">
                <a16:creationId xmlns:a16="http://schemas.microsoft.com/office/drawing/2014/main" id="{0C1307D4-E98A-3D8B-7D93-30445F1D347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39814488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40287-D4D0-B308-6EC4-B18AE3CD729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9362AB-ACD6-28A4-1785-C324344297D4}"/>
              </a:ext>
            </a:extLst>
          </p:cNvPr>
          <p:cNvPicPr>
            <a:picLocks noChangeAspect="1"/>
          </p:cNvPicPr>
          <p:nvPr/>
        </p:nvPicPr>
        <p:blipFill>
          <a:blip r:embed="rId2"/>
          <a:stretch>
            <a:fillRect/>
          </a:stretch>
        </p:blipFill>
        <p:spPr>
          <a:xfrm>
            <a:off x="438492" y="1068718"/>
            <a:ext cx="5453650" cy="5453650"/>
          </a:xfrm>
          <a:prstGeom prst="rect">
            <a:avLst/>
          </a:prstGeom>
        </p:spPr>
      </p:pic>
      <p:sp>
        <p:nvSpPr>
          <p:cNvPr id="9" name="Title 1">
            <a:extLst>
              <a:ext uri="{FF2B5EF4-FFF2-40B4-BE49-F238E27FC236}">
                <a16:creationId xmlns:a16="http://schemas.microsoft.com/office/drawing/2014/main" id="{282C82E0-4A9E-6F01-9CEB-7B9FEDF1CB9B}"/>
              </a:ext>
            </a:extLst>
          </p:cNvPr>
          <p:cNvSpPr>
            <a:spLocks noGrp="1"/>
          </p:cNvSpPr>
          <p:nvPr>
            <p:ph type="title"/>
          </p:nvPr>
        </p:nvSpPr>
        <p:spPr>
          <a:xfrm>
            <a:off x="365755" y="335632"/>
            <a:ext cx="3915300" cy="570057"/>
          </a:xfrm>
        </p:spPr>
        <p:txBody>
          <a:bodyPr>
            <a:normAutofit/>
          </a:bodyPr>
          <a:lstStyle/>
          <a:p>
            <a:r>
              <a:rPr lang="en-GB" sz="2400" b="1" dirty="0">
                <a:latin typeface="Source Sans Pro" panose="020B0503030403020204" pitchFamily="34" charset="0"/>
                <a:ea typeface="Source Sans Pro" panose="020B0503030403020204" pitchFamily="34" charset="0"/>
              </a:rPr>
              <a:t>Why do we care?</a:t>
            </a:r>
          </a:p>
        </p:txBody>
      </p:sp>
      <p:sp>
        <p:nvSpPr>
          <p:cNvPr id="10" name="TextBox 9">
            <a:extLst>
              <a:ext uri="{FF2B5EF4-FFF2-40B4-BE49-F238E27FC236}">
                <a16:creationId xmlns:a16="http://schemas.microsoft.com/office/drawing/2014/main" id="{4414038F-8406-ABF4-30CD-51A3FB2C5BCB}"/>
              </a:ext>
            </a:extLst>
          </p:cNvPr>
          <p:cNvSpPr txBox="1"/>
          <p:nvPr/>
        </p:nvSpPr>
        <p:spPr>
          <a:xfrm>
            <a:off x="6372597" y="576316"/>
            <a:ext cx="4430486" cy="2585323"/>
          </a:xfrm>
          <a:prstGeom prst="rect">
            <a:avLst/>
          </a:prstGeom>
          <a:noFill/>
        </p:spPr>
        <p:txBody>
          <a:bodyPr wrap="square" rtlCol="0">
            <a:spAutoFit/>
          </a:bodyPr>
          <a:lstStyle/>
          <a:p>
            <a:r>
              <a:rPr lang="en-GB" dirty="0">
                <a:latin typeface="Source Sans Pro" panose="020B0503030403020204" pitchFamily="34" charset="0"/>
                <a:ea typeface="Source Sans Pro" panose="020B0503030403020204" pitchFamily="34" charset="0"/>
              </a:rPr>
              <a:t>If we knew the </a:t>
            </a:r>
            <a:r>
              <a:rPr lang="en-GB" b="1" dirty="0">
                <a:latin typeface="Source Sans Pro" panose="020B0503030403020204" pitchFamily="34" charset="0"/>
                <a:ea typeface="Source Sans Pro" panose="020B0503030403020204" pitchFamily="34" charset="0"/>
              </a:rPr>
              <a:t>exact equation for the probability density function</a:t>
            </a:r>
            <a:r>
              <a:rPr lang="en-GB" dirty="0">
                <a:latin typeface="Source Sans Pro" panose="020B0503030403020204" pitchFamily="34" charset="0"/>
                <a:ea typeface="Source Sans Pro" panose="020B0503030403020204" pitchFamily="34" charset="0"/>
              </a:rPr>
              <a:t>, we could calculate the probability of outcomes falling in a range For example, what proportion of people are between 180 and 190 cm tall?</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Approximating to the normal is good enough.</a:t>
            </a:r>
          </a:p>
          <a:p>
            <a:endParaRPr lang="en-GB" dirty="0">
              <a:latin typeface="Source Sans Pro" panose="020B0503030403020204" pitchFamily="34" charset="0"/>
              <a:ea typeface="Source Sans Pro" panose="020B0503030403020204" pitchFamily="34" charset="0"/>
            </a:endParaRPr>
          </a:p>
        </p:txBody>
      </p:sp>
      <p:pic>
        <p:nvPicPr>
          <p:cNvPr id="3" name="Camera 2">
            <a:extLst>
              <a:ext uri="{FF2B5EF4-FFF2-40B4-BE49-F238E27FC236}">
                <a16:creationId xmlns:a16="http://schemas.microsoft.com/office/drawing/2014/main" id="{9337F4C0-DF9F-7D10-7194-DBBC922421A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8470221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BAD08-466F-A74A-B4F5-A794C1175EB8}"/>
              </a:ext>
            </a:extLst>
          </p:cNvPr>
          <p:cNvSpPr>
            <a:spLocks noGrp="1"/>
          </p:cNvSpPr>
          <p:nvPr>
            <p:ph type="title"/>
          </p:nvPr>
        </p:nvSpPr>
        <p:spPr>
          <a:xfrm>
            <a:off x="443345" y="406689"/>
            <a:ext cx="2902527" cy="653184"/>
          </a:xfrm>
        </p:spPr>
        <p:txBody>
          <a:bodyPr>
            <a:normAutofit/>
          </a:bodyPr>
          <a:lstStyle/>
          <a:p>
            <a:r>
              <a:rPr lang="en-GB" sz="2400" b="1" dirty="0">
                <a:latin typeface="Source Sans Pro" panose="020B0503030403020204" pitchFamily="34" charset="0"/>
                <a:ea typeface="Source Sans Pro" panose="020B0503030403020204" pitchFamily="34" charset="0"/>
              </a:rPr>
              <a:t>Normal distribution</a:t>
            </a:r>
          </a:p>
        </p:txBody>
      </p:sp>
      <p:sp>
        <p:nvSpPr>
          <p:cNvPr id="3" name="Content Placeholder 2">
            <a:extLst>
              <a:ext uri="{FF2B5EF4-FFF2-40B4-BE49-F238E27FC236}">
                <a16:creationId xmlns:a16="http://schemas.microsoft.com/office/drawing/2014/main" id="{7CA298A0-1230-134C-9A01-D618390EFDFD}"/>
              </a:ext>
            </a:extLst>
          </p:cNvPr>
          <p:cNvSpPr>
            <a:spLocks noGrp="1"/>
          </p:cNvSpPr>
          <p:nvPr>
            <p:ph idx="1"/>
          </p:nvPr>
        </p:nvSpPr>
        <p:spPr>
          <a:xfrm>
            <a:off x="5778829" y="589807"/>
            <a:ext cx="5549900" cy="2223655"/>
          </a:xfrm>
        </p:spPr>
        <p:txBody>
          <a:bodyPr>
            <a:normAutofit/>
          </a:bodyPr>
          <a:lstStyle/>
          <a:p>
            <a:r>
              <a:rPr lang="en-GB" sz="2000" dirty="0">
                <a:latin typeface="Source Sans Pro" panose="020B0503030403020204" pitchFamily="34" charset="0"/>
                <a:ea typeface="Source Sans Pro" panose="020B0503030403020204" pitchFamily="34" charset="0"/>
              </a:rPr>
              <a:t>Symmetric and Unimodal (one mode)</a:t>
            </a:r>
          </a:p>
          <a:p>
            <a:r>
              <a:rPr lang="en-GB" sz="2000" dirty="0">
                <a:latin typeface="Source Sans Pro" panose="020B0503030403020204" pitchFamily="34" charset="0"/>
                <a:ea typeface="Source Sans Pro" panose="020B0503030403020204" pitchFamily="34" charset="0"/>
              </a:rPr>
              <a:t>Mean, median and mode are the same value</a:t>
            </a:r>
          </a:p>
          <a:p>
            <a:r>
              <a:rPr lang="en-GB" sz="2000" dirty="0">
                <a:latin typeface="Source Sans Pro" panose="020B0503030403020204" pitchFamily="34" charset="0"/>
                <a:ea typeface="Source Sans Pro" panose="020B0503030403020204" pitchFamily="34" charset="0"/>
              </a:rPr>
              <a:t>Described by its mean and standard deviation: N(</a:t>
            </a:r>
            <a:r>
              <a:rPr lang="en-GB" sz="2000" dirty="0" err="1">
                <a:latin typeface="Source Sans Pro" panose="020B0503030403020204" pitchFamily="34" charset="0"/>
                <a:ea typeface="Source Sans Pro" panose="020B0503030403020204" pitchFamily="34" charset="0"/>
              </a:rPr>
              <a:t>μ</a:t>
            </a:r>
            <a:r>
              <a:rPr lang="en-GB" sz="2000" dirty="0">
                <a:latin typeface="Source Sans Pro" panose="020B0503030403020204" pitchFamily="34" charset="0"/>
                <a:ea typeface="Source Sans Pro" panose="020B0503030403020204" pitchFamily="34" charset="0"/>
              </a:rPr>
              <a:t>, </a:t>
            </a:r>
            <a:r>
              <a:rPr lang="en-GB" sz="2000" dirty="0" err="1">
                <a:latin typeface="Source Sans Pro" panose="020B0503030403020204" pitchFamily="34" charset="0"/>
                <a:ea typeface="Source Sans Pro" panose="020B0503030403020204" pitchFamily="34" charset="0"/>
              </a:rPr>
              <a:t>σ</a:t>
            </a:r>
            <a:r>
              <a:rPr lang="en-GB" sz="2000" dirty="0">
                <a:latin typeface="Source Sans Pro" panose="020B0503030403020204" pitchFamily="34" charset="0"/>
                <a:ea typeface="Source Sans Pro" panose="020B0503030403020204" pitchFamily="34" charset="0"/>
              </a:rPr>
              <a:t>) (here we see N(0, 1))</a:t>
            </a:r>
          </a:p>
          <a:p>
            <a:r>
              <a:rPr lang="en-GB" sz="2000" dirty="0">
                <a:latin typeface="Source Sans Pro" panose="020B0503030403020204" pitchFamily="34" charset="0"/>
                <a:ea typeface="Source Sans Pro" panose="020B0503030403020204" pitchFamily="34" charset="0"/>
              </a:rPr>
              <a:t>If we know the mean and standard deviation, we know the entire equation to draw this curve.</a:t>
            </a:r>
          </a:p>
        </p:txBody>
      </p:sp>
      <p:pic>
        <p:nvPicPr>
          <p:cNvPr id="4" name="Picture 3">
            <a:extLst>
              <a:ext uri="{FF2B5EF4-FFF2-40B4-BE49-F238E27FC236}">
                <a16:creationId xmlns:a16="http://schemas.microsoft.com/office/drawing/2014/main" id="{69DA3952-0726-D819-F475-AC8F2AA5C1E6}"/>
              </a:ext>
            </a:extLst>
          </p:cNvPr>
          <p:cNvPicPr>
            <a:picLocks noChangeAspect="1"/>
          </p:cNvPicPr>
          <p:nvPr/>
        </p:nvPicPr>
        <p:blipFill>
          <a:blip r:embed="rId2"/>
          <a:stretch>
            <a:fillRect/>
          </a:stretch>
        </p:blipFill>
        <p:spPr>
          <a:xfrm>
            <a:off x="360217" y="1323397"/>
            <a:ext cx="4982441" cy="4982441"/>
          </a:xfrm>
          <a:prstGeom prst="rect">
            <a:avLst/>
          </a:prstGeom>
        </p:spPr>
      </p:pic>
      <p:pic>
        <p:nvPicPr>
          <p:cNvPr id="5" name="Camera 4">
            <a:extLst>
              <a:ext uri="{FF2B5EF4-FFF2-40B4-BE49-F238E27FC236}">
                <a16:creationId xmlns:a16="http://schemas.microsoft.com/office/drawing/2014/main" id="{9313A6E3-CE42-305E-A096-59FA1A18EA0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4105497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F86F-35E8-F8D6-C392-BE879F0DA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55938-2C69-7D1D-0DAC-DA74F2640A83}"/>
              </a:ext>
            </a:extLst>
          </p:cNvPr>
          <p:cNvSpPr>
            <a:spLocks noGrp="1"/>
          </p:cNvSpPr>
          <p:nvPr>
            <p:ph type="title"/>
          </p:nvPr>
        </p:nvSpPr>
        <p:spPr>
          <a:xfrm>
            <a:off x="443345" y="406689"/>
            <a:ext cx="2902527" cy="653184"/>
          </a:xfrm>
        </p:spPr>
        <p:txBody>
          <a:bodyPr>
            <a:normAutofit/>
          </a:bodyPr>
          <a:lstStyle/>
          <a:p>
            <a:r>
              <a:rPr lang="en-GB" sz="2400" b="1" dirty="0">
                <a:latin typeface="Source Sans Pro" panose="020B0503030403020204" pitchFamily="34" charset="0"/>
                <a:ea typeface="Source Sans Pro" panose="020B0503030403020204" pitchFamily="34" charset="0"/>
              </a:rPr>
              <a:t>The empirical rule</a:t>
            </a:r>
          </a:p>
        </p:txBody>
      </p:sp>
      <p:sp>
        <p:nvSpPr>
          <p:cNvPr id="3" name="Content Placeholder 2">
            <a:extLst>
              <a:ext uri="{FF2B5EF4-FFF2-40B4-BE49-F238E27FC236}">
                <a16:creationId xmlns:a16="http://schemas.microsoft.com/office/drawing/2014/main" id="{335F719C-2640-39DE-ED03-D22269F46D8D}"/>
              </a:ext>
            </a:extLst>
          </p:cNvPr>
          <p:cNvSpPr>
            <a:spLocks noGrp="1"/>
          </p:cNvSpPr>
          <p:nvPr>
            <p:ph idx="1"/>
          </p:nvPr>
        </p:nvSpPr>
        <p:spPr>
          <a:xfrm>
            <a:off x="5701144" y="519545"/>
            <a:ext cx="5549900" cy="2223655"/>
          </a:xfrm>
        </p:spPr>
        <p:txBody>
          <a:bodyPr>
            <a:normAutofit fontScale="92500" lnSpcReduction="10000"/>
          </a:bodyPr>
          <a:lstStyle/>
          <a:p>
            <a:pPr marL="0" indent="0">
              <a:buNone/>
            </a:pPr>
            <a:r>
              <a:rPr lang="en-GB" sz="2000" dirty="0">
                <a:latin typeface="Source Sans Pro" panose="020B0503030403020204" pitchFamily="34" charset="0"/>
                <a:ea typeface="Source Sans Pro" panose="020B0503030403020204" pitchFamily="34" charset="0"/>
              </a:rPr>
              <a:t>The empirical rule for the normal distribution is that:</a:t>
            </a:r>
          </a:p>
          <a:p>
            <a:r>
              <a:rPr lang="en-GB" sz="2000" dirty="0">
                <a:latin typeface="Source Sans Pro" panose="020B0503030403020204" pitchFamily="34" charset="0"/>
                <a:ea typeface="Source Sans Pro" panose="020B0503030403020204" pitchFamily="34" charset="0"/>
              </a:rPr>
              <a:t>68% of data falls within 1 standard deviation of the mean. </a:t>
            </a:r>
          </a:p>
          <a:p>
            <a:r>
              <a:rPr lang="en-GB" sz="2000" dirty="0">
                <a:latin typeface="Source Sans Pro" panose="020B0503030403020204" pitchFamily="34" charset="0"/>
                <a:ea typeface="Source Sans Pro" panose="020B0503030403020204" pitchFamily="34" charset="0"/>
              </a:rPr>
              <a:t>95% of data falls within 2 standard deviations of the mean. </a:t>
            </a:r>
          </a:p>
          <a:p>
            <a:r>
              <a:rPr lang="en-GB" sz="2000" dirty="0">
                <a:latin typeface="Source Sans Pro" panose="020B0503030403020204" pitchFamily="34" charset="0"/>
                <a:ea typeface="Source Sans Pro" panose="020B0503030403020204" pitchFamily="34" charset="0"/>
              </a:rPr>
              <a:t>99.7% of data falls within 3 standard deviations of the mean.</a:t>
            </a:r>
          </a:p>
        </p:txBody>
      </p:sp>
      <p:pic>
        <p:nvPicPr>
          <p:cNvPr id="5" name="Picture 4">
            <a:extLst>
              <a:ext uri="{FF2B5EF4-FFF2-40B4-BE49-F238E27FC236}">
                <a16:creationId xmlns:a16="http://schemas.microsoft.com/office/drawing/2014/main" id="{E0ACEC99-5691-8636-BE72-45586B40BC86}"/>
              </a:ext>
            </a:extLst>
          </p:cNvPr>
          <p:cNvPicPr>
            <a:picLocks noChangeAspect="1"/>
          </p:cNvPicPr>
          <p:nvPr/>
        </p:nvPicPr>
        <p:blipFill>
          <a:blip r:embed="rId2"/>
          <a:stretch>
            <a:fillRect/>
          </a:stretch>
        </p:blipFill>
        <p:spPr>
          <a:xfrm>
            <a:off x="339436" y="1442893"/>
            <a:ext cx="5008418" cy="5008418"/>
          </a:xfrm>
          <a:prstGeom prst="rect">
            <a:avLst/>
          </a:prstGeom>
        </p:spPr>
      </p:pic>
      <p:pic>
        <p:nvPicPr>
          <p:cNvPr id="4" name="Camera 3">
            <a:extLst>
              <a:ext uri="{FF2B5EF4-FFF2-40B4-BE49-F238E27FC236}">
                <a16:creationId xmlns:a16="http://schemas.microsoft.com/office/drawing/2014/main" id="{4413C815-77DC-8F46-A3EC-DAE5132E1B7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8208501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B3E2-A444-FF4F-B790-4ACB85407527}"/>
              </a:ext>
            </a:extLst>
          </p:cNvPr>
          <p:cNvSpPr>
            <a:spLocks noGrp="1"/>
          </p:cNvSpPr>
          <p:nvPr>
            <p:ph type="title"/>
          </p:nvPr>
        </p:nvSpPr>
        <p:spPr>
          <a:xfrm>
            <a:off x="526473" y="510598"/>
            <a:ext cx="6123709" cy="757093"/>
          </a:xfrm>
        </p:spPr>
        <p:txBody>
          <a:bodyPr>
            <a:normAutofit/>
          </a:bodyPr>
          <a:lstStyle/>
          <a:p>
            <a:r>
              <a:rPr lang="en-GB" sz="2400" b="1" dirty="0">
                <a:latin typeface="Source Sans Pro" panose="020B0503030403020204" pitchFamily="34" charset="0"/>
                <a:ea typeface="Source Sans Pro" panose="020B0503030403020204" pitchFamily="34" charset="0"/>
              </a:rPr>
              <a:t>The importance of the normal distribution</a:t>
            </a:r>
          </a:p>
        </p:txBody>
      </p:sp>
      <p:sp>
        <p:nvSpPr>
          <p:cNvPr id="6" name="Content Placeholder 2">
            <a:extLst>
              <a:ext uri="{FF2B5EF4-FFF2-40B4-BE49-F238E27FC236}">
                <a16:creationId xmlns:a16="http://schemas.microsoft.com/office/drawing/2014/main" id="{0C40C1EA-79F2-3B79-77A7-F21FCF02FC89}"/>
              </a:ext>
            </a:extLst>
          </p:cNvPr>
          <p:cNvSpPr>
            <a:spLocks noGrp="1"/>
          </p:cNvSpPr>
          <p:nvPr>
            <p:ph idx="1"/>
          </p:nvPr>
        </p:nvSpPr>
        <p:spPr>
          <a:xfrm>
            <a:off x="546100" y="1641763"/>
            <a:ext cx="5549900" cy="2930237"/>
          </a:xfrm>
        </p:spPr>
        <p:txBody>
          <a:bodyPr>
            <a:normAutofit/>
          </a:bodyPr>
          <a:lstStyle/>
          <a:p>
            <a:pPr marL="0" indent="0">
              <a:buNone/>
            </a:pPr>
            <a:r>
              <a:rPr lang="en-GB" sz="2000" dirty="0">
                <a:latin typeface="Source Sans Pro" panose="020B0503030403020204" pitchFamily="34" charset="0"/>
                <a:ea typeface="Source Sans Pro" panose="020B0503030403020204" pitchFamily="34" charset="0"/>
              </a:rPr>
              <a:t>Often our data itself will not be normally distributed. Either because it follows some other distribution or because of sampling bias.</a:t>
            </a:r>
          </a:p>
          <a:p>
            <a:pPr marL="0" indent="0">
              <a:buNone/>
            </a:pPr>
            <a:endParaRPr lang="en-GB" sz="2000" dirty="0">
              <a:latin typeface="Source Sans Pro" panose="020B0503030403020204" pitchFamily="34" charset="0"/>
              <a:ea typeface="Source Sans Pro" panose="020B0503030403020204" pitchFamily="34" charset="0"/>
            </a:endParaRPr>
          </a:p>
          <a:p>
            <a:pPr marL="0" indent="0">
              <a:buNone/>
            </a:pPr>
            <a:r>
              <a:rPr lang="en-GB" sz="2000" dirty="0">
                <a:latin typeface="Source Sans Pro" panose="020B0503030403020204" pitchFamily="34" charset="0"/>
                <a:ea typeface="Source Sans Pro" panose="020B0503030403020204" pitchFamily="34" charset="0"/>
              </a:rPr>
              <a:t>The normal distribution however is still important as we see later on in this course that even when the data itself isn’t normally distributed, under certain conditions values of central tendency are…</a:t>
            </a:r>
          </a:p>
        </p:txBody>
      </p:sp>
      <p:pic>
        <p:nvPicPr>
          <p:cNvPr id="3" name="Camera 2">
            <a:extLst>
              <a:ext uri="{FF2B5EF4-FFF2-40B4-BE49-F238E27FC236}">
                <a16:creationId xmlns:a16="http://schemas.microsoft.com/office/drawing/2014/main" id="{070EE217-A97F-C648-6343-688B553DF61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3794616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AE4E5477-25FD-7E79-1B57-705F3827EC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D008B5-7D66-403D-E952-E1B70DB55CC4}"/>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1.4 R Foundations and Principles</a:t>
            </a:r>
          </a:p>
        </p:txBody>
      </p:sp>
      <p:pic>
        <p:nvPicPr>
          <p:cNvPr id="9" name="Picture 8" descr="A black background with white text&#10;&#10;AI-generated content may be incorrect.">
            <a:extLst>
              <a:ext uri="{FF2B5EF4-FFF2-40B4-BE49-F238E27FC236}">
                <a16:creationId xmlns:a16="http://schemas.microsoft.com/office/drawing/2014/main" id="{C34280A4-0268-BDF1-53C8-D7C2A67AD957}"/>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7D8B72BC-FA25-326F-20F4-F6136F9ECCA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571071" y="4239601"/>
            <a:ext cx="2057400" cy="2057400"/>
          </a:xfrm>
          <a:prstGeom prst="ellipse">
            <a:avLst/>
          </a:prstGeom>
        </p:spPr>
      </p:pic>
    </p:spTree>
    <p:extLst>
      <p:ext uri="{BB962C8B-B14F-4D97-AF65-F5344CB8AC3E}">
        <p14:creationId xmlns:p14="http://schemas.microsoft.com/office/powerpoint/2010/main" val="30116344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A963-031A-DA10-CD1B-583D55CA1A0F}"/>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0002A79-2C54-CE15-DAFC-E01D0648DCA0}"/>
              </a:ext>
            </a:extLst>
          </p:cNvPr>
          <p:cNvSpPr txBox="1">
            <a:spLocks/>
          </p:cNvSpPr>
          <p:nvPr/>
        </p:nvSpPr>
        <p:spPr>
          <a:xfrm>
            <a:off x="427580" y="854540"/>
            <a:ext cx="799796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Why do we need to use programming?</a:t>
            </a:r>
          </a:p>
        </p:txBody>
      </p:sp>
      <p:sp>
        <p:nvSpPr>
          <p:cNvPr id="3" name="Google Shape;116;p26">
            <a:extLst>
              <a:ext uri="{FF2B5EF4-FFF2-40B4-BE49-F238E27FC236}">
                <a16:creationId xmlns:a16="http://schemas.microsoft.com/office/drawing/2014/main" id="{0E724F94-09B4-E848-D9A1-17E0D7CC4319}"/>
              </a:ext>
            </a:extLst>
          </p:cNvPr>
          <p:cNvSpPr txBox="1">
            <a:spLocks/>
          </p:cNvSpPr>
          <p:nvPr/>
        </p:nvSpPr>
        <p:spPr>
          <a:xfrm>
            <a:off x="427580" y="1504335"/>
            <a:ext cx="6179698" cy="4849574"/>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Modern health datasets are far too large to analyse manually!</a:t>
            </a:r>
            <a:br>
              <a:rPr lang="en-GB" sz="2400" noProof="1">
                <a:latin typeface="Source Sans Pro" panose="020B0503030403020204" pitchFamily="34" charset="0"/>
                <a:ea typeface="Source Sans Pro" panose="020B0503030403020204" pitchFamily="34" charset="0"/>
              </a:rPr>
            </a:br>
            <a:endParaRPr lang="en-GB" sz="2400" noProof="1">
              <a:latin typeface="Source Sans Pro" panose="020B0503030403020204" pitchFamily="34" charset="0"/>
              <a:ea typeface="Source Sans Pro" panose="020B0503030403020204" pitchFamily="34" charset="0"/>
            </a:endParaRPr>
          </a:p>
          <a:p>
            <a:pPr marL="0" indent="0">
              <a:spcBef>
                <a:spcPts val="1200"/>
              </a:spcBef>
              <a:buNone/>
            </a:pPr>
            <a:r>
              <a:rPr lang="en-GB" sz="2400" noProof="1">
                <a:latin typeface="Source Sans Pro" panose="020B0503030403020204" pitchFamily="34" charset="0"/>
                <a:ea typeface="Source Sans Pro" panose="020B0503030403020204" pitchFamily="34" charset="0"/>
              </a:rPr>
              <a:t>Instead we use programming to</a:t>
            </a:r>
          </a:p>
          <a:p>
            <a:pPr>
              <a:spcBef>
                <a:spcPts val="1200"/>
              </a:spcBef>
            </a:pPr>
            <a:r>
              <a:rPr lang="en-GB" sz="2400" noProof="1">
                <a:latin typeface="Source Sans Pro" panose="020B0503030403020204" pitchFamily="34" charset="0"/>
                <a:ea typeface="Source Sans Pro" panose="020B0503030403020204" pitchFamily="34" charset="0"/>
              </a:rPr>
              <a:t>automate repetitive analyses</a:t>
            </a:r>
          </a:p>
          <a:p>
            <a:pPr>
              <a:spcBef>
                <a:spcPts val="1200"/>
              </a:spcBef>
            </a:pPr>
            <a:r>
              <a:rPr lang="en-GB" sz="2400" noProof="1">
                <a:latin typeface="Source Sans Pro" panose="020B0503030403020204" pitchFamily="34" charset="0"/>
                <a:ea typeface="Source Sans Pro" panose="020B0503030403020204" pitchFamily="34" charset="0"/>
              </a:rPr>
              <a:t>*educe human error</a:t>
            </a:r>
          </a:p>
          <a:p>
            <a:pPr>
              <a:spcBef>
                <a:spcPts val="1200"/>
              </a:spcBef>
            </a:pPr>
            <a:r>
              <a:rPr lang="en-GB" sz="2400" noProof="1">
                <a:latin typeface="Source Sans Pro" panose="020B0503030403020204" pitchFamily="34" charset="0"/>
                <a:ea typeface="Source Sans Pro" panose="020B0503030403020204" pitchFamily="34" charset="0"/>
              </a:rPr>
              <a:t>analyse thousands (or millions) of observations</a:t>
            </a:r>
          </a:p>
          <a:p>
            <a:pPr>
              <a:spcBef>
                <a:spcPts val="1200"/>
              </a:spcBef>
            </a:pPr>
            <a:r>
              <a:rPr lang="en-GB" sz="2400" noProof="1">
                <a:latin typeface="Source Sans Pro" panose="020B0503030403020204" pitchFamily="34" charset="0"/>
                <a:ea typeface="Source Sans Pro" panose="020B0503030403020204" pitchFamily="34" charset="0"/>
              </a:rPr>
              <a:t>make analyses reproducible</a:t>
            </a:r>
          </a:p>
          <a:p>
            <a:pPr>
              <a:spcBef>
                <a:spcPts val="1200"/>
              </a:spcBef>
            </a:pPr>
            <a:r>
              <a:rPr lang="en-GB" sz="2400" noProof="1">
                <a:latin typeface="Source Sans Pro" panose="020B0503030403020204" pitchFamily="34" charset="0"/>
                <a:ea typeface="Source Sans Pro" panose="020B0503030403020204" pitchFamily="34" charset="0"/>
              </a:rPr>
              <a:t>share work with collaborators</a:t>
            </a:r>
          </a:p>
        </p:txBody>
      </p:sp>
      <p:pic>
        <p:nvPicPr>
          <p:cNvPr id="4" name="Camera 3">
            <a:extLst>
              <a:ext uri="{FF2B5EF4-FFF2-40B4-BE49-F238E27FC236}">
                <a16:creationId xmlns:a16="http://schemas.microsoft.com/office/drawing/2014/main" id="{A43A3C54-C0BD-DF52-BAAF-03F6E3C0E66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9594568" y="4509000"/>
            <a:ext cx="2057400" cy="2057400"/>
          </a:xfrm>
          <a:prstGeom prst="ellipse">
            <a:avLst/>
          </a:prstGeom>
        </p:spPr>
      </p:pic>
    </p:spTree>
    <p:extLst>
      <p:ext uri="{BB962C8B-B14F-4D97-AF65-F5344CB8AC3E}">
        <p14:creationId xmlns:p14="http://schemas.microsoft.com/office/powerpoint/2010/main" val="1461064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BD3FF-20B5-DB87-EEC4-ED3C5913F424}"/>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8DE75CBE-2B7D-2191-27EC-C10B00564226}"/>
              </a:ext>
            </a:extLst>
          </p:cNvPr>
          <p:cNvSpPr txBox="1">
            <a:spLocks/>
          </p:cNvSpPr>
          <p:nvPr/>
        </p:nvSpPr>
        <p:spPr>
          <a:xfrm>
            <a:off x="557919" y="900021"/>
            <a:ext cx="11076162" cy="1150538"/>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Why are tools like R/Python </a:t>
            </a:r>
            <a:br>
              <a:rPr lang="en-GB" sz="3600" b="1" noProof="1">
                <a:latin typeface="Source Sans Pro" panose="020B0503030403020204" pitchFamily="34" charset="0"/>
                <a:ea typeface="Source Sans Pro" panose="020B0503030403020204" pitchFamily="34" charset="0"/>
              </a:rPr>
            </a:br>
            <a:r>
              <a:rPr lang="en-GB" sz="3600" b="1" noProof="1">
                <a:latin typeface="Source Sans Pro" panose="020B0503030403020204" pitchFamily="34" charset="0"/>
                <a:ea typeface="Source Sans Pro" panose="020B0503030403020204" pitchFamily="34" charset="0"/>
              </a:rPr>
              <a:t>preferable over Excel/SPSS?</a:t>
            </a:r>
          </a:p>
        </p:txBody>
      </p:sp>
      <p:graphicFrame>
        <p:nvGraphicFramePr>
          <p:cNvPr id="5" name="Table 4">
            <a:extLst>
              <a:ext uri="{FF2B5EF4-FFF2-40B4-BE49-F238E27FC236}">
                <a16:creationId xmlns:a16="http://schemas.microsoft.com/office/drawing/2014/main" id="{76A49213-9829-97FA-41B2-3ED0A3B928DF}"/>
              </a:ext>
            </a:extLst>
          </p:cNvPr>
          <p:cNvGraphicFramePr>
            <a:graphicFrameLocks noGrp="1"/>
          </p:cNvGraphicFramePr>
          <p:nvPr>
            <p:extLst>
              <p:ext uri="{D42A27DB-BD31-4B8C-83A1-F6EECF244321}">
                <p14:modId xmlns:p14="http://schemas.microsoft.com/office/powerpoint/2010/main" val="3150079842"/>
              </p:ext>
            </p:extLst>
          </p:nvPr>
        </p:nvGraphicFramePr>
        <p:xfrm>
          <a:off x="557919" y="2697826"/>
          <a:ext cx="6713667" cy="2956560"/>
        </p:xfrm>
        <a:graphic>
          <a:graphicData uri="http://schemas.openxmlformats.org/drawingml/2006/table">
            <a:tbl>
              <a:tblPr/>
              <a:tblGrid>
                <a:gridCol w="2237889">
                  <a:extLst>
                    <a:ext uri="{9D8B030D-6E8A-4147-A177-3AD203B41FA5}">
                      <a16:colId xmlns:a16="http://schemas.microsoft.com/office/drawing/2014/main" val="2590777713"/>
                    </a:ext>
                  </a:extLst>
                </a:gridCol>
                <a:gridCol w="2237889">
                  <a:extLst>
                    <a:ext uri="{9D8B030D-6E8A-4147-A177-3AD203B41FA5}">
                      <a16:colId xmlns:a16="http://schemas.microsoft.com/office/drawing/2014/main" val="2933460911"/>
                    </a:ext>
                  </a:extLst>
                </a:gridCol>
                <a:gridCol w="2237889">
                  <a:extLst>
                    <a:ext uri="{9D8B030D-6E8A-4147-A177-3AD203B41FA5}">
                      <a16:colId xmlns:a16="http://schemas.microsoft.com/office/drawing/2014/main" val="1772624347"/>
                    </a:ext>
                  </a:extLst>
                </a:gridCol>
              </a:tblGrid>
              <a:tr h="0">
                <a:tc>
                  <a:txBody>
                    <a:bodyPr/>
                    <a:lstStyle/>
                    <a:p>
                      <a:pPr>
                        <a:buNone/>
                      </a:pPr>
                      <a:r>
                        <a:rPr lang="en-GB" b="1" dirty="0">
                          <a:solidFill>
                            <a:schemeClr val="bg1"/>
                          </a:solidFill>
                          <a:effectLst/>
                        </a:rPr>
                        <a:t>Excel</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tc>
                  <a:txBody>
                    <a:bodyPr/>
                    <a:lstStyle/>
                    <a:p>
                      <a:pPr>
                        <a:buNone/>
                      </a:pPr>
                      <a:r>
                        <a:rPr lang="en-GB" b="1">
                          <a:solidFill>
                            <a:schemeClr val="bg1"/>
                          </a:solidFill>
                          <a:effectLst/>
                        </a:rPr>
                        <a:t>SPSS</a:t>
                      </a:r>
                      <a:endParaRPr lang="en-GB">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tc>
                  <a:txBody>
                    <a:bodyPr/>
                    <a:lstStyle/>
                    <a:p>
                      <a:pPr>
                        <a:buNone/>
                      </a:pPr>
                      <a:r>
                        <a:rPr lang="en-GB" b="1" dirty="0">
                          <a:solidFill>
                            <a:schemeClr val="bg1"/>
                          </a:solidFill>
                          <a:effectLst/>
                        </a:rPr>
                        <a:t>R</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extLst>
                  <a:ext uri="{0D108BD9-81ED-4DB2-BD59-A6C34878D82A}">
                    <a16:rowId xmlns:a16="http://schemas.microsoft.com/office/drawing/2014/main" val="3182507531"/>
                  </a:ext>
                </a:extLst>
              </a:tr>
              <a:tr h="0">
                <a:tc>
                  <a:txBody>
                    <a:bodyPr/>
                    <a:lstStyle/>
                    <a:p>
                      <a:pPr>
                        <a:buNone/>
                      </a:pPr>
                      <a:r>
                        <a:rPr lang="en-GB">
                          <a:effectLst/>
                        </a:rPr>
                        <a:t>Good for small datasets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Menu driven</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Programming language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3342593"/>
                  </a:ext>
                </a:extLst>
              </a:tr>
              <a:tr h="0">
                <a:tc>
                  <a:txBody>
                    <a:bodyPr/>
                    <a:lstStyle/>
                    <a:p>
                      <a:pPr>
                        <a:buNone/>
                      </a:pPr>
                      <a:r>
                        <a:rPr lang="en-GB" dirty="0">
                          <a:effectLst/>
                        </a:rPr>
                        <a:t>Difficult to reproduce analyses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Expensive licence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effectLst/>
                        </a:rPr>
                        <a:t>Completely free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8488447"/>
                  </a:ext>
                </a:extLst>
              </a:tr>
              <a:tr h="0">
                <a:tc>
                  <a:txBody>
                    <a:bodyPr/>
                    <a:lstStyle/>
                    <a:p>
                      <a:pPr>
                        <a:buNone/>
                      </a:pPr>
                      <a:r>
                        <a:rPr lang="en-GB">
                          <a:effectLst/>
                        </a:rPr>
                        <a:t>Limited graphics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Limited flexibility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Publication-quality graphics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9935078"/>
                  </a:ext>
                </a:extLst>
              </a:tr>
              <a:tr h="0">
                <a:tc>
                  <a:txBody>
                    <a:bodyPr/>
                    <a:lstStyle/>
                    <a:p>
                      <a:pPr>
                        <a:buNone/>
                      </a:pPr>
                      <a:r>
                        <a:rPr lang="en-GB" dirty="0">
                          <a:effectLst/>
                        </a:rPr>
                        <a:t>Manual clicking</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Manual clicking</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effectLst/>
                        </a:rPr>
                        <a:t>Fully reproducible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822587"/>
                  </a:ext>
                </a:extLst>
              </a:tr>
            </a:tbl>
          </a:graphicData>
        </a:graphic>
      </p:graphicFrame>
      <p:pic>
        <p:nvPicPr>
          <p:cNvPr id="6" name="Camera 5">
            <a:extLst>
              <a:ext uri="{FF2B5EF4-FFF2-40B4-BE49-F238E27FC236}">
                <a16:creationId xmlns:a16="http://schemas.microsoft.com/office/drawing/2014/main" id="{410EE64F-C9A7-B535-E23E-C6E4904979E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825311" y="3147406"/>
            <a:ext cx="2057400" cy="2057400"/>
          </a:xfrm>
          <a:prstGeom prst="ellipse">
            <a:avLst/>
          </a:prstGeom>
        </p:spPr>
      </p:pic>
    </p:spTree>
    <p:extLst>
      <p:ext uri="{BB962C8B-B14F-4D97-AF65-F5344CB8AC3E}">
        <p14:creationId xmlns:p14="http://schemas.microsoft.com/office/powerpoint/2010/main" val="40076676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DE26-0756-F24B-DE8C-FAE3F76A4F2D}"/>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96B720B-6B6F-448F-2C53-CA39D8EAA241}"/>
              </a:ext>
            </a:extLst>
          </p:cNvPr>
          <p:cNvSpPr txBox="1">
            <a:spLocks/>
          </p:cNvSpPr>
          <p:nvPr/>
        </p:nvSpPr>
        <p:spPr>
          <a:xfrm>
            <a:off x="1200466" y="1045027"/>
            <a:ext cx="441656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So what exactly is R?</a:t>
            </a:r>
          </a:p>
        </p:txBody>
      </p:sp>
      <p:sp>
        <p:nvSpPr>
          <p:cNvPr id="3" name="Google Shape;116;p26">
            <a:extLst>
              <a:ext uri="{FF2B5EF4-FFF2-40B4-BE49-F238E27FC236}">
                <a16:creationId xmlns:a16="http://schemas.microsoft.com/office/drawing/2014/main" id="{8CE7A4FA-C74E-04C0-72E2-BC0AA87C82C5}"/>
              </a:ext>
            </a:extLst>
          </p:cNvPr>
          <p:cNvSpPr txBox="1">
            <a:spLocks/>
          </p:cNvSpPr>
          <p:nvPr/>
        </p:nvSpPr>
        <p:spPr>
          <a:xfrm>
            <a:off x="427580" y="1992087"/>
            <a:ext cx="6746106" cy="3995058"/>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R was created in 1991 and released in 1993, and is quickly rising in the ranks as one of the most popular programming languages for data science. </a:t>
            </a:r>
          </a:p>
          <a:p>
            <a:pPr marL="0" indent="0">
              <a:spcBef>
                <a:spcPts val="1200"/>
              </a:spcBef>
              <a:buNone/>
            </a:pPr>
            <a:r>
              <a:rPr lang="en-GB" sz="2400" noProof="1">
                <a:latin typeface="Source Sans Pro" panose="020B0503030403020204" pitchFamily="34" charset="0"/>
                <a:ea typeface="Source Sans Pro" panose="020B0503030403020204" pitchFamily="34" charset="0"/>
              </a:rPr>
              <a:t>R is an </a:t>
            </a:r>
            <a:r>
              <a:rPr lang="en-GB" sz="2400" b="1" noProof="1">
                <a:latin typeface="Source Sans Pro" panose="020B0503030403020204" pitchFamily="34" charset="0"/>
                <a:ea typeface="Source Sans Pro" panose="020B0503030403020204" pitchFamily="34" charset="0"/>
              </a:rPr>
              <a:t>open-source</a:t>
            </a:r>
            <a:r>
              <a:rPr lang="en-GB" sz="2400" noProof="1">
                <a:latin typeface="Source Sans Pro" panose="020B0503030403020204" pitchFamily="34" charset="0"/>
                <a:ea typeface="Source Sans Pro" panose="020B0503030403020204" pitchFamily="34" charset="0"/>
              </a:rPr>
              <a:t> domain-specific language designed for statistical analysis, data handling, and visualisation. </a:t>
            </a:r>
          </a:p>
          <a:p>
            <a:pPr marL="0" indent="0">
              <a:spcBef>
                <a:spcPts val="1200"/>
              </a:spcBef>
              <a:buNone/>
            </a:pPr>
            <a:r>
              <a:rPr lang="en-GB" sz="2400" b="1" noProof="1">
                <a:latin typeface="Source Sans Pro" panose="020B0503030403020204" pitchFamily="34" charset="0"/>
                <a:ea typeface="Source Sans Pro" panose="020B0503030403020204" pitchFamily="34" charset="0"/>
              </a:rPr>
              <a:t>The primary objective that R was built for is data analysis and statistics. </a:t>
            </a:r>
            <a:r>
              <a:rPr lang="en-GB" sz="2400" noProof="1">
                <a:latin typeface="Source Sans Pro" panose="020B0503030403020204" pitchFamily="34" charset="0"/>
                <a:ea typeface="Source Sans Pro" panose="020B0503030403020204" pitchFamily="34" charset="0"/>
              </a:rPr>
              <a:t>It is a highly extensible language that fosters an environment for statistical computing and graphics.</a:t>
            </a:r>
          </a:p>
        </p:txBody>
      </p:sp>
      <p:pic>
        <p:nvPicPr>
          <p:cNvPr id="4" name="Picture 3">
            <a:extLst>
              <a:ext uri="{FF2B5EF4-FFF2-40B4-BE49-F238E27FC236}">
                <a16:creationId xmlns:a16="http://schemas.microsoft.com/office/drawing/2014/main" id="{36849FC6-4859-62E1-486D-3847E869703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797257" y="457902"/>
            <a:ext cx="2747963" cy="2125496"/>
          </a:xfrm>
          <a:prstGeom prst="rect">
            <a:avLst/>
          </a:prstGeom>
        </p:spPr>
      </p:pic>
      <p:pic>
        <p:nvPicPr>
          <p:cNvPr id="5" name="Camera 4">
            <a:extLst>
              <a:ext uri="{FF2B5EF4-FFF2-40B4-BE49-F238E27FC236}">
                <a16:creationId xmlns:a16="http://schemas.microsoft.com/office/drawing/2014/main" id="{71865526-4203-CE8C-477E-3B00CD6A8F6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80168" y="3929745"/>
            <a:ext cx="2057400" cy="2057400"/>
          </a:xfrm>
          <a:prstGeom prst="ellipse">
            <a:avLst/>
          </a:prstGeom>
        </p:spPr>
      </p:pic>
    </p:spTree>
    <p:extLst>
      <p:ext uri="{BB962C8B-B14F-4D97-AF65-F5344CB8AC3E}">
        <p14:creationId xmlns:p14="http://schemas.microsoft.com/office/powerpoint/2010/main" val="16691235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80E55-E343-0632-885E-930104BBA5C7}"/>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74F85129-D0BF-5D1D-B174-76F5EF48E69F}"/>
              </a:ext>
            </a:extLst>
          </p:cNvPr>
          <p:cNvSpPr txBox="1">
            <a:spLocks/>
          </p:cNvSpPr>
          <p:nvPr/>
        </p:nvSpPr>
        <p:spPr>
          <a:xfrm>
            <a:off x="427580" y="384348"/>
            <a:ext cx="10117640"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But hang on, what is R Studio then?</a:t>
            </a:r>
          </a:p>
        </p:txBody>
      </p:sp>
      <p:sp>
        <p:nvSpPr>
          <p:cNvPr id="3" name="Google Shape;116;p26">
            <a:extLst>
              <a:ext uri="{FF2B5EF4-FFF2-40B4-BE49-F238E27FC236}">
                <a16:creationId xmlns:a16="http://schemas.microsoft.com/office/drawing/2014/main" id="{FB030D9E-04A1-2E52-E1B7-842DED61BA57}"/>
              </a:ext>
            </a:extLst>
          </p:cNvPr>
          <p:cNvSpPr txBox="1">
            <a:spLocks/>
          </p:cNvSpPr>
          <p:nvPr/>
        </p:nvSpPr>
        <p:spPr>
          <a:xfrm>
            <a:off x="427580" y="1193331"/>
            <a:ext cx="9932034" cy="1011193"/>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R Studio is not R. It is a </a:t>
            </a:r>
            <a:r>
              <a:rPr lang="en-GB" sz="2400" b="1" noProof="1">
                <a:latin typeface="Source Sans Pro" panose="020B0503030403020204" pitchFamily="34" charset="0"/>
                <a:ea typeface="Source Sans Pro" panose="020B0503030403020204" pitchFamily="34" charset="0"/>
              </a:rPr>
              <a:t>G</a:t>
            </a:r>
            <a:r>
              <a:rPr lang="en-GB" sz="2400" noProof="1">
                <a:latin typeface="Source Sans Pro" panose="020B0503030403020204" pitchFamily="34" charset="0"/>
                <a:ea typeface="Source Sans Pro" panose="020B0503030403020204" pitchFamily="34" charset="0"/>
              </a:rPr>
              <a:t>raphical </a:t>
            </a:r>
            <a:r>
              <a:rPr lang="en-GB" sz="2400" b="1" noProof="1">
                <a:latin typeface="Source Sans Pro" panose="020B0503030403020204" pitchFamily="34" charset="0"/>
                <a:ea typeface="Source Sans Pro" panose="020B0503030403020204" pitchFamily="34" charset="0"/>
              </a:rPr>
              <a:t>U</a:t>
            </a:r>
            <a:r>
              <a:rPr lang="en-GB" sz="2400" noProof="1">
                <a:latin typeface="Source Sans Pro" panose="020B0503030403020204" pitchFamily="34" charset="0"/>
                <a:ea typeface="Source Sans Pro" panose="020B0503030403020204" pitchFamily="34" charset="0"/>
              </a:rPr>
              <a:t>ser </a:t>
            </a:r>
            <a:r>
              <a:rPr lang="en-GB" sz="2400" b="1" noProof="1">
                <a:latin typeface="Source Sans Pro" panose="020B0503030403020204" pitchFamily="34" charset="0"/>
                <a:ea typeface="Source Sans Pro" panose="020B0503030403020204" pitchFamily="34" charset="0"/>
              </a:rPr>
              <a:t>I</a:t>
            </a:r>
            <a:r>
              <a:rPr lang="en-GB" sz="2400" noProof="1">
                <a:latin typeface="Source Sans Pro" panose="020B0503030403020204" pitchFamily="34" charset="0"/>
                <a:ea typeface="Source Sans Pro" panose="020B0503030403020204" pitchFamily="34" charset="0"/>
              </a:rPr>
              <a:t>nterface (GUI).</a:t>
            </a:r>
          </a:p>
          <a:p>
            <a:pPr marL="0" indent="0">
              <a:spcBef>
                <a:spcPts val="1200"/>
              </a:spcBef>
              <a:buNone/>
            </a:pPr>
            <a:r>
              <a:rPr lang="en-GB" sz="2400" noProof="1">
                <a:latin typeface="Source Sans Pro" panose="020B0503030403020204" pitchFamily="34" charset="0"/>
                <a:ea typeface="Source Sans Pro" panose="020B0503030403020204" pitchFamily="34" charset="0"/>
              </a:rPr>
              <a:t>It’s simply an application that makes writing and running R much easier.</a:t>
            </a:r>
          </a:p>
        </p:txBody>
      </p:sp>
      <p:pic>
        <p:nvPicPr>
          <p:cNvPr id="4" name="Camera 3">
            <a:extLst>
              <a:ext uri="{FF2B5EF4-FFF2-40B4-BE49-F238E27FC236}">
                <a16:creationId xmlns:a16="http://schemas.microsoft.com/office/drawing/2014/main" id="{B90AF2AE-1248-0E40-07C2-4D19F79D53A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9173654" y="4073572"/>
            <a:ext cx="2057400" cy="2057400"/>
          </a:xfrm>
          <a:prstGeom prst="ellipse">
            <a:avLst/>
          </a:prstGeom>
        </p:spPr>
      </p:pic>
      <p:pic>
        <p:nvPicPr>
          <p:cNvPr id="5" name="Picture 4" descr="RStudio - Wikipedia">
            <a:extLst>
              <a:ext uri="{FF2B5EF4-FFF2-40B4-BE49-F238E27FC236}">
                <a16:creationId xmlns:a16="http://schemas.microsoft.com/office/drawing/2014/main" id="{CC1D27C4-4219-EA32-6794-93853F6D6A40}"/>
              </a:ext>
            </a:extLst>
          </p:cNvPr>
          <p:cNvPicPr>
            <a:picLocks noChangeAspect="1"/>
          </p:cNvPicPr>
          <p:nvPr/>
        </p:nvPicPr>
        <p:blipFill>
          <a:blip r:embed="rId3"/>
          <a:stretch>
            <a:fillRect/>
          </a:stretch>
        </p:blipFill>
        <p:spPr>
          <a:xfrm>
            <a:off x="427580" y="2424672"/>
            <a:ext cx="5876467" cy="4109940"/>
          </a:xfrm>
          <a:prstGeom prst="rect">
            <a:avLst/>
          </a:prstGeom>
        </p:spPr>
      </p:pic>
    </p:spTree>
    <p:extLst>
      <p:ext uri="{BB962C8B-B14F-4D97-AF65-F5344CB8AC3E}">
        <p14:creationId xmlns:p14="http://schemas.microsoft.com/office/powerpoint/2010/main" val="272340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98E0D-9491-B96C-2804-771395EA8170}"/>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4DA55D0E-81DE-3790-A461-96610DE758C8}"/>
              </a:ext>
            </a:extLst>
          </p:cNvPr>
          <p:cNvSpPr txBox="1">
            <a:spLocks/>
          </p:cNvSpPr>
          <p:nvPr/>
        </p:nvSpPr>
        <p:spPr>
          <a:xfrm>
            <a:off x="427580" y="384348"/>
            <a:ext cx="10117640"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How are we going to use R Studio?</a:t>
            </a:r>
          </a:p>
        </p:txBody>
      </p:sp>
      <p:pic>
        <p:nvPicPr>
          <p:cNvPr id="4" name="Picture 3" descr="Noteable - Computational Notebook Platform for Education">
            <a:extLst>
              <a:ext uri="{FF2B5EF4-FFF2-40B4-BE49-F238E27FC236}">
                <a16:creationId xmlns:a16="http://schemas.microsoft.com/office/drawing/2014/main" id="{0F60ACF3-5F43-CB16-F5FC-D6137C9262D6}"/>
              </a:ext>
            </a:extLst>
          </p:cNvPr>
          <p:cNvPicPr>
            <a:picLocks noChangeAspect="1"/>
          </p:cNvPicPr>
          <p:nvPr/>
        </p:nvPicPr>
        <p:blipFill>
          <a:blip r:embed="rId2"/>
          <a:stretch>
            <a:fillRect/>
          </a:stretch>
        </p:blipFill>
        <p:spPr>
          <a:xfrm>
            <a:off x="712021" y="1491212"/>
            <a:ext cx="3239507" cy="816461"/>
          </a:xfrm>
          <a:prstGeom prst="rect">
            <a:avLst/>
          </a:prstGeom>
        </p:spPr>
      </p:pic>
      <p:pic>
        <p:nvPicPr>
          <p:cNvPr id="5" name="Picture 4" descr="R Markdown: The Definitive Guide">
            <a:extLst>
              <a:ext uri="{FF2B5EF4-FFF2-40B4-BE49-F238E27FC236}">
                <a16:creationId xmlns:a16="http://schemas.microsoft.com/office/drawing/2014/main" id="{151C6374-1F51-1C35-93E3-2E41A7DD54EA}"/>
              </a:ext>
            </a:extLst>
          </p:cNvPr>
          <p:cNvPicPr>
            <a:picLocks noChangeAspect="1"/>
          </p:cNvPicPr>
          <p:nvPr/>
        </p:nvPicPr>
        <p:blipFill>
          <a:blip r:embed="rId3"/>
          <a:stretch>
            <a:fillRect/>
          </a:stretch>
        </p:blipFill>
        <p:spPr>
          <a:xfrm>
            <a:off x="4925182" y="1237952"/>
            <a:ext cx="1887743" cy="2139442"/>
          </a:xfrm>
          <a:prstGeom prst="rect">
            <a:avLst/>
          </a:prstGeom>
        </p:spPr>
      </p:pic>
      <p:pic>
        <p:nvPicPr>
          <p:cNvPr id="6" name="Picture 5" descr="Make prettier documents by reusing chunks in RMarkdown | What You're Doing  Is Rather Desperate">
            <a:extLst>
              <a:ext uri="{FF2B5EF4-FFF2-40B4-BE49-F238E27FC236}">
                <a16:creationId xmlns:a16="http://schemas.microsoft.com/office/drawing/2014/main" id="{65808501-49F8-90BA-BCCD-D3B64DDF713A}"/>
              </a:ext>
            </a:extLst>
          </p:cNvPr>
          <p:cNvPicPr>
            <a:picLocks noChangeAspect="1"/>
          </p:cNvPicPr>
          <p:nvPr/>
        </p:nvPicPr>
        <p:blipFill>
          <a:blip r:embed="rId4"/>
          <a:srcRect r="46377" b="31780"/>
          <a:stretch>
            <a:fillRect/>
          </a:stretch>
        </p:blipFill>
        <p:spPr>
          <a:xfrm>
            <a:off x="7786579" y="490382"/>
            <a:ext cx="3969991" cy="1706390"/>
          </a:xfrm>
          <a:prstGeom prst="rect">
            <a:avLst/>
          </a:prstGeom>
        </p:spPr>
      </p:pic>
      <p:sp>
        <p:nvSpPr>
          <p:cNvPr id="7" name="TextBox 6">
            <a:extLst>
              <a:ext uri="{FF2B5EF4-FFF2-40B4-BE49-F238E27FC236}">
                <a16:creationId xmlns:a16="http://schemas.microsoft.com/office/drawing/2014/main" id="{4365B5B9-3D79-60F4-6479-CBA7DA76368B}"/>
              </a:ext>
            </a:extLst>
          </p:cNvPr>
          <p:cNvSpPr txBox="1"/>
          <p:nvPr/>
        </p:nvSpPr>
        <p:spPr>
          <a:xfrm>
            <a:off x="532083" y="2996056"/>
            <a:ext cx="3125517" cy="3108543"/>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University service to access R Studio and R through the web-browser.</a:t>
            </a:r>
          </a:p>
          <a:p>
            <a:endParaRPr lang="en-GB" sz="2800" dirty="0">
              <a:latin typeface="Source Sans Pro" panose="020B0503030403020204" pitchFamily="34" charset="0"/>
              <a:ea typeface="Source Sans Pro" panose="020B0503030403020204" pitchFamily="34" charset="0"/>
            </a:endParaRPr>
          </a:p>
          <a:p>
            <a:r>
              <a:rPr lang="en-GB" sz="2800" dirty="0">
                <a:latin typeface="Source Sans Pro" panose="020B0503030403020204" pitchFamily="34" charset="0"/>
                <a:ea typeface="Source Sans Pro" panose="020B0503030403020204" pitchFamily="34" charset="0"/>
              </a:rPr>
              <a:t>-&gt; Doesn’t need a laptop!</a:t>
            </a:r>
          </a:p>
        </p:txBody>
      </p:sp>
      <p:sp>
        <p:nvSpPr>
          <p:cNvPr id="8" name="TextBox 7">
            <a:extLst>
              <a:ext uri="{FF2B5EF4-FFF2-40B4-BE49-F238E27FC236}">
                <a16:creationId xmlns:a16="http://schemas.microsoft.com/office/drawing/2014/main" id="{C00A6E35-FE3B-1E3C-7CDC-235C3B08F434}"/>
              </a:ext>
            </a:extLst>
          </p:cNvPr>
          <p:cNvSpPr txBox="1"/>
          <p:nvPr/>
        </p:nvSpPr>
        <p:spPr>
          <a:xfrm>
            <a:off x="4211455" y="3502477"/>
            <a:ext cx="3125517" cy="3108543"/>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Package to make nice reports and bring figures/text together.</a:t>
            </a:r>
          </a:p>
          <a:p>
            <a:endParaRPr lang="en-GB" sz="2800" dirty="0">
              <a:latin typeface="Source Sans Pro" panose="020B0503030403020204" pitchFamily="34" charset="0"/>
              <a:ea typeface="Source Sans Pro" panose="020B0503030403020204" pitchFamily="34" charset="0"/>
            </a:endParaRPr>
          </a:p>
          <a:p>
            <a:r>
              <a:rPr lang="en-GB" sz="2800" dirty="0">
                <a:latin typeface="Source Sans Pro" panose="020B0503030403020204" pitchFamily="34" charset="0"/>
                <a:ea typeface="Source Sans Pro" panose="020B0503030403020204" pitchFamily="34" charset="0"/>
              </a:rPr>
              <a:t>-&gt; Nice PDFs at the end!</a:t>
            </a:r>
          </a:p>
        </p:txBody>
      </p:sp>
      <p:sp>
        <p:nvSpPr>
          <p:cNvPr id="9" name="TextBox 8">
            <a:extLst>
              <a:ext uri="{FF2B5EF4-FFF2-40B4-BE49-F238E27FC236}">
                <a16:creationId xmlns:a16="http://schemas.microsoft.com/office/drawing/2014/main" id="{E671CC94-F8BC-8720-BDFA-AB10F816388D}"/>
              </a:ext>
            </a:extLst>
          </p:cNvPr>
          <p:cNvSpPr txBox="1"/>
          <p:nvPr/>
        </p:nvSpPr>
        <p:spPr>
          <a:xfrm>
            <a:off x="7786579" y="2196772"/>
            <a:ext cx="3969991" cy="2677656"/>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Code chunks separate out code from ‘normal’ text.</a:t>
            </a:r>
          </a:p>
          <a:p>
            <a:endParaRPr lang="en-GB" sz="2800" dirty="0">
              <a:latin typeface="Source Sans Pro" panose="020B0503030403020204" pitchFamily="34" charset="0"/>
              <a:ea typeface="Source Sans Pro" panose="020B0503030403020204" pitchFamily="34" charset="0"/>
            </a:endParaRPr>
          </a:p>
          <a:p>
            <a:r>
              <a:rPr lang="en-GB" sz="2800" dirty="0">
                <a:latin typeface="Source Sans Pro" panose="020B0503030403020204" pitchFamily="34" charset="0"/>
                <a:ea typeface="Source Sans Pro" panose="020B0503030403020204" pitchFamily="34" charset="0"/>
              </a:rPr>
              <a:t>-&gt; Easy to spot the grey and see code!</a:t>
            </a:r>
          </a:p>
        </p:txBody>
      </p:sp>
      <p:pic>
        <p:nvPicPr>
          <p:cNvPr id="10" name="Camera 9">
            <a:extLst>
              <a:ext uri="{FF2B5EF4-FFF2-40B4-BE49-F238E27FC236}">
                <a16:creationId xmlns:a16="http://schemas.microsoft.com/office/drawing/2014/main" id="{35EFBA5D-B9C6-45CD-0135-E4992F92464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9968785" y="4661229"/>
            <a:ext cx="2057400" cy="2057400"/>
          </a:xfrm>
          <a:prstGeom prst="ellipse">
            <a:avLst/>
          </a:prstGeom>
        </p:spPr>
      </p:pic>
    </p:spTree>
    <p:extLst>
      <p:ext uri="{BB962C8B-B14F-4D97-AF65-F5344CB8AC3E}">
        <p14:creationId xmlns:p14="http://schemas.microsoft.com/office/powerpoint/2010/main" val="36453567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E4A72-D8B4-7297-5B1F-2ECFFCBA7392}"/>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F7FB8E22-07AE-12F4-29A6-17FDB89475BF}"/>
              </a:ext>
            </a:extLst>
          </p:cNvPr>
          <p:cNvSpPr txBox="1">
            <a:spLocks/>
          </p:cNvSpPr>
          <p:nvPr/>
        </p:nvSpPr>
        <p:spPr>
          <a:xfrm>
            <a:off x="3190071" y="2224212"/>
            <a:ext cx="5811855"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What does data ‘come like’?</a:t>
            </a:r>
          </a:p>
        </p:txBody>
      </p:sp>
      <p:pic>
        <p:nvPicPr>
          <p:cNvPr id="5" name="Camera 4">
            <a:extLst>
              <a:ext uri="{FF2B5EF4-FFF2-40B4-BE49-F238E27FC236}">
                <a16:creationId xmlns:a16="http://schemas.microsoft.com/office/drawing/2014/main" id="{C67CC252-57F1-C371-C4DD-EA56C590C37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5067298" y="2955294"/>
            <a:ext cx="2057400" cy="2057400"/>
          </a:xfrm>
          <a:prstGeom prst="ellipse">
            <a:avLst/>
          </a:prstGeom>
        </p:spPr>
      </p:pic>
      <p:cxnSp>
        <p:nvCxnSpPr>
          <p:cNvPr id="7" name="Straight Connector 6">
            <a:extLst>
              <a:ext uri="{FF2B5EF4-FFF2-40B4-BE49-F238E27FC236}">
                <a16:creationId xmlns:a16="http://schemas.microsoft.com/office/drawing/2014/main" id="{0ED15AD5-5DD9-DCA1-46A9-B379CD9CE8C2}"/>
              </a:ext>
            </a:extLst>
          </p:cNvPr>
          <p:cNvCxnSpPr>
            <a:cxnSpLocks/>
          </p:cNvCxnSpPr>
          <p:nvPr/>
        </p:nvCxnSpPr>
        <p:spPr>
          <a:xfrm>
            <a:off x="6117514" y="0"/>
            <a:ext cx="0" cy="2085337"/>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7A88F8-2862-3680-4EF9-865DAE83D085}"/>
              </a:ext>
            </a:extLst>
          </p:cNvPr>
          <p:cNvCxnSpPr>
            <a:cxnSpLocks/>
          </p:cNvCxnSpPr>
          <p:nvPr/>
        </p:nvCxnSpPr>
        <p:spPr>
          <a:xfrm>
            <a:off x="6083447" y="5163671"/>
            <a:ext cx="0" cy="1709254"/>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58BBC9D-4737-1387-8BD7-05F4B9F34768}"/>
              </a:ext>
            </a:extLst>
          </p:cNvPr>
          <p:cNvCxnSpPr>
            <a:cxnSpLocks/>
          </p:cNvCxnSpPr>
          <p:nvPr/>
        </p:nvCxnSpPr>
        <p:spPr>
          <a:xfrm>
            <a:off x="0" y="3429000"/>
            <a:ext cx="485169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048F9FC-4378-8798-9201-E0727DC4D565}"/>
              </a:ext>
            </a:extLst>
          </p:cNvPr>
          <p:cNvCxnSpPr>
            <a:cxnSpLocks/>
          </p:cNvCxnSpPr>
          <p:nvPr/>
        </p:nvCxnSpPr>
        <p:spPr>
          <a:xfrm>
            <a:off x="7124698" y="3374315"/>
            <a:ext cx="5067302"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8620CF2-A7EA-2371-7B6A-19412C18C18B}"/>
              </a:ext>
            </a:extLst>
          </p:cNvPr>
          <p:cNvSpPr txBox="1"/>
          <p:nvPr/>
        </p:nvSpPr>
        <p:spPr>
          <a:xfrm>
            <a:off x="330797" y="356790"/>
            <a:ext cx="5209387" cy="1569660"/>
          </a:xfrm>
          <a:prstGeom prst="rect">
            <a:avLst/>
          </a:prstGeom>
          <a:noFill/>
        </p:spPr>
        <p:txBody>
          <a:bodyPr wrap="square">
            <a:spAutoFit/>
          </a:bodyPr>
          <a:lstStyle/>
          <a:p>
            <a:r>
              <a:rPr lang="en-GB" sz="2400" b="1" dirty="0"/>
              <a:t>.csv (Comma Separated Value) </a:t>
            </a:r>
            <a:br>
              <a:rPr lang="en-GB" sz="2400" dirty="0"/>
            </a:br>
            <a:r>
              <a:rPr lang="en-GB" sz="2400" dirty="0"/>
              <a:t>As it says on the tin. The dependable everyday workhorse of data science. Nearly everything can read it.</a:t>
            </a:r>
          </a:p>
        </p:txBody>
      </p:sp>
      <p:sp>
        <p:nvSpPr>
          <p:cNvPr id="19" name="TextBox 18">
            <a:extLst>
              <a:ext uri="{FF2B5EF4-FFF2-40B4-BE49-F238E27FC236}">
                <a16:creationId xmlns:a16="http://schemas.microsoft.com/office/drawing/2014/main" id="{81C1E143-64ED-01C9-7540-AC7C8D594A4C}"/>
              </a:ext>
            </a:extLst>
          </p:cNvPr>
          <p:cNvSpPr txBox="1"/>
          <p:nvPr/>
        </p:nvSpPr>
        <p:spPr>
          <a:xfrm>
            <a:off x="6340733" y="356790"/>
            <a:ext cx="5743689" cy="1569660"/>
          </a:xfrm>
          <a:prstGeom prst="rect">
            <a:avLst/>
          </a:prstGeom>
          <a:noFill/>
        </p:spPr>
        <p:txBody>
          <a:bodyPr wrap="square">
            <a:spAutoFit/>
          </a:bodyPr>
          <a:lstStyle/>
          <a:p>
            <a:pPr algn="r"/>
            <a:r>
              <a:rPr lang="en-GB" sz="2400" b="1" dirty="0"/>
              <a:t>.</a:t>
            </a:r>
            <a:r>
              <a:rPr lang="en-GB" sz="2400" b="1" dirty="0" err="1"/>
              <a:t>tsv</a:t>
            </a:r>
            <a:r>
              <a:rPr lang="en-GB" sz="2400" b="1" dirty="0"/>
              <a:t> (Tab Separated Value) </a:t>
            </a:r>
            <a:br>
              <a:rPr lang="en-GB" sz="2400" dirty="0"/>
            </a:br>
            <a:r>
              <a:rPr lang="en-GB" sz="2400" dirty="0"/>
              <a:t>The sophisticated cousin of .csv. Favourite for larger or messier datasets where commas might already appear in the data.</a:t>
            </a:r>
          </a:p>
        </p:txBody>
      </p:sp>
      <p:sp>
        <p:nvSpPr>
          <p:cNvPr id="20" name="TextBox 19">
            <a:extLst>
              <a:ext uri="{FF2B5EF4-FFF2-40B4-BE49-F238E27FC236}">
                <a16:creationId xmlns:a16="http://schemas.microsoft.com/office/drawing/2014/main" id="{99D6F30B-0F54-88FB-91C0-501BC9385BB9}"/>
              </a:ext>
            </a:extLst>
          </p:cNvPr>
          <p:cNvSpPr txBox="1"/>
          <p:nvPr/>
        </p:nvSpPr>
        <p:spPr>
          <a:xfrm>
            <a:off x="215625" y="4661170"/>
            <a:ext cx="5324559" cy="1938992"/>
          </a:xfrm>
          <a:prstGeom prst="rect">
            <a:avLst/>
          </a:prstGeom>
          <a:noFill/>
        </p:spPr>
        <p:txBody>
          <a:bodyPr wrap="square">
            <a:spAutoFit/>
          </a:bodyPr>
          <a:lstStyle/>
          <a:p>
            <a:r>
              <a:rPr lang="en-GB" sz="2400" b="1" dirty="0"/>
              <a:t>.xlsx (Comma Separated Value) </a:t>
            </a:r>
            <a:br>
              <a:rPr lang="en-GB" sz="2400" dirty="0"/>
            </a:br>
            <a:r>
              <a:rPr lang="en-GB" sz="2400" dirty="0"/>
              <a:t>Loves colours, formulas, multiple sheets and making everything look pretty…but can be a bit dramatic when you just want the raw data.</a:t>
            </a:r>
          </a:p>
        </p:txBody>
      </p:sp>
      <p:sp>
        <p:nvSpPr>
          <p:cNvPr id="21" name="TextBox 20">
            <a:extLst>
              <a:ext uri="{FF2B5EF4-FFF2-40B4-BE49-F238E27FC236}">
                <a16:creationId xmlns:a16="http://schemas.microsoft.com/office/drawing/2014/main" id="{174CE431-B010-F23B-E614-3BED27958E4E}"/>
              </a:ext>
            </a:extLst>
          </p:cNvPr>
          <p:cNvSpPr txBox="1"/>
          <p:nvPr/>
        </p:nvSpPr>
        <p:spPr>
          <a:xfrm>
            <a:off x="6550299" y="4661170"/>
            <a:ext cx="5324559" cy="1938992"/>
          </a:xfrm>
          <a:prstGeom prst="rect">
            <a:avLst/>
          </a:prstGeom>
          <a:noFill/>
        </p:spPr>
        <p:txBody>
          <a:bodyPr wrap="square">
            <a:spAutoFit/>
          </a:bodyPr>
          <a:lstStyle/>
          <a:p>
            <a:pPr algn="r"/>
            <a:r>
              <a:rPr lang="en-GB" sz="2400" b="1" dirty="0"/>
              <a:t>.</a:t>
            </a:r>
            <a:r>
              <a:rPr lang="en-GB" sz="2400" b="1" dirty="0" err="1"/>
              <a:t>Rdata</a:t>
            </a:r>
            <a:endParaRPr lang="en-GB" sz="2400" b="1" dirty="0"/>
          </a:p>
          <a:p>
            <a:pPr algn="r"/>
            <a:r>
              <a:rPr lang="en-GB" sz="2400" dirty="0"/>
              <a:t>R’s memory box. Instead of saving just the data, it remembers almost everything you were working on so you can pick up exactly where you left off.</a:t>
            </a:r>
          </a:p>
        </p:txBody>
      </p:sp>
    </p:spTree>
    <p:extLst>
      <p:ext uri="{BB962C8B-B14F-4D97-AF65-F5344CB8AC3E}">
        <p14:creationId xmlns:p14="http://schemas.microsoft.com/office/powerpoint/2010/main" val="28390798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5773-4406-5655-8AC0-64E896469F92}"/>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EA89041-E870-0E32-4A3C-28DD948E926E}"/>
              </a:ext>
            </a:extLst>
          </p:cNvPr>
          <p:cNvSpPr txBox="1">
            <a:spLocks/>
          </p:cNvSpPr>
          <p:nvPr/>
        </p:nvSpPr>
        <p:spPr>
          <a:xfrm>
            <a:off x="689428" y="565150"/>
            <a:ext cx="5219386"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How do I load data in R?</a:t>
            </a:r>
          </a:p>
        </p:txBody>
      </p:sp>
      <p:pic>
        <p:nvPicPr>
          <p:cNvPr id="4" name="Picture 3">
            <a:extLst>
              <a:ext uri="{FF2B5EF4-FFF2-40B4-BE49-F238E27FC236}">
                <a16:creationId xmlns:a16="http://schemas.microsoft.com/office/drawing/2014/main" id="{50B52A92-F8A9-69F1-9BE2-60E9C179F0A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45035" y="565150"/>
            <a:ext cx="4762500" cy="2679700"/>
          </a:xfrm>
          <a:prstGeom prst="rect">
            <a:avLst/>
          </a:prstGeom>
        </p:spPr>
      </p:pic>
      <p:sp>
        <p:nvSpPr>
          <p:cNvPr id="6" name="TextBox 5">
            <a:extLst>
              <a:ext uri="{FF2B5EF4-FFF2-40B4-BE49-F238E27FC236}">
                <a16:creationId xmlns:a16="http://schemas.microsoft.com/office/drawing/2014/main" id="{8972670C-579F-68DC-B68B-D6543191FF1D}"/>
              </a:ext>
            </a:extLst>
          </p:cNvPr>
          <p:cNvSpPr txBox="1"/>
          <p:nvPr/>
        </p:nvSpPr>
        <p:spPr>
          <a:xfrm>
            <a:off x="576943" y="1446351"/>
            <a:ext cx="5837464" cy="1938992"/>
          </a:xfrm>
          <a:prstGeom prst="rect">
            <a:avLst/>
          </a:prstGeom>
          <a:noFill/>
        </p:spPr>
        <p:txBody>
          <a:bodyPr wrap="square">
            <a:spAutoFit/>
          </a:bodyPr>
          <a:lstStyle/>
          <a:p>
            <a:r>
              <a:rPr lang="en-GB" sz="2000" dirty="0"/>
              <a:t>The tidyverse is an extremely useful set of R packages that were created to make working with data faster, easier, and more fun.</a:t>
            </a:r>
            <a:br>
              <a:rPr lang="en-GB" sz="2000" dirty="0"/>
            </a:br>
            <a:endParaRPr lang="en-GB" sz="2000" dirty="0"/>
          </a:p>
          <a:p>
            <a:r>
              <a:rPr lang="en-GB" sz="2000" dirty="0"/>
              <a:t>We’ll gradually introduce these throughout the course, you do not need to memorise them today.</a:t>
            </a:r>
          </a:p>
        </p:txBody>
      </p:sp>
      <p:pic>
        <p:nvPicPr>
          <p:cNvPr id="7" name="Picture 6" descr="tidyverse workflow illustration showing the packages (via hex stickers) used at each stage">
            <a:extLst>
              <a:ext uri="{FF2B5EF4-FFF2-40B4-BE49-F238E27FC236}">
                <a16:creationId xmlns:a16="http://schemas.microsoft.com/office/drawing/2014/main" id="{EC02B30C-B4C9-D1A7-991B-92C127D5F1AE}"/>
              </a:ext>
            </a:extLst>
          </p:cNvPr>
          <p:cNvPicPr>
            <a:picLocks noChangeAspect="1"/>
          </p:cNvPicPr>
          <p:nvPr/>
        </p:nvPicPr>
        <p:blipFill>
          <a:blip r:embed="rId3"/>
          <a:srcRect b="26701"/>
          <a:stretch>
            <a:fillRect/>
          </a:stretch>
        </p:blipFill>
        <p:spPr>
          <a:xfrm>
            <a:off x="689428" y="3621082"/>
            <a:ext cx="5724979" cy="3078479"/>
          </a:xfrm>
          <a:prstGeom prst="rect">
            <a:avLst/>
          </a:prstGeom>
        </p:spPr>
      </p:pic>
      <p:pic>
        <p:nvPicPr>
          <p:cNvPr id="8" name="Camera 7">
            <a:extLst>
              <a:ext uri="{FF2B5EF4-FFF2-40B4-BE49-F238E27FC236}">
                <a16:creationId xmlns:a16="http://schemas.microsoft.com/office/drawing/2014/main" id="{9494A25D-1ACE-9AAA-8C25-C9DFB7ED4C1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7897585" y="4131621"/>
            <a:ext cx="2057400" cy="2057400"/>
          </a:xfrm>
          <a:prstGeom prst="ellipse">
            <a:avLst/>
          </a:prstGeom>
        </p:spPr>
      </p:pic>
    </p:spTree>
    <p:extLst>
      <p:ext uri="{BB962C8B-B14F-4D97-AF65-F5344CB8AC3E}">
        <p14:creationId xmlns:p14="http://schemas.microsoft.com/office/powerpoint/2010/main" val="17601920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37AB7-DD84-65E8-0B93-380994C8E150}"/>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143AC2DF-4C54-2C6E-FD07-24E199AC9AD9}"/>
              </a:ext>
            </a:extLst>
          </p:cNvPr>
          <p:cNvSpPr txBox="1">
            <a:spLocks/>
          </p:cNvSpPr>
          <p:nvPr/>
        </p:nvSpPr>
        <p:spPr>
          <a:xfrm>
            <a:off x="454296" y="478064"/>
            <a:ext cx="10884264"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For now here’s some simple commands you’ll see… </a:t>
            </a:r>
          </a:p>
        </p:txBody>
      </p:sp>
      <p:pic>
        <p:nvPicPr>
          <p:cNvPr id="8" name="Camera 7">
            <a:extLst>
              <a:ext uri="{FF2B5EF4-FFF2-40B4-BE49-F238E27FC236}">
                <a16:creationId xmlns:a16="http://schemas.microsoft.com/office/drawing/2014/main" id="{4B0401C3-4116-1B86-BA8E-4363A4AA5A0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707482" y="3791987"/>
            <a:ext cx="2057400" cy="2057400"/>
          </a:xfrm>
          <a:prstGeom prst="ellipse">
            <a:avLst/>
          </a:prstGeom>
        </p:spPr>
      </p:pic>
      <p:sp>
        <p:nvSpPr>
          <p:cNvPr id="3" name="Rectangle 2">
            <a:extLst>
              <a:ext uri="{FF2B5EF4-FFF2-40B4-BE49-F238E27FC236}">
                <a16:creationId xmlns:a16="http://schemas.microsoft.com/office/drawing/2014/main" id="{3C6CA5F1-91FA-C7A0-C8CE-FFBA302022C5}"/>
              </a:ext>
            </a:extLst>
          </p:cNvPr>
          <p:cNvSpPr/>
          <p:nvPr/>
        </p:nvSpPr>
        <p:spPr>
          <a:xfrm>
            <a:off x="549501" y="1617617"/>
            <a:ext cx="7854273" cy="140425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library(tidyverse)</a:t>
            </a:r>
          </a:p>
          <a:p>
            <a:pPr lvl="1"/>
            <a:endParaRPr lang="en-GB" dirty="0">
              <a:solidFill>
                <a:srgbClr val="031D42"/>
              </a:solidFill>
              <a:latin typeface="Aptos Mono" panose="020B0009020202020204" pitchFamily="49" charset="0"/>
            </a:endParaRPr>
          </a:p>
          <a:p>
            <a:pPr lvl="1"/>
            <a:r>
              <a:rPr lang="en-GB" dirty="0">
                <a:solidFill>
                  <a:srgbClr val="031D42"/>
                </a:solidFill>
                <a:latin typeface="Aptos Mono" panose="020B0009020202020204" pitchFamily="49" charset="0"/>
              </a:rPr>
              <a:t>data &lt;- </a:t>
            </a:r>
            <a:r>
              <a:rPr lang="en-GB" dirty="0" err="1">
                <a:solidFill>
                  <a:srgbClr val="031D42"/>
                </a:solidFill>
                <a:latin typeface="Aptos Mono" panose="020B0009020202020204" pitchFamily="49" charset="0"/>
              </a:rPr>
              <a:t>read_csv</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patients.csv</a:t>
            </a:r>
            <a:r>
              <a:rPr lang="en-GB" dirty="0">
                <a:solidFill>
                  <a:srgbClr val="031D42"/>
                </a:solidFill>
                <a:latin typeface="Aptos Mono" panose="020B0009020202020204" pitchFamily="49" charset="0"/>
              </a:rPr>
              <a:t>")</a:t>
            </a:r>
          </a:p>
        </p:txBody>
      </p:sp>
      <p:sp>
        <p:nvSpPr>
          <p:cNvPr id="9" name="TextBox 8">
            <a:extLst>
              <a:ext uri="{FF2B5EF4-FFF2-40B4-BE49-F238E27FC236}">
                <a16:creationId xmlns:a16="http://schemas.microsoft.com/office/drawing/2014/main" id="{4C0AD908-45EF-B069-AA5C-33DCFC61E32D}"/>
              </a:ext>
            </a:extLst>
          </p:cNvPr>
          <p:cNvSpPr txBox="1"/>
          <p:nvPr/>
        </p:nvSpPr>
        <p:spPr>
          <a:xfrm>
            <a:off x="549501" y="3640736"/>
            <a:ext cx="6096000" cy="1569660"/>
          </a:xfrm>
          <a:prstGeom prst="rect">
            <a:avLst/>
          </a:prstGeom>
          <a:noFill/>
        </p:spPr>
        <p:txBody>
          <a:bodyPr wrap="square">
            <a:spAutoFit/>
          </a:bodyPr>
          <a:lstStyle/>
          <a:p>
            <a:pPr marL="0" indent="0">
              <a:spcBef>
                <a:spcPts val="1200"/>
              </a:spcBef>
              <a:buNone/>
            </a:pPr>
            <a:r>
              <a:rPr lang="en-GB" sz="2400" noProof="1">
                <a:latin typeface="Source Sans Pro" panose="020B0503030403020204" pitchFamily="34" charset="0"/>
                <a:ea typeface="Source Sans Pro" panose="020B0503030403020204" pitchFamily="34" charset="0"/>
              </a:rPr>
              <a:t>In the code along we’ll meet some other short commands to put into practice the descriptive statistics and visualisations we’ve met this week.</a:t>
            </a:r>
          </a:p>
        </p:txBody>
      </p:sp>
    </p:spTree>
    <p:extLst>
      <p:ext uri="{BB962C8B-B14F-4D97-AF65-F5344CB8AC3E}">
        <p14:creationId xmlns:p14="http://schemas.microsoft.com/office/powerpoint/2010/main" val="1203254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95E84-5FA1-1188-3FA1-E42FA6AAC708}"/>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636A49FD-96CA-C4EB-F215-25CF39B036AE}"/>
              </a:ext>
            </a:extLst>
          </p:cNvPr>
          <p:cNvSpPr txBox="1">
            <a:spLocks/>
          </p:cNvSpPr>
          <p:nvPr/>
        </p:nvSpPr>
        <p:spPr>
          <a:xfrm>
            <a:off x="543694" y="631091"/>
            <a:ext cx="5552306"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How do I store data in R?</a:t>
            </a:r>
          </a:p>
        </p:txBody>
      </p:sp>
      <p:pic>
        <p:nvPicPr>
          <p:cNvPr id="6" name="Picture 5" descr="tidyverse workflow illustration showing the packages (via hex stickers) used at each stage">
            <a:extLst>
              <a:ext uri="{FF2B5EF4-FFF2-40B4-BE49-F238E27FC236}">
                <a16:creationId xmlns:a16="http://schemas.microsoft.com/office/drawing/2014/main" id="{300D9B04-C921-F157-0464-89B5CA246BB1}"/>
              </a:ext>
            </a:extLst>
          </p:cNvPr>
          <p:cNvPicPr>
            <a:picLocks noChangeAspect="1"/>
          </p:cNvPicPr>
          <p:nvPr/>
        </p:nvPicPr>
        <p:blipFill>
          <a:blip r:embed="rId2"/>
          <a:srcRect l="9485" t="72825" r="29625"/>
          <a:stretch>
            <a:fillRect/>
          </a:stretch>
        </p:blipFill>
        <p:spPr>
          <a:xfrm>
            <a:off x="543694" y="4090678"/>
            <a:ext cx="5834742" cy="1910316"/>
          </a:xfrm>
          <a:prstGeom prst="rect">
            <a:avLst/>
          </a:prstGeom>
        </p:spPr>
      </p:pic>
      <p:graphicFrame>
        <p:nvGraphicFramePr>
          <p:cNvPr id="7" name="Table 6">
            <a:extLst>
              <a:ext uri="{FF2B5EF4-FFF2-40B4-BE49-F238E27FC236}">
                <a16:creationId xmlns:a16="http://schemas.microsoft.com/office/drawing/2014/main" id="{293F8F7A-0177-3292-C9FD-423A2AFC7C4F}"/>
              </a:ext>
            </a:extLst>
          </p:cNvPr>
          <p:cNvGraphicFramePr>
            <a:graphicFrameLocks noGrp="1"/>
          </p:cNvGraphicFramePr>
          <p:nvPr>
            <p:extLst>
              <p:ext uri="{D42A27DB-BD31-4B8C-83A1-F6EECF244321}">
                <p14:modId xmlns:p14="http://schemas.microsoft.com/office/powerpoint/2010/main" val="4292226151"/>
              </p:ext>
            </p:extLst>
          </p:nvPr>
        </p:nvGraphicFramePr>
        <p:xfrm>
          <a:off x="543694" y="1832342"/>
          <a:ext cx="6287412" cy="1706880"/>
        </p:xfrm>
        <a:graphic>
          <a:graphicData uri="http://schemas.openxmlformats.org/drawingml/2006/table">
            <a:tbl>
              <a:tblPr/>
              <a:tblGrid>
                <a:gridCol w="3143706">
                  <a:extLst>
                    <a:ext uri="{9D8B030D-6E8A-4147-A177-3AD203B41FA5}">
                      <a16:colId xmlns:a16="http://schemas.microsoft.com/office/drawing/2014/main" val="1990206377"/>
                    </a:ext>
                  </a:extLst>
                </a:gridCol>
                <a:gridCol w="3143706">
                  <a:extLst>
                    <a:ext uri="{9D8B030D-6E8A-4147-A177-3AD203B41FA5}">
                      <a16:colId xmlns:a16="http://schemas.microsoft.com/office/drawing/2014/main" val="2855984521"/>
                    </a:ext>
                  </a:extLst>
                </a:gridCol>
              </a:tblGrid>
              <a:tr h="0">
                <a:tc>
                  <a:txBody>
                    <a:bodyPr/>
                    <a:lstStyle/>
                    <a:p>
                      <a:pPr>
                        <a:buNone/>
                      </a:pPr>
                      <a:r>
                        <a:rPr lang="en-GB" b="1" dirty="0">
                          <a:solidFill>
                            <a:schemeClr val="bg1"/>
                          </a:solidFill>
                          <a:effectLst/>
                        </a:rPr>
                        <a:t>Object</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tc>
                  <a:txBody>
                    <a:bodyPr/>
                    <a:lstStyle/>
                    <a:p>
                      <a:pPr>
                        <a:buNone/>
                      </a:pPr>
                      <a:r>
                        <a:rPr lang="en-GB" b="1" dirty="0">
                          <a:solidFill>
                            <a:schemeClr val="bg1"/>
                          </a:solidFill>
                          <a:effectLst/>
                        </a:rPr>
                        <a:t>Purpose</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extLst>
                  <a:ext uri="{0D108BD9-81ED-4DB2-BD59-A6C34878D82A}">
                    <a16:rowId xmlns:a16="http://schemas.microsoft.com/office/drawing/2014/main" val="3891484882"/>
                  </a:ext>
                </a:extLst>
              </a:tr>
              <a:tr h="0">
                <a:tc>
                  <a:txBody>
                    <a:bodyPr/>
                    <a:lstStyle/>
                    <a:p>
                      <a:pPr>
                        <a:buNone/>
                      </a:pPr>
                      <a:r>
                        <a:rPr lang="en-GB">
                          <a:effectLst/>
                        </a:rPr>
                        <a:t>Vector</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One variable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760070"/>
                  </a:ext>
                </a:extLst>
              </a:tr>
              <a:tr h="0">
                <a:tc>
                  <a:txBody>
                    <a:bodyPr/>
                    <a:lstStyle/>
                    <a:p>
                      <a:pPr>
                        <a:buNone/>
                      </a:pPr>
                      <a:r>
                        <a:rPr lang="en-GB">
                          <a:effectLst/>
                        </a:rPr>
                        <a:t>Data frame (tibble)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Entire dataset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968773"/>
                  </a:ext>
                </a:extLst>
              </a:tr>
              <a:tr h="0">
                <a:tc>
                  <a:txBody>
                    <a:bodyPr/>
                    <a:lstStyle/>
                    <a:p>
                      <a:pPr>
                        <a:buNone/>
                      </a:pPr>
                      <a:r>
                        <a:rPr lang="en-GB">
                          <a:effectLst/>
                        </a:rPr>
                        <a:t>Factor</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effectLst/>
                        </a:rPr>
                        <a:t>Categorical variable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185197"/>
                  </a:ext>
                </a:extLst>
              </a:tr>
            </a:tbl>
          </a:graphicData>
        </a:graphic>
      </p:graphicFrame>
      <p:pic>
        <p:nvPicPr>
          <p:cNvPr id="8" name="Camera 7">
            <a:extLst>
              <a:ext uri="{FF2B5EF4-FFF2-40B4-BE49-F238E27FC236}">
                <a16:creationId xmlns:a16="http://schemas.microsoft.com/office/drawing/2014/main" id="{E482AEE6-4C43-FF6B-5085-8C5BEEDBB2B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288282" y="3061978"/>
            <a:ext cx="2057400" cy="2057400"/>
          </a:xfrm>
          <a:prstGeom prst="ellipse">
            <a:avLst/>
          </a:prstGeom>
        </p:spPr>
      </p:pic>
    </p:spTree>
    <p:extLst>
      <p:ext uri="{BB962C8B-B14F-4D97-AF65-F5344CB8AC3E}">
        <p14:creationId xmlns:p14="http://schemas.microsoft.com/office/powerpoint/2010/main" val="326525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EDBFE9BF-930E-0A88-049A-8C6D658D86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B87C5B-C1E1-586C-4DF8-4AD6AB15B5B4}"/>
              </a:ext>
            </a:extLst>
          </p:cNvPr>
          <p:cNvSpPr txBox="1"/>
          <p:nvPr/>
        </p:nvSpPr>
        <p:spPr>
          <a:xfrm>
            <a:off x="500743" y="463485"/>
            <a:ext cx="5878287"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What you need to do next…</a:t>
            </a:r>
            <a:endParaRPr lang="en-GB" sz="2800" noProof="1">
              <a:solidFill>
                <a:schemeClr val="bg1"/>
              </a:solidFill>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E79FBF80-4DB0-FFED-AB2E-F97CFA3B6861}"/>
              </a:ext>
            </a:extLst>
          </p:cNvPr>
          <p:cNvSpPr txBox="1"/>
          <p:nvPr/>
        </p:nvSpPr>
        <p:spPr>
          <a:xfrm>
            <a:off x="576944" y="1339463"/>
            <a:ext cx="836086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noProof="1">
                <a:solidFill>
                  <a:schemeClr val="bg1"/>
                </a:solidFill>
                <a:latin typeface="Source Sans Pro" panose="020B0503030403020204" pitchFamily="34" charset="0"/>
                <a:ea typeface="Source Sans Pro" panose="020B0503030403020204" pitchFamily="34" charset="0"/>
                <a:cs typeface="Calibri"/>
              </a:rPr>
              <a:t>You’ve learnt all about descriptive statistics and how data can be visualised to represent this graphically. You’ve also learnt about what R and R Studio are, and how we use them (a bit).</a:t>
            </a:r>
          </a:p>
          <a:p>
            <a:endParaRPr lang="en-GB" sz="2400" noProof="1">
              <a:solidFill>
                <a:schemeClr val="bg1"/>
              </a:solidFill>
              <a:latin typeface="Source Sans Pro" panose="020B0503030403020204" pitchFamily="34" charset="0"/>
              <a:ea typeface="Source Sans Pro" panose="020B0503030403020204" pitchFamily="34" charset="0"/>
              <a:cs typeface="Calibri"/>
            </a:endParaRPr>
          </a:p>
          <a:p>
            <a:r>
              <a:rPr lang="en-GB" sz="2400" noProof="1">
                <a:solidFill>
                  <a:schemeClr val="bg1"/>
                </a:solidFill>
                <a:latin typeface="Source Sans Pro" panose="020B0503030403020204" pitchFamily="34" charset="0"/>
                <a:ea typeface="Source Sans Pro" panose="020B0503030403020204" pitchFamily="34" charset="0"/>
                <a:cs typeface="Calibri"/>
              </a:rPr>
              <a:t>Now it’s time to put this into practice!</a:t>
            </a:r>
          </a:p>
        </p:txBody>
      </p:sp>
      <p:cxnSp>
        <p:nvCxnSpPr>
          <p:cNvPr id="7" name="Straight Arrow Connector 6">
            <a:extLst>
              <a:ext uri="{FF2B5EF4-FFF2-40B4-BE49-F238E27FC236}">
                <a16:creationId xmlns:a16="http://schemas.microsoft.com/office/drawing/2014/main" id="{24048D93-CE3B-2C04-DE0A-2C7A2ADB27C0}"/>
              </a:ext>
            </a:extLst>
          </p:cNvPr>
          <p:cNvCxnSpPr>
            <a:cxnSpLocks/>
          </p:cNvCxnSpPr>
          <p:nvPr/>
        </p:nvCxnSpPr>
        <p:spPr>
          <a:xfrm>
            <a:off x="7391399" y="6232360"/>
            <a:ext cx="392337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9606799-C9AB-D73E-8140-7F2FF5803538}"/>
              </a:ext>
            </a:extLst>
          </p:cNvPr>
          <p:cNvSpPr txBox="1"/>
          <p:nvPr/>
        </p:nvSpPr>
        <p:spPr>
          <a:xfrm>
            <a:off x="7391399" y="5669037"/>
            <a:ext cx="3650673"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To the code-along…</a:t>
            </a:r>
            <a:endParaRPr lang="en-GB" sz="2800" noProof="1">
              <a:solidFill>
                <a:schemeClr val="bg1"/>
              </a:solidFill>
              <a:latin typeface="Source Sans Pro" panose="020B0503030403020204" pitchFamily="34" charset="0"/>
              <a:ea typeface="Source Sans Pro" panose="020B0503030403020204" pitchFamily="34" charset="0"/>
            </a:endParaRPr>
          </a:p>
        </p:txBody>
      </p:sp>
      <p:pic>
        <p:nvPicPr>
          <p:cNvPr id="2" name="Camera 1">
            <a:extLst>
              <a:ext uri="{FF2B5EF4-FFF2-40B4-BE49-F238E27FC236}">
                <a16:creationId xmlns:a16="http://schemas.microsoft.com/office/drawing/2014/main" id="{E96FDCC2-E0E7-8269-B246-6FF7B9AF0A7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576944" y="4337115"/>
            <a:ext cx="2057400" cy="2057400"/>
          </a:xfrm>
          <a:prstGeom prst="ellipse">
            <a:avLst/>
          </a:prstGeom>
        </p:spPr>
      </p:pic>
    </p:spTree>
    <p:extLst>
      <p:ext uri="{BB962C8B-B14F-4D97-AF65-F5344CB8AC3E}">
        <p14:creationId xmlns:p14="http://schemas.microsoft.com/office/powerpoint/2010/main" val="1772630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810</TotalTime>
  <Words>2222</Words>
  <Application>Microsoft Macintosh PowerPoint</Application>
  <PresentationFormat>Widescreen</PresentationFormat>
  <Paragraphs>281</Paragraphs>
  <Slides>58</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Aptos</vt:lpstr>
      <vt:lpstr>Aptos Display</vt:lpstr>
      <vt:lpstr>Aptos Mono</vt:lpstr>
      <vt:lpstr>Arial</vt:lpstr>
      <vt:lpstr>Cambria Math</vt:lpstr>
      <vt:lpstr>Source Sans Pro</vt:lpstr>
      <vt:lpstr>Office Theme</vt:lpstr>
      <vt:lpstr>PowerPoint Presentation</vt:lpstr>
      <vt:lpstr>PowerPoint Presentation</vt:lpstr>
      <vt:lpstr>PowerPoint Presentation</vt:lpstr>
      <vt:lpstr>PowerPoint Presentation</vt:lpstr>
      <vt:lpstr>Data types</vt:lpstr>
      <vt:lpstr>Measuring central tendency</vt:lpstr>
      <vt:lpstr>The mean</vt:lpstr>
      <vt:lpstr>The mean</vt:lpstr>
      <vt:lpstr>The median</vt:lpstr>
      <vt:lpstr>The median</vt:lpstr>
      <vt:lpstr>The mode</vt:lpstr>
      <vt:lpstr>Measuring the spread in the distribution</vt:lpstr>
      <vt:lpstr>Standard deviation (SD)</vt:lpstr>
      <vt:lpstr>Standard deviation (SD)</vt:lpstr>
      <vt:lpstr>Standard deviation (SD)</vt:lpstr>
      <vt:lpstr>Standard deviation (SD)</vt:lpstr>
      <vt:lpstr>Standard deviation (SD) generalisation</vt:lpstr>
      <vt:lpstr>Why n-1?</vt:lpstr>
      <vt:lpstr>How does this look for the pulse data?</vt:lpstr>
      <vt:lpstr>Range</vt:lpstr>
      <vt:lpstr>Tips for use</vt:lpstr>
      <vt:lpstr>Tips for use</vt:lpstr>
      <vt:lpstr>PowerPoint Presentation</vt:lpstr>
      <vt:lpstr>How do we describe the distribution of a  ordinal, nominal or discrete variable?</vt:lpstr>
      <vt:lpstr>PowerPoint Presentation</vt:lpstr>
      <vt:lpstr>How do we describe the distribution of a  ordinal, nominal or discrete variable?</vt:lpstr>
      <vt:lpstr>How do we describe the distribution of a continuous variable?</vt:lpstr>
      <vt:lpstr>How do we describe the distribution of a continuous variable?</vt:lpstr>
      <vt:lpstr>PowerPoint Presentation</vt:lpstr>
      <vt:lpstr>PowerPoint Presentation</vt:lpstr>
      <vt:lpstr>PowerPoint Presentation</vt:lpstr>
      <vt:lpstr>PowerPoint Presentation</vt:lpstr>
      <vt:lpstr>So far we’ve described single variables…</vt:lpstr>
      <vt:lpstr>How do we deal with underlying groups?</vt:lpstr>
      <vt:lpstr>How do I deal with underlying groups?</vt:lpstr>
      <vt:lpstr>Can use a ‘faceted’ histogram…</vt:lpstr>
      <vt:lpstr>The ‘faceted’ boxplot…</vt:lpstr>
      <vt:lpstr>Introducing violin plots…</vt:lpstr>
      <vt:lpstr>PowerPoint Presentation</vt:lpstr>
      <vt:lpstr>Let’s start with a histogram</vt:lpstr>
      <vt:lpstr>Scaling the histogram</vt:lpstr>
      <vt:lpstr>Probability density function</vt:lpstr>
      <vt:lpstr>Is it ‘normally distributed?</vt:lpstr>
      <vt:lpstr>Why do we care?</vt:lpstr>
      <vt:lpstr>Normal distribution</vt:lpstr>
      <vt:lpstr>The empirical rule</vt:lpstr>
      <vt:lpstr>The importance of the normal distribution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Oldnall</dc:creator>
  <cp:lastModifiedBy>Chris Oldnall</cp:lastModifiedBy>
  <cp:revision>15</cp:revision>
  <cp:lastPrinted>2026-04-30T09:46:23Z</cp:lastPrinted>
  <dcterms:created xsi:type="dcterms:W3CDTF">2026-04-30T09:42:16Z</dcterms:created>
  <dcterms:modified xsi:type="dcterms:W3CDTF">2026-07-09T20:02:58Z</dcterms:modified>
</cp:coreProperties>
</file>