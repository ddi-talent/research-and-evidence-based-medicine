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72" r:id="rId2"/>
    <p:sldId id="273" r:id="rId3"/>
    <p:sldId id="278" r:id="rId4"/>
    <p:sldId id="280" r:id="rId5"/>
    <p:sldId id="327" r:id="rId6"/>
    <p:sldId id="328" r:id="rId7"/>
    <p:sldId id="329" r:id="rId8"/>
    <p:sldId id="330" r:id="rId9"/>
    <p:sldId id="331" r:id="rId10"/>
    <p:sldId id="332" r:id="rId11"/>
    <p:sldId id="333" r:id="rId12"/>
    <p:sldId id="334" r:id="rId13"/>
    <p:sldId id="336" r:id="rId14"/>
    <p:sldId id="281" r:id="rId15"/>
    <p:sldId id="339" r:id="rId16"/>
    <p:sldId id="377" r:id="rId17"/>
    <p:sldId id="340" r:id="rId18"/>
    <p:sldId id="341" r:id="rId19"/>
    <p:sldId id="342" r:id="rId20"/>
    <p:sldId id="343" r:id="rId21"/>
    <p:sldId id="344" r:id="rId22"/>
    <p:sldId id="345" r:id="rId23"/>
    <p:sldId id="346" r:id="rId24"/>
    <p:sldId id="347" r:id="rId25"/>
    <p:sldId id="348" r:id="rId26"/>
    <p:sldId id="349" r:id="rId27"/>
    <p:sldId id="350" r:id="rId28"/>
    <p:sldId id="279" r:id="rId29"/>
    <p:sldId id="351" r:id="rId30"/>
    <p:sldId id="352" r:id="rId31"/>
    <p:sldId id="353" r:id="rId32"/>
    <p:sldId id="354" r:id="rId33"/>
    <p:sldId id="355" r:id="rId34"/>
    <p:sldId id="356" r:id="rId35"/>
    <p:sldId id="357" r:id="rId36"/>
    <p:sldId id="358" r:id="rId37"/>
    <p:sldId id="361" r:id="rId38"/>
    <p:sldId id="363" r:id="rId39"/>
    <p:sldId id="364" r:id="rId40"/>
    <p:sldId id="365" r:id="rId41"/>
    <p:sldId id="366" r:id="rId42"/>
    <p:sldId id="286" r:id="rId43"/>
    <p:sldId id="367" r:id="rId44"/>
    <p:sldId id="368" r:id="rId45"/>
    <p:sldId id="369" r:id="rId46"/>
    <p:sldId id="370" r:id="rId47"/>
    <p:sldId id="371" r:id="rId48"/>
    <p:sldId id="372" r:id="rId49"/>
    <p:sldId id="373" r:id="rId50"/>
    <p:sldId id="374" r:id="rId51"/>
    <p:sldId id="375" r:id="rId52"/>
    <p:sldId id="325"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1D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29"/>
    <p:restoredTop sz="92877"/>
  </p:normalViewPr>
  <p:slideViewPr>
    <p:cSldViewPr snapToGrid="0">
      <p:cViewPr varScale="1">
        <p:scale>
          <a:sx n="115" d="100"/>
          <a:sy n="115" d="100"/>
        </p:scale>
        <p:origin x="54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51FE25-85C4-1244-BCDC-A22C8126A90B}" type="datetimeFigureOut">
              <a:rPr lang="en-GB" smtClean="0"/>
              <a:t>21/08/2026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FE25D-C5C3-B245-93C4-8392A840C482}" type="slidenum">
              <a:rPr lang="en-GB" smtClean="0"/>
              <a:t>‹#›</a:t>
            </a:fld>
            <a:endParaRPr lang="en-GB"/>
          </a:p>
        </p:txBody>
      </p:sp>
    </p:spTree>
    <p:extLst>
      <p:ext uri="{BB962C8B-B14F-4D97-AF65-F5344CB8AC3E}">
        <p14:creationId xmlns:p14="http://schemas.microsoft.com/office/powerpoint/2010/main" val="1735179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7FE25D-C5C3-B245-93C4-8392A840C482}" type="slidenum">
              <a:rPr lang="en-GB" smtClean="0"/>
              <a:t>2</a:t>
            </a:fld>
            <a:endParaRPr lang="en-GB"/>
          </a:p>
        </p:txBody>
      </p:sp>
    </p:spTree>
    <p:extLst>
      <p:ext uri="{BB962C8B-B14F-4D97-AF65-F5344CB8AC3E}">
        <p14:creationId xmlns:p14="http://schemas.microsoft.com/office/powerpoint/2010/main" val="1267575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7FE25D-C5C3-B245-93C4-8392A840C482}" type="slidenum">
              <a:rPr lang="en-GB" smtClean="0"/>
              <a:t>5</a:t>
            </a:fld>
            <a:endParaRPr lang="en-GB"/>
          </a:p>
        </p:txBody>
      </p:sp>
    </p:spTree>
    <p:extLst>
      <p:ext uri="{BB962C8B-B14F-4D97-AF65-F5344CB8AC3E}">
        <p14:creationId xmlns:p14="http://schemas.microsoft.com/office/powerpoint/2010/main" val="1624411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7FE25D-C5C3-B245-93C4-8392A840C482}" type="slidenum">
              <a:rPr lang="en-GB" smtClean="0"/>
              <a:t>27</a:t>
            </a:fld>
            <a:endParaRPr lang="en-GB"/>
          </a:p>
        </p:txBody>
      </p:sp>
    </p:spTree>
    <p:extLst>
      <p:ext uri="{BB962C8B-B14F-4D97-AF65-F5344CB8AC3E}">
        <p14:creationId xmlns:p14="http://schemas.microsoft.com/office/powerpoint/2010/main" val="3407810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05C6-39F5-4F27-D40D-0C552DF32FD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CB1C3FD-A143-13ED-C3DE-44269DB222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580D406-68E3-A6FF-0717-9682B50F9BCA}"/>
              </a:ext>
            </a:extLst>
          </p:cNvPr>
          <p:cNvSpPr>
            <a:spLocks noGrp="1"/>
          </p:cNvSpPr>
          <p:nvPr>
            <p:ph type="dt" sz="half" idx="10"/>
          </p:nvPr>
        </p:nvSpPr>
        <p:spPr/>
        <p:txBody>
          <a:bodyPr/>
          <a:lstStyle/>
          <a:p>
            <a:fld id="{C50F6BED-B3FB-8548-A220-F135D64A6F38}" type="datetimeFigureOut">
              <a:rPr lang="en-GB" smtClean="0"/>
              <a:t>21/08/2026</a:t>
            </a:fld>
            <a:endParaRPr lang="en-GB"/>
          </a:p>
        </p:txBody>
      </p:sp>
      <p:sp>
        <p:nvSpPr>
          <p:cNvPr id="5" name="Footer Placeholder 4">
            <a:extLst>
              <a:ext uri="{FF2B5EF4-FFF2-40B4-BE49-F238E27FC236}">
                <a16:creationId xmlns:a16="http://schemas.microsoft.com/office/drawing/2014/main" id="{6D3C4169-2998-760E-F009-BA73C15FB6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CD6149-715F-CBD8-1BC1-252FDECF1852}"/>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946645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C0FC7-4CB5-1110-8068-A272DE621E0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82B6E31-BCA2-19C4-F10D-E116793D1E1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BAA4E93-D777-2A92-CC0B-8E93D4CC3A7F}"/>
              </a:ext>
            </a:extLst>
          </p:cNvPr>
          <p:cNvSpPr>
            <a:spLocks noGrp="1"/>
          </p:cNvSpPr>
          <p:nvPr>
            <p:ph type="dt" sz="half" idx="10"/>
          </p:nvPr>
        </p:nvSpPr>
        <p:spPr/>
        <p:txBody>
          <a:bodyPr/>
          <a:lstStyle/>
          <a:p>
            <a:fld id="{C50F6BED-B3FB-8548-A220-F135D64A6F38}" type="datetimeFigureOut">
              <a:rPr lang="en-GB" smtClean="0"/>
              <a:t>21/08/2026</a:t>
            </a:fld>
            <a:endParaRPr lang="en-GB"/>
          </a:p>
        </p:txBody>
      </p:sp>
      <p:sp>
        <p:nvSpPr>
          <p:cNvPr id="5" name="Footer Placeholder 4">
            <a:extLst>
              <a:ext uri="{FF2B5EF4-FFF2-40B4-BE49-F238E27FC236}">
                <a16:creationId xmlns:a16="http://schemas.microsoft.com/office/drawing/2014/main" id="{C7674C13-0EDE-16CA-1A7F-A3081BB7971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6B55D2-EA13-82B7-61DD-36323F207978}"/>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521409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B0CC5-DAAD-5017-7875-018654CB477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0123382-1E94-3453-4D25-9D42A769D0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EFC57F6-8D3F-49A9-0449-5DCF99AC0F19}"/>
              </a:ext>
            </a:extLst>
          </p:cNvPr>
          <p:cNvSpPr>
            <a:spLocks noGrp="1"/>
          </p:cNvSpPr>
          <p:nvPr>
            <p:ph type="dt" sz="half" idx="10"/>
          </p:nvPr>
        </p:nvSpPr>
        <p:spPr/>
        <p:txBody>
          <a:bodyPr/>
          <a:lstStyle/>
          <a:p>
            <a:fld id="{C50F6BED-B3FB-8548-A220-F135D64A6F38}" type="datetimeFigureOut">
              <a:rPr lang="en-GB" smtClean="0"/>
              <a:t>21/08/2026</a:t>
            </a:fld>
            <a:endParaRPr lang="en-GB"/>
          </a:p>
        </p:txBody>
      </p:sp>
      <p:sp>
        <p:nvSpPr>
          <p:cNvPr id="5" name="Footer Placeholder 4">
            <a:extLst>
              <a:ext uri="{FF2B5EF4-FFF2-40B4-BE49-F238E27FC236}">
                <a16:creationId xmlns:a16="http://schemas.microsoft.com/office/drawing/2014/main" id="{0E1602CD-213C-78F1-9445-9442CD9E5F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39E4FD-7B5C-A4EC-CDE4-934A146EBE46}"/>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731896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62C21-3C92-73D8-73F7-5A7F635333C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626CE01-0E6F-9333-9288-5177AAB216A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AEAE897-528F-B3AB-369F-8F922D5DA6E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F4A2E7C-3000-46E3-1557-0A2A59899294}"/>
              </a:ext>
            </a:extLst>
          </p:cNvPr>
          <p:cNvSpPr>
            <a:spLocks noGrp="1"/>
          </p:cNvSpPr>
          <p:nvPr>
            <p:ph type="dt" sz="half" idx="10"/>
          </p:nvPr>
        </p:nvSpPr>
        <p:spPr/>
        <p:txBody>
          <a:bodyPr/>
          <a:lstStyle/>
          <a:p>
            <a:fld id="{C50F6BED-B3FB-8548-A220-F135D64A6F38}" type="datetimeFigureOut">
              <a:rPr lang="en-GB" smtClean="0"/>
              <a:t>21/08/2026</a:t>
            </a:fld>
            <a:endParaRPr lang="en-GB"/>
          </a:p>
        </p:txBody>
      </p:sp>
      <p:sp>
        <p:nvSpPr>
          <p:cNvPr id="6" name="Footer Placeholder 5">
            <a:extLst>
              <a:ext uri="{FF2B5EF4-FFF2-40B4-BE49-F238E27FC236}">
                <a16:creationId xmlns:a16="http://schemas.microsoft.com/office/drawing/2014/main" id="{F9EC56C4-1833-19A9-A856-1362253B89E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2B17E1E-D416-F9E1-AA74-7A63174E2201}"/>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1582748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A7B0F-AF3B-22D6-59DA-1878357030D6}"/>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151EFC78-D38A-CD38-4C31-12AD35B53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5DF4DE-FFB5-E407-7FDD-317522B9BC0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F58658F7-4D59-1FC7-B0D5-D814BFB540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B149413-0679-DAD6-D1A8-7984ECDCA44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2B7FDA1-F7BD-9471-B19E-0F3380F22A04}"/>
              </a:ext>
            </a:extLst>
          </p:cNvPr>
          <p:cNvSpPr>
            <a:spLocks noGrp="1"/>
          </p:cNvSpPr>
          <p:nvPr>
            <p:ph type="dt" sz="half" idx="10"/>
          </p:nvPr>
        </p:nvSpPr>
        <p:spPr/>
        <p:txBody>
          <a:bodyPr/>
          <a:lstStyle/>
          <a:p>
            <a:fld id="{C50F6BED-B3FB-8548-A220-F135D64A6F38}" type="datetimeFigureOut">
              <a:rPr lang="en-GB" smtClean="0"/>
              <a:t>21/08/2026</a:t>
            </a:fld>
            <a:endParaRPr lang="en-GB"/>
          </a:p>
        </p:txBody>
      </p:sp>
      <p:sp>
        <p:nvSpPr>
          <p:cNvPr id="8" name="Footer Placeholder 7">
            <a:extLst>
              <a:ext uri="{FF2B5EF4-FFF2-40B4-BE49-F238E27FC236}">
                <a16:creationId xmlns:a16="http://schemas.microsoft.com/office/drawing/2014/main" id="{EA6E888D-6D81-9C6F-CBB7-3BD89D5A7C7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E89F34B-BC78-7478-2C5C-05DFF5BF84A6}"/>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861008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98A18-8C50-2B7C-124F-FC2D75B8E2EC}"/>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3FCB492-845D-F323-F212-4ABE54B0AB82}"/>
              </a:ext>
            </a:extLst>
          </p:cNvPr>
          <p:cNvSpPr>
            <a:spLocks noGrp="1"/>
          </p:cNvSpPr>
          <p:nvPr>
            <p:ph type="dt" sz="half" idx="10"/>
          </p:nvPr>
        </p:nvSpPr>
        <p:spPr/>
        <p:txBody>
          <a:bodyPr/>
          <a:lstStyle/>
          <a:p>
            <a:fld id="{C50F6BED-B3FB-8548-A220-F135D64A6F38}" type="datetimeFigureOut">
              <a:rPr lang="en-GB" smtClean="0"/>
              <a:t>21/08/2026</a:t>
            </a:fld>
            <a:endParaRPr lang="en-GB"/>
          </a:p>
        </p:txBody>
      </p:sp>
      <p:sp>
        <p:nvSpPr>
          <p:cNvPr id="4" name="Footer Placeholder 3">
            <a:extLst>
              <a:ext uri="{FF2B5EF4-FFF2-40B4-BE49-F238E27FC236}">
                <a16:creationId xmlns:a16="http://schemas.microsoft.com/office/drawing/2014/main" id="{14933A63-D9EE-8652-2DB1-2F724A0F3AB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AFAB4C0-8DCE-9C75-29FC-A2B90EEC132B}"/>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935279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AC090E-1783-2F69-2F60-354C5B1FC552}"/>
              </a:ext>
            </a:extLst>
          </p:cNvPr>
          <p:cNvSpPr>
            <a:spLocks noGrp="1"/>
          </p:cNvSpPr>
          <p:nvPr>
            <p:ph type="dt" sz="half" idx="10"/>
          </p:nvPr>
        </p:nvSpPr>
        <p:spPr/>
        <p:txBody>
          <a:bodyPr/>
          <a:lstStyle/>
          <a:p>
            <a:fld id="{C50F6BED-B3FB-8548-A220-F135D64A6F38}" type="datetimeFigureOut">
              <a:rPr lang="en-GB" smtClean="0"/>
              <a:t>21/08/2026</a:t>
            </a:fld>
            <a:endParaRPr lang="en-GB"/>
          </a:p>
        </p:txBody>
      </p:sp>
      <p:sp>
        <p:nvSpPr>
          <p:cNvPr id="3" name="Footer Placeholder 2">
            <a:extLst>
              <a:ext uri="{FF2B5EF4-FFF2-40B4-BE49-F238E27FC236}">
                <a16:creationId xmlns:a16="http://schemas.microsoft.com/office/drawing/2014/main" id="{ED191562-6997-5ADA-B8AD-237FD964266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334520F-211E-9BBA-C4D4-EC317AFF3841}"/>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920772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A2A3C-FEC4-3066-32AD-66066DE30F5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E7D78B6-3242-CFA7-AD59-D982A2F222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C9AB09B6-B1DE-85B8-9FDF-DD7E79B60F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9CEF645-FB11-0E66-BEC1-1F5E9C0C4423}"/>
              </a:ext>
            </a:extLst>
          </p:cNvPr>
          <p:cNvSpPr>
            <a:spLocks noGrp="1"/>
          </p:cNvSpPr>
          <p:nvPr>
            <p:ph type="dt" sz="half" idx="10"/>
          </p:nvPr>
        </p:nvSpPr>
        <p:spPr/>
        <p:txBody>
          <a:bodyPr/>
          <a:lstStyle/>
          <a:p>
            <a:fld id="{C50F6BED-B3FB-8548-A220-F135D64A6F38}" type="datetimeFigureOut">
              <a:rPr lang="en-GB" smtClean="0"/>
              <a:t>21/08/2026</a:t>
            </a:fld>
            <a:endParaRPr lang="en-GB"/>
          </a:p>
        </p:txBody>
      </p:sp>
      <p:sp>
        <p:nvSpPr>
          <p:cNvPr id="6" name="Footer Placeholder 5">
            <a:extLst>
              <a:ext uri="{FF2B5EF4-FFF2-40B4-BE49-F238E27FC236}">
                <a16:creationId xmlns:a16="http://schemas.microsoft.com/office/drawing/2014/main" id="{6AB95CB1-8DEA-15F4-C397-F8224C5A46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2E42B52-20D6-2E65-938B-960A5C559DFD}"/>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877065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16B90-FC20-FA7D-3342-B206F308DBB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A064BBA3-031C-687D-BEE1-D7E4912E8C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1E0E133-E815-97FC-CA2D-322B2AACD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2F53E93-530E-54E2-FA19-BBF652B1FE4A}"/>
              </a:ext>
            </a:extLst>
          </p:cNvPr>
          <p:cNvSpPr>
            <a:spLocks noGrp="1"/>
          </p:cNvSpPr>
          <p:nvPr>
            <p:ph type="dt" sz="half" idx="10"/>
          </p:nvPr>
        </p:nvSpPr>
        <p:spPr/>
        <p:txBody>
          <a:bodyPr/>
          <a:lstStyle/>
          <a:p>
            <a:fld id="{C50F6BED-B3FB-8548-A220-F135D64A6F38}" type="datetimeFigureOut">
              <a:rPr lang="en-GB" smtClean="0"/>
              <a:t>21/08/2026</a:t>
            </a:fld>
            <a:endParaRPr lang="en-GB"/>
          </a:p>
        </p:txBody>
      </p:sp>
      <p:sp>
        <p:nvSpPr>
          <p:cNvPr id="6" name="Footer Placeholder 5">
            <a:extLst>
              <a:ext uri="{FF2B5EF4-FFF2-40B4-BE49-F238E27FC236}">
                <a16:creationId xmlns:a16="http://schemas.microsoft.com/office/drawing/2014/main" id="{E3A4B090-851C-580D-F20E-3362428397A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0ABAEBB-FEE3-D746-FA37-DE33B8486F02}"/>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1869473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2F3C5-9215-5C7B-D4F0-F26B882CC711}"/>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85F610E7-A0D9-CF06-B540-497A781685E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9BB22E8-0BDA-D4B9-84B0-029693CD3956}"/>
              </a:ext>
            </a:extLst>
          </p:cNvPr>
          <p:cNvSpPr>
            <a:spLocks noGrp="1"/>
          </p:cNvSpPr>
          <p:nvPr>
            <p:ph type="dt" sz="half" idx="10"/>
          </p:nvPr>
        </p:nvSpPr>
        <p:spPr/>
        <p:txBody>
          <a:bodyPr/>
          <a:lstStyle/>
          <a:p>
            <a:fld id="{C50F6BED-B3FB-8548-A220-F135D64A6F38}" type="datetimeFigureOut">
              <a:rPr lang="en-GB" smtClean="0"/>
              <a:t>21/08/2026</a:t>
            </a:fld>
            <a:endParaRPr lang="en-GB"/>
          </a:p>
        </p:txBody>
      </p:sp>
      <p:sp>
        <p:nvSpPr>
          <p:cNvPr id="5" name="Footer Placeholder 4">
            <a:extLst>
              <a:ext uri="{FF2B5EF4-FFF2-40B4-BE49-F238E27FC236}">
                <a16:creationId xmlns:a16="http://schemas.microsoft.com/office/drawing/2014/main" id="{F8FDA19D-4A77-4412-B6B5-9BF62B8267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5E568E-0D09-699C-341E-7FBE1E8A5EF9}"/>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617976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82FBFA-D8C3-8A98-5DE5-6BF9F295125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7FB89761-4252-46DF-BE0E-D4F201C4E97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A735D4C-5533-2CC4-1F64-BD58C2420B36}"/>
              </a:ext>
            </a:extLst>
          </p:cNvPr>
          <p:cNvSpPr>
            <a:spLocks noGrp="1"/>
          </p:cNvSpPr>
          <p:nvPr>
            <p:ph type="dt" sz="half" idx="10"/>
          </p:nvPr>
        </p:nvSpPr>
        <p:spPr/>
        <p:txBody>
          <a:bodyPr/>
          <a:lstStyle/>
          <a:p>
            <a:fld id="{C50F6BED-B3FB-8548-A220-F135D64A6F38}" type="datetimeFigureOut">
              <a:rPr lang="en-GB" smtClean="0"/>
              <a:t>21/08/2026</a:t>
            </a:fld>
            <a:endParaRPr lang="en-GB"/>
          </a:p>
        </p:txBody>
      </p:sp>
      <p:sp>
        <p:nvSpPr>
          <p:cNvPr id="5" name="Footer Placeholder 4">
            <a:extLst>
              <a:ext uri="{FF2B5EF4-FFF2-40B4-BE49-F238E27FC236}">
                <a16:creationId xmlns:a16="http://schemas.microsoft.com/office/drawing/2014/main" id="{B3636BBC-1218-5CF6-5FBD-4A0B58533F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6CCAA5-73AC-5BD8-340C-A97B105ACAF8}"/>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930880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6271B1-6719-4EB1-EAE0-3C9E560E98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12D6A9E-EA6D-5B12-1AFD-5663E3A6A9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B40E9A7-AABF-56CA-B7EE-B52C7F5FE9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0F6BED-B3FB-8548-A220-F135D64A6F38}" type="datetimeFigureOut">
              <a:rPr lang="en-GB" smtClean="0"/>
              <a:t>21/08/2026</a:t>
            </a:fld>
            <a:endParaRPr lang="en-GB"/>
          </a:p>
        </p:txBody>
      </p:sp>
      <p:sp>
        <p:nvSpPr>
          <p:cNvPr id="5" name="Footer Placeholder 4">
            <a:extLst>
              <a:ext uri="{FF2B5EF4-FFF2-40B4-BE49-F238E27FC236}">
                <a16:creationId xmlns:a16="http://schemas.microsoft.com/office/drawing/2014/main" id="{64E888E3-25B4-73F3-4668-8B2ED11016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5594BD5-47DC-7819-F9FA-149765A0EA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804DBB-899E-664F-A9D1-6118EFCEA42B}" type="slidenum">
              <a:rPr lang="en-GB" smtClean="0"/>
              <a:t>‹#›</a:t>
            </a:fld>
            <a:endParaRPr lang="en-GB"/>
          </a:p>
        </p:txBody>
      </p:sp>
    </p:spTree>
    <p:extLst>
      <p:ext uri="{BB962C8B-B14F-4D97-AF65-F5344CB8AC3E}">
        <p14:creationId xmlns:p14="http://schemas.microsoft.com/office/powerpoint/2010/main" val="4213673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FF5E2EF-FD9E-B482-DEAD-AB4626EE6F93}"/>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Topic 7: Estimation vs prediction</a:t>
            </a:r>
          </a:p>
        </p:txBody>
      </p:sp>
      <p:pic>
        <p:nvPicPr>
          <p:cNvPr id="9" name="Picture 8" descr="A black background with white text&#10;&#10;AI-generated content may be incorrect.">
            <a:extLst>
              <a:ext uri="{FF2B5EF4-FFF2-40B4-BE49-F238E27FC236}">
                <a16:creationId xmlns:a16="http://schemas.microsoft.com/office/drawing/2014/main" id="{369DFD77-03D5-E162-AFB9-0D5714BC634C}"/>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4077492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5;p26">
            <a:extLst>
              <a:ext uri="{FF2B5EF4-FFF2-40B4-BE49-F238E27FC236}">
                <a16:creationId xmlns:a16="http://schemas.microsoft.com/office/drawing/2014/main" id="{9CDCC65B-C285-5408-6FD6-A502E5C0AE3D}"/>
              </a:ext>
            </a:extLst>
          </p:cNvPr>
          <p:cNvSpPr txBox="1">
            <a:spLocks/>
          </p:cNvSpPr>
          <p:nvPr/>
        </p:nvSpPr>
        <p:spPr>
          <a:xfrm>
            <a:off x="416822" y="484055"/>
            <a:ext cx="10555978" cy="669901"/>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A model can answer two different clinical questions</a:t>
            </a:r>
          </a:p>
        </p:txBody>
      </p:sp>
      <p:sp>
        <p:nvSpPr>
          <p:cNvPr id="5" name="TextBox 4">
            <a:extLst>
              <a:ext uri="{FF2B5EF4-FFF2-40B4-BE49-F238E27FC236}">
                <a16:creationId xmlns:a16="http://schemas.microsoft.com/office/drawing/2014/main" id="{74768708-309E-85E8-D513-913B4FDBDC39}"/>
              </a:ext>
            </a:extLst>
          </p:cNvPr>
          <p:cNvSpPr txBox="1"/>
          <p:nvPr/>
        </p:nvSpPr>
        <p:spPr>
          <a:xfrm>
            <a:off x="416822" y="1482084"/>
            <a:ext cx="7473144" cy="4708981"/>
          </a:xfrm>
          <a:prstGeom prst="rect">
            <a:avLst/>
          </a:prstGeom>
          <a:noFill/>
        </p:spPr>
        <p:txBody>
          <a:bodyPr wrap="square" rtlCol="0">
            <a:spAutoFit/>
          </a:bodyPr>
          <a:lstStyle/>
          <a:p>
            <a:r>
              <a:rPr lang="en-US" sz="2000" dirty="0">
                <a:latin typeface="Source Sans Pro" panose="020B0503030403020204" pitchFamily="34" charset="0"/>
                <a:ea typeface="Source Sans Pro" panose="020B0503030403020204" pitchFamily="34" charset="0"/>
              </a:rPr>
              <a:t>Last week, we used regression to describe how an outcome varies with several explanatory variables and to make fairer comparisons between patients.</a:t>
            </a:r>
          </a:p>
          <a:p>
            <a:endParaRPr lang="en-US" sz="2000" dirty="0">
              <a:latin typeface="Source Sans Pro" panose="020B0503030403020204" pitchFamily="34" charset="0"/>
              <a:ea typeface="Source Sans Pro" panose="020B0503030403020204" pitchFamily="34" charset="0"/>
            </a:endParaRPr>
          </a:p>
          <a:p>
            <a:r>
              <a:rPr lang="en-US" sz="2000" dirty="0">
                <a:latin typeface="Source Sans Pro" panose="020B0503030403020204" pitchFamily="34" charset="0"/>
                <a:ea typeface="Source Sans Pro" panose="020B0503030403020204" pitchFamily="34" charset="0"/>
              </a:rPr>
              <a:t>But a fitted model can be used for different purposes. We might ask:</a:t>
            </a:r>
          </a:p>
          <a:p>
            <a:endParaRPr lang="en-US" sz="2000" dirty="0">
              <a:latin typeface="Source Sans Pro" panose="020B0503030403020204" pitchFamily="34" charset="0"/>
              <a:ea typeface="Source Sans Pro" panose="020B0503030403020204" pitchFamily="34" charset="0"/>
            </a:endParaRPr>
          </a:p>
          <a:p>
            <a:r>
              <a:rPr lang="en-US" sz="2000" b="1" dirty="0">
                <a:latin typeface="Source Sans Pro" panose="020B0503030403020204" pitchFamily="34" charset="0"/>
                <a:ea typeface="Source Sans Pro" panose="020B0503030403020204" pitchFamily="34" charset="0"/>
              </a:rPr>
              <a:t>Explanation/Estimation</a:t>
            </a:r>
            <a:r>
              <a:rPr lang="en-US" sz="2000" dirty="0">
                <a:latin typeface="Source Sans Pro" panose="020B0503030403020204" pitchFamily="34" charset="0"/>
                <a:ea typeface="Source Sans Pro" panose="020B0503030403020204" pitchFamily="34" charset="0"/>
              </a:rPr>
              <a:t>: Is treatment associated with the outcome after accounting for age and disease severity?</a:t>
            </a:r>
          </a:p>
          <a:p>
            <a:endParaRPr lang="en-US" sz="2000" dirty="0">
              <a:latin typeface="Source Sans Pro" panose="020B0503030403020204" pitchFamily="34" charset="0"/>
              <a:ea typeface="Source Sans Pro" panose="020B0503030403020204" pitchFamily="34" charset="0"/>
            </a:endParaRPr>
          </a:p>
          <a:p>
            <a:r>
              <a:rPr lang="en-US" sz="2000" b="1" dirty="0">
                <a:latin typeface="Source Sans Pro" panose="020B0503030403020204" pitchFamily="34" charset="0"/>
                <a:ea typeface="Source Sans Pro" panose="020B0503030403020204" pitchFamily="34" charset="0"/>
              </a:rPr>
              <a:t>Prediction</a:t>
            </a:r>
            <a:r>
              <a:rPr lang="en-US" sz="2000" dirty="0">
                <a:latin typeface="Source Sans Pro" panose="020B0503030403020204" pitchFamily="34" charset="0"/>
                <a:ea typeface="Source Sans Pro" panose="020B0503030403020204" pitchFamily="34" charset="0"/>
              </a:rPr>
              <a:t>: Given this patient’s characteristics, how likely are they to experience the outcome?</a:t>
            </a:r>
          </a:p>
          <a:p>
            <a:endParaRPr lang="en-US" sz="2000" dirty="0">
              <a:latin typeface="Source Sans Pro" panose="020B0503030403020204" pitchFamily="34" charset="0"/>
              <a:ea typeface="Source Sans Pro" panose="020B0503030403020204" pitchFamily="34" charset="0"/>
            </a:endParaRPr>
          </a:p>
          <a:p>
            <a:r>
              <a:rPr lang="en-US" sz="2000" dirty="0">
                <a:latin typeface="Source Sans Pro" panose="020B0503030403020204" pitchFamily="34" charset="0"/>
                <a:ea typeface="Source Sans Pro" panose="020B0503030403020204" pitchFamily="34" charset="0"/>
              </a:rPr>
              <a:t>These questions may use similar models, but they require different interpretations and different ways of judging whether the model is useful.</a:t>
            </a:r>
          </a:p>
        </p:txBody>
      </p:sp>
    </p:spTree>
    <p:extLst>
      <p:ext uri="{BB962C8B-B14F-4D97-AF65-F5344CB8AC3E}">
        <p14:creationId xmlns:p14="http://schemas.microsoft.com/office/powerpoint/2010/main" val="1127349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7A4882-6016-04E4-C16B-380D29551A36}"/>
              </a:ext>
            </a:extLst>
          </p:cNvPr>
          <p:cNvSpPr txBox="1"/>
          <p:nvPr/>
        </p:nvSpPr>
        <p:spPr>
          <a:xfrm>
            <a:off x="500743" y="463485"/>
            <a:ext cx="5878287"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This topic…</a:t>
            </a:r>
            <a:endParaRPr lang="en-GB" sz="2800" noProof="1">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1368F128-6E60-8FCA-F828-497A6279C073}"/>
              </a:ext>
            </a:extLst>
          </p:cNvPr>
          <p:cNvSpPr txBox="1"/>
          <p:nvPr/>
        </p:nvSpPr>
        <p:spPr>
          <a:xfrm>
            <a:off x="500744" y="1328577"/>
            <a:ext cx="836086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Explanation, estimation and prediction</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Evaluating prediction models</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Machine learning and generalisation</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Reproducibility in R</a:t>
            </a:r>
          </a:p>
        </p:txBody>
      </p:sp>
      <p:cxnSp>
        <p:nvCxnSpPr>
          <p:cNvPr id="7" name="Straight Arrow Connector 6">
            <a:extLst>
              <a:ext uri="{FF2B5EF4-FFF2-40B4-BE49-F238E27FC236}">
                <a16:creationId xmlns:a16="http://schemas.microsoft.com/office/drawing/2014/main" id="{6F4201F3-6770-3B8B-D596-D8E7D2E3DDAE}"/>
              </a:ext>
            </a:extLst>
          </p:cNvPr>
          <p:cNvCxnSpPr>
            <a:cxnSpLocks/>
          </p:cNvCxnSpPr>
          <p:nvPr/>
        </p:nvCxnSpPr>
        <p:spPr>
          <a:xfrm>
            <a:off x="3814354" y="6232360"/>
            <a:ext cx="7500418"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E6219C6-14A1-1B48-5A50-CB68B1A38433}"/>
              </a:ext>
            </a:extLst>
          </p:cNvPr>
          <p:cNvSpPr txBox="1"/>
          <p:nvPr/>
        </p:nvSpPr>
        <p:spPr>
          <a:xfrm>
            <a:off x="3814354" y="5669037"/>
            <a:ext cx="7227720"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7.1 Explanation, estimation and prediction</a:t>
            </a:r>
          </a:p>
        </p:txBody>
      </p:sp>
    </p:spTree>
    <p:extLst>
      <p:ext uri="{BB962C8B-B14F-4D97-AF65-F5344CB8AC3E}">
        <p14:creationId xmlns:p14="http://schemas.microsoft.com/office/powerpoint/2010/main" val="1839011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1D84D1A1-4766-28B4-B84C-B00BC312E7C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718EE5A-8EAF-D775-559F-62EBE5883B70}"/>
              </a:ext>
            </a:extLst>
          </p:cNvPr>
          <p:cNvSpPr txBox="1"/>
          <p:nvPr/>
        </p:nvSpPr>
        <p:spPr>
          <a:xfrm>
            <a:off x="524470" y="3095607"/>
            <a:ext cx="8082817" cy="1241237"/>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7.1 Explanation, estimation and prediction</a:t>
            </a:r>
          </a:p>
        </p:txBody>
      </p:sp>
      <p:pic>
        <p:nvPicPr>
          <p:cNvPr id="9" name="Picture 8" descr="A black background with white text&#10;&#10;AI-generated content may be incorrect.">
            <a:extLst>
              <a:ext uri="{FF2B5EF4-FFF2-40B4-BE49-F238E27FC236}">
                <a16:creationId xmlns:a16="http://schemas.microsoft.com/office/drawing/2014/main" id="{B9801A6C-1B88-9796-06C1-B2575F81E2E8}"/>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3415045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526C7-D33C-71EB-BE2B-4E78FBEE48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6B412C-F23D-EE2C-94F2-E75D3B380F9D}"/>
              </a:ext>
            </a:extLst>
          </p:cNvPr>
          <p:cNvSpPr txBox="1"/>
          <p:nvPr/>
        </p:nvSpPr>
        <p:spPr>
          <a:xfrm>
            <a:off x="500743" y="463485"/>
            <a:ext cx="7493726" cy="954107"/>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Explanation asks why or how variables are related (this is what we’ve done so far)</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13A6D6D3-83F0-F3F2-DE1D-581F74A42036}"/>
              </a:ext>
            </a:extLst>
          </p:cNvPr>
          <p:cNvSpPr txBox="1"/>
          <p:nvPr/>
        </p:nvSpPr>
        <p:spPr>
          <a:xfrm>
            <a:off x="500743" y="1980758"/>
            <a:ext cx="7493726" cy="4093428"/>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An explanatory question might ask:</a:t>
            </a:r>
          </a:p>
          <a:p>
            <a:endParaRPr lang="en-GB" sz="2000" dirty="0">
              <a:latin typeface="Source Sans Pro" panose="020B0503030403020204" pitchFamily="34" charset="0"/>
              <a:ea typeface="Source Sans Pro" panose="020B0503030403020204" pitchFamily="34" charset="0"/>
            </a:endParaRPr>
          </a:p>
          <a:p>
            <a:r>
              <a:rPr lang="en-GB" sz="2000" b="1" i="1" dirty="0">
                <a:latin typeface="Source Sans Pro" panose="020B0503030403020204" pitchFamily="34" charset="0"/>
                <a:ea typeface="Source Sans Pro" panose="020B0503030403020204" pitchFamily="34" charset="0"/>
              </a:rPr>
              <a:t>Is treatment associated with hospital readmission after accounting for age and disease severity?</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Here, we are interested in:</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The direction of the association</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The size of the association</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Whether confounding has been addressed</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Whether the association might be causal</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The regression coefficients and their uncertainty are central to the interpretation.</a:t>
            </a:r>
          </a:p>
        </p:txBody>
      </p:sp>
    </p:spTree>
    <p:extLst>
      <p:ext uri="{BB962C8B-B14F-4D97-AF65-F5344CB8AC3E}">
        <p14:creationId xmlns:p14="http://schemas.microsoft.com/office/powerpoint/2010/main" val="4142330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88F2F-02E1-5858-998A-4ABFE35FCB2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C10BCFB-FC8C-31CB-1F0F-EF9C332F99BE}"/>
              </a:ext>
            </a:extLst>
          </p:cNvPr>
          <p:cNvSpPr txBox="1"/>
          <p:nvPr/>
        </p:nvSpPr>
        <p:spPr>
          <a:xfrm>
            <a:off x="500743" y="672491"/>
            <a:ext cx="10419806" cy="954107"/>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Estimation quantifies a population parameter with uncertainty (we’ve done a bit of this too).</a:t>
            </a:r>
            <a:endParaRPr lang="en-GB" sz="2800" noProof="1">
              <a:latin typeface="Source Sans Pro" panose="020B0503030403020204" pitchFamily="34" charset="0"/>
              <a:ea typeface="Source Sans Pro" panose="020B0503030403020204" pitchFamily="34" charset="0"/>
            </a:endParaRPr>
          </a:p>
        </p:txBody>
      </p:sp>
      <p:sp>
        <p:nvSpPr>
          <p:cNvPr id="2" name="TextBox 1">
            <a:extLst>
              <a:ext uri="{FF2B5EF4-FFF2-40B4-BE49-F238E27FC236}">
                <a16:creationId xmlns:a16="http://schemas.microsoft.com/office/drawing/2014/main" id="{D697CD1B-8E5F-7D72-2D05-2B317DABF9DA}"/>
              </a:ext>
            </a:extLst>
          </p:cNvPr>
          <p:cNvSpPr txBox="1"/>
          <p:nvPr/>
        </p:nvSpPr>
        <p:spPr>
          <a:xfrm>
            <a:off x="500743" y="2301087"/>
            <a:ext cx="8042366" cy="4093428"/>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Estimation asks how large the relationship might be. An estimate uses sample data to quantify an unknown value in a wider population.</a:t>
            </a:r>
          </a:p>
          <a:p>
            <a:endParaRPr lang="en-GB" sz="2000" dirty="0">
              <a:latin typeface="Source Sans Pro" panose="020B0503030403020204" pitchFamily="34" charset="0"/>
              <a:ea typeface="Source Sans Pro" panose="020B0503030403020204" pitchFamily="34" charset="0"/>
            </a:endParaRPr>
          </a:p>
          <a:p>
            <a:r>
              <a:rPr lang="en-GB" sz="2000" b="1" i="1" dirty="0">
                <a:latin typeface="Source Sans Pro" panose="020B0503030403020204" pitchFamily="34" charset="0"/>
                <a:ea typeface="Source Sans Pro" panose="020B0503030403020204" pitchFamily="34" charset="0"/>
              </a:rPr>
              <a:t>Among similar patients, how much lower are the odds of readmission with the treatment?</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An estimate should usually be accompanied by:</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A confidence interval</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A clear reference group</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The population to which it applies</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An explanation of its clinical meaning</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Estimation recognises that the exact population value remains uncertain.</a:t>
            </a:r>
          </a:p>
        </p:txBody>
      </p:sp>
    </p:spTree>
    <p:extLst>
      <p:ext uri="{BB962C8B-B14F-4D97-AF65-F5344CB8AC3E}">
        <p14:creationId xmlns:p14="http://schemas.microsoft.com/office/powerpoint/2010/main" val="3753115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4773C-D3CE-65F4-69BA-9C7CE921DD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8808B5-C5D4-6B4B-7F1A-FDF4DA393D31}"/>
              </a:ext>
            </a:extLst>
          </p:cNvPr>
          <p:cNvSpPr txBox="1"/>
          <p:nvPr/>
        </p:nvSpPr>
        <p:spPr>
          <a:xfrm>
            <a:off x="500743" y="740829"/>
            <a:ext cx="9949543" cy="954107"/>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Prediction estimates an unknown outcome for a new patient (we’ve not done this…yet!)</a:t>
            </a:r>
            <a:endParaRPr lang="en-GB" sz="2800" noProof="1">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95F9ACB4-D62A-5DBD-A2C2-2F6C4BE5376A}"/>
              </a:ext>
            </a:extLst>
          </p:cNvPr>
          <p:cNvSpPr txBox="1"/>
          <p:nvPr/>
        </p:nvSpPr>
        <p:spPr>
          <a:xfrm>
            <a:off x="500743" y="2327213"/>
            <a:ext cx="7624354" cy="3785652"/>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A predictive question might ask:</a:t>
            </a:r>
          </a:p>
          <a:p>
            <a:endParaRPr lang="en-GB" sz="2000" dirty="0">
              <a:latin typeface="Source Sans Pro" panose="020B0503030403020204" pitchFamily="34" charset="0"/>
              <a:ea typeface="Source Sans Pro" panose="020B0503030403020204" pitchFamily="34" charset="0"/>
            </a:endParaRPr>
          </a:p>
          <a:p>
            <a:r>
              <a:rPr lang="en-GB" sz="2000" b="1" i="1" dirty="0">
                <a:latin typeface="Source Sans Pro" panose="020B0503030403020204" pitchFamily="34" charset="0"/>
                <a:ea typeface="Source Sans Pro" panose="020B0503030403020204" pitchFamily="34" charset="0"/>
              </a:rPr>
              <a:t>How likely is this patient to be readmitted within 30 days?</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The model combines information about the patient, such as:</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Age</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Disease severity</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Previous admissions</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Comorbidities</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Treatment received</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It then produces a predicted outcome or probability.</a:t>
            </a:r>
          </a:p>
        </p:txBody>
      </p:sp>
    </p:spTree>
    <p:extLst>
      <p:ext uri="{BB962C8B-B14F-4D97-AF65-F5344CB8AC3E}">
        <p14:creationId xmlns:p14="http://schemas.microsoft.com/office/powerpoint/2010/main" val="338803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49C1-6170-AC65-55CF-C7D9256344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B08CAC-4976-FF34-4ED9-4D02C40BA9EA}"/>
              </a:ext>
            </a:extLst>
          </p:cNvPr>
          <p:cNvSpPr txBox="1"/>
          <p:nvPr/>
        </p:nvSpPr>
        <p:spPr>
          <a:xfrm>
            <a:off x="500743" y="782382"/>
            <a:ext cx="9479280"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The same regression model can support all three purposes.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24339A96-89F1-C582-D5AA-B2116A40E092}"/>
              </a:ext>
            </a:extLst>
          </p:cNvPr>
          <p:cNvSpPr txBox="1"/>
          <p:nvPr/>
        </p:nvSpPr>
        <p:spPr>
          <a:xfrm>
            <a:off x="500743" y="1920634"/>
            <a:ext cx="7859486" cy="4154984"/>
          </a:xfrm>
          <a:prstGeom prst="rect">
            <a:avLst/>
          </a:prstGeom>
          <a:noFill/>
        </p:spPr>
        <p:txBody>
          <a:bodyPr wrap="square">
            <a:spAutoFit/>
          </a:bodyPr>
          <a:lstStyle/>
          <a:p>
            <a:r>
              <a:rPr lang="en-GB" sz="2400" b="1" dirty="0">
                <a:latin typeface="Source Sans Pro" panose="020B0503030403020204" pitchFamily="34" charset="0"/>
                <a:ea typeface="Source Sans Pro" panose="020B0503030403020204" pitchFamily="34" charset="0"/>
              </a:rPr>
              <a:t>Explanation</a:t>
            </a:r>
          </a:p>
          <a:p>
            <a:r>
              <a:rPr lang="en-GB" sz="2400" dirty="0">
                <a:latin typeface="Source Sans Pro" panose="020B0503030403020204" pitchFamily="34" charset="0"/>
                <a:ea typeface="Source Sans Pro" panose="020B0503030403020204" pitchFamily="34" charset="0"/>
              </a:rPr>
              <a:t>How and why is a predictor related to the outcome?</a:t>
            </a:r>
          </a:p>
          <a:p>
            <a:endParaRPr lang="en-GB" sz="2400" dirty="0">
              <a:latin typeface="Source Sans Pro" panose="020B0503030403020204" pitchFamily="34" charset="0"/>
              <a:ea typeface="Source Sans Pro" panose="020B0503030403020204" pitchFamily="34" charset="0"/>
            </a:endParaRPr>
          </a:p>
          <a:p>
            <a:r>
              <a:rPr lang="en-GB" sz="2400" b="1" dirty="0">
                <a:latin typeface="Source Sans Pro" panose="020B0503030403020204" pitchFamily="34" charset="0"/>
                <a:ea typeface="Source Sans Pro" panose="020B0503030403020204" pitchFamily="34" charset="0"/>
              </a:rPr>
              <a:t>Estimation</a:t>
            </a:r>
          </a:p>
          <a:p>
            <a:r>
              <a:rPr lang="en-GB" sz="2400" dirty="0">
                <a:latin typeface="Source Sans Pro" panose="020B0503030403020204" pitchFamily="34" charset="0"/>
                <a:ea typeface="Source Sans Pro" panose="020B0503030403020204" pitchFamily="34" charset="0"/>
              </a:rPr>
              <a:t>How large is the relationship in the wider population?</a:t>
            </a:r>
          </a:p>
          <a:p>
            <a:endParaRPr lang="en-GB" sz="2400" dirty="0">
              <a:latin typeface="Source Sans Pro" panose="020B0503030403020204" pitchFamily="34" charset="0"/>
              <a:ea typeface="Source Sans Pro" panose="020B0503030403020204" pitchFamily="34" charset="0"/>
            </a:endParaRPr>
          </a:p>
          <a:p>
            <a:r>
              <a:rPr lang="en-GB" sz="2400" b="1" dirty="0">
                <a:latin typeface="Source Sans Pro" panose="020B0503030403020204" pitchFamily="34" charset="0"/>
                <a:ea typeface="Source Sans Pro" panose="020B0503030403020204" pitchFamily="34" charset="0"/>
              </a:rPr>
              <a:t>Prediction</a:t>
            </a:r>
          </a:p>
          <a:p>
            <a:r>
              <a:rPr lang="en-GB" sz="2400" dirty="0">
                <a:latin typeface="Source Sans Pro" panose="020B0503030403020204" pitchFamily="34" charset="0"/>
                <a:ea typeface="Source Sans Pro" panose="020B0503030403020204" pitchFamily="34" charset="0"/>
              </a:rPr>
              <a:t>What outcome is likely for a new patient?</a:t>
            </a:r>
          </a:p>
          <a:p>
            <a:endParaRPr lang="en-GB" sz="2400" dirty="0">
              <a:latin typeface="Source Sans Pro" panose="020B0503030403020204" pitchFamily="34" charset="0"/>
              <a:ea typeface="Source Sans Pro" panose="020B0503030403020204" pitchFamily="34" charset="0"/>
            </a:endParaRPr>
          </a:p>
          <a:p>
            <a:r>
              <a:rPr lang="en-GB" sz="2400" dirty="0">
                <a:latin typeface="Source Sans Pro" panose="020B0503030403020204" pitchFamily="34" charset="0"/>
                <a:ea typeface="Source Sans Pro" panose="020B0503030403020204" pitchFamily="34" charset="0"/>
              </a:rPr>
              <a:t>Before fitting a model, we should be clear about which question we are trying to answer.</a:t>
            </a:r>
          </a:p>
        </p:txBody>
      </p:sp>
    </p:spTree>
    <p:extLst>
      <p:ext uri="{BB962C8B-B14F-4D97-AF65-F5344CB8AC3E}">
        <p14:creationId xmlns:p14="http://schemas.microsoft.com/office/powerpoint/2010/main" val="3038371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281AB-8DFC-81F6-127C-14D37D243D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4BADCD-15F8-D123-34DD-6784BE222829}"/>
              </a:ext>
            </a:extLst>
          </p:cNvPr>
          <p:cNvSpPr txBox="1"/>
          <p:nvPr/>
        </p:nvSpPr>
        <p:spPr>
          <a:xfrm>
            <a:off x="500743" y="724742"/>
            <a:ext cx="9479280" cy="954107"/>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A good explanatory model is not automatically a good predictive model.</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E799B312-96AC-C79A-6B6E-23CA80D9FF63}"/>
              </a:ext>
            </a:extLst>
          </p:cNvPr>
          <p:cNvSpPr txBox="1"/>
          <p:nvPr/>
        </p:nvSpPr>
        <p:spPr>
          <a:xfrm>
            <a:off x="500743" y="2147198"/>
            <a:ext cx="7937863" cy="4247317"/>
          </a:xfrm>
          <a:prstGeom prst="rect">
            <a:avLst/>
          </a:prstGeom>
          <a:noFill/>
        </p:spPr>
        <p:txBody>
          <a:bodyPr wrap="square">
            <a:spAutoFit/>
          </a:bodyPr>
          <a:lstStyle/>
          <a:p>
            <a:r>
              <a:rPr lang="en-GB" dirty="0">
                <a:latin typeface="Source Sans Pro" panose="020B0503030403020204" pitchFamily="34" charset="0"/>
                <a:ea typeface="Source Sans Pro" panose="020B0503030403020204" pitchFamily="34" charset="0"/>
              </a:rPr>
              <a:t>Say a model gives us a predicted probability of readmission being 32%</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A predicted probability is not a certain outcome. A predicted probability of 32% does not tell us what will happen to this patient.</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The patient may be readmitted.</a:t>
            </a:r>
          </a:p>
          <a:p>
            <a:r>
              <a:rPr lang="en-GB" dirty="0">
                <a:latin typeface="Source Sans Pro" panose="020B0503030403020204" pitchFamily="34" charset="0"/>
                <a:ea typeface="Source Sans Pro" panose="020B0503030403020204" pitchFamily="34" charset="0"/>
              </a:rPr>
              <a:t>The patient may not be readmitted.</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The prediction describes uncertainty using information available at the time.</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Clinical outcomes are also affected by factors that may be:</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Unknown</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Unmeasured</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Measured with error</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Absent from the model</a:t>
            </a:r>
          </a:p>
        </p:txBody>
      </p:sp>
    </p:spTree>
    <p:extLst>
      <p:ext uri="{BB962C8B-B14F-4D97-AF65-F5344CB8AC3E}">
        <p14:creationId xmlns:p14="http://schemas.microsoft.com/office/powerpoint/2010/main" val="2016680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0C8E3-E15A-B05F-1061-2DC6456551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3CDEB4-7C5A-9578-BC8B-639ED9385FA9}"/>
              </a:ext>
            </a:extLst>
          </p:cNvPr>
          <p:cNvSpPr txBox="1"/>
          <p:nvPr/>
        </p:nvSpPr>
        <p:spPr>
          <a:xfrm>
            <a:off x="500742" y="692914"/>
            <a:ext cx="9897291"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Population averages do not determine individual outcomes.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369C3165-65BE-4334-8584-039C23D551C2}"/>
              </a:ext>
            </a:extLst>
          </p:cNvPr>
          <p:cNvSpPr txBox="1"/>
          <p:nvPr/>
        </p:nvSpPr>
        <p:spPr>
          <a:xfrm>
            <a:off x="500742" y="1763881"/>
            <a:ext cx="7295606" cy="4401205"/>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A model learns average patterns from groups of patients.</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Patients with similar characteristics may still experience different outcomes.</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For example, among 100 comparable patients assigned a predicted risk of approximately 30%, we might expect around 30 to experience the outcome.</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However, the model cannot identify with certainty which 30 patients these will be.</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Prediction estimates risk; it does not reveal an individual patient’s future.</a:t>
            </a:r>
          </a:p>
        </p:txBody>
      </p:sp>
    </p:spTree>
    <p:extLst>
      <p:ext uri="{BB962C8B-B14F-4D97-AF65-F5344CB8AC3E}">
        <p14:creationId xmlns:p14="http://schemas.microsoft.com/office/powerpoint/2010/main" val="150454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3AF00-D431-65E4-50B0-617EC46F90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623D3B-B7E5-053B-3EF4-CE4BB01CA84A}"/>
              </a:ext>
            </a:extLst>
          </p:cNvPr>
          <p:cNvSpPr txBox="1"/>
          <p:nvPr/>
        </p:nvSpPr>
        <p:spPr>
          <a:xfrm>
            <a:off x="500743" y="703621"/>
            <a:ext cx="9479280"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Fitted values are predictions for observations already seen.</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8D900203-6AB8-D761-34F1-A7B0BBE376D1}"/>
              </a:ext>
            </a:extLst>
          </p:cNvPr>
          <p:cNvSpPr txBox="1"/>
          <p:nvPr/>
        </p:nvSpPr>
        <p:spPr>
          <a:xfrm>
            <a:off x="500743" y="1922451"/>
            <a:ext cx="6605451" cy="3970318"/>
          </a:xfrm>
          <a:prstGeom prst="rect">
            <a:avLst/>
          </a:prstGeom>
          <a:noFill/>
        </p:spPr>
        <p:txBody>
          <a:bodyPr wrap="square">
            <a:spAutoFit/>
          </a:bodyPr>
          <a:lstStyle/>
          <a:p>
            <a:r>
              <a:rPr lang="en-GB" dirty="0"/>
              <a:t>When we fit a regression model, it produces a fitted value for each observation in the data.</a:t>
            </a:r>
          </a:p>
          <a:p>
            <a:endParaRPr lang="en-GB" dirty="0"/>
          </a:p>
          <a:p>
            <a:r>
              <a:rPr lang="en-GB" dirty="0"/>
              <a:t>For a continuous outcome:</a:t>
            </a:r>
          </a:p>
          <a:p>
            <a:r>
              <a:rPr lang="en-GB" dirty="0"/>
              <a:t>Fitted value = predicted value of the outcome</a:t>
            </a:r>
          </a:p>
          <a:p>
            <a:endParaRPr lang="en-GB" dirty="0"/>
          </a:p>
          <a:p>
            <a:r>
              <a:rPr lang="en-GB" dirty="0"/>
              <a:t>For a binary outcome:</a:t>
            </a:r>
          </a:p>
          <a:p>
            <a:r>
              <a:rPr lang="en-GB" dirty="0"/>
              <a:t>Fitted value = predicted probability of the event</a:t>
            </a:r>
          </a:p>
          <a:p>
            <a:endParaRPr lang="en-GB" dirty="0"/>
          </a:p>
          <a:p>
            <a:r>
              <a:rPr lang="en-GB" dirty="0"/>
              <a:t>The residual represents the difference between the observed and predicted outcome.</a:t>
            </a:r>
          </a:p>
          <a:p>
            <a:endParaRPr lang="en-GB" dirty="0"/>
          </a:p>
          <a:p>
            <a:r>
              <a:rPr lang="en-GB" b="1" dirty="0"/>
              <a:t>We encountered these ideas when examining regression assumptions.</a:t>
            </a:r>
          </a:p>
        </p:txBody>
      </p:sp>
    </p:spTree>
    <p:extLst>
      <p:ext uri="{BB962C8B-B14F-4D97-AF65-F5344CB8AC3E}">
        <p14:creationId xmlns:p14="http://schemas.microsoft.com/office/powerpoint/2010/main" val="3848603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5EE88-9C2F-8BE8-7336-06B59E34C5E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3A9D3B9-072B-6B52-20AD-A2CD06CC7DDF}"/>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New-patient predictions require the same predictor information.</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AB46E849-6395-BE5A-8CE8-E2803868DC9F}"/>
              </a:ext>
            </a:extLst>
          </p:cNvPr>
          <p:cNvSpPr txBox="1"/>
          <p:nvPr/>
        </p:nvSpPr>
        <p:spPr>
          <a:xfrm>
            <a:off x="500743" y="1131536"/>
            <a:ext cx="8366760" cy="5262979"/>
          </a:xfrm>
          <a:prstGeom prst="rect">
            <a:avLst/>
          </a:prstGeom>
          <a:noFill/>
        </p:spPr>
        <p:txBody>
          <a:bodyPr wrap="square">
            <a:spAutoFit/>
          </a:bodyPr>
          <a:lstStyle/>
          <a:p>
            <a:r>
              <a:rPr lang="en-GB" sz="2400" dirty="0">
                <a:latin typeface="Source Sans Pro" panose="020B0503030403020204" pitchFamily="34" charset="0"/>
                <a:ea typeface="Source Sans Pro" panose="020B0503030403020204" pitchFamily="34" charset="0"/>
              </a:rPr>
              <a:t>To make a prediction for a new patient, we must provide the predictor values required by the model.</a:t>
            </a:r>
          </a:p>
          <a:p>
            <a:endParaRPr lang="en-GB" sz="2400" dirty="0">
              <a:latin typeface="Source Sans Pro" panose="020B0503030403020204" pitchFamily="34" charset="0"/>
              <a:ea typeface="Source Sans Pro" panose="020B0503030403020204" pitchFamily="34" charset="0"/>
            </a:endParaRPr>
          </a:p>
          <a:p>
            <a:r>
              <a:rPr lang="en-GB" sz="2400" dirty="0">
                <a:latin typeface="Source Sans Pro" panose="020B0503030403020204" pitchFamily="34" charset="0"/>
                <a:ea typeface="Source Sans Pro" panose="020B0503030403020204" pitchFamily="34" charset="0"/>
              </a:rPr>
              <a:t>A model developed using:</a:t>
            </a:r>
          </a:p>
          <a:p>
            <a:pPr marL="285750" indent="-28575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Age</a:t>
            </a:r>
          </a:p>
          <a:p>
            <a:pPr marL="285750" indent="-28575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Disease severity</a:t>
            </a:r>
          </a:p>
          <a:p>
            <a:pPr marL="285750" indent="-28575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Previous admissions</a:t>
            </a:r>
          </a:p>
          <a:p>
            <a:pPr marL="285750" indent="-28575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Treatment</a:t>
            </a:r>
          </a:p>
          <a:p>
            <a:r>
              <a:rPr lang="en-GB" sz="2400" dirty="0">
                <a:latin typeface="Source Sans Pro" panose="020B0503030403020204" pitchFamily="34" charset="0"/>
                <a:ea typeface="Source Sans Pro" panose="020B0503030403020204" pitchFamily="34" charset="0"/>
              </a:rPr>
              <a:t>cannot generate the intended prediction if these variables are unavailable, recorded differently or measured at a different time.</a:t>
            </a:r>
          </a:p>
          <a:p>
            <a:endParaRPr lang="en-GB" sz="2400" dirty="0">
              <a:latin typeface="Source Sans Pro" panose="020B0503030403020204" pitchFamily="34" charset="0"/>
              <a:ea typeface="Source Sans Pro" panose="020B0503030403020204" pitchFamily="34" charset="0"/>
            </a:endParaRPr>
          </a:p>
          <a:p>
            <a:r>
              <a:rPr lang="en-GB" sz="2400" dirty="0">
                <a:latin typeface="Source Sans Pro" panose="020B0503030403020204" pitchFamily="34" charset="0"/>
                <a:ea typeface="Source Sans Pro" panose="020B0503030403020204" pitchFamily="34" charset="0"/>
              </a:rPr>
              <a:t>A clinically useful model must use information that is available when the prediction is needed.</a:t>
            </a:r>
          </a:p>
        </p:txBody>
      </p:sp>
    </p:spTree>
    <p:extLst>
      <p:ext uri="{BB962C8B-B14F-4D97-AF65-F5344CB8AC3E}">
        <p14:creationId xmlns:p14="http://schemas.microsoft.com/office/powerpoint/2010/main" val="1549128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9F260-C8D0-D9F2-D8C8-909D4D06A9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084DF4-9D4E-93B2-C2C5-A415EDA99248}"/>
              </a:ext>
            </a:extLst>
          </p:cNvPr>
          <p:cNvSpPr txBox="1"/>
          <p:nvPr/>
        </p:nvSpPr>
        <p:spPr>
          <a:xfrm>
            <a:off x="500742" y="940447"/>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Prediction supports clinical judgement; it does not replace it.</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BCA68F2F-7935-E408-1ED0-ADE75718E989}"/>
              </a:ext>
            </a:extLst>
          </p:cNvPr>
          <p:cNvSpPr txBox="1"/>
          <p:nvPr/>
        </p:nvSpPr>
        <p:spPr>
          <a:xfrm>
            <a:off x="500742" y="2027473"/>
            <a:ext cx="8686364" cy="4154984"/>
          </a:xfrm>
          <a:prstGeom prst="rect">
            <a:avLst/>
          </a:prstGeom>
          <a:noFill/>
        </p:spPr>
        <p:txBody>
          <a:bodyPr wrap="square">
            <a:spAutoFit/>
          </a:bodyPr>
          <a:lstStyle/>
          <a:p>
            <a:r>
              <a:rPr lang="en-GB" sz="2400" dirty="0">
                <a:latin typeface="Source Sans Pro" panose="020B0503030403020204" pitchFamily="34" charset="0"/>
                <a:ea typeface="Source Sans Pro" panose="020B0503030403020204" pitchFamily="34" charset="0"/>
              </a:rPr>
              <a:t>A prediction model should not be judged only by how well it describes the patients used to create it.</a:t>
            </a:r>
          </a:p>
          <a:p>
            <a:endParaRPr lang="en-GB" sz="2400" dirty="0">
              <a:latin typeface="Source Sans Pro" panose="020B0503030403020204" pitchFamily="34" charset="0"/>
              <a:ea typeface="Source Sans Pro" panose="020B0503030403020204" pitchFamily="34" charset="0"/>
            </a:endParaRPr>
          </a:p>
          <a:p>
            <a:r>
              <a:rPr lang="en-GB" sz="2400" dirty="0">
                <a:latin typeface="Source Sans Pro" panose="020B0503030403020204" pitchFamily="34" charset="0"/>
                <a:ea typeface="Source Sans Pro" panose="020B0503030403020204" pitchFamily="34" charset="0"/>
              </a:rPr>
              <a:t>We need to ask:</a:t>
            </a:r>
          </a:p>
          <a:p>
            <a:pPr marL="342900" indent="-34290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How close are its predictions to the observed outcomes?</a:t>
            </a:r>
          </a:p>
          <a:p>
            <a:pPr marL="342900" indent="-34290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Can it distinguish higher-risk from lower-risk patients?</a:t>
            </a:r>
          </a:p>
          <a:p>
            <a:pPr marL="342900" indent="-34290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Do predicted probabilities correspond to observed frequencies?</a:t>
            </a:r>
          </a:p>
          <a:p>
            <a:pPr marL="342900" indent="-34290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Does it perform well for new patients?</a:t>
            </a:r>
          </a:p>
          <a:p>
            <a:pPr marL="342900" indent="-34290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Would its errors be acceptable in clinical practice?</a:t>
            </a:r>
          </a:p>
          <a:p>
            <a:endParaRPr lang="en-GB" sz="2400" dirty="0">
              <a:latin typeface="Source Sans Pro" panose="020B0503030403020204" pitchFamily="34" charset="0"/>
              <a:ea typeface="Source Sans Pro" panose="020B0503030403020204" pitchFamily="34" charset="0"/>
            </a:endParaRPr>
          </a:p>
          <a:p>
            <a:r>
              <a:rPr lang="en-GB" sz="2400" dirty="0">
                <a:latin typeface="Source Sans Pro" panose="020B0503030403020204" pitchFamily="34" charset="0"/>
                <a:ea typeface="Source Sans Pro" panose="020B0503030403020204" pitchFamily="34" charset="0"/>
              </a:rPr>
              <a:t>This requires us to evaluate the prediction model.</a:t>
            </a:r>
          </a:p>
        </p:txBody>
      </p:sp>
    </p:spTree>
    <p:extLst>
      <p:ext uri="{BB962C8B-B14F-4D97-AF65-F5344CB8AC3E}">
        <p14:creationId xmlns:p14="http://schemas.microsoft.com/office/powerpoint/2010/main" val="628633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BB07C101-AC8D-22F3-CDE2-9952DB49DD2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743FA7-F3D4-F343-457C-F097AFEF3C84}"/>
              </a:ext>
            </a:extLst>
          </p:cNvPr>
          <p:cNvSpPr txBox="1"/>
          <p:nvPr/>
        </p:nvSpPr>
        <p:spPr>
          <a:xfrm>
            <a:off x="466588" y="3095607"/>
            <a:ext cx="8510200"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7.2 Evaluating prediction models</a:t>
            </a:r>
          </a:p>
        </p:txBody>
      </p:sp>
      <p:pic>
        <p:nvPicPr>
          <p:cNvPr id="9" name="Picture 8" descr="A black background with white text&#10;&#10;AI-generated content may be incorrect.">
            <a:extLst>
              <a:ext uri="{FF2B5EF4-FFF2-40B4-BE49-F238E27FC236}">
                <a16:creationId xmlns:a16="http://schemas.microsoft.com/office/drawing/2014/main" id="{A861E90F-0966-58D9-AF11-FE3C43D28AD7}"/>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670153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92C68-D74D-0E67-5E5F-C5D43A3536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AC0919-1E80-716C-0408-461CA2B19796}"/>
              </a:ext>
            </a:extLst>
          </p:cNvPr>
          <p:cNvSpPr txBox="1"/>
          <p:nvPr/>
        </p:nvSpPr>
        <p:spPr>
          <a:xfrm>
            <a:off x="500743" y="6663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Different prediction tasks require different evaluation metrics.</a:t>
            </a:r>
            <a:endParaRPr lang="en-GB" sz="2800" noProof="1">
              <a:latin typeface="Source Sans Pro" panose="020B0503030403020204" pitchFamily="34" charset="0"/>
              <a:ea typeface="Source Sans Pro" panose="020B0503030403020204" pitchFamily="34" charset="0"/>
            </a:endParaRPr>
          </a:p>
        </p:txBody>
      </p:sp>
      <p:sp>
        <p:nvSpPr>
          <p:cNvPr id="7" name="TextBox 6">
            <a:extLst>
              <a:ext uri="{FF2B5EF4-FFF2-40B4-BE49-F238E27FC236}">
                <a16:creationId xmlns:a16="http://schemas.microsoft.com/office/drawing/2014/main" id="{207E2C23-69CA-9729-E745-31CE27E4DC5D}"/>
              </a:ext>
            </a:extLst>
          </p:cNvPr>
          <p:cNvSpPr txBox="1"/>
          <p:nvPr/>
        </p:nvSpPr>
        <p:spPr>
          <a:xfrm>
            <a:off x="500743" y="1748471"/>
            <a:ext cx="4996544" cy="1938992"/>
          </a:xfrm>
          <a:prstGeom prst="rect">
            <a:avLst/>
          </a:prstGeom>
          <a:noFill/>
        </p:spPr>
        <p:txBody>
          <a:bodyPr wrap="square">
            <a:spAutoFit/>
          </a:bodyPr>
          <a:lstStyle/>
          <a:p>
            <a:r>
              <a:rPr lang="en-GB" sz="2000" b="1" dirty="0">
                <a:latin typeface="Source Sans Pro" panose="020B0503030403020204" pitchFamily="34" charset="0"/>
                <a:ea typeface="Source Sans Pro" panose="020B0503030403020204" pitchFamily="34" charset="0"/>
              </a:rPr>
              <a:t>Continuous outcome</a:t>
            </a:r>
          </a:p>
          <a:p>
            <a:r>
              <a:rPr lang="en-GB" sz="2000" i="1" dirty="0">
                <a:latin typeface="Source Sans Pro" panose="020B0503030403020204" pitchFamily="34" charset="0"/>
                <a:ea typeface="Source Sans Pro" panose="020B0503030403020204" pitchFamily="34" charset="0"/>
              </a:rPr>
              <a:t>Example: predicted length of hospital stay</a:t>
            </a:r>
          </a:p>
          <a:p>
            <a:r>
              <a:rPr lang="en-GB" sz="2000" dirty="0">
                <a:latin typeface="Source Sans Pro" panose="020B0503030403020204" pitchFamily="34" charset="0"/>
                <a:ea typeface="Source Sans Pro" panose="020B0503030403020204" pitchFamily="34" charset="0"/>
              </a:rPr>
              <a:t>Common metrics:</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Mean absolute error</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Root mean squared error</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R²</a:t>
            </a:r>
          </a:p>
        </p:txBody>
      </p:sp>
      <p:sp>
        <p:nvSpPr>
          <p:cNvPr id="8" name="TextBox 7">
            <a:extLst>
              <a:ext uri="{FF2B5EF4-FFF2-40B4-BE49-F238E27FC236}">
                <a16:creationId xmlns:a16="http://schemas.microsoft.com/office/drawing/2014/main" id="{A6CFD88A-8F2E-E483-0ABC-D27BE7B5D9E5}"/>
              </a:ext>
            </a:extLst>
          </p:cNvPr>
          <p:cNvSpPr txBox="1"/>
          <p:nvPr/>
        </p:nvSpPr>
        <p:spPr>
          <a:xfrm>
            <a:off x="500743" y="4135236"/>
            <a:ext cx="4996544" cy="1938992"/>
          </a:xfrm>
          <a:prstGeom prst="rect">
            <a:avLst/>
          </a:prstGeom>
          <a:noFill/>
        </p:spPr>
        <p:txBody>
          <a:bodyPr wrap="square">
            <a:spAutoFit/>
          </a:bodyPr>
          <a:lstStyle/>
          <a:p>
            <a:r>
              <a:rPr lang="en-GB" sz="2000" b="1" dirty="0"/>
              <a:t>Binary outcome probability</a:t>
            </a:r>
          </a:p>
          <a:p>
            <a:r>
              <a:rPr lang="en-GB" sz="2000" i="1" dirty="0"/>
              <a:t>Example: probability of 30-day readmission</a:t>
            </a:r>
          </a:p>
          <a:p>
            <a:r>
              <a:rPr lang="en-GB" sz="2000" dirty="0"/>
              <a:t>Common metrics:</a:t>
            </a:r>
          </a:p>
          <a:p>
            <a:pPr marL="342900" indent="-342900">
              <a:buFont typeface="Arial" panose="020B0604020202020204" pitchFamily="34" charset="0"/>
              <a:buChar char="•"/>
            </a:pPr>
            <a:r>
              <a:rPr lang="en-GB" sz="2000" dirty="0"/>
              <a:t>Calibration</a:t>
            </a:r>
          </a:p>
          <a:p>
            <a:pPr marL="342900" indent="-342900">
              <a:buFont typeface="Arial" panose="020B0604020202020204" pitchFamily="34" charset="0"/>
              <a:buChar char="•"/>
            </a:pPr>
            <a:r>
              <a:rPr lang="en-GB" sz="2000" dirty="0"/>
              <a:t>Brier score</a:t>
            </a:r>
          </a:p>
          <a:p>
            <a:pPr marL="342900" indent="-342900">
              <a:buFont typeface="Arial" panose="020B0604020202020204" pitchFamily="34" charset="0"/>
              <a:buChar char="•"/>
            </a:pPr>
            <a:r>
              <a:rPr lang="en-GB" sz="2000" dirty="0"/>
              <a:t>Discrimination or AUC</a:t>
            </a:r>
          </a:p>
        </p:txBody>
      </p:sp>
      <p:sp>
        <p:nvSpPr>
          <p:cNvPr id="9" name="TextBox 8">
            <a:extLst>
              <a:ext uri="{FF2B5EF4-FFF2-40B4-BE49-F238E27FC236}">
                <a16:creationId xmlns:a16="http://schemas.microsoft.com/office/drawing/2014/main" id="{5D37B4A1-4E87-BD69-C283-3430EF7801C2}"/>
              </a:ext>
            </a:extLst>
          </p:cNvPr>
          <p:cNvSpPr txBox="1"/>
          <p:nvPr/>
        </p:nvSpPr>
        <p:spPr>
          <a:xfrm>
            <a:off x="5671457" y="1699957"/>
            <a:ext cx="6096000" cy="1938992"/>
          </a:xfrm>
          <a:prstGeom prst="rect">
            <a:avLst/>
          </a:prstGeom>
          <a:noFill/>
        </p:spPr>
        <p:txBody>
          <a:bodyPr wrap="square">
            <a:spAutoFit/>
          </a:bodyPr>
          <a:lstStyle/>
          <a:p>
            <a:r>
              <a:rPr lang="en-GB" sz="2000" b="1" dirty="0"/>
              <a:t>Binary classification</a:t>
            </a:r>
          </a:p>
          <a:p>
            <a:r>
              <a:rPr lang="en-GB" sz="2000" i="1" dirty="0"/>
              <a:t>Example: predicted readmission or no readmission</a:t>
            </a:r>
          </a:p>
          <a:p>
            <a:r>
              <a:rPr lang="en-GB" sz="2000" dirty="0"/>
              <a:t>Common metrics:</a:t>
            </a:r>
          </a:p>
          <a:p>
            <a:pPr marL="342900" indent="-342900">
              <a:buFont typeface="Arial" panose="020B0604020202020204" pitchFamily="34" charset="0"/>
              <a:buChar char="•"/>
            </a:pPr>
            <a:r>
              <a:rPr lang="en-GB" sz="2000" dirty="0"/>
              <a:t>Sensitivity</a:t>
            </a:r>
          </a:p>
          <a:p>
            <a:pPr marL="342900" indent="-342900">
              <a:buFont typeface="Arial" panose="020B0604020202020204" pitchFamily="34" charset="0"/>
              <a:buChar char="•"/>
            </a:pPr>
            <a:r>
              <a:rPr lang="en-GB" sz="2000" dirty="0"/>
              <a:t>Specificity</a:t>
            </a:r>
          </a:p>
          <a:p>
            <a:pPr marL="342900" indent="-342900">
              <a:buFont typeface="Arial" panose="020B0604020202020204" pitchFamily="34" charset="0"/>
              <a:buChar char="•"/>
            </a:pPr>
            <a:r>
              <a:rPr lang="en-GB" sz="2000" dirty="0"/>
              <a:t>Accuracy</a:t>
            </a:r>
          </a:p>
        </p:txBody>
      </p:sp>
    </p:spTree>
    <p:extLst>
      <p:ext uri="{BB962C8B-B14F-4D97-AF65-F5344CB8AC3E}">
        <p14:creationId xmlns:p14="http://schemas.microsoft.com/office/powerpoint/2010/main" val="1419294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B14BC-7EB4-6DEA-66DA-0C2004F298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A9D77B-BE41-A8DE-B28D-C34B73364EFC}"/>
              </a:ext>
            </a:extLst>
          </p:cNvPr>
          <p:cNvSpPr txBox="1"/>
          <p:nvPr/>
        </p:nvSpPr>
        <p:spPr>
          <a:xfrm>
            <a:off x="500743" y="6663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A threshold converts probabilities into classifications.</a:t>
            </a:r>
            <a:endParaRPr lang="en-GB" sz="2800" noProof="1">
              <a:latin typeface="Source Sans Pro" panose="020B0503030403020204" pitchFamily="34" charset="0"/>
              <a:ea typeface="Source Sans Pro" panose="020B0503030403020204" pitchFamily="34" charset="0"/>
            </a:endParaRPr>
          </a:p>
        </p:txBody>
      </p:sp>
      <p:sp>
        <p:nvSpPr>
          <p:cNvPr id="7" name="TextBox 6">
            <a:extLst>
              <a:ext uri="{FF2B5EF4-FFF2-40B4-BE49-F238E27FC236}">
                <a16:creationId xmlns:a16="http://schemas.microsoft.com/office/drawing/2014/main" id="{4DEE00AB-213E-3AA7-8570-CF4348A74158}"/>
              </a:ext>
            </a:extLst>
          </p:cNvPr>
          <p:cNvSpPr txBox="1"/>
          <p:nvPr/>
        </p:nvSpPr>
        <p:spPr>
          <a:xfrm>
            <a:off x="500743" y="1794637"/>
            <a:ext cx="6762206" cy="3785652"/>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A prediction model initially produces probabilities, not clinical decisions. To evaluate how the model would classify patients, we can select a threshold.</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For a threshold of 0.30:</a:t>
            </a:r>
          </a:p>
          <a:p>
            <a:r>
              <a:rPr lang="en-GB" sz="2000" dirty="0">
                <a:latin typeface="Source Sans Pro" panose="020B0503030403020204" pitchFamily="34" charset="0"/>
                <a:ea typeface="Source Sans Pro" panose="020B0503030403020204" pitchFamily="34" charset="0"/>
              </a:rPr>
              <a:t>Predicted readmission if: p ≥ 0.30</a:t>
            </a:r>
          </a:p>
          <a:p>
            <a:r>
              <a:rPr lang="en-GB" sz="2000" dirty="0">
                <a:latin typeface="Source Sans Pro" panose="020B0503030403020204" pitchFamily="34" charset="0"/>
                <a:ea typeface="Source Sans Pro" panose="020B0503030403020204" pitchFamily="34" charset="0"/>
              </a:rPr>
              <a:t>Predicted no readmission if: p &lt; 0.30</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A patient with p̂ = 0.35 would be classified as a predicted readmission. A patient with p̂ = 0.25 would be classified as a predicted non-readmission. The threshold is a decision rule, not a natural property of the model.</a:t>
            </a:r>
          </a:p>
        </p:txBody>
      </p:sp>
    </p:spTree>
    <p:extLst>
      <p:ext uri="{BB962C8B-B14F-4D97-AF65-F5344CB8AC3E}">
        <p14:creationId xmlns:p14="http://schemas.microsoft.com/office/powerpoint/2010/main" val="1669600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A5B69-A06F-7C3F-D085-9AF75605003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E39DEB9-EE26-59DC-C277-D43F61717F25}"/>
              </a:ext>
            </a:extLst>
          </p:cNvPr>
          <p:cNvSpPr txBox="1"/>
          <p:nvPr/>
        </p:nvSpPr>
        <p:spPr>
          <a:xfrm>
            <a:off x="500743" y="463485"/>
            <a:ext cx="8382000" cy="954107"/>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True positives, false positives, true negatives and false negatives.</a:t>
            </a:r>
            <a:endParaRPr lang="en-GB" sz="2800" noProof="1">
              <a:latin typeface="Source Sans Pro" panose="020B0503030403020204" pitchFamily="34" charset="0"/>
              <a:ea typeface="Source Sans Pro" panose="020B0503030403020204" pitchFamily="34" charset="0"/>
            </a:endParaRPr>
          </a:p>
        </p:txBody>
      </p:sp>
      <p:graphicFrame>
        <p:nvGraphicFramePr>
          <p:cNvPr id="2" name="Table 1">
            <a:extLst>
              <a:ext uri="{FF2B5EF4-FFF2-40B4-BE49-F238E27FC236}">
                <a16:creationId xmlns:a16="http://schemas.microsoft.com/office/drawing/2014/main" id="{78AAABBF-3DC8-EA65-C4C6-7DF6659613C4}"/>
              </a:ext>
            </a:extLst>
          </p:cNvPr>
          <p:cNvGraphicFramePr>
            <a:graphicFrameLocks noGrp="1"/>
          </p:cNvGraphicFramePr>
          <p:nvPr>
            <p:extLst>
              <p:ext uri="{D42A27DB-BD31-4B8C-83A1-F6EECF244321}">
                <p14:modId xmlns:p14="http://schemas.microsoft.com/office/powerpoint/2010/main" val="881487812"/>
              </p:ext>
            </p:extLst>
          </p:nvPr>
        </p:nvGraphicFramePr>
        <p:xfrm>
          <a:off x="500742" y="2146368"/>
          <a:ext cx="8382000" cy="1097280"/>
        </p:xfrm>
        <a:graphic>
          <a:graphicData uri="http://schemas.openxmlformats.org/drawingml/2006/table">
            <a:tbl>
              <a:tblPr/>
              <a:tblGrid>
                <a:gridCol w="2794000">
                  <a:extLst>
                    <a:ext uri="{9D8B030D-6E8A-4147-A177-3AD203B41FA5}">
                      <a16:colId xmlns:a16="http://schemas.microsoft.com/office/drawing/2014/main" val="3418540579"/>
                    </a:ext>
                  </a:extLst>
                </a:gridCol>
                <a:gridCol w="2794000">
                  <a:extLst>
                    <a:ext uri="{9D8B030D-6E8A-4147-A177-3AD203B41FA5}">
                      <a16:colId xmlns:a16="http://schemas.microsoft.com/office/drawing/2014/main" val="131359288"/>
                    </a:ext>
                  </a:extLst>
                </a:gridCol>
                <a:gridCol w="2794000">
                  <a:extLst>
                    <a:ext uri="{9D8B030D-6E8A-4147-A177-3AD203B41FA5}">
                      <a16:colId xmlns:a16="http://schemas.microsoft.com/office/drawing/2014/main" val="3405894348"/>
                    </a:ext>
                  </a:extLst>
                </a:gridCol>
              </a:tblGrid>
              <a:tr h="0">
                <a:tc>
                  <a:txBody>
                    <a:bodyPr/>
                    <a:lstStyle/>
                    <a:p>
                      <a:pPr>
                        <a:buNone/>
                      </a:pPr>
                      <a:endParaRPr lang="en-GB" b="1" dirty="0">
                        <a:solidFill>
                          <a:schemeClr val="bg1"/>
                        </a:solidFill>
                        <a:latin typeface="Source Sans Pro" panose="020B0503030403020204" pitchFamily="34" charset="0"/>
                        <a:ea typeface="Source Sans Pro" panose="020B05030304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31D42"/>
                    </a:solidFill>
                  </a:tcPr>
                </a:tc>
                <a:tc>
                  <a:txBody>
                    <a:bodyPr/>
                    <a:lstStyle/>
                    <a:p>
                      <a:pPr>
                        <a:buNone/>
                      </a:pPr>
                      <a:r>
                        <a:rPr lang="en-GB" b="1" dirty="0">
                          <a:solidFill>
                            <a:schemeClr val="bg1"/>
                          </a:solidFill>
                          <a:latin typeface="Source Sans Pro" panose="020B0503030403020204" pitchFamily="34" charset="0"/>
                          <a:ea typeface="Source Sans Pro" panose="020B0503030403020204" pitchFamily="34" charset="0"/>
                        </a:rPr>
                        <a:t>Observed readmission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31D42"/>
                    </a:solidFill>
                  </a:tcPr>
                </a:tc>
                <a:tc>
                  <a:txBody>
                    <a:bodyPr/>
                    <a:lstStyle/>
                    <a:p>
                      <a:pPr>
                        <a:buNone/>
                      </a:pPr>
                      <a:r>
                        <a:rPr lang="en-GB" b="1" dirty="0">
                          <a:solidFill>
                            <a:schemeClr val="bg1"/>
                          </a:solidFill>
                          <a:latin typeface="Source Sans Pro" panose="020B0503030403020204" pitchFamily="34" charset="0"/>
                          <a:ea typeface="Source Sans Pro" panose="020B0503030403020204" pitchFamily="34" charset="0"/>
                        </a:rPr>
                        <a:t>No observed readmission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31D42"/>
                    </a:solidFill>
                  </a:tcPr>
                </a:tc>
                <a:extLst>
                  <a:ext uri="{0D108BD9-81ED-4DB2-BD59-A6C34878D82A}">
                    <a16:rowId xmlns:a16="http://schemas.microsoft.com/office/drawing/2014/main" val="1016057910"/>
                  </a:ext>
                </a:extLst>
              </a:tr>
              <a:tr h="0">
                <a:tc>
                  <a:txBody>
                    <a:bodyPr/>
                    <a:lstStyle/>
                    <a:p>
                      <a:pPr>
                        <a:buNone/>
                      </a:pPr>
                      <a:r>
                        <a:rPr lang="en-GB" b="1" dirty="0">
                          <a:solidFill>
                            <a:schemeClr val="bg1"/>
                          </a:solidFill>
                          <a:latin typeface="Source Sans Pro" panose="020B0503030403020204" pitchFamily="34" charset="0"/>
                          <a:ea typeface="Source Sans Pro" panose="020B0503030403020204" pitchFamily="34" charset="0"/>
                        </a:rPr>
                        <a:t>Predicted readmission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31D42"/>
                    </a:solidFill>
                  </a:tcPr>
                </a:tc>
                <a:tc>
                  <a:txBody>
                    <a:bodyPr/>
                    <a:lstStyle/>
                    <a:p>
                      <a:pPr>
                        <a:buNone/>
                      </a:pPr>
                      <a:r>
                        <a:rPr lang="en-GB" dirty="0">
                          <a:latin typeface="Source Sans Pro" panose="020B0503030403020204" pitchFamily="34" charset="0"/>
                          <a:ea typeface="Source Sans Pro" panose="020B0503030403020204" pitchFamily="34" charset="0"/>
                        </a:rPr>
                        <a:t>True 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dirty="0">
                          <a:latin typeface="Source Sans Pro" panose="020B0503030403020204" pitchFamily="34" charset="0"/>
                          <a:ea typeface="Source Sans Pro" panose="020B0503030403020204" pitchFamily="34" charset="0"/>
                        </a:rPr>
                        <a:t>False 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9450188"/>
                  </a:ext>
                </a:extLst>
              </a:tr>
              <a:tr h="0">
                <a:tc>
                  <a:txBody>
                    <a:bodyPr/>
                    <a:lstStyle/>
                    <a:p>
                      <a:pPr>
                        <a:buNone/>
                      </a:pPr>
                      <a:r>
                        <a:rPr lang="en-GB" b="1" dirty="0">
                          <a:solidFill>
                            <a:schemeClr val="bg1"/>
                          </a:solidFill>
                          <a:latin typeface="Source Sans Pro" panose="020B0503030403020204" pitchFamily="34" charset="0"/>
                          <a:ea typeface="Source Sans Pro" panose="020B0503030403020204" pitchFamily="34" charset="0"/>
                        </a:rPr>
                        <a:t>Predicted no readmission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31D42"/>
                    </a:solidFill>
                  </a:tcPr>
                </a:tc>
                <a:tc>
                  <a:txBody>
                    <a:bodyPr/>
                    <a:lstStyle/>
                    <a:p>
                      <a:pPr>
                        <a:buNone/>
                      </a:pPr>
                      <a:r>
                        <a:rPr lang="en-GB" dirty="0">
                          <a:latin typeface="Source Sans Pro" panose="020B0503030403020204" pitchFamily="34" charset="0"/>
                          <a:ea typeface="Source Sans Pro" panose="020B0503030403020204" pitchFamily="34" charset="0"/>
                        </a:rPr>
                        <a:t>False 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dirty="0">
                          <a:latin typeface="Source Sans Pro" panose="020B0503030403020204" pitchFamily="34" charset="0"/>
                          <a:ea typeface="Source Sans Pro" panose="020B0503030403020204" pitchFamily="34" charset="0"/>
                        </a:rPr>
                        <a:t>True 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4536733"/>
                  </a:ext>
                </a:extLst>
              </a:tr>
            </a:tbl>
          </a:graphicData>
        </a:graphic>
      </p:graphicFrame>
      <p:sp>
        <p:nvSpPr>
          <p:cNvPr id="7" name="TextBox 6">
            <a:extLst>
              <a:ext uri="{FF2B5EF4-FFF2-40B4-BE49-F238E27FC236}">
                <a16:creationId xmlns:a16="http://schemas.microsoft.com/office/drawing/2014/main" id="{AD08E988-1532-48FA-9FE1-DF73C5D879E6}"/>
              </a:ext>
            </a:extLst>
          </p:cNvPr>
          <p:cNvSpPr txBox="1"/>
          <p:nvPr/>
        </p:nvSpPr>
        <p:spPr>
          <a:xfrm>
            <a:off x="500742" y="3614353"/>
            <a:ext cx="8172994" cy="2677656"/>
          </a:xfrm>
          <a:prstGeom prst="rect">
            <a:avLst/>
          </a:prstGeom>
          <a:noFill/>
        </p:spPr>
        <p:txBody>
          <a:bodyPr wrap="square">
            <a:spAutoFit/>
          </a:bodyPr>
          <a:lstStyle/>
          <a:p>
            <a:pPr>
              <a:buNone/>
            </a:pPr>
            <a:r>
              <a:rPr lang="en-GB" sz="2400" dirty="0">
                <a:latin typeface="Source Sans Pro" panose="020B0503030403020204" pitchFamily="34" charset="0"/>
                <a:ea typeface="Source Sans Pro" panose="020B0503030403020204" pitchFamily="34" charset="0"/>
              </a:rPr>
              <a:t>This resembles the Type I and Type II errors encountered in hypothesis testing. The ideas are similar, but not identical:</a:t>
            </a:r>
            <a:br>
              <a:rPr lang="en-GB" sz="2400" dirty="0">
                <a:latin typeface="Source Sans Pro" panose="020B0503030403020204" pitchFamily="34" charset="0"/>
                <a:ea typeface="Source Sans Pro" panose="020B0503030403020204" pitchFamily="34" charset="0"/>
              </a:rPr>
            </a:br>
            <a:endParaRPr lang="en-GB" sz="2400"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Type I and Type II errors concern conclusions from statistical hypothesis tests.</a:t>
            </a:r>
          </a:p>
          <a:p>
            <a:pPr marL="285750" indent="-28575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False positives and false negatives concern classifications made for patients.</a:t>
            </a:r>
          </a:p>
        </p:txBody>
      </p:sp>
    </p:spTree>
    <p:extLst>
      <p:ext uri="{BB962C8B-B14F-4D97-AF65-F5344CB8AC3E}">
        <p14:creationId xmlns:p14="http://schemas.microsoft.com/office/powerpoint/2010/main" val="1735944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5633-200F-E461-CC2E-0FBE64463FB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1D87D8-9051-9844-5AB3-007E8E6AB589}"/>
              </a:ext>
            </a:extLst>
          </p:cNvPr>
          <p:cNvSpPr txBox="1"/>
          <p:nvPr/>
        </p:nvSpPr>
        <p:spPr>
          <a:xfrm>
            <a:off x="500743" y="463485"/>
            <a:ext cx="10341428" cy="954107"/>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Sensitivity: how often does the model identify patients who experience the outcome?</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BF6D5C6B-D84C-ABB7-8090-C52FD48557E3}"/>
              </a:ext>
            </a:extLst>
          </p:cNvPr>
          <p:cNvSpPr txBox="1"/>
          <p:nvPr/>
        </p:nvSpPr>
        <p:spPr>
          <a:xfrm>
            <a:off x="500743" y="2108873"/>
            <a:ext cx="10942320" cy="3785652"/>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Sensitivity is the proportion of patients who experienced the outcome and were correctly identified.</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Sensitivity = True positives / All observed positives</a:t>
            </a:r>
          </a:p>
          <a:p>
            <a:r>
              <a:rPr lang="en-GB" sz="2000" dirty="0">
                <a:latin typeface="Source Sans Pro" panose="020B0503030403020204" pitchFamily="34" charset="0"/>
                <a:ea typeface="Source Sans Pro" panose="020B0503030403020204" pitchFamily="34" charset="0"/>
              </a:rPr>
              <a:t>Sensitivity = TP / (TP + FN)</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Suppose 40 patients were readmitted:</a:t>
            </a:r>
          </a:p>
          <a:p>
            <a:r>
              <a:rPr lang="en-GB" sz="2000" dirty="0">
                <a:latin typeface="Source Sans Pro" panose="020B0503030403020204" pitchFamily="34" charset="0"/>
                <a:ea typeface="Source Sans Pro" panose="020B0503030403020204" pitchFamily="34" charset="0"/>
              </a:rPr>
              <a:t>32 were correctly identified</a:t>
            </a:r>
          </a:p>
          <a:p>
            <a:r>
              <a:rPr lang="en-GB" sz="2000" dirty="0">
                <a:latin typeface="Source Sans Pro" panose="020B0503030403020204" pitchFamily="34" charset="0"/>
                <a:ea typeface="Source Sans Pro" panose="020B0503030403020204" pitchFamily="34" charset="0"/>
              </a:rPr>
              <a:t>8 were missed</a:t>
            </a:r>
          </a:p>
          <a:p>
            <a:r>
              <a:rPr lang="en-GB" sz="2000" dirty="0">
                <a:latin typeface="Source Sans Pro" panose="020B0503030403020204" pitchFamily="34" charset="0"/>
                <a:ea typeface="Source Sans Pro" panose="020B0503030403020204" pitchFamily="34" charset="0"/>
              </a:rPr>
              <a:t>Sensitivity = 32 / (32 + 8) = 0.80</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The model identified 80% of patients who were readmitted.</a:t>
            </a:r>
          </a:p>
          <a:p>
            <a:r>
              <a:rPr lang="en-GB" sz="2000" dirty="0">
                <a:latin typeface="Source Sans Pro" panose="020B0503030403020204" pitchFamily="34" charset="0"/>
                <a:ea typeface="Source Sans Pro" panose="020B0503030403020204" pitchFamily="34" charset="0"/>
              </a:rPr>
              <a:t>Sensitivity is also called the true-positive rate.</a:t>
            </a:r>
          </a:p>
        </p:txBody>
      </p:sp>
    </p:spTree>
    <p:extLst>
      <p:ext uri="{BB962C8B-B14F-4D97-AF65-F5344CB8AC3E}">
        <p14:creationId xmlns:p14="http://schemas.microsoft.com/office/powerpoint/2010/main" val="2811540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D86C1-B6DB-CD64-5EFD-B7C996EDB8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24B01F-5488-2E06-FA70-F80F95BAC4D3}"/>
              </a:ext>
            </a:extLst>
          </p:cNvPr>
          <p:cNvSpPr txBox="1"/>
          <p:nvPr/>
        </p:nvSpPr>
        <p:spPr>
          <a:xfrm>
            <a:off x="349431" y="567817"/>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Specificity: how often does it identify those who do not?</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AE0ABF0E-675F-E332-0061-F50F3C3128EA}"/>
              </a:ext>
            </a:extLst>
          </p:cNvPr>
          <p:cNvSpPr txBox="1"/>
          <p:nvPr/>
        </p:nvSpPr>
        <p:spPr>
          <a:xfrm>
            <a:off x="349431" y="1560232"/>
            <a:ext cx="11493137" cy="3477875"/>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Specificity is the proportion of patients who did not experience the outcome and were correctly identified.</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Specificity = True negatives / All observed negatives</a:t>
            </a:r>
          </a:p>
          <a:p>
            <a:r>
              <a:rPr lang="en-GB" sz="2000" dirty="0">
                <a:latin typeface="Source Sans Pro" panose="020B0503030403020204" pitchFamily="34" charset="0"/>
                <a:ea typeface="Source Sans Pro" panose="020B0503030403020204" pitchFamily="34" charset="0"/>
              </a:rPr>
              <a:t>Specificity = TN / (TN + FP)</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Suppose 160 patients were not readmitted:</a:t>
            </a:r>
          </a:p>
          <a:p>
            <a:r>
              <a:rPr lang="en-GB" sz="2000" dirty="0">
                <a:latin typeface="Source Sans Pro" panose="020B0503030403020204" pitchFamily="34" charset="0"/>
                <a:ea typeface="Source Sans Pro" panose="020B0503030403020204" pitchFamily="34" charset="0"/>
              </a:rPr>
              <a:t>120 were correctly identified</a:t>
            </a:r>
          </a:p>
          <a:p>
            <a:r>
              <a:rPr lang="en-GB" sz="2000" dirty="0">
                <a:latin typeface="Source Sans Pro" panose="020B0503030403020204" pitchFamily="34" charset="0"/>
                <a:ea typeface="Source Sans Pro" panose="020B0503030403020204" pitchFamily="34" charset="0"/>
              </a:rPr>
              <a:t>40 were incorrectly classified as predicted readmissions</a:t>
            </a:r>
          </a:p>
          <a:p>
            <a:r>
              <a:rPr lang="en-GB" sz="2000" dirty="0">
                <a:latin typeface="Source Sans Pro" panose="020B0503030403020204" pitchFamily="34" charset="0"/>
                <a:ea typeface="Source Sans Pro" panose="020B0503030403020204" pitchFamily="34" charset="0"/>
              </a:rPr>
              <a:t>Specificity = 120 / (120 + 40) = 0.75</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The model correctly identified 75% of patients who were not readmitted.</a:t>
            </a:r>
          </a:p>
        </p:txBody>
      </p:sp>
    </p:spTree>
    <p:extLst>
      <p:ext uri="{BB962C8B-B14F-4D97-AF65-F5344CB8AC3E}">
        <p14:creationId xmlns:p14="http://schemas.microsoft.com/office/powerpoint/2010/main" val="2631004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48DD7-6D94-DB64-C68C-7424FBA742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7D8E80-D614-AD68-1A20-0CAAD4CAC2D8}"/>
              </a:ext>
            </a:extLst>
          </p:cNvPr>
          <p:cNvSpPr txBox="1"/>
          <p:nvPr/>
        </p:nvSpPr>
        <p:spPr>
          <a:xfrm>
            <a:off x="500743" y="672490"/>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Changing the threshold changes the balance of errors.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1B3103B9-1EE4-857F-904F-CEC8BC726481}"/>
              </a:ext>
            </a:extLst>
          </p:cNvPr>
          <p:cNvSpPr txBox="1"/>
          <p:nvPr/>
        </p:nvSpPr>
        <p:spPr>
          <a:xfrm>
            <a:off x="500743" y="1685534"/>
            <a:ext cx="9295311" cy="4708981"/>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Lowering the threshold classifies more patients as likely to experience the outcome.</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This usually:</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Increases sensitivity</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Decreases specificity</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Reduces false negatives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Increases false positives</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Raising the threshold usually:</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Decreases sensitivity</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Increases specificity</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Increases false negatives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Reduces false positives</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Improving sensitivity will often reduce specificity, and vice versa.</a:t>
            </a:r>
          </a:p>
        </p:txBody>
      </p:sp>
    </p:spTree>
    <p:extLst>
      <p:ext uri="{BB962C8B-B14F-4D97-AF65-F5344CB8AC3E}">
        <p14:creationId xmlns:p14="http://schemas.microsoft.com/office/powerpoint/2010/main" val="26391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0DA7C-4A70-E3F3-D44F-0BA7C6E350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56D7DF-5956-E171-70DC-49695B4F7875}"/>
              </a:ext>
            </a:extLst>
          </p:cNvPr>
          <p:cNvSpPr txBox="1"/>
          <p:nvPr/>
        </p:nvSpPr>
        <p:spPr>
          <a:xfrm>
            <a:off x="500743" y="463485"/>
            <a:ext cx="10341428" cy="954107"/>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The appropriate threshold depends on the clinical consequences.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0A986CD8-7C6C-5B7C-C39A-95D4B0E9C05A}"/>
              </a:ext>
            </a:extLst>
          </p:cNvPr>
          <p:cNvSpPr txBox="1"/>
          <p:nvPr/>
        </p:nvSpPr>
        <p:spPr>
          <a:xfrm>
            <a:off x="500743" y="1633639"/>
            <a:ext cx="9400903" cy="4708981"/>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There is no universally correct classification threshold. A lower threshold may be appropriate when missing the outcome would be particularly harmful.</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For example:</a:t>
            </a:r>
          </a:p>
          <a:p>
            <a:r>
              <a:rPr lang="en-GB" sz="2000" dirty="0">
                <a:latin typeface="Source Sans Pro" panose="020B0503030403020204" pitchFamily="34" charset="0"/>
                <a:ea typeface="Source Sans Pro" panose="020B0503030403020204" pitchFamily="34" charset="0"/>
              </a:rPr>
              <a:t>Failing to identify a patient at risk of rapid deterioration. A higher threshold may be appropriate when the resulting intervention is costly, invasive or potentially harmful.</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Threshold selection should consider:</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The consequences of false negatives</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The consequences of false positives</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The effectiveness of the proposed intervention</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Available clinical resources</a:t>
            </a:r>
          </a:p>
          <a:p>
            <a:pPr marL="342900" indent="-34290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The intended clinical use of the model</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A threshold of 0.50 is not automatically clinically appropriate.</a:t>
            </a:r>
          </a:p>
        </p:txBody>
      </p:sp>
    </p:spTree>
    <p:extLst>
      <p:ext uri="{BB962C8B-B14F-4D97-AF65-F5344CB8AC3E}">
        <p14:creationId xmlns:p14="http://schemas.microsoft.com/office/powerpoint/2010/main" val="1897457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F0340-D632-D3FC-4BA5-9A0BD2C9E4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7CAFF0-AA89-2EF4-1CBF-24500B2A296C}"/>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ROC curves summarise performance across thresholds.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F226BCC4-AC0B-0F1D-6CF8-44D244A0E39E}"/>
              </a:ext>
            </a:extLst>
          </p:cNvPr>
          <p:cNvSpPr txBox="1"/>
          <p:nvPr/>
        </p:nvSpPr>
        <p:spPr>
          <a:xfrm>
            <a:off x="500743" y="1773930"/>
            <a:ext cx="5214257" cy="4247317"/>
          </a:xfrm>
          <a:prstGeom prst="rect">
            <a:avLst/>
          </a:prstGeom>
          <a:noFill/>
        </p:spPr>
        <p:txBody>
          <a:bodyPr wrap="square">
            <a:spAutoFit/>
          </a:bodyPr>
          <a:lstStyle/>
          <a:p>
            <a:r>
              <a:rPr lang="en-GB" dirty="0"/>
              <a:t>A receiver operating characteristic (ROC) curve evaluates performance across </a:t>
            </a:r>
            <a:r>
              <a:rPr lang="en-GB" b="1" dirty="0"/>
              <a:t>every possible classification threshold.</a:t>
            </a:r>
          </a:p>
          <a:p>
            <a:endParaRPr lang="en-GB" b="1" dirty="0"/>
          </a:p>
          <a:p>
            <a:r>
              <a:rPr lang="en-GB" dirty="0"/>
              <a:t>Y-axis: Sensitivity</a:t>
            </a:r>
          </a:p>
          <a:p>
            <a:r>
              <a:rPr lang="en-GB" dirty="0"/>
              <a:t>X-axis: 1 − Specificity</a:t>
            </a:r>
          </a:p>
          <a:p>
            <a:endParaRPr lang="en-GB" dirty="0"/>
          </a:p>
          <a:p>
            <a:r>
              <a:rPr lang="en-GB" dirty="0"/>
              <a:t>The quantity 1-specificity is also called the </a:t>
            </a:r>
            <a:r>
              <a:rPr lang="en-GB" b="1" dirty="0"/>
              <a:t>false-positive rate</a:t>
            </a:r>
            <a:r>
              <a:rPr lang="en-GB" dirty="0"/>
              <a:t>. Each point on the curve represents a different threshold. A model with no ability to distinguish between patients follows approximately the diagonal line.</a:t>
            </a:r>
          </a:p>
          <a:p>
            <a:endParaRPr lang="en-GB" dirty="0"/>
          </a:p>
          <a:p>
            <a:r>
              <a:rPr lang="en-GB" dirty="0"/>
              <a:t>A model with better discrimination produces a curve closer to the upper-left corner.</a:t>
            </a:r>
          </a:p>
        </p:txBody>
      </p:sp>
      <p:pic>
        <p:nvPicPr>
          <p:cNvPr id="5" name="Picture 4" descr="A graph of a comparison of a number of data&#10;&#10;AI-generated content may be incorrect.">
            <a:extLst>
              <a:ext uri="{FF2B5EF4-FFF2-40B4-BE49-F238E27FC236}">
                <a16:creationId xmlns:a16="http://schemas.microsoft.com/office/drawing/2014/main" id="{5A2DD8D2-CC40-A1AA-FA4B-32AA1C545D4A}"/>
              </a:ext>
            </a:extLst>
          </p:cNvPr>
          <p:cNvPicPr>
            <a:picLocks noChangeAspect="1"/>
          </p:cNvPicPr>
          <p:nvPr/>
        </p:nvPicPr>
        <p:blipFill>
          <a:blip r:embed="rId2"/>
          <a:stretch>
            <a:fillRect/>
          </a:stretch>
        </p:blipFill>
        <p:spPr>
          <a:xfrm>
            <a:off x="6477002" y="1078282"/>
            <a:ext cx="4389902" cy="2720503"/>
          </a:xfrm>
          <a:prstGeom prst="rect">
            <a:avLst/>
          </a:prstGeom>
        </p:spPr>
      </p:pic>
    </p:spTree>
    <p:extLst>
      <p:ext uri="{BB962C8B-B14F-4D97-AF65-F5344CB8AC3E}">
        <p14:creationId xmlns:p14="http://schemas.microsoft.com/office/powerpoint/2010/main" val="4033116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7703D-4B6A-23EF-046D-A2B160A7709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0DACBC6-54A5-7E62-2B62-9550E47C3D86}"/>
              </a:ext>
            </a:extLst>
          </p:cNvPr>
          <p:cNvSpPr txBox="1"/>
          <p:nvPr/>
        </p:nvSpPr>
        <p:spPr>
          <a:xfrm>
            <a:off x="500743" y="463485"/>
            <a:ext cx="9144000" cy="954107"/>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Discrimination asks whether higher-risk patients receive higher predictions.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297399EE-6361-BD13-2FAD-0AA2931203D3}"/>
              </a:ext>
            </a:extLst>
          </p:cNvPr>
          <p:cNvSpPr txBox="1"/>
          <p:nvPr/>
        </p:nvSpPr>
        <p:spPr>
          <a:xfrm>
            <a:off x="500743" y="1593201"/>
            <a:ext cx="8684625" cy="4801314"/>
          </a:xfrm>
          <a:prstGeom prst="rect">
            <a:avLst/>
          </a:prstGeom>
          <a:noFill/>
        </p:spPr>
        <p:txBody>
          <a:bodyPr wrap="square">
            <a:spAutoFit/>
          </a:bodyPr>
          <a:lstStyle/>
          <a:p>
            <a:r>
              <a:rPr lang="en-GB" dirty="0">
                <a:latin typeface="Source Sans Pro" panose="020B0503030403020204" pitchFamily="34" charset="0"/>
                <a:ea typeface="Source Sans Pro" panose="020B0503030403020204" pitchFamily="34" charset="0"/>
              </a:rPr>
              <a:t>A model discriminates well when patients who experience the outcome tend to receive higher predicted risks than patients who do not. Discrimination is commonly summarised using the area under the  </a:t>
            </a:r>
          </a:p>
          <a:p>
            <a:r>
              <a:rPr lang="en-GB" dirty="0">
                <a:latin typeface="Source Sans Pro" panose="020B0503030403020204" pitchFamily="34" charset="0"/>
                <a:ea typeface="Source Sans Pro" panose="020B0503030403020204" pitchFamily="34" charset="0"/>
              </a:rPr>
              <a:t>ROC curve.</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Values:</a:t>
            </a:r>
          </a:p>
          <a:p>
            <a:r>
              <a:rPr lang="en-GB" dirty="0">
                <a:latin typeface="Source Sans Pro" panose="020B0503030403020204" pitchFamily="34" charset="0"/>
                <a:ea typeface="Source Sans Pro" panose="020B0503030403020204" pitchFamily="34" charset="0"/>
              </a:rPr>
              <a:t>0.5 → random ranking</a:t>
            </a:r>
          </a:p>
          <a:p>
            <a:r>
              <a:rPr lang="en-GB" dirty="0">
                <a:latin typeface="Source Sans Pro" panose="020B0503030403020204" pitchFamily="34" charset="0"/>
                <a:ea typeface="Source Sans Pro" panose="020B0503030403020204" pitchFamily="34" charset="0"/>
              </a:rPr>
              <a:t>0.7 → acceptable discrimination</a:t>
            </a:r>
          </a:p>
          <a:p>
            <a:r>
              <a:rPr lang="en-GB" dirty="0">
                <a:latin typeface="Source Sans Pro" panose="020B0503030403020204" pitchFamily="34" charset="0"/>
                <a:ea typeface="Source Sans Pro" panose="020B0503030403020204" pitchFamily="34" charset="0"/>
              </a:rPr>
              <a:t>0.8 → good discrimination</a:t>
            </a:r>
          </a:p>
          <a:p>
            <a:r>
              <a:rPr lang="en-GB" dirty="0">
                <a:latin typeface="Source Sans Pro" panose="020B0503030403020204" pitchFamily="34" charset="0"/>
                <a:ea typeface="Source Sans Pro" panose="020B0503030403020204" pitchFamily="34" charset="0"/>
              </a:rPr>
              <a:t>0.9+ → strong discrimination</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An AUC of, for example, 0.80 means:</a:t>
            </a:r>
          </a:p>
          <a:p>
            <a:r>
              <a:rPr lang="en-GB" dirty="0">
                <a:latin typeface="Source Sans Pro" panose="020B0503030403020204" pitchFamily="34" charset="0"/>
                <a:ea typeface="Source Sans Pro" panose="020B0503030403020204" pitchFamily="34" charset="0"/>
              </a:rPr>
              <a:t>If we randomly select one patient who was readmitted and one who was not, the model will assign the higher predicted risk to the readmitted patient approximately 80% of the time.</a:t>
            </a:r>
            <a:br>
              <a:rPr lang="en-GB" dirty="0">
                <a:latin typeface="Source Sans Pro" panose="020B0503030403020204" pitchFamily="34" charset="0"/>
                <a:ea typeface="Source Sans Pro" panose="020B0503030403020204" pitchFamily="34" charset="0"/>
              </a:rPr>
            </a:br>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The AUC assesses ranking—not whether the predicted probabilities are accurate.</a:t>
            </a:r>
          </a:p>
        </p:txBody>
      </p:sp>
    </p:spTree>
    <p:extLst>
      <p:ext uri="{BB962C8B-B14F-4D97-AF65-F5344CB8AC3E}">
        <p14:creationId xmlns:p14="http://schemas.microsoft.com/office/powerpoint/2010/main" val="3995946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75DA6-9EEE-3074-54A3-2B161E58AE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A313FAF-C990-BAD8-014F-C60CEB17A3B7}"/>
              </a:ext>
            </a:extLst>
          </p:cNvPr>
          <p:cNvSpPr txBox="1"/>
          <p:nvPr/>
        </p:nvSpPr>
        <p:spPr>
          <a:xfrm>
            <a:off x="500743" y="463485"/>
            <a:ext cx="8752114" cy="954107"/>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Calibration asks whether predicted risks agree with observed frequencies.</a:t>
            </a:r>
            <a:endParaRPr lang="en-GB" sz="2800" noProof="1">
              <a:latin typeface="Source Sans Pro" panose="020B0503030403020204" pitchFamily="34" charset="0"/>
              <a:ea typeface="Source Sans Pro" panose="020B0503030403020204" pitchFamily="34" charset="0"/>
            </a:endParaRPr>
          </a:p>
        </p:txBody>
      </p:sp>
      <p:sp>
        <p:nvSpPr>
          <p:cNvPr id="2" name="TextBox 1">
            <a:extLst>
              <a:ext uri="{FF2B5EF4-FFF2-40B4-BE49-F238E27FC236}">
                <a16:creationId xmlns:a16="http://schemas.microsoft.com/office/drawing/2014/main" id="{296F8D68-55B2-DCF7-81F7-34C461B41CE2}"/>
              </a:ext>
            </a:extLst>
          </p:cNvPr>
          <p:cNvSpPr txBox="1"/>
          <p:nvPr/>
        </p:nvSpPr>
        <p:spPr>
          <a:xfrm>
            <a:off x="500743" y="2079172"/>
            <a:ext cx="6585856" cy="3416320"/>
          </a:xfrm>
          <a:prstGeom prst="rect">
            <a:avLst/>
          </a:prstGeom>
          <a:noFill/>
        </p:spPr>
        <p:txBody>
          <a:bodyPr wrap="square" rtlCol="0">
            <a:spAutoFit/>
          </a:bodyPr>
          <a:lstStyle/>
          <a:p>
            <a:r>
              <a:rPr lang="en-GB" dirty="0">
                <a:latin typeface="Source Sans Pro" panose="020B0503030403020204" pitchFamily="34" charset="0"/>
                <a:ea typeface="Source Sans Pro" panose="020B0503030403020204" pitchFamily="34" charset="0"/>
              </a:rPr>
              <a:t>A model is well calibrated when its predicted probabilities correspond to observed outcome frequencies. Calibration asks, “Do the predicted numbers mean what they claim to mean?”</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For example:</a:t>
            </a:r>
          </a:p>
          <a:p>
            <a:r>
              <a:rPr lang="en-GB" dirty="0">
                <a:latin typeface="Source Sans Pro" panose="020B0503030403020204" pitchFamily="34" charset="0"/>
                <a:ea typeface="Source Sans Pro" panose="020B0503030403020204" pitchFamily="34" charset="0"/>
              </a:rPr>
              <a:t>Among patients assigned a predicted risk of approximately 20%, around 20% should experience the outcome.</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Calibration can be examined using a calibration plot:</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X-axis: Mean predicted probability</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Y-axis: Observed outcome frequency</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Perfect calibration follows the 45-degree line.</a:t>
            </a:r>
          </a:p>
        </p:txBody>
      </p:sp>
      <p:pic>
        <p:nvPicPr>
          <p:cNvPr id="4" name="Picture 3" descr="A graph of a graph showing the difference between a network and a network&#10;&#10;AI-generated content may be incorrect.">
            <a:extLst>
              <a:ext uri="{FF2B5EF4-FFF2-40B4-BE49-F238E27FC236}">
                <a16:creationId xmlns:a16="http://schemas.microsoft.com/office/drawing/2014/main" id="{3BCCBF29-0D3E-2D3D-4BFF-ACD220398156}"/>
              </a:ext>
            </a:extLst>
          </p:cNvPr>
          <p:cNvPicPr>
            <a:picLocks noChangeAspect="1"/>
          </p:cNvPicPr>
          <p:nvPr/>
        </p:nvPicPr>
        <p:blipFill>
          <a:blip r:embed="rId2"/>
          <a:stretch>
            <a:fillRect/>
          </a:stretch>
        </p:blipFill>
        <p:spPr>
          <a:xfrm>
            <a:off x="7410235" y="1611087"/>
            <a:ext cx="4030650" cy="2493478"/>
          </a:xfrm>
          <a:prstGeom prst="rect">
            <a:avLst/>
          </a:prstGeom>
        </p:spPr>
      </p:pic>
    </p:spTree>
    <p:extLst>
      <p:ext uri="{BB962C8B-B14F-4D97-AF65-F5344CB8AC3E}">
        <p14:creationId xmlns:p14="http://schemas.microsoft.com/office/powerpoint/2010/main" val="34512047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FC4B5-F0D4-59CC-9F3B-0409DCBE73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321AD2-A756-54E9-C37F-7A2183D44593}"/>
              </a:ext>
            </a:extLst>
          </p:cNvPr>
          <p:cNvSpPr txBox="1"/>
          <p:nvPr/>
        </p:nvSpPr>
        <p:spPr>
          <a:xfrm>
            <a:off x="500743" y="433460"/>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A model can discriminate well but remain poorly calibrated.</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7684BDCD-232F-45F1-882C-BDDB7FE73A26}"/>
              </a:ext>
            </a:extLst>
          </p:cNvPr>
          <p:cNvSpPr txBox="1"/>
          <p:nvPr/>
        </p:nvSpPr>
        <p:spPr>
          <a:xfrm>
            <a:off x="928339" y="1372178"/>
            <a:ext cx="6100354" cy="1200329"/>
          </a:xfrm>
          <a:prstGeom prst="rect">
            <a:avLst/>
          </a:prstGeom>
          <a:noFill/>
        </p:spPr>
        <p:txBody>
          <a:bodyPr wrap="square">
            <a:spAutoFit/>
          </a:bodyPr>
          <a:lstStyle/>
          <a:p>
            <a:r>
              <a:rPr lang="en-GB" dirty="0">
                <a:latin typeface="Source Sans Pro" panose="020B0503030403020204" pitchFamily="34" charset="0"/>
                <a:ea typeface="Source Sans Pro" panose="020B0503030403020204" pitchFamily="34" charset="0"/>
              </a:rPr>
              <a:t>Imagine a model that correctly ranks patients:</a:t>
            </a:r>
          </a:p>
          <a:p>
            <a:r>
              <a:rPr lang="en-GB" dirty="0">
                <a:latin typeface="Source Sans Pro" panose="020B0503030403020204" pitchFamily="34" charset="0"/>
                <a:ea typeface="Source Sans Pro" panose="020B0503030403020204" pitchFamily="34" charset="0"/>
              </a:rPr>
              <a:t>Patient A: lowest risk</a:t>
            </a:r>
          </a:p>
          <a:p>
            <a:r>
              <a:rPr lang="en-GB" dirty="0">
                <a:latin typeface="Source Sans Pro" panose="020B0503030403020204" pitchFamily="34" charset="0"/>
                <a:ea typeface="Source Sans Pro" panose="020B0503030403020204" pitchFamily="34" charset="0"/>
              </a:rPr>
              <a:t>Patient B: intermediate risk</a:t>
            </a:r>
          </a:p>
          <a:p>
            <a:r>
              <a:rPr lang="en-GB" dirty="0">
                <a:latin typeface="Source Sans Pro" panose="020B0503030403020204" pitchFamily="34" charset="0"/>
                <a:ea typeface="Source Sans Pro" panose="020B0503030403020204" pitchFamily="34" charset="0"/>
              </a:rPr>
              <a:t>Patient C: highest risk</a:t>
            </a:r>
          </a:p>
        </p:txBody>
      </p:sp>
      <p:graphicFrame>
        <p:nvGraphicFramePr>
          <p:cNvPr id="6" name="Table 5">
            <a:extLst>
              <a:ext uri="{FF2B5EF4-FFF2-40B4-BE49-F238E27FC236}">
                <a16:creationId xmlns:a16="http://schemas.microsoft.com/office/drawing/2014/main" id="{A8A69E00-36D8-B70B-A2B8-564DE318B739}"/>
              </a:ext>
            </a:extLst>
          </p:cNvPr>
          <p:cNvGraphicFramePr>
            <a:graphicFrameLocks noGrp="1"/>
          </p:cNvGraphicFramePr>
          <p:nvPr>
            <p:extLst>
              <p:ext uri="{D42A27DB-BD31-4B8C-83A1-F6EECF244321}">
                <p14:modId xmlns:p14="http://schemas.microsoft.com/office/powerpoint/2010/main" val="2906073057"/>
              </p:ext>
            </p:extLst>
          </p:nvPr>
        </p:nvGraphicFramePr>
        <p:xfrm>
          <a:off x="1559940" y="2847163"/>
          <a:ext cx="4837152" cy="1483360"/>
        </p:xfrm>
        <a:graphic>
          <a:graphicData uri="http://schemas.openxmlformats.org/drawingml/2006/table">
            <a:tbl>
              <a:tblPr firstRow="1" bandRow="1">
                <a:tableStyleId>{5C22544A-7EE6-4342-B048-85BDC9FD1C3A}</a:tableStyleId>
              </a:tblPr>
              <a:tblGrid>
                <a:gridCol w="2418576">
                  <a:extLst>
                    <a:ext uri="{9D8B030D-6E8A-4147-A177-3AD203B41FA5}">
                      <a16:colId xmlns:a16="http://schemas.microsoft.com/office/drawing/2014/main" val="2509800867"/>
                    </a:ext>
                  </a:extLst>
                </a:gridCol>
                <a:gridCol w="2418576">
                  <a:extLst>
                    <a:ext uri="{9D8B030D-6E8A-4147-A177-3AD203B41FA5}">
                      <a16:colId xmlns:a16="http://schemas.microsoft.com/office/drawing/2014/main" val="3833558585"/>
                    </a:ext>
                  </a:extLst>
                </a:gridCol>
              </a:tblGrid>
              <a:tr h="370840">
                <a:tc>
                  <a:txBody>
                    <a:bodyPr/>
                    <a:lstStyle/>
                    <a:p>
                      <a:r>
                        <a:rPr lang="en-GB" dirty="0">
                          <a:latin typeface="Source Sans Pro" panose="020B0503030403020204" pitchFamily="34" charset="0"/>
                          <a:ea typeface="Source Sans Pro" panose="020B0503030403020204" pitchFamily="34" charset="0"/>
                        </a:rPr>
                        <a:t>Predicted Risk</a:t>
                      </a:r>
                    </a:p>
                  </a:txBody>
                  <a:tcPr/>
                </a:tc>
                <a:tc>
                  <a:txBody>
                    <a:bodyPr/>
                    <a:lstStyle/>
                    <a:p>
                      <a:r>
                        <a:rPr lang="en-GB" dirty="0">
                          <a:latin typeface="Source Sans Pro" panose="020B0503030403020204" pitchFamily="34" charset="0"/>
                          <a:ea typeface="Source Sans Pro" panose="020B0503030403020204" pitchFamily="34" charset="0"/>
                        </a:rPr>
                        <a:t>Observed Risk</a:t>
                      </a:r>
                    </a:p>
                  </a:txBody>
                  <a:tcPr/>
                </a:tc>
                <a:extLst>
                  <a:ext uri="{0D108BD9-81ED-4DB2-BD59-A6C34878D82A}">
                    <a16:rowId xmlns:a16="http://schemas.microsoft.com/office/drawing/2014/main" val="3708798760"/>
                  </a:ext>
                </a:extLst>
              </a:tr>
              <a:tr h="370840">
                <a:tc>
                  <a:txBody>
                    <a:bodyPr/>
                    <a:lstStyle/>
                    <a:p>
                      <a:r>
                        <a:rPr lang="en-GB" dirty="0">
                          <a:latin typeface="Source Sans Pro" panose="020B0503030403020204" pitchFamily="34" charset="0"/>
                          <a:ea typeface="Source Sans Pro" panose="020B0503030403020204" pitchFamily="34" charset="0"/>
                        </a:rPr>
                        <a:t>20%</a:t>
                      </a:r>
                    </a:p>
                  </a:txBody>
                  <a:tcPr/>
                </a:tc>
                <a:tc>
                  <a:txBody>
                    <a:bodyPr/>
                    <a:lstStyle/>
                    <a:p>
                      <a:r>
                        <a:rPr lang="en-GB" dirty="0">
                          <a:latin typeface="Source Sans Pro" panose="020B0503030403020204" pitchFamily="34" charset="0"/>
                          <a:ea typeface="Source Sans Pro" panose="020B0503030403020204" pitchFamily="34" charset="0"/>
                        </a:rPr>
                        <a:t>10%</a:t>
                      </a:r>
                    </a:p>
                  </a:txBody>
                  <a:tcPr/>
                </a:tc>
                <a:extLst>
                  <a:ext uri="{0D108BD9-81ED-4DB2-BD59-A6C34878D82A}">
                    <a16:rowId xmlns:a16="http://schemas.microsoft.com/office/drawing/2014/main" val="310049899"/>
                  </a:ext>
                </a:extLst>
              </a:tr>
              <a:tr h="370840">
                <a:tc>
                  <a:txBody>
                    <a:bodyPr/>
                    <a:lstStyle/>
                    <a:p>
                      <a:r>
                        <a:rPr lang="en-GB" dirty="0">
                          <a:latin typeface="Source Sans Pro" panose="020B0503030403020204" pitchFamily="34" charset="0"/>
                          <a:ea typeface="Source Sans Pro" panose="020B0503030403020204" pitchFamily="34" charset="0"/>
                        </a:rPr>
                        <a:t>40%</a:t>
                      </a:r>
                    </a:p>
                  </a:txBody>
                  <a:tcPr/>
                </a:tc>
                <a:tc>
                  <a:txBody>
                    <a:bodyPr/>
                    <a:lstStyle/>
                    <a:p>
                      <a:r>
                        <a:rPr lang="en-GB" dirty="0">
                          <a:latin typeface="Source Sans Pro" panose="020B0503030403020204" pitchFamily="34" charset="0"/>
                          <a:ea typeface="Source Sans Pro" panose="020B0503030403020204" pitchFamily="34" charset="0"/>
                        </a:rPr>
                        <a:t>20%</a:t>
                      </a:r>
                    </a:p>
                  </a:txBody>
                  <a:tcPr/>
                </a:tc>
                <a:extLst>
                  <a:ext uri="{0D108BD9-81ED-4DB2-BD59-A6C34878D82A}">
                    <a16:rowId xmlns:a16="http://schemas.microsoft.com/office/drawing/2014/main" val="1588413022"/>
                  </a:ext>
                </a:extLst>
              </a:tr>
              <a:tr h="370840">
                <a:tc>
                  <a:txBody>
                    <a:bodyPr/>
                    <a:lstStyle/>
                    <a:p>
                      <a:r>
                        <a:rPr lang="en-GB" dirty="0">
                          <a:latin typeface="Source Sans Pro" panose="020B0503030403020204" pitchFamily="34" charset="0"/>
                          <a:ea typeface="Source Sans Pro" panose="020B0503030403020204" pitchFamily="34" charset="0"/>
                        </a:rPr>
                        <a:t>60%</a:t>
                      </a:r>
                    </a:p>
                  </a:txBody>
                  <a:tcPr/>
                </a:tc>
                <a:tc>
                  <a:txBody>
                    <a:bodyPr/>
                    <a:lstStyle/>
                    <a:p>
                      <a:r>
                        <a:rPr lang="en-GB" dirty="0">
                          <a:latin typeface="Source Sans Pro" panose="020B0503030403020204" pitchFamily="34" charset="0"/>
                          <a:ea typeface="Source Sans Pro" panose="020B0503030403020204" pitchFamily="34" charset="0"/>
                        </a:rPr>
                        <a:t>30%</a:t>
                      </a:r>
                    </a:p>
                  </a:txBody>
                  <a:tcPr/>
                </a:tc>
                <a:extLst>
                  <a:ext uri="{0D108BD9-81ED-4DB2-BD59-A6C34878D82A}">
                    <a16:rowId xmlns:a16="http://schemas.microsoft.com/office/drawing/2014/main" val="1643033195"/>
                  </a:ext>
                </a:extLst>
              </a:tr>
            </a:tbl>
          </a:graphicData>
        </a:graphic>
      </p:graphicFrame>
      <p:sp>
        <p:nvSpPr>
          <p:cNvPr id="8" name="TextBox 7">
            <a:extLst>
              <a:ext uri="{FF2B5EF4-FFF2-40B4-BE49-F238E27FC236}">
                <a16:creationId xmlns:a16="http://schemas.microsoft.com/office/drawing/2014/main" id="{9DBBB6EE-7282-3FEA-E13B-03DCC58EE8EE}"/>
              </a:ext>
            </a:extLst>
          </p:cNvPr>
          <p:cNvSpPr txBox="1"/>
          <p:nvPr/>
        </p:nvSpPr>
        <p:spPr>
          <a:xfrm>
            <a:off x="761069" y="4605180"/>
            <a:ext cx="6810607" cy="2031325"/>
          </a:xfrm>
          <a:prstGeom prst="rect">
            <a:avLst/>
          </a:prstGeom>
          <a:noFill/>
        </p:spPr>
        <p:txBody>
          <a:bodyPr wrap="square">
            <a:spAutoFit/>
          </a:bodyPr>
          <a:lstStyle/>
          <a:p>
            <a:r>
              <a:rPr lang="en-GB" sz="1800" dirty="0">
                <a:latin typeface="Source Sans Pro" panose="020B0503030403020204" pitchFamily="34" charset="0"/>
                <a:ea typeface="Source Sans Pro" panose="020B0503030403020204" pitchFamily="34" charset="0"/>
              </a:rPr>
              <a:t>The model separates lower-risk from higher-risk patients, but its predicted probabilities are too high.</a:t>
            </a:r>
          </a:p>
          <a:p>
            <a:endParaRPr lang="en-GB" sz="1800" dirty="0">
              <a:latin typeface="Source Sans Pro" panose="020B0503030403020204" pitchFamily="34" charset="0"/>
              <a:ea typeface="Source Sans Pro" panose="020B0503030403020204" pitchFamily="34" charset="0"/>
            </a:endParaRPr>
          </a:p>
          <a:p>
            <a:r>
              <a:rPr lang="en-GB" sz="1800" dirty="0">
                <a:latin typeface="Source Sans Pro" panose="020B0503030403020204" pitchFamily="34" charset="0"/>
                <a:ea typeface="Source Sans Pro" panose="020B0503030403020204" pitchFamily="34" charset="0"/>
              </a:rPr>
              <a:t>Discrimination: Who is at greater risk?</a:t>
            </a:r>
          </a:p>
          <a:p>
            <a:r>
              <a:rPr lang="en-GB" sz="1800" dirty="0">
                <a:latin typeface="Source Sans Pro" panose="020B0503030403020204" pitchFamily="34" charset="0"/>
                <a:ea typeface="Source Sans Pro" panose="020B0503030403020204" pitchFamily="34" charset="0"/>
              </a:rPr>
              <a:t>Calibration: How accurate is the predicted risk?</a:t>
            </a:r>
          </a:p>
          <a:p>
            <a:endParaRPr lang="en-GB" sz="1800" dirty="0">
              <a:latin typeface="Source Sans Pro" panose="020B0503030403020204" pitchFamily="34" charset="0"/>
              <a:ea typeface="Source Sans Pro" panose="020B0503030403020204" pitchFamily="34" charset="0"/>
            </a:endParaRPr>
          </a:p>
          <a:p>
            <a:r>
              <a:rPr lang="en-GB" sz="1800" dirty="0">
                <a:latin typeface="Source Sans Pro" panose="020B0503030403020204" pitchFamily="34" charset="0"/>
                <a:ea typeface="Source Sans Pro" panose="020B0503030403020204" pitchFamily="34" charset="0"/>
              </a:rPr>
              <a:t>Both matter when predictions will be communicated as probabilities.</a:t>
            </a:r>
          </a:p>
        </p:txBody>
      </p:sp>
    </p:spTree>
    <p:extLst>
      <p:ext uri="{BB962C8B-B14F-4D97-AF65-F5344CB8AC3E}">
        <p14:creationId xmlns:p14="http://schemas.microsoft.com/office/powerpoint/2010/main" val="1026351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BB609-8BC1-D6A1-F47A-0A02EA295C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3A6F6E-0FC8-EC94-8891-C3FD098BF343}"/>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Accuracy can be misleading when outcomes are uncommon.</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4F11715E-4573-6660-3E06-745D892DFB46}"/>
              </a:ext>
            </a:extLst>
          </p:cNvPr>
          <p:cNvSpPr txBox="1"/>
          <p:nvPr/>
        </p:nvSpPr>
        <p:spPr>
          <a:xfrm>
            <a:off x="697268" y="1620479"/>
            <a:ext cx="6539873" cy="4524315"/>
          </a:xfrm>
          <a:prstGeom prst="rect">
            <a:avLst/>
          </a:prstGeom>
          <a:noFill/>
        </p:spPr>
        <p:txBody>
          <a:bodyPr wrap="square">
            <a:spAutoFit/>
          </a:bodyPr>
          <a:lstStyle/>
          <a:p>
            <a:r>
              <a:rPr lang="en-GB" dirty="0">
                <a:latin typeface="Source Sans Pro" panose="020B0503030403020204" pitchFamily="34" charset="0"/>
                <a:ea typeface="Source Sans Pro" panose="020B0503030403020204" pitchFamily="34" charset="0"/>
              </a:rPr>
              <a:t>Accuracy is the proportion of all classifications that are correct.</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Accuracy = (TP + TN) / (TP + TN + FP + FN)</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Imagine that only 5% of patients are readmitted. A model that predicts “no readmission” for every patient would be 95% accurate</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However:</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It would identify no readmissions</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Its sensitivity would be 0%</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It would provide no useful risk discrimination</a:t>
            </a:r>
          </a:p>
          <a:p>
            <a:pPr marL="285750" indent="-285750">
              <a:buFont typeface="Arial" panose="020B0604020202020204" pitchFamily="34" charset="0"/>
              <a:buChar char="•"/>
            </a:pPr>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High accuracy can therefore conceal poor performance when one outcome is much more common than the other. Accuracy should not be interpreted alone.</a:t>
            </a:r>
          </a:p>
        </p:txBody>
      </p:sp>
    </p:spTree>
    <p:extLst>
      <p:ext uri="{BB962C8B-B14F-4D97-AF65-F5344CB8AC3E}">
        <p14:creationId xmlns:p14="http://schemas.microsoft.com/office/powerpoint/2010/main" val="111141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39146-D7E9-0F48-8A7B-06F8E482AB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80C0B5-5C3E-6837-B361-EB2F22498C8F}"/>
              </a:ext>
            </a:extLst>
          </p:cNvPr>
          <p:cNvSpPr txBox="1"/>
          <p:nvPr/>
        </p:nvSpPr>
        <p:spPr>
          <a:xfrm>
            <a:off x="511223" y="68424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Clinical usefulness is not the same as statistical performance.</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E515E17A-49F2-0BFF-7505-DE3412316522}"/>
              </a:ext>
            </a:extLst>
          </p:cNvPr>
          <p:cNvSpPr txBox="1"/>
          <p:nvPr/>
        </p:nvSpPr>
        <p:spPr>
          <a:xfrm>
            <a:off x="517400" y="1680217"/>
            <a:ext cx="7160145" cy="3970318"/>
          </a:xfrm>
          <a:prstGeom prst="rect">
            <a:avLst/>
          </a:prstGeom>
          <a:noFill/>
        </p:spPr>
        <p:txBody>
          <a:bodyPr wrap="square">
            <a:spAutoFit/>
          </a:bodyPr>
          <a:lstStyle/>
          <a:p>
            <a:r>
              <a:rPr lang="en-GB" dirty="0"/>
              <a:t>A model may have good discrimination and calibration but still provide little clinical benefit. We must also ask:</a:t>
            </a:r>
          </a:p>
          <a:p>
            <a:endParaRPr lang="en-GB" dirty="0"/>
          </a:p>
          <a:p>
            <a:pPr marL="285750" indent="-285750">
              <a:buFont typeface="Arial" panose="020B0604020202020204" pitchFamily="34" charset="0"/>
              <a:buChar char="•"/>
            </a:pPr>
            <a:r>
              <a:rPr lang="en-GB" dirty="0"/>
              <a:t>What decision will the prediction change?</a:t>
            </a:r>
          </a:p>
          <a:p>
            <a:pPr marL="285750" indent="-285750">
              <a:buFont typeface="Arial" panose="020B0604020202020204" pitchFamily="34" charset="0"/>
              <a:buChar char="•"/>
            </a:pPr>
            <a:r>
              <a:rPr lang="en-GB" dirty="0"/>
              <a:t>Is an effective intervention available?</a:t>
            </a:r>
          </a:p>
          <a:p>
            <a:pPr marL="285750" indent="-285750">
              <a:buFont typeface="Arial" panose="020B0604020202020204" pitchFamily="34" charset="0"/>
              <a:buChar char="•"/>
            </a:pPr>
            <a:r>
              <a:rPr lang="en-GB" dirty="0"/>
              <a:t>Would the model improve on existing clinical judgement?</a:t>
            </a:r>
          </a:p>
          <a:p>
            <a:pPr marL="285750" indent="-285750">
              <a:buFont typeface="Arial" panose="020B0604020202020204" pitchFamily="34" charset="0"/>
              <a:buChar char="•"/>
            </a:pPr>
            <a:r>
              <a:rPr lang="en-GB" dirty="0"/>
              <a:t>What are the consequences of acting on a false positive?</a:t>
            </a:r>
          </a:p>
          <a:p>
            <a:pPr marL="285750" indent="-285750">
              <a:buFont typeface="Arial" panose="020B0604020202020204" pitchFamily="34" charset="0"/>
              <a:buChar char="•"/>
            </a:pPr>
            <a:r>
              <a:rPr lang="en-GB" dirty="0"/>
              <a:t>What are the consequences of missing a true positive?</a:t>
            </a:r>
          </a:p>
          <a:p>
            <a:pPr marL="285750" indent="-285750">
              <a:buFont typeface="Arial" panose="020B0604020202020204" pitchFamily="34" charset="0"/>
              <a:buChar char="•"/>
            </a:pPr>
            <a:r>
              <a:rPr lang="en-GB" dirty="0"/>
              <a:t>Can the health service act on the number of patients identified?</a:t>
            </a:r>
          </a:p>
          <a:p>
            <a:endParaRPr lang="en-GB" dirty="0"/>
          </a:p>
          <a:p>
            <a:r>
              <a:rPr lang="en-GB" dirty="0"/>
              <a:t>Statistical evaluation asks whether the model predicts well. Clinical evaluation asks whether using those predictions improves decisions or patient outcomes. A prediction model should support clinical judgement, not replace it.</a:t>
            </a:r>
          </a:p>
        </p:txBody>
      </p:sp>
    </p:spTree>
    <p:extLst>
      <p:ext uri="{BB962C8B-B14F-4D97-AF65-F5344CB8AC3E}">
        <p14:creationId xmlns:p14="http://schemas.microsoft.com/office/powerpoint/2010/main" val="8535893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2C532147-E62F-27A8-8B11-1F8CEC7B53E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6AE7D90-F368-4DD5-59E2-07DE50455E82}"/>
              </a:ext>
            </a:extLst>
          </p:cNvPr>
          <p:cNvSpPr txBox="1"/>
          <p:nvPr/>
        </p:nvSpPr>
        <p:spPr>
          <a:xfrm>
            <a:off x="460575" y="2911734"/>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7.3 Machine learning and generalisation</a:t>
            </a:r>
          </a:p>
        </p:txBody>
      </p:sp>
      <p:pic>
        <p:nvPicPr>
          <p:cNvPr id="9" name="Picture 8" descr="A black background with white text&#10;&#10;AI-generated content may be incorrect.">
            <a:extLst>
              <a:ext uri="{FF2B5EF4-FFF2-40B4-BE49-F238E27FC236}">
                <a16:creationId xmlns:a16="http://schemas.microsoft.com/office/drawing/2014/main" id="{230686E1-B47B-B70D-9591-65F8A3DEFE65}"/>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918163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2F364-EF93-300A-6181-23E6515DCB4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33E09D-EF8B-3783-A7F6-97C6D5342A68}"/>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What makes something machine learning?</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C02947E5-6BAC-39D3-9AC1-1F6242AF4123}"/>
              </a:ext>
            </a:extLst>
          </p:cNvPr>
          <p:cNvSpPr txBox="1"/>
          <p:nvPr/>
        </p:nvSpPr>
        <p:spPr>
          <a:xfrm>
            <a:off x="534198" y="1360336"/>
            <a:ext cx="7360868" cy="4893647"/>
          </a:xfrm>
          <a:prstGeom prst="rect">
            <a:avLst/>
          </a:prstGeom>
          <a:noFill/>
        </p:spPr>
        <p:txBody>
          <a:bodyPr wrap="square">
            <a:spAutoFit/>
          </a:bodyPr>
          <a:lstStyle/>
          <a:p>
            <a:r>
              <a:rPr lang="en-GB" sz="2400" b="1" dirty="0"/>
              <a:t>Traditional programming </a:t>
            </a:r>
            <a:r>
              <a:rPr lang="en-GB" sz="2400" dirty="0"/>
              <a:t>uses rules written explicitly by a person.</a:t>
            </a:r>
          </a:p>
          <a:p>
            <a:r>
              <a:rPr lang="en-GB" sz="2400" b="1" dirty="0"/>
              <a:t>Rules + data → outputs</a:t>
            </a:r>
          </a:p>
          <a:p>
            <a:endParaRPr lang="en-GB" sz="2400" dirty="0"/>
          </a:p>
          <a:p>
            <a:r>
              <a:rPr lang="en-GB" sz="2400" b="1" dirty="0"/>
              <a:t>Machine learning </a:t>
            </a:r>
            <a:r>
              <a:rPr lang="en-GB" sz="2400" dirty="0"/>
              <a:t>uses examples with known outcomes to estimate the rules.</a:t>
            </a:r>
          </a:p>
          <a:p>
            <a:r>
              <a:rPr lang="en-GB" sz="2400" b="1" dirty="0"/>
              <a:t>Data + known outcomes → learned model</a:t>
            </a:r>
          </a:p>
          <a:p>
            <a:endParaRPr lang="en-GB" sz="2400" dirty="0"/>
          </a:p>
          <a:p>
            <a:r>
              <a:rPr lang="en-GB" sz="2400" dirty="0"/>
              <a:t>The fitted model can then produce predictions for new patients. Machine learning does not mean that the model understands the clinical problem. It means that aspects of the prediction rule have been estimated from data.</a:t>
            </a:r>
          </a:p>
        </p:txBody>
      </p:sp>
    </p:spTree>
    <p:extLst>
      <p:ext uri="{BB962C8B-B14F-4D97-AF65-F5344CB8AC3E}">
        <p14:creationId xmlns:p14="http://schemas.microsoft.com/office/powerpoint/2010/main" val="3350529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7E43F-7F44-F7D7-F704-56EDDE6E434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576ADB-0760-83F8-FEF1-0E32A8EDDFC4}"/>
              </a:ext>
            </a:extLst>
          </p:cNvPr>
          <p:cNvSpPr txBox="1"/>
          <p:nvPr/>
        </p:nvSpPr>
        <p:spPr>
          <a:xfrm>
            <a:off x="500743" y="351973"/>
            <a:ext cx="10341428" cy="954107"/>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A model learns a mapping from predictors to an outcome using examples.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E2462D16-E270-CD23-4278-E67EF939CE5C}"/>
              </a:ext>
            </a:extLst>
          </p:cNvPr>
          <p:cNvSpPr txBox="1"/>
          <p:nvPr/>
        </p:nvSpPr>
        <p:spPr>
          <a:xfrm>
            <a:off x="500743" y="1417592"/>
            <a:ext cx="8152603" cy="4893647"/>
          </a:xfrm>
          <a:prstGeom prst="rect">
            <a:avLst/>
          </a:prstGeom>
          <a:noFill/>
        </p:spPr>
        <p:txBody>
          <a:bodyPr wrap="square">
            <a:spAutoFit/>
          </a:bodyPr>
          <a:lstStyle/>
          <a:p>
            <a:r>
              <a:rPr lang="cy-GB" sz="2400" dirty="0">
                <a:latin typeface="Source Sans Pro" panose="020B0503030403020204" pitchFamily="34" charset="0"/>
                <a:ea typeface="Source Sans Pro" panose="020B0503030403020204" pitchFamily="34" charset="0"/>
              </a:rPr>
              <a:t>A supervised machine-learning model learns a function: X → Y</a:t>
            </a:r>
          </a:p>
          <a:p>
            <a:r>
              <a:rPr lang="cy-GB" sz="2400" dirty="0">
                <a:latin typeface="Source Sans Pro" panose="020B0503030403020204" pitchFamily="34" charset="0"/>
                <a:ea typeface="Source Sans Pro" panose="020B0503030403020204" pitchFamily="34" charset="0"/>
              </a:rPr>
              <a:t>where:</a:t>
            </a:r>
          </a:p>
          <a:p>
            <a:r>
              <a:rPr lang="cy-GB" sz="2400" dirty="0">
                <a:latin typeface="Source Sans Pro" panose="020B0503030403020204" pitchFamily="34" charset="0"/>
                <a:ea typeface="Source Sans Pro" panose="020B0503030403020204" pitchFamily="34" charset="0"/>
              </a:rPr>
              <a:t>X represents the patient predictors.</a:t>
            </a:r>
          </a:p>
          <a:p>
            <a:r>
              <a:rPr lang="cy-GB" sz="2400" dirty="0">
                <a:latin typeface="Source Sans Pro" panose="020B0503030403020204" pitchFamily="34" charset="0"/>
                <a:ea typeface="Source Sans Pro" panose="020B0503030403020204" pitchFamily="34" charset="0"/>
              </a:rPr>
              <a:t>Y represents the clinical outcome.</a:t>
            </a:r>
          </a:p>
          <a:p>
            <a:endParaRPr lang="cy-GB" sz="2400" dirty="0">
              <a:latin typeface="Source Sans Pro" panose="020B0503030403020204" pitchFamily="34" charset="0"/>
              <a:ea typeface="Source Sans Pro" panose="020B0503030403020204" pitchFamily="34" charset="0"/>
            </a:endParaRPr>
          </a:p>
          <a:p>
            <a:r>
              <a:rPr lang="cy-GB" sz="2400" dirty="0">
                <a:latin typeface="Source Sans Pro" panose="020B0503030403020204" pitchFamily="34" charset="0"/>
                <a:ea typeface="Source Sans Pro" panose="020B0503030403020204" pitchFamily="34" charset="0"/>
              </a:rPr>
              <a:t>For example:</a:t>
            </a:r>
          </a:p>
          <a:p>
            <a:r>
              <a:rPr lang="cy-GB" sz="2400" dirty="0">
                <a:latin typeface="Source Sans Pro" panose="020B0503030403020204" pitchFamily="34" charset="0"/>
                <a:ea typeface="Source Sans Pro" panose="020B0503030403020204" pitchFamily="34" charset="0"/>
              </a:rPr>
              <a:t>Age + disease severity + previous admissions → 30-day readmission</a:t>
            </a:r>
          </a:p>
          <a:p>
            <a:endParaRPr lang="cy-GB" sz="2400" dirty="0">
              <a:latin typeface="Source Sans Pro" panose="020B0503030403020204" pitchFamily="34" charset="0"/>
              <a:ea typeface="Source Sans Pro" panose="020B0503030403020204" pitchFamily="34" charset="0"/>
            </a:endParaRPr>
          </a:p>
          <a:p>
            <a:r>
              <a:rPr lang="cy-GB" sz="2400" dirty="0">
                <a:latin typeface="Source Sans Pro" panose="020B0503030403020204" pitchFamily="34" charset="0"/>
                <a:ea typeface="Source Sans Pro" panose="020B0503030403020204" pitchFamily="34" charset="0"/>
              </a:rPr>
              <a:t>We can write this generally as:</a:t>
            </a:r>
          </a:p>
          <a:p>
            <a:r>
              <a:rPr lang="cy-GB" sz="2400" dirty="0">
                <a:latin typeface="Source Sans Pro" panose="020B0503030403020204" pitchFamily="34" charset="0"/>
                <a:ea typeface="Source Sans Pro" panose="020B0503030403020204" pitchFamily="34" charset="0"/>
              </a:rPr>
              <a:t>ŷ = f(X)</a:t>
            </a:r>
          </a:p>
          <a:p>
            <a:r>
              <a:rPr lang="cy-GB" sz="2400" dirty="0">
                <a:latin typeface="Source Sans Pro" panose="020B0503030403020204" pitchFamily="34" charset="0"/>
                <a:ea typeface="Source Sans Pro" panose="020B0503030403020204" pitchFamily="34" charset="0"/>
              </a:rPr>
              <a:t>The fitted function, f, takes a patient’s predictor values and produces a predicted outcome.</a:t>
            </a:r>
            <a:endParaRPr lang="en-GB" sz="24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321430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C437F-8E39-34E1-E7E8-C653B6CDF6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E8E9BC-4EBE-C620-A912-14F8EFAB6BD7}"/>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Regression is already a form of supervised machine learning.</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6A7FB930-5DD1-D2AD-02D1-45B38047D516}"/>
              </a:ext>
            </a:extLst>
          </p:cNvPr>
          <p:cNvSpPr txBox="1"/>
          <p:nvPr/>
        </p:nvSpPr>
        <p:spPr>
          <a:xfrm>
            <a:off x="500743" y="1711470"/>
            <a:ext cx="6747210" cy="4093428"/>
          </a:xfrm>
          <a:prstGeom prst="rect">
            <a:avLst/>
          </a:prstGeom>
          <a:noFill/>
        </p:spPr>
        <p:txBody>
          <a:bodyPr wrap="square">
            <a:spAutoFit/>
          </a:bodyPr>
          <a:lstStyle/>
          <a:p>
            <a:r>
              <a:rPr lang="en-GB" sz="2000" dirty="0"/>
              <a:t>In logistic regression, we use examples with known outcomes to estimate a relationship between predictors and a binary outcome. The fitted model then generates predicted probabilities for new patients.</a:t>
            </a:r>
          </a:p>
          <a:p>
            <a:endParaRPr lang="en-GB" sz="2000" dirty="0"/>
          </a:p>
          <a:p>
            <a:r>
              <a:rPr lang="en-GB" sz="2000" dirty="0"/>
              <a:t>This follows the supervised machine-learning framework:</a:t>
            </a:r>
          </a:p>
          <a:p>
            <a:pPr marL="285750" indent="-285750">
              <a:buFont typeface="Arial" panose="020B0604020202020204" pitchFamily="34" charset="0"/>
              <a:buChar char="•"/>
            </a:pPr>
            <a:r>
              <a:rPr lang="en-GB" sz="2000" dirty="0"/>
              <a:t>Provide patient predictors</a:t>
            </a:r>
          </a:p>
          <a:p>
            <a:pPr marL="285750" indent="-285750">
              <a:buFont typeface="Arial" panose="020B0604020202020204" pitchFamily="34" charset="0"/>
              <a:buChar char="•"/>
            </a:pPr>
            <a:r>
              <a:rPr lang="en-GB" sz="2000" dirty="0"/>
              <a:t>Provide the known outcomes</a:t>
            </a:r>
          </a:p>
          <a:p>
            <a:pPr marL="285750" indent="-285750">
              <a:buFont typeface="Arial" panose="020B0604020202020204" pitchFamily="34" charset="0"/>
              <a:buChar char="•"/>
            </a:pPr>
            <a:r>
              <a:rPr lang="en-GB" sz="2000" dirty="0"/>
              <a:t>Estimate the relationship</a:t>
            </a:r>
          </a:p>
          <a:p>
            <a:pPr marL="285750" indent="-285750">
              <a:buFont typeface="Arial" panose="020B0604020202020204" pitchFamily="34" charset="0"/>
              <a:buChar char="•"/>
            </a:pPr>
            <a:r>
              <a:rPr lang="en-GB" sz="2000" dirty="0"/>
              <a:t>Apply the fitted model to new patients</a:t>
            </a:r>
          </a:p>
          <a:p>
            <a:endParaRPr lang="en-GB" sz="2000" dirty="0"/>
          </a:p>
          <a:p>
            <a:r>
              <a:rPr lang="en-GB" sz="2000" dirty="0"/>
              <a:t>Machine learning is not a separate subject from statistics. Many familiar statistical models can be used for prediction.</a:t>
            </a:r>
          </a:p>
        </p:txBody>
      </p:sp>
    </p:spTree>
    <p:extLst>
      <p:ext uri="{BB962C8B-B14F-4D97-AF65-F5344CB8AC3E}">
        <p14:creationId xmlns:p14="http://schemas.microsoft.com/office/powerpoint/2010/main" val="8242966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0ED6B-3426-F21B-D8CD-6CA1242EEF5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C8FCA2-C789-0C49-6783-954822251ACD}"/>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Features are explanatory or predictor variables.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9497BDF3-9EE9-FC6C-E8D6-1927A17A4E95}"/>
              </a:ext>
            </a:extLst>
          </p:cNvPr>
          <p:cNvSpPr txBox="1"/>
          <p:nvPr/>
        </p:nvSpPr>
        <p:spPr>
          <a:xfrm>
            <a:off x="686118" y="1463306"/>
            <a:ext cx="8268311" cy="4524315"/>
          </a:xfrm>
          <a:prstGeom prst="rect">
            <a:avLst/>
          </a:prstGeom>
          <a:noFill/>
        </p:spPr>
        <p:txBody>
          <a:bodyPr wrap="square">
            <a:spAutoFit/>
          </a:bodyPr>
          <a:lstStyle/>
          <a:p>
            <a:r>
              <a:rPr lang="en-GB" dirty="0"/>
              <a:t>In machine learning, predictor variables are commonly called features.</a:t>
            </a:r>
          </a:p>
          <a:p>
            <a:endParaRPr lang="en-GB" dirty="0"/>
          </a:p>
          <a:p>
            <a:r>
              <a:rPr lang="en-GB" dirty="0"/>
              <a:t>For a model predicting 30-day readmission, features might include:</a:t>
            </a:r>
          </a:p>
          <a:p>
            <a:pPr marL="285750" indent="-285750">
              <a:buFont typeface="Arial" panose="020B0604020202020204" pitchFamily="34" charset="0"/>
              <a:buChar char="•"/>
            </a:pPr>
            <a:r>
              <a:rPr lang="en-GB" dirty="0"/>
              <a:t>Age</a:t>
            </a:r>
          </a:p>
          <a:p>
            <a:pPr marL="285750" indent="-285750">
              <a:buFont typeface="Arial" panose="020B0604020202020204" pitchFamily="34" charset="0"/>
              <a:buChar char="•"/>
            </a:pPr>
            <a:r>
              <a:rPr lang="en-GB" dirty="0"/>
              <a:t>Disease severity</a:t>
            </a:r>
          </a:p>
          <a:p>
            <a:pPr marL="285750" indent="-285750">
              <a:buFont typeface="Arial" panose="020B0604020202020204" pitchFamily="34" charset="0"/>
              <a:buChar char="•"/>
            </a:pPr>
            <a:r>
              <a:rPr lang="en-GB" dirty="0"/>
              <a:t>Previous admissions</a:t>
            </a:r>
          </a:p>
          <a:p>
            <a:pPr marL="285750" indent="-285750">
              <a:buFont typeface="Arial" panose="020B0604020202020204" pitchFamily="34" charset="0"/>
              <a:buChar char="•"/>
            </a:pPr>
            <a:r>
              <a:rPr lang="en-GB" dirty="0"/>
              <a:t>Comorbidities</a:t>
            </a:r>
          </a:p>
          <a:p>
            <a:pPr marL="285750" indent="-285750">
              <a:buFont typeface="Arial" panose="020B0604020202020204" pitchFamily="34" charset="0"/>
              <a:buChar char="•"/>
            </a:pPr>
            <a:r>
              <a:rPr lang="en-GB" dirty="0"/>
              <a:t>Treatment received</a:t>
            </a:r>
          </a:p>
          <a:p>
            <a:endParaRPr lang="en-GB" dirty="0"/>
          </a:p>
          <a:p>
            <a:r>
              <a:rPr lang="en-GB" dirty="0"/>
              <a:t>Each patient is represented by a set of feature values.</a:t>
            </a:r>
          </a:p>
          <a:p>
            <a:pPr marL="285750" indent="-285750">
              <a:buFont typeface="Arial" panose="020B0604020202020204" pitchFamily="34" charset="0"/>
              <a:buChar char="•"/>
            </a:pPr>
            <a:r>
              <a:rPr lang="en-GB" dirty="0"/>
              <a:t>The choice of features affects:</a:t>
            </a:r>
          </a:p>
          <a:p>
            <a:pPr marL="285750" indent="-285750">
              <a:buFont typeface="Arial" panose="020B0604020202020204" pitchFamily="34" charset="0"/>
              <a:buChar char="•"/>
            </a:pPr>
            <a:r>
              <a:rPr lang="en-GB" dirty="0"/>
              <a:t>What patterns the model can learn</a:t>
            </a:r>
          </a:p>
          <a:p>
            <a:pPr marL="285750" indent="-285750">
              <a:buFont typeface="Arial" panose="020B0604020202020204" pitchFamily="34" charset="0"/>
              <a:buChar char="•"/>
            </a:pPr>
            <a:r>
              <a:rPr lang="en-GB" dirty="0"/>
              <a:t>When the prediction can be made</a:t>
            </a:r>
          </a:p>
          <a:p>
            <a:pPr marL="285750" indent="-285750">
              <a:buFont typeface="Arial" panose="020B0604020202020204" pitchFamily="34" charset="0"/>
              <a:buChar char="•"/>
            </a:pPr>
            <a:r>
              <a:rPr lang="en-GB" dirty="0"/>
              <a:t>Whether the model can be used in clinical practice</a:t>
            </a:r>
          </a:p>
          <a:p>
            <a:endParaRPr lang="en-GB" dirty="0"/>
          </a:p>
          <a:p>
            <a:r>
              <a:rPr lang="en-GB" dirty="0"/>
              <a:t>Features must be available at the time the prediction is required.</a:t>
            </a:r>
          </a:p>
        </p:txBody>
      </p:sp>
    </p:spTree>
    <p:extLst>
      <p:ext uri="{BB962C8B-B14F-4D97-AF65-F5344CB8AC3E}">
        <p14:creationId xmlns:p14="http://schemas.microsoft.com/office/powerpoint/2010/main" val="32766928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F69B0-303B-90C1-559F-AEF5455E74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6E7799-8C86-32D7-5E7D-413A15B4C341}"/>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The label or target is the outcome.</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F2D222DC-4A27-2E72-89D9-E2403CAC272A}"/>
              </a:ext>
            </a:extLst>
          </p:cNvPr>
          <p:cNvSpPr txBox="1"/>
          <p:nvPr/>
        </p:nvSpPr>
        <p:spPr>
          <a:xfrm>
            <a:off x="585756" y="1514279"/>
            <a:ext cx="7264701" cy="4401205"/>
          </a:xfrm>
          <a:prstGeom prst="rect">
            <a:avLst/>
          </a:prstGeom>
          <a:noFill/>
        </p:spPr>
        <p:txBody>
          <a:bodyPr wrap="square">
            <a:spAutoFit/>
          </a:bodyPr>
          <a:lstStyle/>
          <a:p>
            <a:r>
              <a:rPr lang="en-GB" sz="2000" dirty="0"/>
              <a:t>In supervised machine learning, the outcome is often called the label or target.</a:t>
            </a:r>
          </a:p>
          <a:p>
            <a:endParaRPr lang="en-GB" sz="2000" dirty="0"/>
          </a:p>
          <a:p>
            <a:r>
              <a:rPr lang="en-GB" sz="2000" dirty="0"/>
              <a:t>For example:</a:t>
            </a:r>
          </a:p>
          <a:p>
            <a:r>
              <a:rPr lang="en-GB" sz="2000" dirty="0"/>
              <a:t>Features: Age, disease severity and previous admissions</a:t>
            </a:r>
          </a:p>
          <a:p>
            <a:r>
              <a:rPr lang="en-GB" sz="2000" dirty="0"/>
              <a:t>Target: Readmission within 30 days</a:t>
            </a:r>
          </a:p>
          <a:p>
            <a:endParaRPr lang="en-GB" sz="2000" dirty="0"/>
          </a:p>
          <a:p>
            <a:r>
              <a:rPr lang="en-GB" sz="2000" dirty="0"/>
              <a:t>For a binary outcome, the target might be coded as:</a:t>
            </a:r>
          </a:p>
          <a:p>
            <a:r>
              <a:rPr lang="en-GB" sz="2000" dirty="0"/>
              <a:t>1 = Readmitted</a:t>
            </a:r>
          </a:p>
          <a:p>
            <a:r>
              <a:rPr lang="en-GB" sz="2000" dirty="0"/>
              <a:t>0 = Not readmitted</a:t>
            </a:r>
          </a:p>
          <a:p>
            <a:endParaRPr lang="en-GB" sz="2000" dirty="0"/>
          </a:p>
          <a:p>
            <a:r>
              <a:rPr lang="en-GB" sz="2000" dirty="0"/>
              <a:t>The model uses examples where both the features and target are known. Poorly defined or incorrectly recorded targets will lead the model to learn the wrong task.</a:t>
            </a:r>
          </a:p>
        </p:txBody>
      </p:sp>
    </p:spTree>
    <p:extLst>
      <p:ext uri="{BB962C8B-B14F-4D97-AF65-F5344CB8AC3E}">
        <p14:creationId xmlns:p14="http://schemas.microsoft.com/office/powerpoint/2010/main" val="1237734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0B3CE-C3E6-1320-D200-210782E96AB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F48D12-CFB4-F20E-A55A-5F9E51515D36}"/>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Training means estimating the model from known examples.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8C3019F6-4079-5931-03C8-EB7862A8CF7E}"/>
              </a:ext>
            </a:extLst>
          </p:cNvPr>
          <p:cNvSpPr txBox="1"/>
          <p:nvPr/>
        </p:nvSpPr>
        <p:spPr>
          <a:xfrm>
            <a:off x="500743" y="1634235"/>
            <a:ext cx="7773462" cy="4401205"/>
          </a:xfrm>
          <a:prstGeom prst="rect">
            <a:avLst/>
          </a:prstGeom>
          <a:noFill/>
        </p:spPr>
        <p:txBody>
          <a:bodyPr wrap="square">
            <a:spAutoFit/>
          </a:bodyPr>
          <a:lstStyle/>
          <a:p>
            <a:r>
              <a:rPr lang="en-GB" sz="2000" dirty="0"/>
              <a:t>The data used to estimate the model are called the training data. During training, the model identifies values for its parameters that reduce prediction error.</a:t>
            </a:r>
          </a:p>
          <a:p>
            <a:endParaRPr lang="en-GB" sz="2000" dirty="0"/>
          </a:p>
          <a:p>
            <a:r>
              <a:rPr lang="en-GB" sz="2000" dirty="0"/>
              <a:t>For logistic regression, training estimates the regression coefficients. For each patient:</a:t>
            </a:r>
          </a:p>
          <a:p>
            <a:r>
              <a:rPr lang="en-GB" sz="2000" dirty="0"/>
              <a:t>Features → Model → Predicted probability</a:t>
            </a:r>
          </a:p>
          <a:p>
            <a:endParaRPr lang="en-GB" sz="2000" dirty="0"/>
          </a:p>
          <a:p>
            <a:r>
              <a:rPr lang="en-GB" sz="2000" dirty="0"/>
              <a:t>The predicted probability is compared with the known outcome.</a:t>
            </a:r>
          </a:p>
          <a:p>
            <a:r>
              <a:rPr lang="en-GB" sz="2000" dirty="0"/>
              <a:t>The model parameters are selected to make the observed training data reasonably likely.</a:t>
            </a:r>
          </a:p>
          <a:p>
            <a:endParaRPr lang="en-GB" sz="2000" dirty="0"/>
          </a:p>
          <a:p>
            <a:r>
              <a:rPr lang="en-GB" sz="2000" dirty="0"/>
              <a:t>Making predictions does not automatically update the model. It learns only when a training or retraining process is performed.</a:t>
            </a:r>
          </a:p>
        </p:txBody>
      </p:sp>
    </p:spTree>
    <p:extLst>
      <p:ext uri="{BB962C8B-B14F-4D97-AF65-F5344CB8AC3E}">
        <p14:creationId xmlns:p14="http://schemas.microsoft.com/office/powerpoint/2010/main" val="3645568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6798B-AF99-A841-F9A1-711472BB12E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0993BB8-0749-165B-8E77-6B4F5777CE1D}"/>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Performance on the training data can be misleading.</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96F392F9-51E8-44FE-93B4-9F30769135E0}"/>
              </a:ext>
            </a:extLst>
          </p:cNvPr>
          <p:cNvSpPr txBox="1"/>
          <p:nvPr/>
        </p:nvSpPr>
        <p:spPr>
          <a:xfrm>
            <a:off x="775327" y="1472674"/>
            <a:ext cx="6495267" cy="4708981"/>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A model has already encountered every patient in its training data. Good training performance may therefore mean that the model has learned:</a:t>
            </a:r>
          </a:p>
          <a:p>
            <a:endParaRPr lang="en-GB" sz="2000"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Genuine clinical patterns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Patterns specific to that dataset</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Random variation</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Measurement or recording quirks</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Training performance tells us how well the model fits known examples. It does not tell us how well the model will perform for new patients.</a:t>
            </a:r>
          </a:p>
          <a:p>
            <a:endParaRPr lang="en-GB" sz="2000" dirty="0">
              <a:latin typeface="Source Sans Pro" panose="020B0503030403020204" pitchFamily="34" charset="0"/>
              <a:ea typeface="Source Sans Pro" panose="020B0503030403020204" pitchFamily="34" charset="0"/>
            </a:endParaRPr>
          </a:p>
          <a:p>
            <a:r>
              <a:rPr lang="en-GB" sz="2000" b="1" dirty="0">
                <a:latin typeface="Source Sans Pro" panose="020B0503030403020204" pitchFamily="34" charset="0"/>
                <a:ea typeface="Source Sans Pro" panose="020B0503030403020204" pitchFamily="34" charset="0"/>
              </a:rPr>
              <a:t>Evaluating a model using the same data used to train it produces an overly optimistic result.</a:t>
            </a:r>
          </a:p>
        </p:txBody>
      </p:sp>
    </p:spTree>
    <p:extLst>
      <p:ext uri="{BB962C8B-B14F-4D97-AF65-F5344CB8AC3E}">
        <p14:creationId xmlns:p14="http://schemas.microsoft.com/office/powerpoint/2010/main" val="407879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8FB7F-EDE8-D388-0BB0-F31D12016F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03C5D1-BDEA-FAB2-1C3D-4CF04AD37195}"/>
              </a:ext>
            </a:extLst>
          </p:cNvPr>
          <p:cNvSpPr txBox="1"/>
          <p:nvPr/>
        </p:nvSpPr>
        <p:spPr>
          <a:xfrm>
            <a:off x="500743" y="380294"/>
            <a:ext cx="2041735"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Overfitting</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1E6AFA50-8A08-EF50-B3B4-28CF63A41F38}"/>
              </a:ext>
            </a:extLst>
          </p:cNvPr>
          <p:cNvSpPr txBox="1"/>
          <p:nvPr/>
        </p:nvSpPr>
        <p:spPr>
          <a:xfrm>
            <a:off x="500743" y="903514"/>
            <a:ext cx="5517198" cy="3693319"/>
          </a:xfrm>
          <a:prstGeom prst="rect">
            <a:avLst/>
          </a:prstGeom>
          <a:noFill/>
        </p:spPr>
        <p:txBody>
          <a:bodyPr wrap="square">
            <a:spAutoFit/>
          </a:bodyPr>
          <a:lstStyle/>
          <a:p>
            <a:r>
              <a:rPr lang="en-GB" dirty="0">
                <a:latin typeface="Source Sans Pro" panose="020B0503030403020204" pitchFamily="34" charset="0"/>
                <a:ea typeface="Source Sans Pro" panose="020B0503030403020204" pitchFamily="34" charset="0"/>
              </a:rPr>
              <a:t>An overfitted model follows the training data too closely. It learns both:</a:t>
            </a:r>
          </a:p>
          <a:p>
            <a:r>
              <a:rPr lang="en-GB" dirty="0">
                <a:latin typeface="Source Sans Pro" panose="020B0503030403020204" pitchFamily="34" charset="0"/>
                <a:ea typeface="Source Sans Pro" panose="020B0503030403020204" pitchFamily="34" charset="0"/>
              </a:rPr>
              <a:t>Signal (the underlying pattern)</a:t>
            </a:r>
          </a:p>
          <a:p>
            <a:r>
              <a:rPr lang="en-GB" dirty="0">
                <a:latin typeface="Source Sans Pro" panose="020B0503030403020204" pitchFamily="34" charset="0"/>
                <a:ea typeface="Source Sans Pro" panose="020B0503030403020204" pitchFamily="34" charset="0"/>
              </a:rPr>
              <a:t>Noise (random variation specific to the training data)</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An overfitted model may have:</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Excellent training performance</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Poor performance for new patients</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Unstable predictions</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Excessive sensitivity to small changes in the data</a:t>
            </a:r>
          </a:p>
          <a:p>
            <a:pPr marL="285750" indent="-285750">
              <a:buFont typeface="Arial" panose="020B0604020202020204" pitchFamily="34" charset="0"/>
              <a:buChar char="•"/>
            </a:pPr>
            <a:endParaRPr lang="en-GB" dirty="0">
              <a:latin typeface="Source Sans Pro" panose="020B0503030403020204" pitchFamily="34" charset="0"/>
              <a:ea typeface="Source Sans Pro" panose="020B0503030403020204" pitchFamily="34" charset="0"/>
            </a:endParaRPr>
          </a:p>
          <a:p>
            <a:r>
              <a:rPr lang="en-GB" b="1" dirty="0">
                <a:latin typeface="Source Sans Pro" panose="020B0503030403020204" pitchFamily="34" charset="0"/>
                <a:ea typeface="Source Sans Pro" panose="020B0503030403020204" pitchFamily="34" charset="0"/>
              </a:rPr>
              <a:t>The model has memorised details that do not generalise.</a:t>
            </a:r>
          </a:p>
        </p:txBody>
      </p:sp>
      <p:sp>
        <p:nvSpPr>
          <p:cNvPr id="2" name="TextBox 1">
            <a:extLst>
              <a:ext uri="{FF2B5EF4-FFF2-40B4-BE49-F238E27FC236}">
                <a16:creationId xmlns:a16="http://schemas.microsoft.com/office/drawing/2014/main" id="{5A523829-8003-0A89-5A0B-2A1ADB6C6CC0}"/>
              </a:ext>
            </a:extLst>
          </p:cNvPr>
          <p:cNvSpPr txBox="1"/>
          <p:nvPr/>
        </p:nvSpPr>
        <p:spPr>
          <a:xfrm>
            <a:off x="9312860" y="380294"/>
            <a:ext cx="2300337"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Underfitting</a:t>
            </a:r>
            <a:endParaRPr lang="en-GB" sz="2800" noProof="1">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428F6FBB-5D5B-ECF2-D2A6-7374C09C4C00}"/>
              </a:ext>
            </a:extLst>
          </p:cNvPr>
          <p:cNvSpPr txBox="1"/>
          <p:nvPr/>
        </p:nvSpPr>
        <p:spPr>
          <a:xfrm>
            <a:off x="6646126" y="903514"/>
            <a:ext cx="4967071" cy="3970318"/>
          </a:xfrm>
          <a:prstGeom prst="rect">
            <a:avLst/>
          </a:prstGeom>
          <a:noFill/>
        </p:spPr>
        <p:txBody>
          <a:bodyPr wrap="square">
            <a:spAutoFit/>
          </a:bodyPr>
          <a:lstStyle/>
          <a:p>
            <a:r>
              <a:rPr lang="en-GB" dirty="0">
                <a:latin typeface="Source Sans Pro" panose="020B0503030403020204" pitchFamily="34" charset="0"/>
                <a:ea typeface="Source Sans Pro" panose="020B0503030403020204" pitchFamily="34" charset="0"/>
              </a:rPr>
              <a:t>An underfitted model is too simple to represent important relationships in the data. For example, it may:</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Omit important predictors</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Assume a linear relationship when the pattern is curved</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Ignore interactions between predictors</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Produce similar predictions for clinically different patients</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An underfitted model usually performs poorly on the training data, and new patient data. </a:t>
            </a:r>
            <a:r>
              <a:rPr lang="en-GB" b="1" dirty="0">
                <a:latin typeface="Source Sans Pro" panose="020B0503030403020204" pitchFamily="34" charset="0"/>
                <a:ea typeface="Source Sans Pro" panose="020B0503030403020204" pitchFamily="34" charset="0"/>
              </a:rPr>
              <a:t>Underfitting means that useful signal remains unexplained.</a:t>
            </a:r>
          </a:p>
        </p:txBody>
      </p:sp>
    </p:spTree>
    <p:extLst>
      <p:ext uri="{BB962C8B-B14F-4D97-AF65-F5344CB8AC3E}">
        <p14:creationId xmlns:p14="http://schemas.microsoft.com/office/powerpoint/2010/main" val="8564141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DB383-3820-A81A-C235-217BA5D9CF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4D1AF8-23E8-1E3C-5BE9-133BAE18D677}"/>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Split the data into training and test sets.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78C925E6-32B8-3EFC-777E-CED0F8931C18}"/>
              </a:ext>
            </a:extLst>
          </p:cNvPr>
          <p:cNvSpPr txBox="1"/>
          <p:nvPr/>
        </p:nvSpPr>
        <p:spPr>
          <a:xfrm>
            <a:off x="500743" y="1321243"/>
            <a:ext cx="8480183" cy="4893647"/>
          </a:xfrm>
          <a:prstGeom prst="rect">
            <a:avLst/>
          </a:prstGeom>
          <a:noFill/>
        </p:spPr>
        <p:txBody>
          <a:bodyPr wrap="square">
            <a:spAutoFit/>
          </a:bodyPr>
          <a:lstStyle/>
          <a:p>
            <a:r>
              <a:rPr lang="en-GB" sz="2400" b="1" dirty="0">
                <a:latin typeface="Source Sans Pro" panose="020B0503030403020204" pitchFamily="34" charset="0"/>
                <a:ea typeface="Source Sans Pro" panose="020B0503030403020204" pitchFamily="34" charset="0"/>
              </a:rPr>
              <a:t>Training set</a:t>
            </a:r>
          </a:p>
          <a:p>
            <a:r>
              <a:rPr lang="en-GB" sz="2400" dirty="0">
                <a:latin typeface="Source Sans Pro" panose="020B0503030403020204" pitchFamily="34" charset="0"/>
                <a:ea typeface="Source Sans Pro" panose="020B0503030403020204" pitchFamily="34" charset="0"/>
              </a:rPr>
              <a:t>Used to estimate the model and learn its parameters.</a:t>
            </a:r>
          </a:p>
          <a:p>
            <a:r>
              <a:rPr lang="en-GB" sz="2400" b="1" dirty="0">
                <a:latin typeface="Source Sans Pro" panose="020B0503030403020204" pitchFamily="34" charset="0"/>
                <a:ea typeface="Source Sans Pro" panose="020B0503030403020204" pitchFamily="34" charset="0"/>
              </a:rPr>
              <a:t>Test set</a:t>
            </a:r>
          </a:p>
          <a:p>
            <a:r>
              <a:rPr lang="en-GB" sz="2400" dirty="0">
                <a:latin typeface="Source Sans Pro" panose="020B0503030403020204" pitchFamily="34" charset="0"/>
                <a:ea typeface="Source Sans Pro" panose="020B0503030403020204" pitchFamily="34" charset="0"/>
              </a:rPr>
              <a:t>Held aside and used to evaluate the final fitted model.</a:t>
            </a:r>
          </a:p>
          <a:p>
            <a:endParaRPr lang="en-GB" sz="2400" dirty="0">
              <a:latin typeface="Source Sans Pro" panose="020B0503030403020204" pitchFamily="34" charset="0"/>
              <a:ea typeface="Source Sans Pro" panose="020B0503030403020204" pitchFamily="34" charset="0"/>
            </a:endParaRPr>
          </a:p>
          <a:p>
            <a:r>
              <a:rPr lang="en-GB" sz="2400" dirty="0">
                <a:latin typeface="Source Sans Pro" panose="020B0503030403020204" pitchFamily="34" charset="0"/>
                <a:ea typeface="Source Sans Pro" panose="020B0503030403020204" pitchFamily="34" charset="0"/>
              </a:rPr>
              <a:t>A common split might be:</a:t>
            </a:r>
          </a:p>
          <a:p>
            <a:r>
              <a:rPr lang="en-GB" sz="2400" dirty="0">
                <a:latin typeface="Source Sans Pro" panose="020B0503030403020204" pitchFamily="34" charset="0"/>
                <a:ea typeface="Source Sans Pro" panose="020B0503030403020204" pitchFamily="34" charset="0"/>
              </a:rPr>
              <a:t>80% training data</a:t>
            </a:r>
          </a:p>
          <a:p>
            <a:r>
              <a:rPr lang="en-GB" sz="2400" dirty="0">
                <a:latin typeface="Source Sans Pro" panose="020B0503030403020204" pitchFamily="34" charset="0"/>
                <a:ea typeface="Source Sans Pro" panose="020B0503030403020204" pitchFamily="34" charset="0"/>
              </a:rPr>
              <a:t>20% test data</a:t>
            </a:r>
          </a:p>
          <a:p>
            <a:endParaRPr lang="en-GB" sz="2400" dirty="0">
              <a:latin typeface="Source Sans Pro" panose="020B0503030403020204" pitchFamily="34" charset="0"/>
              <a:ea typeface="Source Sans Pro" panose="020B0503030403020204" pitchFamily="34" charset="0"/>
            </a:endParaRPr>
          </a:p>
          <a:p>
            <a:r>
              <a:rPr lang="en-GB" sz="2400" dirty="0">
                <a:latin typeface="Source Sans Pro" panose="020B0503030403020204" pitchFamily="34" charset="0"/>
                <a:ea typeface="Source Sans Pro" panose="020B0503030403020204" pitchFamily="34" charset="0"/>
              </a:rPr>
              <a:t>The exact proportion depends on the size of the dataset and modelling process. The split should normally be performed randomly, unless the study design requires a temporal or geographical split.</a:t>
            </a:r>
          </a:p>
        </p:txBody>
      </p:sp>
    </p:spTree>
    <p:extLst>
      <p:ext uri="{BB962C8B-B14F-4D97-AF65-F5344CB8AC3E}">
        <p14:creationId xmlns:p14="http://schemas.microsoft.com/office/powerpoint/2010/main" val="25835851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4065C-02DB-8997-8D60-39DC6A7DEC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FA26AF-EF66-FACE-3B54-D9D8DC18EC09}"/>
              </a:ext>
            </a:extLst>
          </p:cNvPr>
          <p:cNvSpPr txBox="1"/>
          <p:nvPr/>
        </p:nvSpPr>
        <p:spPr>
          <a:xfrm>
            <a:off x="500743" y="707796"/>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Validation supports model development</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A1729F8E-3528-1CF7-0691-83FA3E8E87BA}"/>
              </a:ext>
            </a:extLst>
          </p:cNvPr>
          <p:cNvSpPr txBox="1"/>
          <p:nvPr/>
        </p:nvSpPr>
        <p:spPr>
          <a:xfrm>
            <a:off x="500743" y="1902887"/>
            <a:ext cx="7855716" cy="4247317"/>
          </a:xfrm>
          <a:prstGeom prst="rect">
            <a:avLst/>
          </a:prstGeom>
          <a:noFill/>
        </p:spPr>
        <p:txBody>
          <a:bodyPr wrap="square">
            <a:spAutoFit/>
          </a:bodyPr>
          <a:lstStyle/>
          <a:p>
            <a:r>
              <a:rPr lang="en-GB" dirty="0">
                <a:latin typeface="Source Sans Pro" panose="020B0503030403020204" pitchFamily="34" charset="0"/>
                <a:ea typeface="Source Sans Pro" panose="020B0503030403020204" pitchFamily="34" charset="0"/>
              </a:rPr>
              <a:t>Prediction modelling may use three separate datasets.</a:t>
            </a:r>
            <a:br>
              <a:rPr lang="en-GB" dirty="0">
                <a:latin typeface="Source Sans Pro" panose="020B0503030403020204" pitchFamily="34" charset="0"/>
                <a:ea typeface="Source Sans Pro" panose="020B0503030403020204" pitchFamily="34" charset="0"/>
              </a:rPr>
            </a:br>
            <a:endParaRPr lang="en-GB" dirty="0">
              <a:latin typeface="Source Sans Pro" panose="020B0503030403020204" pitchFamily="34" charset="0"/>
              <a:ea typeface="Source Sans Pro" panose="020B0503030403020204" pitchFamily="34" charset="0"/>
            </a:endParaRPr>
          </a:p>
          <a:p>
            <a:r>
              <a:rPr lang="en-GB" b="1" dirty="0">
                <a:latin typeface="Source Sans Pro" panose="020B0503030403020204" pitchFamily="34" charset="0"/>
                <a:ea typeface="Source Sans Pro" panose="020B0503030403020204" pitchFamily="34" charset="0"/>
              </a:rPr>
              <a:t>Training data</a:t>
            </a:r>
          </a:p>
          <a:p>
            <a:r>
              <a:rPr lang="en-GB" dirty="0">
                <a:latin typeface="Source Sans Pro" panose="020B0503030403020204" pitchFamily="34" charset="0"/>
                <a:ea typeface="Source Sans Pro" panose="020B0503030403020204" pitchFamily="34" charset="0"/>
              </a:rPr>
              <a:t>Used to estimate model parameters.</a:t>
            </a:r>
          </a:p>
          <a:p>
            <a:r>
              <a:rPr lang="en-GB" b="1" dirty="0">
                <a:latin typeface="Source Sans Pro" panose="020B0503030403020204" pitchFamily="34" charset="0"/>
                <a:ea typeface="Source Sans Pro" panose="020B0503030403020204" pitchFamily="34" charset="0"/>
              </a:rPr>
              <a:t>Validation data</a:t>
            </a:r>
          </a:p>
          <a:p>
            <a:r>
              <a:rPr lang="en-GB" dirty="0">
                <a:latin typeface="Source Sans Pro" panose="020B0503030403020204" pitchFamily="34" charset="0"/>
                <a:ea typeface="Source Sans Pro" panose="020B0503030403020204" pitchFamily="34" charset="0"/>
              </a:rPr>
              <a:t>Used to compare candidate models and make modelling decisions.</a:t>
            </a:r>
          </a:p>
          <a:p>
            <a:r>
              <a:rPr lang="en-GB" b="1" dirty="0">
                <a:latin typeface="Source Sans Pro" panose="020B0503030403020204" pitchFamily="34" charset="0"/>
                <a:ea typeface="Source Sans Pro" panose="020B0503030403020204" pitchFamily="34" charset="0"/>
              </a:rPr>
              <a:t>Test data</a:t>
            </a:r>
          </a:p>
          <a:p>
            <a:r>
              <a:rPr lang="en-GB" dirty="0">
                <a:latin typeface="Source Sans Pro" panose="020B0503030403020204" pitchFamily="34" charset="0"/>
                <a:ea typeface="Source Sans Pro" panose="020B0503030403020204" pitchFamily="34" charset="0"/>
              </a:rPr>
              <a:t>Used once to estimate the final model’s performance.</a:t>
            </a:r>
            <a:br>
              <a:rPr lang="en-GB" dirty="0">
                <a:latin typeface="Source Sans Pro" panose="020B0503030403020204" pitchFamily="34" charset="0"/>
                <a:ea typeface="Source Sans Pro" panose="020B0503030403020204" pitchFamily="34" charset="0"/>
              </a:rPr>
            </a:br>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The process is:</a:t>
            </a:r>
          </a:p>
          <a:p>
            <a:r>
              <a:rPr lang="en-GB" dirty="0">
                <a:latin typeface="Source Sans Pro" panose="020B0503030403020204" pitchFamily="34" charset="0"/>
                <a:ea typeface="Source Sans Pro" panose="020B0503030403020204" pitchFamily="34" charset="0"/>
              </a:rPr>
              <a:t>Train → Validate → Test</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When data are limited, cross-validation can repeatedly divide the training data into temporary training and validation portions. The final test set should remain untouched until model development is complete.</a:t>
            </a:r>
          </a:p>
        </p:txBody>
      </p:sp>
    </p:spTree>
    <p:extLst>
      <p:ext uri="{BB962C8B-B14F-4D97-AF65-F5344CB8AC3E}">
        <p14:creationId xmlns:p14="http://schemas.microsoft.com/office/powerpoint/2010/main" val="29801655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536DA-4B4F-1680-F7C1-EF07593C774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F28266-95F3-84CA-B149-0C71C335DDDF}"/>
              </a:ext>
            </a:extLst>
          </p:cNvPr>
          <p:cNvSpPr txBox="1"/>
          <p:nvPr/>
        </p:nvSpPr>
        <p:spPr>
          <a:xfrm>
            <a:off x="500743" y="622663"/>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More complex does not automatically mean better.</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B94FA7EF-2C3B-9808-41F5-DCFE3D788BD4}"/>
              </a:ext>
            </a:extLst>
          </p:cNvPr>
          <p:cNvSpPr txBox="1"/>
          <p:nvPr/>
        </p:nvSpPr>
        <p:spPr>
          <a:xfrm>
            <a:off x="500743" y="1834132"/>
            <a:ext cx="6714096" cy="4401205"/>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A more complex model can represent more detailed relationships. This may improve training performance, but also increases the opportunity to learn noise.</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Greater complexity can come from:</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Including more features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Adding interactions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Modelling non-linear relationships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Using more flexible algorithms</a:t>
            </a:r>
          </a:p>
          <a:p>
            <a:endParaRPr lang="en-GB" sz="2000" dirty="0">
              <a:latin typeface="Source Sans Pro" panose="020B0503030403020204" pitchFamily="34" charset="0"/>
              <a:ea typeface="Source Sans Pro" panose="020B0503030403020204" pitchFamily="34" charset="0"/>
            </a:endParaRPr>
          </a:p>
          <a:p>
            <a:r>
              <a:rPr lang="en-GB" sz="2000" b="1" dirty="0">
                <a:latin typeface="Source Sans Pro" panose="020B0503030403020204" pitchFamily="34" charset="0"/>
                <a:ea typeface="Source Sans Pro" panose="020B0503030403020204" pitchFamily="34" charset="0"/>
              </a:rPr>
              <a:t>The best model is not necessarily the one that fits the training data most closely. </a:t>
            </a:r>
            <a:r>
              <a:rPr lang="en-GB" sz="2000" dirty="0">
                <a:latin typeface="Source Sans Pro" panose="020B0503030403020204" pitchFamily="34" charset="0"/>
                <a:ea typeface="Source Sans Pro" panose="020B0503030403020204" pitchFamily="34" charset="0"/>
              </a:rPr>
              <a:t>We want sufficient complexity to learn the signal without fitting unstable details. This is the balance between underfitting and overfitting.</a:t>
            </a:r>
          </a:p>
        </p:txBody>
      </p:sp>
    </p:spTree>
    <p:extLst>
      <p:ext uri="{BB962C8B-B14F-4D97-AF65-F5344CB8AC3E}">
        <p14:creationId xmlns:p14="http://schemas.microsoft.com/office/powerpoint/2010/main" val="559214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9D96C-8DC6-47AD-4201-6ADAB2C82F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C51E3E-A9FA-E3C4-35CC-96B3E315F987}"/>
              </a:ext>
            </a:extLst>
          </p:cNvPr>
          <p:cNvSpPr txBox="1"/>
          <p:nvPr/>
        </p:nvSpPr>
        <p:spPr>
          <a:xfrm>
            <a:off x="478441" y="362095"/>
            <a:ext cx="7639647" cy="954107"/>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A model may fail when patients or clinical practice differ from its training setting.</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145D356E-6F14-2FA8-F709-202C55EAF744}"/>
              </a:ext>
            </a:extLst>
          </p:cNvPr>
          <p:cNvSpPr txBox="1"/>
          <p:nvPr/>
        </p:nvSpPr>
        <p:spPr>
          <a:xfrm>
            <a:off x="589953" y="1863642"/>
            <a:ext cx="6100354" cy="4370427"/>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A model may fail when patients or clinical practice differ from its training setting. A numerical output does not guarantee that the prediction is reliable. A model learns patterns present in its training data. Its performance may change if it is used with:</a:t>
            </a:r>
          </a:p>
          <a:p>
            <a:endParaRPr lang="en-GB" sz="2000"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A different patient population</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A different hospital</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Different diagnostic equipment</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Different clinical definitions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Different treatment pathways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A later period of clinical practice</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This is sometimes called </a:t>
            </a:r>
            <a:r>
              <a:rPr lang="en-GB" sz="2000" b="1" dirty="0">
                <a:latin typeface="Source Sans Pro" panose="020B0503030403020204" pitchFamily="34" charset="0"/>
                <a:ea typeface="Source Sans Pro" panose="020B0503030403020204" pitchFamily="34" charset="0"/>
              </a:rPr>
              <a:t>dataset shift</a:t>
            </a:r>
            <a:r>
              <a:rPr lang="en-GB" sz="2000" dirty="0">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39756491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69AD4-79B7-0546-DEEC-D9CCD3CFA0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757A360-FE91-935B-2942-664D207161CC}"/>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External validation is essential before clinical adoption.</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AA4912FA-3014-AE27-F698-31998A8CCFC6}"/>
              </a:ext>
            </a:extLst>
          </p:cNvPr>
          <p:cNvSpPr txBox="1"/>
          <p:nvPr/>
        </p:nvSpPr>
        <p:spPr>
          <a:xfrm>
            <a:off x="500743" y="1477359"/>
            <a:ext cx="6930165" cy="4708981"/>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Internal validation evaluates a model using data related to its development dataset. </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External validation evaluates it using data from a different setting, location or period. External validation asks:</a:t>
            </a:r>
          </a:p>
          <a:p>
            <a:endParaRPr lang="en-GB" sz="2000"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Does discrimination remain acceptable?</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Are the predictions still calibrated?</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Does performance differ between patient groups?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Is the model clinically useful in this setting?</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A model should not be adopted simply because it performed well where it was developed. Before clinical use, it should be evaluated in patients who represent the population in which it will be applied.</a:t>
            </a:r>
          </a:p>
        </p:txBody>
      </p:sp>
    </p:spTree>
    <p:extLst>
      <p:ext uri="{BB962C8B-B14F-4D97-AF65-F5344CB8AC3E}">
        <p14:creationId xmlns:p14="http://schemas.microsoft.com/office/powerpoint/2010/main" val="35848214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AE4E5477-25FD-7E79-1B57-705F3827EC6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BD008B5-7D66-403D-E952-E1B70DB55CC4}"/>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7.4 Reproducibility in R</a:t>
            </a:r>
          </a:p>
        </p:txBody>
      </p:sp>
      <p:pic>
        <p:nvPicPr>
          <p:cNvPr id="9" name="Picture 8" descr="A black background with white text&#10;&#10;AI-generated content may be incorrect.">
            <a:extLst>
              <a:ext uri="{FF2B5EF4-FFF2-40B4-BE49-F238E27FC236}">
                <a16:creationId xmlns:a16="http://schemas.microsoft.com/office/drawing/2014/main" id="{C34280A4-0268-BDF1-53C8-D7C2A67AD957}"/>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30116344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51ED8-3B47-BB5E-E5CC-9B1DE470CD6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8C8600-A59C-EA26-38D2-4521C85760D7}"/>
              </a:ext>
            </a:extLst>
          </p:cNvPr>
          <p:cNvSpPr txBox="1"/>
          <p:nvPr/>
        </p:nvSpPr>
        <p:spPr>
          <a:xfrm>
            <a:off x="500743" y="463485"/>
            <a:ext cx="10341428" cy="954107"/>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Reproducibility means another analyst can recreate the model and results.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6BD5000C-7A7D-7889-227C-229BC379D967}"/>
              </a:ext>
            </a:extLst>
          </p:cNvPr>
          <p:cNvSpPr txBox="1"/>
          <p:nvPr/>
        </p:nvSpPr>
        <p:spPr>
          <a:xfrm>
            <a:off x="596909" y="1979164"/>
            <a:ext cx="7476574" cy="4093428"/>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A </a:t>
            </a:r>
            <a:r>
              <a:rPr lang="en-GB" sz="2000" b="1" dirty="0">
                <a:latin typeface="Source Sans Pro" panose="020B0503030403020204" pitchFamily="34" charset="0"/>
                <a:ea typeface="Source Sans Pro" panose="020B0503030403020204" pitchFamily="34" charset="0"/>
              </a:rPr>
              <a:t>reproducible prediction analysis</a:t>
            </a:r>
            <a:r>
              <a:rPr lang="en-GB" sz="2000" dirty="0">
                <a:latin typeface="Source Sans Pro" panose="020B0503030403020204" pitchFamily="34" charset="0"/>
                <a:ea typeface="Source Sans Pro" panose="020B0503030403020204" pitchFamily="34" charset="0"/>
              </a:rPr>
              <a:t> should make it possible to recreate:</a:t>
            </a:r>
          </a:p>
          <a:p>
            <a:endParaRPr lang="en-GB" sz="2000"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The analysis dataset</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The training and test split</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The fitted model</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The patient predictions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The evaluation results</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This requires more than saving the final numbers. We must record the complete sequence of decisions that produced them.</a:t>
            </a:r>
          </a:p>
          <a:p>
            <a:endParaRPr lang="en-GB" sz="2000" dirty="0">
              <a:latin typeface="Source Sans Pro" panose="020B0503030403020204" pitchFamily="34" charset="0"/>
              <a:ea typeface="Source Sans Pro" panose="020B0503030403020204" pitchFamily="34" charset="0"/>
            </a:endParaRPr>
          </a:p>
          <a:p>
            <a:r>
              <a:rPr lang="en-GB" sz="2000" dirty="0">
                <a:latin typeface="Source Sans Pro" panose="020B0503030403020204" pitchFamily="34" charset="0"/>
                <a:ea typeface="Source Sans Pro" panose="020B0503030403020204" pitchFamily="34" charset="0"/>
              </a:rPr>
              <a:t>Raw data → Prepared data → Model → Predictions → Evaluation</a:t>
            </a:r>
          </a:p>
        </p:txBody>
      </p:sp>
    </p:spTree>
    <p:extLst>
      <p:ext uri="{BB962C8B-B14F-4D97-AF65-F5344CB8AC3E}">
        <p14:creationId xmlns:p14="http://schemas.microsoft.com/office/powerpoint/2010/main" val="8390665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88438-2C9F-0AB2-53B5-938DFA8CEE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F135F2-9CDD-64F2-70E5-1305EE3E4CE6}"/>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Set a random seed before a random data split.</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7243322F-04D4-383A-B346-10D5B2710736}"/>
              </a:ext>
            </a:extLst>
          </p:cNvPr>
          <p:cNvSpPr txBox="1"/>
          <p:nvPr/>
        </p:nvSpPr>
        <p:spPr>
          <a:xfrm>
            <a:off x="777825" y="3080338"/>
            <a:ext cx="6100354" cy="3139321"/>
          </a:xfrm>
          <a:prstGeom prst="rect">
            <a:avLst/>
          </a:prstGeom>
          <a:noFill/>
        </p:spPr>
        <p:txBody>
          <a:bodyPr wrap="square">
            <a:spAutoFit/>
          </a:bodyPr>
          <a:lstStyle/>
          <a:p>
            <a:r>
              <a:rPr lang="en-GB" dirty="0">
                <a:latin typeface="Source Sans Pro" panose="020B0503030403020204" pitchFamily="34" charset="0"/>
                <a:ea typeface="Source Sans Pro" panose="020B0503030403020204" pitchFamily="34" charset="0"/>
              </a:rPr>
              <a:t>If we use the same:</a:t>
            </a:r>
          </a:p>
          <a:p>
            <a:endParaRPr lang="en-GB"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Random seed</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Data</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Code</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Software environment</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we should obtain the same random split.</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The seed should be set immediately before the random operation it is intended to reproduce.</a:t>
            </a:r>
          </a:p>
        </p:txBody>
      </p:sp>
      <p:sp>
        <p:nvSpPr>
          <p:cNvPr id="2" name="Rectangle 1">
            <a:extLst>
              <a:ext uri="{FF2B5EF4-FFF2-40B4-BE49-F238E27FC236}">
                <a16:creationId xmlns:a16="http://schemas.microsoft.com/office/drawing/2014/main" id="{4BFED552-2805-E311-4B01-CEC630B9CC69}"/>
              </a:ext>
            </a:extLst>
          </p:cNvPr>
          <p:cNvSpPr/>
          <p:nvPr/>
        </p:nvSpPr>
        <p:spPr>
          <a:xfrm>
            <a:off x="777825" y="2122375"/>
            <a:ext cx="7690048" cy="67785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set.seed</a:t>
            </a:r>
            <a:r>
              <a:rPr lang="en-GB" dirty="0">
                <a:solidFill>
                  <a:srgbClr val="031D42"/>
                </a:solidFill>
                <a:latin typeface="Aptos Mono" panose="020B0009020202020204" pitchFamily="49" charset="0"/>
              </a:rPr>
              <a:t>(2026)</a:t>
            </a:r>
          </a:p>
        </p:txBody>
      </p:sp>
      <p:sp>
        <p:nvSpPr>
          <p:cNvPr id="6" name="TextBox 5">
            <a:extLst>
              <a:ext uri="{FF2B5EF4-FFF2-40B4-BE49-F238E27FC236}">
                <a16:creationId xmlns:a16="http://schemas.microsoft.com/office/drawing/2014/main" id="{6994667E-2189-ACA0-DAD1-8B09112CB6A1}"/>
              </a:ext>
            </a:extLst>
          </p:cNvPr>
          <p:cNvSpPr txBox="1"/>
          <p:nvPr/>
        </p:nvSpPr>
        <p:spPr>
          <a:xfrm>
            <a:off x="730542" y="1266818"/>
            <a:ext cx="7784613" cy="646331"/>
          </a:xfrm>
          <a:prstGeom prst="rect">
            <a:avLst/>
          </a:prstGeom>
          <a:noFill/>
        </p:spPr>
        <p:txBody>
          <a:bodyPr wrap="square">
            <a:spAutoFit/>
          </a:bodyPr>
          <a:lstStyle/>
          <a:p>
            <a:r>
              <a:rPr lang="en-GB" sz="1800" dirty="0">
                <a:latin typeface="Source Sans Pro" panose="020B0503030403020204" pitchFamily="34" charset="0"/>
                <a:ea typeface="Source Sans Pro" panose="020B0503030403020204" pitchFamily="34" charset="0"/>
              </a:rPr>
              <a:t>A random data split will usually produce a different result each time the code is run. The </a:t>
            </a:r>
            <a:r>
              <a:rPr lang="en-GB" sz="1800" dirty="0" err="1">
                <a:latin typeface="Source Sans Pro" panose="020B0503030403020204" pitchFamily="34" charset="0"/>
                <a:ea typeface="Source Sans Pro" panose="020B0503030403020204" pitchFamily="34" charset="0"/>
              </a:rPr>
              <a:t>set.seed</a:t>
            </a:r>
            <a:r>
              <a:rPr lang="en-GB" sz="1800" dirty="0">
                <a:latin typeface="Source Sans Pro" panose="020B0503030403020204" pitchFamily="34" charset="0"/>
                <a:ea typeface="Source Sans Pro" panose="020B0503030403020204" pitchFamily="34" charset="0"/>
              </a:rPr>
              <a:t>() function makes random operations.</a:t>
            </a:r>
            <a:endParaRPr lang="en-GB"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7557245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B8267-8BA1-3145-B133-69659D2A2B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D4F7B5-7EF2-3E06-35F5-DAB2EA218F7B}"/>
              </a:ext>
            </a:extLst>
          </p:cNvPr>
          <p:cNvSpPr txBox="1"/>
          <p:nvPr/>
        </p:nvSpPr>
        <p:spPr>
          <a:xfrm>
            <a:off x="355777" y="295960"/>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Divide observations into training and test data.</a:t>
            </a:r>
            <a:endParaRPr lang="en-GB" sz="2800" noProof="1">
              <a:latin typeface="Source Sans Pro" panose="020B0503030403020204" pitchFamily="34" charset="0"/>
              <a:ea typeface="Source Sans Pro" panose="020B0503030403020204" pitchFamily="34" charset="0"/>
            </a:endParaRPr>
          </a:p>
        </p:txBody>
      </p:sp>
      <p:sp>
        <p:nvSpPr>
          <p:cNvPr id="2" name="Rectangle 1">
            <a:extLst>
              <a:ext uri="{FF2B5EF4-FFF2-40B4-BE49-F238E27FC236}">
                <a16:creationId xmlns:a16="http://schemas.microsoft.com/office/drawing/2014/main" id="{80DAE157-0062-80E4-AB95-C60AC3BD040A}"/>
              </a:ext>
            </a:extLst>
          </p:cNvPr>
          <p:cNvSpPr/>
          <p:nvPr/>
        </p:nvSpPr>
        <p:spPr>
          <a:xfrm>
            <a:off x="500743" y="1399064"/>
            <a:ext cx="7690048" cy="197012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set.seed</a:t>
            </a:r>
            <a:r>
              <a:rPr lang="en-GB" dirty="0">
                <a:solidFill>
                  <a:srgbClr val="031D42"/>
                </a:solidFill>
                <a:latin typeface="Aptos Mono" panose="020B0009020202020204" pitchFamily="49" charset="0"/>
              </a:rPr>
              <a:t>(2026)</a:t>
            </a:r>
          </a:p>
          <a:p>
            <a:pPr lvl="1"/>
            <a:endParaRPr lang="en-GB" dirty="0">
              <a:solidFill>
                <a:srgbClr val="031D42"/>
              </a:solidFill>
              <a:latin typeface="Aptos Mono" panose="020B0009020202020204" pitchFamily="49" charset="0"/>
            </a:endParaRPr>
          </a:p>
          <a:p>
            <a:pPr lvl="1"/>
            <a:r>
              <a:rPr lang="en-GB" dirty="0" err="1">
                <a:solidFill>
                  <a:srgbClr val="031D42"/>
                </a:solidFill>
                <a:latin typeface="Aptos Mono" panose="020B0009020202020204" pitchFamily="49" charset="0"/>
              </a:rPr>
              <a:t>training_rows</a:t>
            </a:r>
            <a:r>
              <a:rPr lang="en-GB" dirty="0">
                <a:solidFill>
                  <a:srgbClr val="031D42"/>
                </a:solidFill>
                <a:latin typeface="Aptos Mono" panose="020B0009020202020204" pitchFamily="49" charset="0"/>
              </a:rPr>
              <a:t> &lt;- sample(</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seq_len</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nrow</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analysis_data</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size = 0.8 * </a:t>
            </a:r>
            <a:r>
              <a:rPr lang="en-GB" dirty="0" err="1">
                <a:solidFill>
                  <a:srgbClr val="031D42"/>
                </a:solidFill>
                <a:latin typeface="Aptos Mono" panose="020B0009020202020204" pitchFamily="49" charset="0"/>
              </a:rPr>
              <a:t>nrow</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analysis_data</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a:t>
            </a:r>
          </a:p>
        </p:txBody>
      </p:sp>
      <p:sp>
        <p:nvSpPr>
          <p:cNvPr id="4" name="Rectangle 3">
            <a:extLst>
              <a:ext uri="{FF2B5EF4-FFF2-40B4-BE49-F238E27FC236}">
                <a16:creationId xmlns:a16="http://schemas.microsoft.com/office/drawing/2014/main" id="{A39F59D5-9828-D91A-D0CC-7D8CCB1306D8}"/>
              </a:ext>
            </a:extLst>
          </p:cNvPr>
          <p:cNvSpPr/>
          <p:nvPr/>
        </p:nvSpPr>
        <p:spPr>
          <a:xfrm>
            <a:off x="500743" y="3949072"/>
            <a:ext cx="7690048" cy="1750742"/>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training_data</a:t>
            </a:r>
            <a:r>
              <a:rPr lang="en-GB" dirty="0">
                <a:solidFill>
                  <a:srgbClr val="031D42"/>
                </a:solidFill>
                <a:latin typeface="Aptos Mono" panose="020B0009020202020204" pitchFamily="49" charset="0"/>
              </a:rPr>
              <a:t> &lt;- </a:t>
            </a:r>
            <a:r>
              <a:rPr lang="en-GB" dirty="0" err="1">
                <a:solidFill>
                  <a:srgbClr val="031D42"/>
                </a:solidFill>
                <a:latin typeface="Aptos Mono" panose="020B0009020202020204" pitchFamily="49" charset="0"/>
              </a:rPr>
              <a:t>analysis_data</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slice(</a:t>
            </a:r>
            <a:r>
              <a:rPr lang="en-GB" dirty="0" err="1">
                <a:solidFill>
                  <a:srgbClr val="031D42"/>
                </a:solidFill>
                <a:latin typeface="Aptos Mono" panose="020B0009020202020204" pitchFamily="49" charset="0"/>
              </a:rPr>
              <a:t>training_rows</a:t>
            </a:r>
            <a:r>
              <a:rPr lang="en-GB" dirty="0">
                <a:solidFill>
                  <a:srgbClr val="031D42"/>
                </a:solidFill>
                <a:latin typeface="Aptos Mono" panose="020B0009020202020204" pitchFamily="49" charset="0"/>
              </a:rPr>
              <a:t>)</a:t>
            </a:r>
          </a:p>
          <a:p>
            <a:pPr lvl="1"/>
            <a:endParaRPr lang="en-GB" dirty="0">
              <a:solidFill>
                <a:srgbClr val="031D42"/>
              </a:solidFill>
              <a:latin typeface="Aptos Mono" panose="020B0009020202020204" pitchFamily="49" charset="0"/>
            </a:endParaRPr>
          </a:p>
          <a:p>
            <a:pPr lvl="1"/>
            <a:r>
              <a:rPr lang="en-GB" dirty="0" err="1">
                <a:solidFill>
                  <a:srgbClr val="031D42"/>
                </a:solidFill>
                <a:latin typeface="Aptos Mono" panose="020B0009020202020204" pitchFamily="49" charset="0"/>
              </a:rPr>
              <a:t>test_data</a:t>
            </a:r>
            <a:r>
              <a:rPr lang="en-GB" dirty="0">
                <a:solidFill>
                  <a:srgbClr val="031D42"/>
                </a:solidFill>
                <a:latin typeface="Aptos Mono" panose="020B0009020202020204" pitchFamily="49" charset="0"/>
              </a:rPr>
              <a:t> &lt;- </a:t>
            </a:r>
            <a:r>
              <a:rPr lang="en-GB" dirty="0" err="1">
                <a:solidFill>
                  <a:srgbClr val="031D42"/>
                </a:solidFill>
                <a:latin typeface="Aptos Mono" panose="020B0009020202020204" pitchFamily="49" charset="0"/>
              </a:rPr>
              <a:t>analysis_data</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slice(-</a:t>
            </a:r>
            <a:r>
              <a:rPr lang="en-GB" dirty="0" err="1">
                <a:solidFill>
                  <a:srgbClr val="031D42"/>
                </a:solidFill>
                <a:latin typeface="Aptos Mono" panose="020B0009020202020204" pitchFamily="49" charset="0"/>
              </a:rPr>
              <a:t>training_rows</a:t>
            </a:r>
            <a:r>
              <a:rPr lang="en-GB" dirty="0">
                <a:solidFill>
                  <a:srgbClr val="031D42"/>
                </a:solidFill>
                <a:latin typeface="Aptos Mono" panose="020B0009020202020204" pitchFamily="49" charset="0"/>
              </a:rPr>
              <a:t>)</a:t>
            </a:r>
          </a:p>
        </p:txBody>
      </p:sp>
      <p:sp>
        <p:nvSpPr>
          <p:cNvPr id="7" name="TextBox 6">
            <a:extLst>
              <a:ext uri="{FF2B5EF4-FFF2-40B4-BE49-F238E27FC236}">
                <a16:creationId xmlns:a16="http://schemas.microsoft.com/office/drawing/2014/main" id="{A80AC638-2312-1A3A-655D-E53E909C5353}"/>
              </a:ext>
            </a:extLst>
          </p:cNvPr>
          <p:cNvSpPr txBox="1"/>
          <p:nvPr/>
        </p:nvSpPr>
        <p:spPr>
          <a:xfrm>
            <a:off x="500743" y="5910366"/>
            <a:ext cx="7370956" cy="646331"/>
          </a:xfrm>
          <a:prstGeom prst="rect">
            <a:avLst/>
          </a:prstGeom>
          <a:noFill/>
        </p:spPr>
        <p:txBody>
          <a:bodyPr wrap="square">
            <a:spAutoFit/>
          </a:bodyPr>
          <a:lstStyle/>
          <a:p>
            <a:r>
              <a:rPr lang="en-GB" sz="1800" dirty="0">
                <a:latin typeface="Source Sans Pro" panose="020B0503030403020204" pitchFamily="34" charset="0"/>
                <a:ea typeface="Source Sans Pro" panose="020B0503030403020204" pitchFamily="34" charset="0"/>
              </a:rPr>
              <a:t>Each patient should appear in only one dataset.</a:t>
            </a:r>
          </a:p>
          <a:p>
            <a:r>
              <a:rPr lang="en-GB" sz="1800" dirty="0">
                <a:latin typeface="Source Sans Pro" panose="020B0503030403020204" pitchFamily="34" charset="0"/>
                <a:ea typeface="Source Sans Pro" panose="020B0503030403020204" pitchFamily="34" charset="0"/>
              </a:rPr>
              <a:t>The test data are kept separate until the model has been developed.</a:t>
            </a:r>
          </a:p>
        </p:txBody>
      </p:sp>
      <p:sp>
        <p:nvSpPr>
          <p:cNvPr id="9" name="TextBox 8">
            <a:extLst>
              <a:ext uri="{FF2B5EF4-FFF2-40B4-BE49-F238E27FC236}">
                <a16:creationId xmlns:a16="http://schemas.microsoft.com/office/drawing/2014/main" id="{67964FB5-F550-75A8-5E15-BA3AECB93664}"/>
              </a:ext>
            </a:extLst>
          </p:cNvPr>
          <p:cNvSpPr txBox="1"/>
          <p:nvPr/>
        </p:nvSpPr>
        <p:spPr>
          <a:xfrm>
            <a:off x="451624" y="3474464"/>
            <a:ext cx="7370956" cy="369332"/>
          </a:xfrm>
          <a:prstGeom prst="rect">
            <a:avLst/>
          </a:prstGeom>
          <a:noFill/>
        </p:spPr>
        <p:txBody>
          <a:bodyPr wrap="square">
            <a:spAutoFit/>
          </a:bodyPr>
          <a:lstStyle/>
          <a:p>
            <a:r>
              <a:rPr lang="en-GB" sz="1800" dirty="0">
                <a:latin typeface="Source Sans Pro" panose="020B0503030403020204" pitchFamily="34" charset="0"/>
                <a:ea typeface="Source Sans Pro" panose="020B0503030403020204" pitchFamily="34" charset="0"/>
              </a:rPr>
              <a:t>Then create the two datasets:</a:t>
            </a:r>
          </a:p>
        </p:txBody>
      </p:sp>
      <p:sp>
        <p:nvSpPr>
          <p:cNvPr id="11" name="TextBox 10">
            <a:extLst>
              <a:ext uri="{FF2B5EF4-FFF2-40B4-BE49-F238E27FC236}">
                <a16:creationId xmlns:a16="http://schemas.microsoft.com/office/drawing/2014/main" id="{6E7A41A4-E242-23CC-2962-4B27C6FBAF93}"/>
              </a:ext>
            </a:extLst>
          </p:cNvPr>
          <p:cNvSpPr txBox="1"/>
          <p:nvPr/>
        </p:nvSpPr>
        <p:spPr>
          <a:xfrm>
            <a:off x="500743" y="924456"/>
            <a:ext cx="7370956" cy="369332"/>
          </a:xfrm>
          <a:prstGeom prst="rect">
            <a:avLst/>
          </a:prstGeom>
          <a:noFill/>
        </p:spPr>
        <p:txBody>
          <a:bodyPr wrap="square">
            <a:spAutoFit/>
          </a:bodyPr>
          <a:lstStyle/>
          <a:p>
            <a:r>
              <a:rPr lang="en-GB" sz="1800" dirty="0">
                <a:latin typeface="Source Sans Pro" panose="020B0503030403020204" pitchFamily="34" charset="0"/>
                <a:ea typeface="Source Sans Pro" panose="020B0503030403020204" pitchFamily="34" charset="0"/>
              </a:rPr>
              <a:t>First, randomly select 80% of the row numbers:</a:t>
            </a:r>
          </a:p>
        </p:txBody>
      </p:sp>
    </p:spTree>
    <p:extLst>
      <p:ext uri="{BB962C8B-B14F-4D97-AF65-F5344CB8AC3E}">
        <p14:creationId xmlns:p14="http://schemas.microsoft.com/office/powerpoint/2010/main" val="11858296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339EB-D564-C427-4B28-1F191911FBE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FA4713-9DB2-873D-1886-528B455088D0}"/>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Fit the model using the training data only.</a:t>
            </a:r>
            <a:endParaRPr lang="en-GB" sz="2800" noProof="1">
              <a:latin typeface="Source Sans Pro" panose="020B0503030403020204" pitchFamily="34" charset="0"/>
              <a:ea typeface="Source Sans Pro" panose="020B0503030403020204" pitchFamily="34" charset="0"/>
            </a:endParaRPr>
          </a:p>
        </p:txBody>
      </p:sp>
      <p:sp>
        <p:nvSpPr>
          <p:cNvPr id="2" name="Rectangle 1">
            <a:extLst>
              <a:ext uri="{FF2B5EF4-FFF2-40B4-BE49-F238E27FC236}">
                <a16:creationId xmlns:a16="http://schemas.microsoft.com/office/drawing/2014/main" id="{B1C01205-24B8-4FAB-092A-259B516AE535}"/>
              </a:ext>
            </a:extLst>
          </p:cNvPr>
          <p:cNvSpPr/>
          <p:nvPr/>
        </p:nvSpPr>
        <p:spPr>
          <a:xfrm>
            <a:off x="500743" y="1242947"/>
            <a:ext cx="7690048" cy="234774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readmission_model</a:t>
            </a:r>
            <a:r>
              <a:rPr lang="en-GB" dirty="0">
                <a:solidFill>
                  <a:srgbClr val="031D42"/>
                </a:solidFill>
                <a:latin typeface="Aptos Mono" panose="020B0009020202020204" pitchFamily="49" charset="0"/>
              </a:rPr>
              <a:t> &lt;- </a:t>
            </a:r>
            <a:r>
              <a:rPr lang="en-GB" dirty="0" err="1">
                <a:solidFill>
                  <a:srgbClr val="031D42"/>
                </a:solidFill>
                <a:latin typeface="Aptos Mono" panose="020B0009020202020204" pitchFamily="49" charset="0"/>
              </a:rPr>
              <a:t>glm</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readmitted ~ age +</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disease_severity</a:t>
            </a:r>
            <a:r>
              <a:rPr lang="en-GB" dirty="0">
                <a:solidFill>
                  <a:srgbClr val="031D42"/>
                </a:solidFill>
                <a:latin typeface="Aptos Mono" panose="020B0009020202020204" pitchFamily="49" charset="0"/>
              </a:rPr>
              <a:t> +</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previous_admissions</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data = </a:t>
            </a:r>
            <a:r>
              <a:rPr lang="en-GB" dirty="0" err="1">
                <a:solidFill>
                  <a:srgbClr val="031D42"/>
                </a:solidFill>
                <a:latin typeface="Aptos Mono" panose="020B0009020202020204" pitchFamily="49" charset="0"/>
              </a:rPr>
              <a:t>training_data</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family = binomial()</a:t>
            </a:r>
          </a:p>
          <a:p>
            <a:pPr lvl="1"/>
            <a:r>
              <a:rPr lang="en-GB" dirty="0">
                <a:solidFill>
                  <a:srgbClr val="031D42"/>
                </a:solidFill>
                <a:latin typeface="Aptos Mono" panose="020B0009020202020204" pitchFamily="49" charset="0"/>
              </a:rPr>
              <a:t>)</a:t>
            </a:r>
          </a:p>
        </p:txBody>
      </p:sp>
      <p:sp>
        <p:nvSpPr>
          <p:cNvPr id="6" name="TextBox 5">
            <a:extLst>
              <a:ext uri="{FF2B5EF4-FFF2-40B4-BE49-F238E27FC236}">
                <a16:creationId xmlns:a16="http://schemas.microsoft.com/office/drawing/2014/main" id="{AF2CE9B6-6BFB-61AA-293D-08BEDA79B635}"/>
              </a:ext>
            </a:extLst>
          </p:cNvPr>
          <p:cNvSpPr txBox="1"/>
          <p:nvPr/>
        </p:nvSpPr>
        <p:spPr>
          <a:xfrm>
            <a:off x="500743" y="3780027"/>
            <a:ext cx="7851520" cy="2677656"/>
          </a:xfrm>
          <a:prstGeom prst="rect">
            <a:avLst/>
          </a:prstGeom>
          <a:noFill/>
        </p:spPr>
        <p:txBody>
          <a:bodyPr wrap="square">
            <a:spAutoFit/>
          </a:bodyPr>
          <a:lstStyle/>
          <a:p>
            <a:r>
              <a:rPr lang="en-GB" sz="2400" dirty="0">
                <a:latin typeface="Source Sans Pro" panose="020B0503030403020204" pitchFamily="34" charset="0"/>
                <a:ea typeface="Source Sans Pro" panose="020B0503030403020204" pitchFamily="34" charset="0"/>
              </a:rPr>
              <a:t>Read this as:</a:t>
            </a:r>
          </a:p>
          <a:p>
            <a:endParaRPr lang="en-GB" sz="2400" dirty="0">
              <a:latin typeface="Source Sans Pro" panose="020B0503030403020204" pitchFamily="34" charset="0"/>
              <a:ea typeface="Source Sans Pro" panose="020B0503030403020204" pitchFamily="34" charset="0"/>
            </a:endParaRPr>
          </a:p>
          <a:p>
            <a:r>
              <a:rPr lang="en-GB" sz="2400" dirty="0">
                <a:latin typeface="Source Sans Pro" panose="020B0503030403020204" pitchFamily="34" charset="0"/>
                <a:ea typeface="Source Sans Pro" panose="020B0503030403020204" pitchFamily="34" charset="0"/>
              </a:rPr>
              <a:t>“Model the probability of readmission using age, disease severity and previous admissions.”</a:t>
            </a:r>
          </a:p>
          <a:p>
            <a:endParaRPr lang="en-GB" sz="2400" dirty="0">
              <a:latin typeface="Source Sans Pro" panose="020B0503030403020204" pitchFamily="34" charset="0"/>
              <a:ea typeface="Source Sans Pro" panose="020B0503030403020204" pitchFamily="34" charset="0"/>
            </a:endParaRPr>
          </a:p>
          <a:p>
            <a:r>
              <a:rPr lang="en-GB" sz="2400" dirty="0">
                <a:latin typeface="Source Sans Pro" panose="020B0503030403020204" pitchFamily="34" charset="0"/>
                <a:ea typeface="Source Sans Pro" panose="020B0503030403020204" pitchFamily="34" charset="0"/>
              </a:rPr>
              <a:t>The regression coefficients are estimated using only the training patients.</a:t>
            </a:r>
          </a:p>
        </p:txBody>
      </p:sp>
    </p:spTree>
    <p:extLst>
      <p:ext uri="{BB962C8B-B14F-4D97-AF65-F5344CB8AC3E}">
        <p14:creationId xmlns:p14="http://schemas.microsoft.com/office/powerpoint/2010/main" val="36472900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9645A-20F1-713A-B4B5-19E83EC490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6CCB3A-E88C-EC63-83AE-B906C59E4FB6}"/>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Use predict() to generate predictions.</a:t>
            </a:r>
            <a:endParaRPr lang="en-GB" sz="2800" noProof="1">
              <a:latin typeface="Source Sans Pro" panose="020B0503030403020204" pitchFamily="34" charset="0"/>
              <a:ea typeface="Source Sans Pro" panose="020B0503030403020204" pitchFamily="34" charset="0"/>
            </a:endParaRPr>
          </a:p>
        </p:txBody>
      </p:sp>
      <p:sp>
        <p:nvSpPr>
          <p:cNvPr id="2" name="Rectangle 1">
            <a:extLst>
              <a:ext uri="{FF2B5EF4-FFF2-40B4-BE49-F238E27FC236}">
                <a16:creationId xmlns:a16="http://schemas.microsoft.com/office/drawing/2014/main" id="{0C6CD70E-73BC-54AE-4FE6-41D5046B9F63}"/>
              </a:ext>
            </a:extLst>
          </p:cNvPr>
          <p:cNvSpPr/>
          <p:nvPr/>
        </p:nvSpPr>
        <p:spPr>
          <a:xfrm>
            <a:off x="500743" y="2072956"/>
            <a:ext cx="7690048" cy="234774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predicted_risk</a:t>
            </a:r>
            <a:r>
              <a:rPr lang="en-GB" dirty="0">
                <a:solidFill>
                  <a:srgbClr val="031D42"/>
                </a:solidFill>
                <a:latin typeface="Aptos Mono" panose="020B0009020202020204" pitchFamily="49" charset="0"/>
              </a:rPr>
              <a:t> &lt;- predict(</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readmission_model</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newdata</a:t>
            </a:r>
            <a:r>
              <a:rPr lang="en-GB" dirty="0">
                <a:solidFill>
                  <a:srgbClr val="031D42"/>
                </a:solidFill>
                <a:latin typeface="Aptos Mono" panose="020B0009020202020204" pitchFamily="49" charset="0"/>
              </a:rPr>
              <a:t> = </a:t>
            </a:r>
            <a:r>
              <a:rPr lang="en-GB" dirty="0" err="1">
                <a:solidFill>
                  <a:srgbClr val="031D42"/>
                </a:solidFill>
                <a:latin typeface="Aptos Mono" panose="020B0009020202020204" pitchFamily="49" charset="0"/>
              </a:rPr>
              <a:t>test_data</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type = "response"</a:t>
            </a:r>
          </a:p>
          <a:p>
            <a:pPr lvl="1"/>
            <a:r>
              <a:rPr lang="en-GB" dirty="0">
                <a:solidFill>
                  <a:srgbClr val="031D42"/>
                </a:solidFill>
                <a:latin typeface="Aptos Mono" panose="020B0009020202020204" pitchFamily="49" charset="0"/>
              </a:rPr>
              <a:t>)</a:t>
            </a:r>
          </a:p>
        </p:txBody>
      </p:sp>
      <p:sp>
        <p:nvSpPr>
          <p:cNvPr id="6" name="TextBox 5">
            <a:extLst>
              <a:ext uri="{FF2B5EF4-FFF2-40B4-BE49-F238E27FC236}">
                <a16:creationId xmlns:a16="http://schemas.microsoft.com/office/drawing/2014/main" id="{4515ECA1-6EF0-EDBE-1037-461AB3318A4A}"/>
              </a:ext>
            </a:extLst>
          </p:cNvPr>
          <p:cNvSpPr txBox="1"/>
          <p:nvPr/>
        </p:nvSpPr>
        <p:spPr>
          <a:xfrm>
            <a:off x="500743" y="4807753"/>
            <a:ext cx="7690048" cy="1631216"/>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Here:</a:t>
            </a:r>
          </a:p>
          <a:p>
            <a:pPr marL="285750" indent="-285750">
              <a:buFont typeface="Arial" panose="020B0604020202020204" pitchFamily="34" charset="0"/>
              <a:buChar char="•"/>
            </a:pPr>
            <a:r>
              <a:rPr lang="en-GB" sz="2000" dirty="0" err="1">
                <a:latin typeface="Source Sans Pro" panose="020B0503030403020204" pitchFamily="34" charset="0"/>
                <a:ea typeface="Source Sans Pro" panose="020B0503030403020204" pitchFamily="34" charset="0"/>
              </a:rPr>
              <a:t>readmission_model</a:t>
            </a:r>
            <a:r>
              <a:rPr lang="en-GB" sz="2000" dirty="0">
                <a:latin typeface="Source Sans Pro" panose="020B0503030403020204" pitchFamily="34" charset="0"/>
                <a:ea typeface="Source Sans Pro" panose="020B0503030403020204" pitchFamily="34" charset="0"/>
              </a:rPr>
              <a:t> is the fitted model</a:t>
            </a:r>
          </a:p>
          <a:p>
            <a:pPr marL="285750" indent="-285750">
              <a:buFont typeface="Arial" panose="020B0604020202020204" pitchFamily="34" charset="0"/>
              <a:buChar char="•"/>
            </a:pPr>
            <a:r>
              <a:rPr lang="en-GB" sz="2000" dirty="0" err="1">
                <a:latin typeface="Source Sans Pro" panose="020B0503030403020204" pitchFamily="34" charset="0"/>
                <a:ea typeface="Source Sans Pro" panose="020B0503030403020204" pitchFamily="34" charset="0"/>
              </a:rPr>
              <a:t>newdata</a:t>
            </a:r>
            <a:r>
              <a:rPr lang="en-GB" sz="2000" dirty="0">
                <a:latin typeface="Source Sans Pro" panose="020B0503030403020204" pitchFamily="34" charset="0"/>
                <a:ea typeface="Source Sans Pro" panose="020B0503030403020204" pitchFamily="34" charset="0"/>
              </a:rPr>
              <a:t> identifies the patients receiving predictions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type = "response" returns probabilities</a:t>
            </a:r>
          </a:p>
          <a:p>
            <a:r>
              <a:rPr lang="en-GB" sz="2000" dirty="0">
                <a:latin typeface="Source Sans Pro" panose="020B0503030403020204" pitchFamily="34" charset="0"/>
                <a:ea typeface="Source Sans Pro" panose="020B0503030403020204" pitchFamily="34" charset="0"/>
              </a:rPr>
              <a:t>For logistic regression, the predicted values will lie between 0 and 1.</a:t>
            </a:r>
          </a:p>
        </p:txBody>
      </p:sp>
      <p:sp>
        <p:nvSpPr>
          <p:cNvPr id="8" name="TextBox 7">
            <a:extLst>
              <a:ext uri="{FF2B5EF4-FFF2-40B4-BE49-F238E27FC236}">
                <a16:creationId xmlns:a16="http://schemas.microsoft.com/office/drawing/2014/main" id="{5F1E2AC5-0338-FDC8-0006-0FBD4E63C28D}"/>
              </a:ext>
            </a:extLst>
          </p:cNvPr>
          <p:cNvSpPr txBox="1"/>
          <p:nvPr/>
        </p:nvSpPr>
        <p:spPr>
          <a:xfrm>
            <a:off x="500743" y="1316573"/>
            <a:ext cx="8141452" cy="400110"/>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The fitted model can generate predicted probabilities for the test patients:</a:t>
            </a:r>
          </a:p>
        </p:txBody>
      </p:sp>
    </p:spTree>
    <p:extLst>
      <p:ext uri="{BB962C8B-B14F-4D97-AF65-F5344CB8AC3E}">
        <p14:creationId xmlns:p14="http://schemas.microsoft.com/office/powerpoint/2010/main" val="38784218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C5374-3136-7783-D41F-2544CCC575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322EFB6-3A34-2593-D655-AB6BA0DD4D03}"/>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Preserve patient identifiers alongside predictions.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327DF1F8-5D18-83BB-7352-24C0A7EA8945}"/>
              </a:ext>
            </a:extLst>
          </p:cNvPr>
          <p:cNvSpPr txBox="1"/>
          <p:nvPr/>
        </p:nvSpPr>
        <p:spPr>
          <a:xfrm>
            <a:off x="500743" y="4744607"/>
            <a:ext cx="8951349" cy="1754326"/>
          </a:xfrm>
          <a:prstGeom prst="rect">
            <a:avLst/>
          </a:prstGeom>
          <a:noFill/>
        </p:spPr>
        <p:txBody>
          <a:bodyPr wrap="square">
            <a:spAutoFit/>
          </a:bodyPr>
          <a:lstStyle/>
          <a:p>
            <a:r>
              <a:rPr lang="en-GB" dirty="0">
                <a:latin typeface="Source Sans Pro" panose="020B0503030403020204" pitchFamily="34" charset="0"/>
                <a:ea typeface="Source Sans Pro" panose="020B0503030403020204" pitchFamily="34" charset="0"/>
              </a:rPr>
              <a:t>Predictions should remain linked to the correct patients. The resulting dataset contains:</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Patient identifier</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Observed outcome</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Predicted probability</a:t>
            </a:r>
          </a:p>
          <a:p>
            <a:endParaRPr lang="en-GB" dirty="0">
              <a:latin typeface="Source Sans Pro" panose="020B0503030403020204" pitchFamily="34" charset="0"/>
              <a:ea typeface="Source Sans Pro" panose="020B0503030403020204" pitchFamily="34" charset="0"/>
            </a:endParaRPr>
          </a:p>
          <a:p>
            <a:r>
              <a:rPr lang="en-GB" b="1" dirty="0">
                <a:latin typeface="Source Sans Pro" panose="020B0503030403020204" pitchFamily="34" charset="0"/>
                <a:ea typeface="Source Sans Pro" panose="020B0503030403020204" pitchFamily="34" charset="0"/>
              </a:rPr>
              <a:t>Always check that the number and order of predictions match the patient records.</a:t>
            </a:r>
          </a:p>
        </p:txBody>
      </p:sp>
      <p:sp>
        <p:nvSpPr>
          <p:cNvPr id="2" name="Rectangle 1">
            <a:extLst>
              <a:ext uri="{FF2B5EF4-FFF2-40B4-BE49-F238E27FC236}">
                <a16:creationId xmlns:a16="http://schemas.microsoft.com/office/drawing/2014/main" id="{0ED763D0-3288-EF6D-03D9-00C42CADDED3}"/>
              </a:ext>
            </a:extLst>
          </p:cNvPr>
          <p:cNvSpPr/>
          <p:nvPr/>
        </p:nvSpPr>
        <p:spPr>
          <a:xfrm>
            <a:off x="500743" y="1209493"/>
            <a:ext cx="7690048" cy="331232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test_predictions</a:t>
            </a:r>
            <a:r>
              <a:rPr lang="en-GB" dirty="0">
                <a:solidFill>
                  <a:srgbClr val="031D42"/>
                </a:solidFill>
                <a:latin typeface="Aptos Mono" panose="020B0009020202020204" pitchFamily="49" charset="0"/>
              </a:rPr>
              <a:t> &lt;- </a:t>
            </a:r>
            <a:r>
              <a:rPr lang="en-GB" dirty="0" err="1">
                <a:solidFill>
                  <a:srgbClr val="031D42"/>
                </a:solidFill>
                <a:latin typeface="Aptos Mono" panose="020B0009020202020204" pitchFamily="49" charset="0"/>
              </a:rPr>
              <a:t>test_data</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select(</a:t>
            </a:r>
            <a:r>
              <a:rPr lang="en-GB" dirty="0" err="1">
                <a:solidFill>
                  <a:srgbClr val="031D42"/>
                </a:solidFill>
                <a:latin typeface="Aptos Mono" panose="020B0009020202020204" pitchFamily="49" charset="0"/>
              </a:rPr>
              <a:t>patient_id</a:t>
            </a:r>
            <a:r>
              <a:rPr lang="en-GB" dirty="0">
                <a:solidFill>
                  <a:srgbClr val="031D42"/>
                </a:solidFill>
                <a:latin typeface="Aptos Mono" panose="020B0009020202020204" pitchFamily="49" charset="0"/>
              </a:rPr>
              <a:t>, readmitted) |&gt;</a:t>
            </a:r>
          </a:p>
          <a:p>
            <a:pPr lvl="1"/>
            <a:r>
              <a:rPr lang="en-GB" dirty="0">
                <a:solidFill>
                  <a:srgbClr val="031D42"/>
                </a:solidFill>
                <a:latin typeface="Aptos Mono" panose="020B0009020202020204" pitchFamily="49" charset="0"/>
              </a:rPr>
              <a:t>  mutate(</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predicted_risk</a:t>
            </a:r>
            <a:r>
              <a:rPr lang="en-GB" dirty="0">
                <a:solidFill>
                  <a:srgbClr val="031D42"/>
                </a:solidFill>
                <a:latin typeface="Aptos Mono" panose="020B0009020202020204" pitchFamily="49" charset="0"/>
              </a:rPr>
              <a:t> = predict(</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readmission_model</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newdata</a:t>
            </a:r>
            <a:r>
              <a:rPr lang="en-GB" dirty="0">
                <a:solidFill>
                  <a:srgbClr val="031D42"/>
                </a:solidFill>
                <a:latin typeface="Aptos Mono" panose="020B0009020202020204" pitchFamily="49" charset="0"/>
              </a:rPr>
              <a:t> = </a:t>
            </a:r>
            <a:r>
              <a:rPr lang="en-GB" dirty="0" err="1">
                <a:solidFill>
                  <a:srgbClr val="031D42"/>
                </a:solidFill>
                <a:latin typeface="Aptos Mono" panose="020B0009020202020204" pitchFamily="49" charset="0"/>
              </a:rPr>
              <a:t>test_data</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type = "response"</a:t>
            </a:r>
          </a:p>
          <a:p>
            <a:pPr lvl="1"/>
            <a:r>
              <a:rPr lang="en-GB" dirty="0">
                <a:solidFill>
                  <a:srgbClr val="031D42"/>
                </a:solidFill>
                <a:latin typeface="Aptos Mono" panose="020B0009020202020204" pitchFamily="49" charset="0"/>
              </a:rPr>
              <a:t>    )</a:t>
            </a:r>
          </a:p>
          <a:p>
            <a:pPr lvl="1"/>
            <a:r>
              <a:rPr lang="en-GB" dirty="0">
                <a:solidFill>
                  <a:srgbClr val="031D42"/>
                </a:solidFill>
                <a:latin typeface="Aptos Mono" panose="020B0009020202020204" pitchFamily="49" charset="0"/>
              </a:rPr>
              <a:t>  )</a:t>
            </a:r>
          </a:p>
        </p:txBody>
      </p:sp>
    </p:spTree>
    <p:extLst>
      <p:ext uri="{BB962C8B-B14F-4D97-AF65-F5344CB8AC3E}">
        <p14:creationId xmlns:p14="http://schemas.microsoft.com/office/powerpoint/2010/main" val="8198271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67FBF-ACA3-E9B0-BB75-2E1BB3EF74B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6959A3-72A8-AB62-E36F-5EE91F528D61}"/>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Compare predictions with observed test outcomes.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F73423CD-BDD9-84F8-146B-09198065E066}"/>
              </a:ext>
            </a:extLst>
          </p:cNvPr>
          <p:cNvSpPr txBox="1"/>
          <p:nvPr/>
        </p:nvSpPr>
        <p:spPr>
          <a:xfrm>
            <a:off x="500743" y="4643905"/>
            <a:ext cx="7543800" cy="2031325"/>
          </a:xfrm>
          <a:prstGeom prst="rect">
            <a:avLst/>
          </a:prstGeom>
          <a:noFill/>
        </p:spPr>
        <p:txBody>
          <a:bodyPr wrap="square">
            <a:spAutoFit/>
          </a:bodyPr>
          <a:lstStyle/>
          <a:p>
            <a:r>
              <a:rPr lang="en-GB" dirty="0"/>
              <a:t>This produces the counts needed to identify:</a:t>
            </a:r>
          </a:p>
          <a:p>
            <a:pPr marL="285750" indent="-285750">
              <a:buFont typeface="Arial" panose="020B0604020202020204" pitchFamily="34" charset="0"/>
              <a:buChar char="•"/>
            </a:pPr>
            <a:r>
              <a:rPr lang="en-GB" dirty="0"/>
              <a:t>True positives</a:t>
            </a:r>
          </a:p>
          <a:p>
            <a:pPr marL="285750" indent="-285750">
              <a:buFont typeface="Arial" panose="020B0604020202020204" pitchFamily="34" charset="0"/>
              <a:buChar char="•"/>
            </a:pPr>
            <a:r>
              <a:rPr lang="en-GB" dirty="0"/>
              <a:t>False positives</a:t>
            </a:r>
          </a:p>
          <a:p>
            <a:pPr marL="285750" indent="-285750">
              <a:buFont typeface="Arial" panose="020B0604020202020204" pitchFamily="34" charset="0"/>
              <a:buChar char="•"/>
            </a:pPr>
            <a:r>
              <a:rPr lang="en-GB" dirty="0"/>
              <a:t>False negatives</a:t>
            </a:r>
          </a:p>
          <a:p>
            <a:pPr marL="285750" indent="-285750">
              <a:buFont typeface="Arial" panose="020B0604020202020204" pitchFamily="34" charset="0"/>
              <a:buChar char="•"/>
            </a:pPr>
            <a:r>
              <a:rPr lang="en-GB" dirty="0"/>
              <a:t>True negatives</a:t>
            </a:r>
          </a:p>
          <a:p>
            <a:r>
              <a:rPr lang="en-GB" dirty="0"/>
              <a:t>The threshold should be selected for a clinical reason, not simply because it produces attractive results.</a:t>
            </a:r>
          </a:p>
        </p:txBody>
      </p:sp>
      <p:sp>
        <p:nvSpPr>
          <p:cNvPr id="2" name="Rectangle 1">
            <a:extLst>
              <a:ext uri="{FF2B5EF4-FFF2-40B4-BE49-F238E27FC236}">
                <a16:creationId xmlns:a16="http://schemas.microsoft.com/office/drawing/2014/main" id="{53D57C8A-1424-4916-723E-DFA1855B679A}"/>
              </a:ext>
            </a:extLst>
          </p:cNvPr>
          <p:cNvSpPr/>
          <p:nvPr/>
        </p:nvSpPr>
        <p:spPr>
          <a:xfrm>
            <a:off x="500743" y="1761188"/>
            <a:ext cx="8598652" cy="102075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test_predictions</a:t>
            </a:r>
            <a:r>
              <a:rPr lang="en-GB" dirty="0">
                <a:solidFill>
                  <a:srgbClr val="031D42"/>
                </a:solidFill>
                <a:latin typeface="Aptos Mono" panose="020B0009020202020204" pitchFamily="49" charset="0"/>
              </a:rPr>
              <a:t> &lt;- </a:t>
            </a:r>
            <a:r>
              <a:rPr lang="en-GB" dirty="0" err="1">
                <a:solidFill>
                  <a:srgbClr val="031D42"/>
                </a:solidFill>
                <a:latin typeface="Aptos Mono" panose="020B0009020202020204" pitchFamily="49" charset="0"/>
              </a:rPr>
              <a:t>test_predictions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mutate(</a:t>
            </a:r>
            <a:r>
              <a:rPr lang="en-GB" dirty="0" err="1">
                <a:solidFill>
                  <a:srgbClr val="031D42"/>
                </a:solidFill>
                <a:latin typeface="Aptos Mono" panose="020B0009020202020204" pitchFamily="49" charset="0"/>
              </a:rPr>
              <a:t>predicted_readmission</a:t>
            </a:r>
            <a:r>
              <a:rPr lang="en-GB" dirty="0">
                <a:solidFill>
                  <a:srgbClr val="031D42"/>
                </a:solidFill>
                <a:latin typeface="Aptos Mono" panose="020B0009020202020204" pitchFamily="49" charset="0"/>
              </a:rPr>
              <a:t> = </a:t>
            </a:r>
            <a:r>
              <a:rPr lang="en-GB" dirty="0" err="1">
                <a:solidFill>
                  <a:srgbClr val="031D42"/>
                </a:solidFill>
                <a:latin typeface="Aptos Mono" panose="020B0009020202020204" pitchFamily="49" charset="0"/>
              </a:rPr>
              <a:t>predicted_risk</a:t>
            </a:r>
            <a:r>
              <a:rPr lang="en-GB" dirty="0">
                <a:solidFill>
                  <a:srgbClr val="031D42"/>
                </a:solidFill>
                <a:latin typeface="Aptos Mono" panose="020B0009020202020204" pitchFamily="49" charset="0"/>
              </a:rPr>
              <a:t> &gt;= 0.30)</a:t>
            </a:r>
          </a:p>
        </p:txBody>
      </p:sp>
      <p:sp>
        <p:nvSpPr>
          <p:cNvPr id="6" name="TextBox 5">
            <a:extLst>
              <a:ext uri="{FF2B5EF4-FFF2-40B4-BE49-F238E27FC236}">
                <a16:creationId xmlns:a16="http://schemas.microsoft.com/office/drawing/2014/main" id="{53BE721F-645C-1B0B-9366-DFBE0954CEB3}"/>
              </a:ext>
            </a:extLst>
          </p:cNvPr>
          <p:cNvSpPr txBox="1"/>
          <p:nvPr/>
        </p:nvSpPr>
        <p:spPr>
          <a:xfrm>
            <a:off x="500743" y="1298793"/>
            <a:ext cx="7543800" cy="369332"/>
          </a:xfrm>
          <a:prstGeom prst="rect">
            <a:avLst/>
          </a:prstGeom>
          <a:noFill/>
        </p:spPr>
        <p:txBody>
          <a:bodyPr wrap="square">
            <a:spAutoFit/>
          </a:bodyPr>
          <a:lstStyle/>
          <a:p>
            <a:r>
              <a:rPr lang="en-GB" sz="1800" dirty="0">
                <a:latin typeface="Source Sans Pro" panose="020B0503030403020204" pitchFamily="34" charset="0"/>
                <a:ea typeface="Source Sans Pro" panose="020B0503030403020204" pitchFamily="34" charset="0"/>
              </a:rPr>
              <a:t>We can convert probabilities into classifications using a chosen threshold:</a:t>
            </a:r>
          </a:p>
        </p:txBody>
      </p:sp>
      <p:sp>
        <p:nvSpPr>
          <p:cNvPr id="7" name="Rectangle 6">
            <a:extLst>
              <a:ext uri="{FF2B5EF4-FFF2-40B4-BE49-F238E27FC236}">
                <a16:creationId xmlns:a16="http://schemas.microsoft.com/office/drawing/2014/main" id="{23F47274-493C-8EC3-2C7F-E79F6D7E4973}"/>
              </a:ext>
            </a:extLst>
          </p:cNvPr>
          <p:cNvSpPr/>
          <p:nvPr/>
        </p:nvSpPr>
        <p:spPr>
          <a:xfrm>
            <a:off x="500743" y="3341929"/>
            <a:ext cx="8598652" cy="102075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test_predictions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count(</a:t>
            </a:r>
            <a:r>
              <a:rPr lang="en-GB" dirty="0" err="1">
                <a:solidFill>
                  <a:srgbClr val="031D42"/>
                </a:solidFill>
                <a:latin typeface="Aptos Mono" panose="020B0009020202020204" pitchFamily="49" charset="0"/>
              </a:rPr>
              <a:t>predicted_readmission</a:t>
            </a:r>
            <a:r>
              <a:rPr lang="en-GB" dirty="0">
                <a:solidFill>
                  <a:srgbClr val="031D42"/>
                </a:solidFill>
                <a:latin typeface="Aptos Mono" panose="020B0009020202020204" pitchFamily="49" charset="0"/>
              </a:rPr>
              <a:t>, readmitted)</a:t>
            </a:r>
          </a:p>
        </p:txBody>
      </p:sp>
      <p:sp>
        <p:nvSpPr>
          <p:cNvPr id="9" name="TextBox 8">
            <a:extLst>
              <a:ext uri="{FF2B5EF4-FFF2-40B4-BE49-F238E27FC236}">
                <a16:creationId xmlns:a16="http://schemas.microsoft.com/office/drawing/2014/main" id="{63436E00-6813-B2BE-DC6C-6F9A7DE1B57E}"/>
              </a:ext>
            </a:extLst>
          </p:cNvPr>
          <p:cNvSpPr txBox="1"/>
          <p:nvPr/>
        </p:nvSpPr>
        <p:spPr>
          <a:xfrm>
            <a:off x="500743" y="2911396"/>
            <a:ext cx="7543800" cy="369332"/>
          </a:xfrm>
          <a:prstGeom prst="rect">
            <a:avLst/>
          </a:prstGeom>
          <a:noFill/>
        </p:spPr>
        <p:txBody>
          <a:bodyPr wrap="square">
            <a:spAutoFit/>
          </a:bodyPr>
          <a:lstStyle/>
          <a:p>
            <a:r>
              <a:rPr lang="en-GB" sz="1800" dirty="0">
                <a:latin typeface="Source Sans Pro" panose="020B0503030403020204" pitchFamily="34" charset="0"/>
                <a:ea typeface="Source Sans Pro" panose="020B0503030403020204" pitchFamily="34" charset="0"/>
              </a:rPr>
              <a:t>We can then compare the predicted and observed classifications:</a:t>
            </a:r>
          </a:p>
        </p:txBody>
      </p:sp>
    </p:spTree>
    <p:extLst>
      <p:ext uri="{BB962C8B-B14F-4D97-AF65-F5344CB8AC3E}">
        <p14:creationId xmlns:p14="http://schemas.microsoft.com/office/powerpoint/2010/main" val="14363895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FB7A9-2F84-5C35-301E-2AD1F9CCE6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81054B-18D4-3096-D262-DA9711D33908}"/>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Store model objects and evaluation results.</a:t>
            </a:r>
            <a:endParaRPr lang="en-GB" sz="2800" noProof="1">
              <a:latin typeface="Source Sans Pro" panose="020B0503030403020204" pitchFamily="34" charset="0"/>
              <a:ea typeface="Source Sans Pro" panose="020B0503030403020204" pitchFamily="34" charset="0"/>
            </a:endParaRPr>
          </a:p>
        </p:txBody>
      </p:sp>
      <p:sp>
        <p:nvSpPr>
          <p:cNvPr id="2" name="Rectangle 1">
            <a:extLst>
              <a:ext uri="{FF2B5EF4-FFF2-40B4-BE49-F238E27FC236}">
                <a16:creationId xmlns:a16="http://schemas.microsoft.com/office/drawing/2014/main" id="{969238F0-D589-0AF5-A05A-7C36547DE830}"/>
              </a:ext>
            </a:extLst>
          </p:cNvPr>
          <p:cNvSpPr/>
          <p:nvPr/>
        </p:nvSpPr>
        <p:spPr>
          <a:xfrm>
            <a:off x="531382" y="1329588"/>
            <a:ext cx="7850671" cy="2509729"/>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model_predictions</a:t>
            </a:r>
            <a:r>
              <a:rPr lang="en-GB" dirty="0">
                <a:solidFill>
                  <a:srgbClr val="031D42"/>
                </a:solidFill>
                <a:latin typeface="Aptos Mono" panose="020B0009020202020204" pitchFamily="49" charset="0"/>
              </a:rPr>
              <a:t> &lt;- </a:t>
            </a:r>
            <a:r>
              <a:rPr lang="en-GB" dirty="0" err="1">
                <a:solidFill>
                  <a:srgbClr val="031D42"/>
                </a:solidFill>
                <a:latin typeface="Aptos Mono" panose="020B0009020202020204" pitchFamily="49" charset="0"/>
              </a:rPr>
              <a:t>test_predictions</a:t>
            </a:r>
            <a:endParaRPr lang="en-GB" dirty="0">
              <a:solidFill>
                <a:srgbClr val="031D42"/>
              </a:solidFill>
              <a:latin typeface="Aptos Mono" panose="020B0009020202020204" pitchFamily="49" charset="0"/>
            </a:endParaRPr>
          </a:p>
          <a:p>
            <a:pPr lvl="1"/>
            <a:endParaRPr lang="en-GB" dirty="0">
              <a:solidFill>
                <a:srgbClr val="031D42"/>
              </a:solidFill>
              <a:latin typeface="Aptos Mono" panose="020B0009020202020204" pitchFamily="49" charset="0"/>
            </a:endParaRPr>
          </a:p>
          <a:p>
            <a:pPr lvl="1"/>
            <a:r>
              <a:rPr lang="en-GB" dirty="0" err="1">
                <a:solidFill>
                  <a:srgbClr val="031D42"/>
                </a:solidFill>
                <a:latin typeface="Aptos Mono" panose="020B0009020202020204" pitchFamily="49" charset="0"/>
              </a:rPr>
              <a:t>confusion_counts</a:t>
            </a:r>
            <a:r>
              <a:rPr lang="en-GB" dirty="0">
                <a:solidFill>
                  <a:srgbClr val="031D42"/>
                </a:solidFill>
                <a:latin typeface="Aptos Mono" panose="020B0009020202020204" pitchFamily="49" charset="0"/>
              </a:rPr>
              <a:t> &lt;- </a:t>
            </a:r>
            <a:r>
              <a:rPr lang="en-GB" dirty="0" err="1">
                <a:solidFill>
                  <a:srgbClr val="031D42"/>
                </a:solidFill>
                <a:latin typeface="Aptos Mono" panose="020B0009020202020204" pitchFamily="49" charset="0"/>
              </a:rPr>
              <a:t>test_predictions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count(</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predicted_readmission</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readmitted</a:t>
            </a:r>
          </a:p>
          <a:p>
            <a:pPr lvl="1"/>
            <a:r>
              <a:rPr lang="en-GB" dirty="0">
                <a:solidFill>
                  <a:srgbClr val="031D42"/>
                </a:solidFill>
                <a:latin typeface="Aptos Mono" panose="020B0009020202020204" pitchFamily="49" charset="0"/>
              </a:rPr>
              <a:t>  )</a:t>
            </a:r>
          </a:p>
        </p:txBody>
      </p:sp>
      <p:sp>
        <p:nvSpPr>
          <p:cNvPr id="6" name="TextBox 5">
            <a:extLst>
              <a:ext uri="{FF2B5EF4-FFF2-40B4-BE49-F238E27FC236}">
                <a16:creationId xmlns:a16="http://schemas.microsoft.com/office/drawing/2014/main" id="{6A416A8B-1BB8-88E1-E314-FBCCD6109ED6}"/>
              </a:ext>
            </a:extLst>
          </p:cNvPr>
          <p:cNvSpPr txBox="1"/>
          <p:nvPr/>
        </p:nvSpPr>
        <p:spPr>
          <a:xfrm>
            <a:off x="500743" y="4182200"/>
            <a:ext cx="7539286" cy="1200329"/>
          </a:xfrm>
          <a:prstGeom prst="rect">
            <a:avLst/>
          </a:prstGeom>
          <a:noFill/>
        </p:spPr>
        <p:txBody>
          <a:bodyPr wrap="square">
            <a:spAutoFit/>
          </a:bodyPr>
          <a:lstStyle/>
          <a:p>
            <a:r>
              <a:rPr lang="en-GB" sz="2400" dirty="0"/>
              <a:t>We should also store the predictions and evaluation results as named objects. Named objects make the analysis easier to inspect, reproduce and report.</a:t>
            </a:r>
          </a:p>
        </p:txBody>
      </p:sp>
    </p:spTree>
    <p:extLst>
      <p:ext uri="{BB962C8B-B14F-4D97-AF65-F5344CB8AC3E}">
        <p14:creationId xmlns:p14="http://schemas.microsoft.com/office/powerpoint/2010/main" val="824130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9DA2C-5D6C-ED4E-D198-CCBDFE9529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3761AD-5952-085C-890B-B83B0591C34D}"/>
              </a:ext>
            </a:extLst>
          </p:cNvPr>
          <p:cNvSpPr txBox="1"/>
          <p:nvPr/>
        </p:nvSpPr>
        <p:spPr>
          <a:xfrm>
            <a:off x="500743" y="463485"/>
            <a:ext cx="10341428"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Record packages, versions and modelling decisions.</a:t>
            </a:r>
            <a:endParaRPr lang="en-GB" sz="2800" noProof="1">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DFE1BC5C-DC80-0879-BD28-E4E8CF6460A2}"/>
              </a:ext>
            </a:extLst>
          </p:cNvPr>
          <p:cNvSpPr txBox="1"/>
          <p:nvPr/>
        </p:nvSpPr>
        <p:spPr>
          <a:xfrm>
            <a:off x="641514" y="1228245"/>
            <a:ext cx="6100354" cy="3416320"/>
          </a:xfrm>
          <a:prstGeom prst="rect">
            <a:avLst/>
          </a:prstGeom>
          <a:noFill/>
        </p:spPr>
        <p:txBody>
          <a:bodyPr wrap="square">
            <a:spAutoFit/>
          </a:bodyPr>
          <a:lstStyle/>
          <a:p>
            <a:r>
              <a:rPr lang="en-GB" dirty="0">
                <a:latin typeface="Source Sans Pro" panose="020B0503030403020204" pitchFamily="34" charset="0"/>
                <a:ea typeface="Source Sans Pro" panose="020B0503030403020204" pitchFamily="34" charset="0"/>
              </a:rPr>
              <a:t>Reproducibility depends on more than the R code. Record:</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The source and version of the data</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Inclusion and exclusion criteria</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How missing values were handled</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The random seed</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The training and test proportions</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The predictors and outcome definition</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The selected threshold</a:t>
            </a: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The R and package versions</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R can report information about the current software environment.</a:t>
            </a:r>
          </a:p>
        </p:txBody>
      </p:sp>
      <p:sp>
        <p:nvSpPr>
          <p:cNvPr id="2" name="Rectangle 1">
            <a:extLst>
              <a:ext uri="{FF2B5EF4-FFF2-40B4-BE49-F238E27FC236}">
                <a16:creationId xmlns:a16="http://schemas.microsoft.com/office/drawing/2014/main" id="{A44E01E7-E792-9FAC-8B8F-5763B37C46DE}"/>
              </a:ext>
            </a:extLst>
          </p:cNvPr>
          <p:cNvSpPr/>
          <p:nvPr/>
        </p:nvSpPr>
        <p:spPr>
          <a:xfrm>
            <a:off x="641514" y="4886105"/>
            <a:ext cx="7850671" cy="63302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sessionInfo</a:t>
            </a:r>
            <a:r>
              <a:rPr lang="en-GB" dirty="0">
                <a:solidFill>
                  <a:srgbClr val="031D42"/>
                </a:solidFill>
                <a:latin typeface="Aptos Mono" panose="020B0009020202020204" pitchFamily="49" charset="0"/>
              </a:rPr>
              <a:t>()</a:t>
            </a:r>
          </a:p>
        </p:txBody>
      </p:sp>
      <p:sp>
        <p:nvSpPr>
          <p:cNvPr id="6" name="TextBox 5">
            <a:extLst>
              <a:ext uri="{FF2B5EF4-FFF2-40B4-BE49-F238E27FC236}">
                <a16:creationId xmlns:a16="http://schemas.microsoft.com/office/drawing/2014/main" id="{A524F5B7-CD34-4897-8737-A6A53669DDB0}"/>
              </a:ext>
            </a:extLst>
          </p:cNvPr>
          <p:cNvSpPr txBox="1"/>
          <p:nvPr/>
        </p:nvSpPr>
        <p:spPr>
          <a:xfrm>
            <a:off x="641514" y="5848325"/>
            <a:ext cx="7197155" cy="369332"/>
          </a:xfrm>
          <a:prstGeom prst="rect">
            <a:avLst/>
          </a:prstGeom>
          <a:noFill/>
        </p:spPr>
        <p:txBody>
          <a:bodyPr wrap="square">
            <a:spAutoFit/>
          </a:bodyPr>
          <a:lstStyle/>
          <a:p>
            <a:r>
              <a:rPr lang="en-GB" sz="1800" dirty="0">
                <a:latin typeface="Source Sans Pro" panose="020B0503030403020204" pitchFamily="34" charset="0"/>
                <a:ea typeface="Source Sans Pro" panose="020B0503030403020204" pitchFamily="34" charset="0"/>
              </a:rPr>
              <a:t>A model result without its modelling decisions is not fully reproducible.</a:t>
            </a:r>
          </a:p>
        </p:txBody>
      </p:sp>
    </p:spTree>
    <p:extLst>
      <p:ext uri="{BB962C8B-B14F-4D97-AF65-F5344CB8AC3E}">
        <p14:creationId xmlns:p14="http://schemas.microsoft.com/office/powerpoint/2010/main" val="28310549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EDBFE9BF-930E-0A88-049A-8C6D658D86B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B87C5B-C1E1-586C-4DF8-4AD6AB15B5B4}"/>
              </a:ext>
            </a:extLst>
          </p:cNvPr>
          <p:cNvSpPr txBox="1"/>
          <p:nvPr/>
        </p:nvSpPr>
        <p:spPr>
          <a:xfrm>
            <a:off x="500743" y="463485"/>
            <a:ext cx="5878287" cy="523220"/>
          </a:xfrm>
          <a:prstGeom prst="rect">
            <a:avLst/>
          </a:prstGeom>
          <a:noFill/>
        </p:spPr>
        <p:txBody>
          <a:bodyPr wrap="square">
            <a:spAutoFit/>
          </a:bodyPr>
          <a:lstStyle/>
          <a:p>
            <a:r>
              <a:rPr lang="en-GB" sz="2800" b="1" noProof="1">
                <a:solidFill>
                  <a:schemeClr val="bg1"/>
                </a:solidFill>
                <a:latin typeface="Source Sans Pro" panose="020B0503030403020204" pitchFamily="34" charset="0"/>
                <a:ea typeface="Source Sans Pro" panose="020B0503030403020204" pitchFamily="34" charset="0"/>
              </a:rPr>
              <a:t>What you need to do next…</a:t>
            </a:r>
            <a:endParaRPr lang="en-GB" sz="2800" noProof="1">
              <a:solidFill>
                <a:schemeClr val="bg1"/>
              </a:solidFill>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E79FBF80-4DB0-FFED-AB2E-F97CFA3B6861}"/>
              </a:ext>
            </a:extLst>
          </p:cNvPr>
          <p:cNvSpPr txBox="1"/>
          <p:nvPr/>
        </p:nvSpPr>
        <p:spPr>
          <a:xfrm>
            <a:off x="576944" y="1323082"/>
            <a:ext cx="1046512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noProof="1">
                <a:solidFill>
                  <a:schemeClr val="bg1"/>
                </a:solidFill>
                <a:latin typeface="Source Sans Pro" panose="020B0503030403020204" pitchFamily="34" charset="0"/>
                <a:ea typeface="Source Sans Pro" panose="020B0503030403020204" pitchFamily="34" charset="0"/>
                <a:cs typeface="Calibri"/>
              </a:rPr>
              <a:t>We have explored how the same statistical model can be used to explain relationships, estimate effects and predict outcomes for individual patients.</a:t>
            </a:r>
          </a:p>
          <a:p>
            <a:endParaRPr lang="en-GB" sz="2400" noProof="1">
              <a:solidFill>
                <a:schemeClr val="bg1"/>
              </a:solidFill>
              <a:latin typeface="Source Sans Pro" panose="020B0503030403020204" pitchFamily="34" charset="0"/>
              <a:ea typeface="Source Sans Pro" panose="020B0503030403020204" pitchFamily="34" charset="0"/>
              <a:cs typeface="Calibri"/>
            </a:endParaRPr>
          </a:p>
          <a:p>
            <a:r>
              <a:rPr lang="en-GB" sz="2400" noProof="1">
                <a:solidFill>
                  <a:schemeClr val="bg1"/>
                </a:solidFill>
                <a:latin typeface="Source Sans Pro" panose="020B0503030403020204" pitchFamily="34" charset="0"/>
                <a:ea typeface="Source Sans Pro" panose="020B0503030403020204" pitchFamily="34" charset="0"/>
                <a:cs typeface="Calibri"/>
              </a:rPr>
              <a:t>We have also considered how prediction models should be evaluated, why performance on new patients matters, and how machine learning builds on many of the modelling principles you have already encountered.</a:t>
            </a:r>
          </a:p>
        </p:txBody>
      </p:sp>
      <p:cxnSp>
        <p:nvCxnSpPr>
          <p:cNvPr id="7" name="Straight Arrow Connector 6">
            <a:extLst>
              <a:ext uri="{FF2B5EF4-FFF2-40B4-BE49-F238E27FC236}">
                <a16:creationId xmlns:a16="http://schemas.microsoft.com/office/drawing/2014/main" id="{24048D93-CE3B-2C04-DE0A-2C7A2ADB27C0}"/>
              </a:ext>
            </a:extLst>
          </p:cNvPr>
          <p:cNvCxnSpPr>
            <a:cxnSpLocks/>
          </p:cNvCxnSpPr>
          <p:nvPr/>
        </p:nvCxnSpPr>
        <p:spPr>
          <a:xfrm>
            <a:off x="7391399" y="6232360"/>
            <a:ext cx="3923373"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9606799-C9AB-D73E-8140-7F2FF5803538}"/>
              </a:ext>
            </a:extLst>
          </p:cNvPr>
          <p:cNvSpPr txBox="1"/>
          <p:nvPr/>
        </p:nvSpPr>
        <p:spPr>
          <a:xfrm>
            <a:off x="7391399" y="5669037"/>
            <a:ext cx="3650673" cy="523220"/>
          </a:xfrm>
          <a:prstGeom prst="rect">
            <a:avLst/>
          </a:prstGeom>
          <a:noFill/>
        </p:spPr>
        <p:txBody>
          <a:bodyPr wrap="square">
            <a:spAutoFit/>
          </a:bodyPr>
          <a:lstStyle/>
          <a:p>
            <a:r>
              <a:rPr lang="en-GB" sz="2800" b="1" noProof="1">
                <a:solidFill>
                  <a:schemeClr val="bg1"/>
                </a:solidFill>
                <a:latin typeface="Source Sans Pro" panose="020B0503030403020204" pitchFamily="34" charset="0"/>
                <a:ea typeface="Source Sans Pro" panose="020B0503030403020204" pitchFamily="34" charset="0"/>
              </a:rPr>
              <a:t>To the code-along…</a:t>
            </a:r>
            <a:endParaRPr lang="en-GB" sz="2800" noProof="1">
              <a:solidFill>
                <a:schemeClr val="bg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44272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8314</TotalTime>
  <Words>4059</Words>
  <Application>Microsoft Macintosh PowerPoint</Application>
  <PresentationFormat>Widescreen</PresentationFormat>
  <Paragraphs>578</Paragraphs>
  <Slides>52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Aptos Display</vt:lpstr>
      <vt:lpstr>Aptos Mono</vt:lpstr>
      <vt:lpstr>Arial</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Oldnall</dc:creator>
  <cp:lastModifiedBy>Chris Oldnall</cp:lastModifiedBy>
  <cp:revision>53</cp:revision>
  <cp:lastPrinted>2026-04-30T09:46:23Z</cp:lastPrinted>
  <dcterms:created xsi:type="dcterms:W3CDTF">2026-04-30T09:42:16Z</dcterms:created>
  <dcterms:modified xsi:type="dcterms:W3CDTF">2026-08-21T12:20:14Z</dcterms:modified>
</cp:coreProperties>
</file>