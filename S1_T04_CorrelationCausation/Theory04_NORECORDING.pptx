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72" r:id="rId2"/>
    <p:sldId id="273" r:id="rId3"/>
    <p:sldId id="278" r:id="rId4"/>
    <p:sldId id="280" r:id="rId5"/>
    <p:sldId id="287" r:id="rId6"/>
    <p:sldId id="288" r:id="rId7"/>
    <p:sldId id="289" r:id="rId8"/>
    <p:sldId id="283" r:id="rId9"/>
    <p:sldId id="284" r:id="rId10"/>
    <p:sldId id="285" r:id="rId11"/>
    <p:sldId id="281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82" r:id="rId21"/>
    <p:sldId id="279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286" r:id="rId39"/>
    <p:sldId id="314" r:id="rId40"/>
    <p:sldId id="315" r:id="rId41"/>
    <p:sldId id="316" r:id="rId42"/>
    <p:sldId id="317" r:id="rId43"/>
    <p:sldId id="318" r:id="rId44"/>
    <p:sldId id="319" r:id="rId45"/>
    <p:sldId id="320" r:id="rId46"/>
    <p:sldId id="321" r:id="rId47"/>
    <p:sldId id="322" r:id="rId48"/>
    <p:sldId id="323" r:id="rId49"/>
    <p:sldId id="324" r:id="rId50"/>
    <p:sldId id="325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D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51"/>
    <p:restoredTop sz="93296"/>
  </p:normalViewPr>
  <p:slideViewPr>
    <p:cSldViewPr snapToGrid="0">
      <p:cViewPr varScale="1">
        <p:scale>
          <a:sx n="116" d="100"/>
          <a:sy n="116" d="100"/>
        </p:scale>
        <p:origin x="9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1FE25-85C4-1244-BCDC-A22C8126A90B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7FE25D-C5C3-B245-93C4-8392A840C4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17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575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5828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00D7B-F081-3E1F-4DFB-812EA8B85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ED39C9-A6E7-E29A-3987-2C21D108C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9CDD9-5EB6-E731-F93E-3F3AFD8F1F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6334D-5AD0-FA70-4C29-34ACE16C71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7192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7E897-BBB1-5614-B528-6003ABAFC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B9A78-DF8B-E8F6-83C2-086A4E48F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B1076-F34B-D1DC-EED2-C3B659C05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8636-CB1D-AC8F-1D05-4BF5132356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411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15A7B-13E0-D411-417E-C31E99D4C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B983E3-E3DC-D3CD-8587-17014860D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27C65-4A34-B16F-1005-DA0264562E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8CB9-C91B-3027-875F-5BA29AFBB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C724C2-0F7E-4A4D-9A68-1E539ADB8D40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159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7FE25D-C5C3-B245-93C4-8392A840C482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73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505C6-39F5-4F27-D40D-0C552DF32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B1C3FD-A143-13ED-C3DE-44269DB22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0D406-68E3-A6FF-0717-9682B50F9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4169-2998-760E-F009-BA73C15FB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D6149-715F-CBD8-1BC1-252FDECF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64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C0FC7-4CB5-1110-8068-A272DE621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B6E31-BCA2-19C4-F10D-E116793D1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A4E93-D777-2A92-CC0B-8E93D4CC3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4C13-0EDE-16CA-1A7F-A3081BB79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B55D2-EA13-82B7-61DD-36323F207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140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B0CC5-DAAD-5017-7875-018654CB4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3382-1E94-3453-4D25-9D42A769D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C57F6-8D3F-49A9-0449-5DCF99AC0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02CD-213C-78F1-9445-9442CD9E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9E4FD-7B5C-A4EC-CDE4-934A146EB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1896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2C21-3C92-73D8-73F7-5A7F6353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CE01-0E6F-9333-9288-5177AAB216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AE897-528F-B3AB-369F-8F922D5DA6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A2E7C-3000-46E3-1557-0A2A59899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C56C4-1833-19A9-A856-1362253B8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17E1E-D416-F9E1-AA74-7A63174E2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74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A7B0F-AF3B-22D6-59DA-187835703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1EFC78-D38A-CD38-4C31-12AD35B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5DF4DE-FFB5-E407-7FDD-317522B9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658F7-4D59-1FC7-B0D5-D814BFB54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149413-0679-DAD6-D1A8-7984ECDCA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B7FDA1-F7BD-9471-B19E-0F3380F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E888D-6D81-9C6F-CBB7-3BD89D5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9F34B-BC78-7478-2C5C-05DFF5BF8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00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98A18-8C50-2B7C-124F-FC2D75B8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FCB492-845D-F323-F212-4ABE54B0A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933A63-D9EE-8652-2DB1-2F724A0F3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AB4C0-8DCE-9C75-29FC-A2B90EEC1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7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C090E-1783-2F69-2F60-354C5B1FC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91562-6997-5ADA-B8AD-237FD9642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4520F-211E-9BBA-C4D4-EC317AFF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077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A2A3C-FEC4-3066-32AD-66066DE30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D78B6-3242-CFA7-AD59-D982A2F2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B09B6-B1DE-85B8-9FDF-DD7E79B60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EF645-FB11-0E66-BEC1-1F5E9C0C4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95CB1-8DEA-15F4-C397-F8224C5A4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42B52-20D6-2E65-938B-960A5C55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7065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16B90-FC20-FA7D-3342-B206F308D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4BBA3-031C-687D-BEE1-D7E4912E8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0E133-E815-97FC-CA2D-322B2AACD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53E93-530E-54E2-FA19-BBF652B1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4B090-851C-580D-F20E-336242839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AEBB-FEE3-D746-FA37-DE33B8486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3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F3C5-9215-5C7B-D4F0-F26B882C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F610E7-A0D9-CF06-B540-497A78168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B22E8-0BDA-D4B9-84B0-029693CD3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A19D-4A77-4412-B6B5-9BF62B826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E568E-0D09-699C-341E-7FBE1E8A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76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82FBFA-D8C3-8A98-5DE5-6BF9F295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89761-4252-46DF-BE0E-D4F201C4E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35D4C-5533-2CC4-1F64-BD58C2420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36BBC-1218-5CF6-5FBD-4A0B5853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CAA5-73AC-5BD8-340C-A97B105A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880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271B1-6719-4EB1-EAE0-3C9E560E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D6A9E-EA6D-5B12-1AFD-5663E3A6A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0E9A7-AABF-56CA-B7EE-B52C7F5FE9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0F6BED-B3FB-8548-A220-F135D64A6F38}" type="datetimeFigureOut">
              <a:rPr lang="en-GB" smtClean="0"/>
              <a:t>10/08/2026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888E3-25B4-73F3-4668-8B2ED1101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94BD5-47DC-7819-F9FA-149765A0E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804DBB-899E-664F-A9D1-6118EFCEA4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67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FF5E2EF-FD9E-B482-DEAD-AB4626EE6F93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Topic 4: Correlation and/or causation?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69DFD77-03D5-E162-AFB9-0D5714BC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49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5;p26">
            <a:extLst>
              <a:ext uri="{FF2B5EF4-FFF2-40B4-BE49-F238E27FC236}">
                <a16:creationId xmlns:a16="http://schemas.microsoft.com/office/drawing/2014/main" id="{9CDCC65B-C285-5408-6FD6-A502E5C0AE3D}"/>
              </a:ext>
            </a:extLst>
          </p:cNvPr>
          <p:cNvSpPr txBox="1">
            <a:spLocks/>
          </p:cNvSpPr>
          <p:nvPr/>
        </p:nvSpPr>
        <p:spPr>
          <a:xfrm>
            <a:off x="416822" y="739350"/>
            <a:ext cx="10117640" cy="6699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-GB" sz="36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Why do we need to think about causality?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68708-309E-85E8-D513-913B4FDBDC39}"/>
              </a:ext>
            </a:extLst>
          </p:cNvPr>
          <p:cNvSpPr txBox="1"/>
          <p:nvPr/>
        </p:nvSpPr>
        <p:spPr>
          <a:xfrm>
            <a:off x="416822" y="1849630"/>
            <a:ext cx="731792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medicine we offer administer treatments to patients on the belief that it will improve the quality of their care and life.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But often we need to ask ourselves, given the patient in front of me, will this *actually* make them better?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really is a question about whether something ‘causes’ another thing…but how do we actually know the evidence showing something will help is causation and not just correlation?</a:t>
            </a:r>
          </a:p>
        </p:txBody>
      </p:sp>
    </p:spTree>
    <p:extLst>
      <p:ext uri="{BB962C8B-B14F-4D97-AF65-F5344CB8AC3E}">
        <p14:creationId xmlns:p14="http://schemas.microsoft.com/office/powerpoint/2010/main" val="1127349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7A4882-6016-04E4-C16B-380D29551A36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This topic…</a:t>
            </a:r>
            <a:endParaRPr lang="en-GB" sz="2800" noProof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8F128-6E60-8FCA-F828-497A6279C073}"/>
              </a:ext>
            </a:extLst>
          </p:cNvPr>
          <p:cNvSpPr txBox="1"/>
          <p:nvPr/>
        </p:nvSpPr>
        <p:spPr>
          <a:xfrm>
            <a:off x="500744" y="1328577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Scatterplots and visualisation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Correlation testing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Thinking causally</a:t>
            </a:r>
          </a:p>
          <a:p>
            <a:pPr marL="342891" indent="-342891">
              <a:buFont typeface="Arial" panose="020B0604020202020204" pitchFamily="34" charset="0"/>
              <a:buChar char="•"/>
            </a:pPr>
            <a:r>
              <a:rPr lang="en-GB" sz="2400" noProof="1"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Formalising visualisation skills in 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201F3-6770-3B8B-D596-D8E7D2E3DDAE}"/>
              </a:ext>
            </a:extLst>
          </p:cNvPr>
          <p:cNvCxnSpPr>
            <a:cxnSpLocks/>
          </p:cNvCxnSpPr>
          <p:nvPr/>
        </p:nvCxnSpPr>
        <p:spPr>
          <a:xfrm>
            <a:off x="5593976" y="6232360"/>
            <a:ext cx="572079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6219C6-14A1-1B48-5A50-CB68B1A38433}"/>
              </a:ext>
            </a:extLst>
          </p:cNvPr>
          <p:cNvSpPr txBox="1"/>
          <p:nvPr/>
        </p:nvSpPr>
        <p:spPr>
          <a:xfrm>
            <a:off x="5593976" y="5669037"/>
            <a:ext cx="54480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4.1 Scatterplots and visualisation</a:t>
            </a:r>
          </a:p>
        </p:txBody>
      </p:sp>
    </p:spTree>
    <p:extLst>
      <p:ext uri="{BB962C8B-B14F-4D97-AF65-F5344CB8AC3E}">
        <p14:creationId xmlns:p14="http://schemas.microsoft.com/office/powerpoint/2010/main" val="183901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84D1A1-4766-28B4-B84C-B00BC312E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718EE5A-8EAF-D775-559F-62EBE5883B70}"/>
              </a:ext>
            </a:extLst>
          </p:cNvPr>
          <p:cNvSpPr txBox="1"/>
          <p:nvPr/>
        </p:nvSpPr>
        <p:spPr>
          <a:xfrm>
            <a:off x="594044" y="2688102"/>
            <a:ext cx="8082817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4.1 Scatterplots and visualisation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801A6C-1B88-9796-06C1-B2575F81E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45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0EDC9-4BF9-6DA7-8ABC-92D3002C8743}"/>
              </a:ext>
            </a:extLst>
          </p:cNvPr>
          <p:cNvSpPr txBox="1"/>
          <p:nvPr/>
        </p:nvSpPr>
        <p:spPr>
          <a:xfrm>
            <a:off x="609600" y="530087"/>
            <a:ext cx="6400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do we mean by association?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CFCAD3-8756-96D1-BDC3-6A16427AA277}"/>
              </a:ext>
            </a:extLst>
          </p:cNvPr>
          <p:cNvSpPr txBox="1"/>
          <p:nvPr/>
        </p:nvSpPr>
        <p:spPr>
          <a:xfrm>
            <a:off x="609600" y="1762539"/>
            <a:ext cx="63080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Association describes how two variables change in relation to one another.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does not imply that one variable causes the other… only that they tend to move together in some way.</a:t>
            </a:r>
          </a:p>
        </p:txBody>
      </p:sp>
    </p:spTree>
    <p:extLst>
      <p:ext uri="{BB962C8B-B14F-4D97-AF65-F5344CB8AC3E}">
        <p14:creationId xmlns:p14="http://schemas.microsoft.com/office/powerpoint/2010/main" val="32571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1460B-911A-0F1F-D780-72B2EE2A0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48990E-F2E0-C285-CF78-B11B9AA1E6D1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Where do we see association in health and social care?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84A71-0BDD-3FBF-FD29-5A70218C95B2}"/>
              </a:ext>
            </a:extLst>
          </p:cNvPr>
          <p:cNvSpPr txBox="1"/>
          <p:nvPr/>
        </p:nvSpPr>
        <p:spPr>
          <a:xfrm>
            <a:off x="609600" y="1763446"/>
            <a:ext cx="6308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Health outcomes and risk factors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Social conditions and wellbeing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Behaviors and disease patterns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CA43C-A823-B30B-EF48-020EAC30D375}"/>
              </a:ext>
            </a:extLst>
          </p:cNvPr>
          <p:cNvSpPr txBox="1"/>
          <p:nvPr/>
        </p:nvSpPr>
        <p:spPr>
          <a:xfrm>
            <a:off x="609600" y="3641942"/>
            <a:ext cx="5486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Many questions in health and social care are naturally about association: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Are healthier populations wealthier?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Is education linked to life expectancy?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 behaviors cluster with outcomes?</a:t>
            </a:r>
          </a:p>
        </p:txBody>
      </p:sp>
    </p:spTree>
    <p:extLst>
      <p:ext uri="{BB962C8B-B14F-4D97-AF65-F5344CB8AC3E}">
        <p14:creationId xmlns:p14="http://schemas.microsoft.com/office/powerpoint/2010/main" val="3374101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27829-6754-A43C-892B-E782791F7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2C152-6353-396F-674B-1BAB72B0D29E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Visualising association: scatter plots</a:t>
            </a:r>
          </a:p>
        </p:txBody>
      </p:sp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E00501EC-1659-092E-3418-622AB3D73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86947"/>
            <a:ext cx="6684066" cy="44560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EC4A939-22C9-46C6-6987-7098CB810740}"/>
              </a:ext>
            </a:extLst>
          </p:cNvPr>
          <p:cNvSpPr txBox="1"/>
          <p:nvPr/>
        </p:nvSpPr>
        <p:spPr>
          <a:xfrm>
            <a:off x="7906090" y="1296888"/>
            <a:ext cx="3676310" cy="175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Each point in a scatter plot represents one observation </a:t>
            </a:r>
            <a:b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(here, a country).</a:t>
            </a: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position of the point reflects the values of both variables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1058336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C0BF-1372-B056-A15C-CF4A9F29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B50AD1-662D-C0D2-CEC5-4D3E83710F7A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Visualising association: scatter plots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95856D-06A6-D2CA-3F8B-A60B2EB70109}"/>
              </a:ext>
            </a:extLst>
          </p:cNvPr>
          <p:cNvSpPr txBox="1"/>
          <p:nvPr/>
        </p:nvSpPr>
        <p:spPr>
          <a:xfrm>
            <a:off x="1019147" y="1495821"/>
            <a:ext cx="458525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Direction</a:t>
            </a:r>
          </a:p>
          <a:p>
            <a:r>
              <a:rPr lang="en-US" sz="2800" dirty="0"/>
              <a:t>	</a:t>
            </a:r>
            <a:r>
              <a:rPr lang="en-GB" sz="2800" dirty="0"/>
              <a:t>positive or negative?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Strength</a:t>
            </a:r>
          </a:p>
          <a:p>
            <a:r>
              <a:rPr lang="en-GB" sz="2800" dirty="0"/>
              <a:t>	tight or diffuse?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Shape</a:t>
            </a:r>
          </a:p>
          <a:p>
            <a:r>
              <a:rPr lang="en-GB" sz="2800" dirty="0"/>
              <a:t>	linear or curved?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Outliers</a:t>
            </a:r>
          </a:p>
          <a:p>
            <a:r>
              <a:rPr lang="en-GB" sz="2800" dirty="0"/>
              <a:t>	unusual observations</a:t>
            </a:r>
          </a:p>
        </p:txBody>
      </p:sp>
    </p:spTree>
    <p:extLst>
      <p:ext uri="{BB962C8B-B14F-4D97-AF65-F5344CB8AC3E}">
        <p14:creationId xmlns:p14="http://schemas.microsoft.com/office/powerpoint/2010/main" val="1826681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46AC6-A0A1-99DC-FE40-1B8AD3AD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688D13-D991-6E06-DA1B-AE8BF9AE9231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Describing direction</a:t>
            </a:r>
          </a:p>
        </p:txBody>
      </p:sp>
      <p:pic>
        <p:nvPicPr>
          <p:cNvPr id="6" name="Picture 5" descr="A graph with dots and a line&#10;&#10;AI-generated content may be incorrect.">
            <a:extLst>
              <a:ext uri="{FF2B5EF4-FFF2-40B4-BE49-F238E27FC236}">
                <a16:creationId xmlns:a16="http://schemas.microsoft.com/office/drawing/2014/main" id="{B6FAB805-9150-7606-671A-64CD695B5B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070" y="1533398"/>
            <a:ext cx="3325451" cy="2216967"/>
          </a:xfrm>
          <a:prstGeom prst="rect">
            <a:avLst/>
          </a:prstGeom>
        </p:spPr>
      </p:pic>
      <p:pic>
        <p:nvPicPr>
          <p:cNvPr id="8" name="Picture 7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31CDD388-9D28-9C95-1664-657835972D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5222" y="1533398"/>
            <a:ext cx="3325451" cy="2216967"/>
          </a:xfrm>
          <a:prstGeom prst="rect">
            <a:avLst/>
          </a:prstGeom>
        </p:spPr>
      </p:pic>
      <p:pic>
        <p:nvPicPr>
          <p:cNvPr id="10" name="Picture 9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E669AA9A-E968-DEB9-5CED-B609094678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592" y="3986132"/>
            <a:ext cx="4015409" cy="267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133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A11CA-75B6-0C93-F8ED-229EEF8C7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E2DF47-4746-8DBE-D5F0-87BEC7EF38FC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Describing strength</a:t>
            </a:r>
          </a:p>
        </p:txBody>
      </p:sp>
      <p:pic>
        <p:nvPicPr>
          <p:cNvPr id="5" name="Picture 4" descr="A graph with a green line&#10;&#10;AI-generated content may be incorrect.">
            <a:extLst>
              <a:ext uri="{FF2B5EF4-FFF2-40B4-BE49-F238E27FC236}">
                <a16:creationId xmlns:a16="http://schemas.microsoft.com/office/drawing/2014/main" id="{3E6C2123-FD99-7157-1672-79D7BD9CF9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263" y="1586948"/>
            <a:ext cx="3523422" cy="2348948"/>
          </a:xfrm>
          <a:prstGeom prst="rect">
            <a:avLst/>
          </a:prstGeom>
        </p:spPr>
      </p:pic>
      <p:pic>
        <p:nvPicPr>
          <p:cNvPr id="9" name="Picture 8" descr="A graph with a line going up&#10;&#10;AI-generated content may be incorrect.">
            <a:extLst>
              <a:ext uri="{FF2B5EF4-FFF2-40B4-BE49-F238E27FC236}">
                <a16:creationId xmlns:a16="http://schemas.microsoft.com/office/drawing/2014/main" id="{F11620FF-9848-4080-F0E5-F1281C51F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48" y="1586948"/>
            <a:ext cx="3523422" cy="2348948"/>
          </a:xfrm>
          <a:prstGeom prst="rect">
            <a:avLst/>
          </a:prstGeom>
        </p:spPr>
      </p:pic>
      <p:pic>
        <p:nvPicPr>
          <p:cNvPr id="12" name="Picture 11" descr="A graph with a green line&#10;&#10;AI-generated content may be incorrect.">
            <a:extLst>
              <a:ext uri="{FF2B5EF4-FFF2-40B4-BE49-F238E27FC236}">
                <a16:creationId xmlns:a16="http://schemas.microsoft.com/office/drawing/2014/main" id="{35BEE665-1432-D810-470F-101DBAF7B0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840" y="4081669"/>
            <a:ext cx="3958260" cy="263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40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7C101-AC8D-22F3-CDE2-9952DB49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743FA7-F3D4-F343-457C-F097AFEF3C84}"/>
              </a:ext>
            </a:extLst>
          </p:cNvPr>
          <p:cNvSpPr txBox="1"/>
          <p:nvPr/>
        </p:nvSpPr>
        <p:spPr>
          <a:xfrm>
            <a:off x="574165" y="2578341"/>
            <a:ext cx="85102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4.2 Correlation testing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861E90F-0966-58D9-AF11-FE3C43D28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153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34D0F-651A-9ABF-2A58-0C999F66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B7980-1865-C58A-8A63-750183A42286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Why do we need correlation?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E0425-B20B-BA7B-074F-FEEA645F1D87}"/>
              </a:ext>
            </a:extLst>
          </p:cNvPr>
          <p:cNvSpPr txBox="1"/>
          <p:nvPr/>
        </p:nvSpPr>
        <p:spPr>
          <a:xfrm>
            <a:off x="609600" y="1802296"/>
            <a:ext cx="52081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Scatter plots are powerful, but they are subjective.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gives us a numerical summary of the strength and direction of association between two variables.</a:t>
            </a:r>
          </a:p>
        </p:txBody>
      </p:sp>
    </p:spTree>
    <p:extLst>
      <p:ext uri="{BB962C8B-B14F-4D97-AF65-F5344CB8AC3E}">
        <p14:creationId xmlns:p14="http://schemas.microsoft.com/office/powerpoint/2010/main" val="3546149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1A7FD-88E7-862D-0D1B-D318E0D04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4220C9-63E9-F7E8-3A6E-B1F39442FE53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Pearson correlation coefficient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5E34F-7910-1506-1ACE-5B27A2A9E097}"/>
              </a:ext>
            </a:extLst>
          </p:cNvPr>
          <p:cNvSpPr txBox="1"/>
          <p:nvPr/>
        </p:nvSpPr>
        <p:spPr>
          <a:xfrm>
            <a:off x="609600" y="1378226"/>
            <a:ext cx="755373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most commonly used correlation measure is the Pearson correlation coefficient. It is appropriate when both variables are continuous and the relationship is approximately linear.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7392BA-0AAD-A93B-A60A-EE755B3C054A}"/>
              </a:ext>
            </a:extLst>
          </p:cNvPr>
          <p:cNvSpPr txBox="1"/>
          <p:nvPr/>
        </p:nvSpPr>
        <p:spPr>
          <a:xfrm>
            <a:off x="609600" y="3540782"/>
            <a:ext cx="66790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Correlation values always lie between −1 and +1: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+1: perfect positive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−1: perfect negative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0: no linear association</a:t>
            </a:r>
          </a:p>
        </p:txBody>
      </p:sp>
    </p:spTree>
    <p:extLst>
      <p:ext uri="{BB962C8B-B14F-4D97-AF65-F5344CB8AC3E}">
        <p14:creationId xmlns:p14="http://schemas.microsoft.com/office/powerpoint/2010/main" val="4198427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76267-4983-1266-A6FC-7CE8AA29D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7E3014-67A3-97E4-F27D-A9BAD4115363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Pearson correlation coefficient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C830F-6440-DC5D-976D-AAC11E01AE67}"/>
              </a:ext>
            </a:extLst>
          </p:cNvPr>
          <p:cNvSpPr txBox="1"/>
          <p:nvPr/>
        </p:nvSpPr>
        <p:spPr>
          <a:xfrm>
            <a:off x="609600" y="1378226"/>
            <a:ext cx="7553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value </a:t>
            </a:r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summarises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the overall association across countries. However, it hides important details about the shape and structure of the data.</a:t>
            </a: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89B85A08-70B6-5320-48B8-D8159C457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022047"/>
            <a:ext cx="5372100" cy="1397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7AF2A7-1B53-4FE6-D7A8-71F9D7AE0842}"/>
              </a:ext>
            </a:extLst>
          </p:cNvPr>
          <p:cNvSpPr txBox="1"/>
          <p:nvPr/>
        </p:nvSpPr>
        <p:spPr>
          <a:xfrm>
            <a:off x="609600" y="4866280"/>
            <a:ext cx="61357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Pearson correlation measures linear association. If the relationship is curved or non-linear, correlation may underestimate or misrepresent the strength of association.</a:t>
            </a:r>
          </a:p>
        </p:txBody>
      </p:sp>
    </p:spTree>
    <p:extLst>
      <p:ext uri="{BB962C8B-B14F-4D97-AF65-F5344CB8AC3E}">
        <p14:creationId xmlns:p14="http://schemas.microsoft.com/office/powerpoint/2010/main" val="1340369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454C-DCAE-499D-1831-727CA9BC6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362AFD-32E5-0322-3B11-6DE61F4E0420}"/>
              </a:ext>
            </a:extLst>
          </p:cNvPr>
          <p:cNvSpPr txBox="1"/>
          <p:nvPr/>
        </p:nvSpPr>
        <p:spPr>
          <a:xfrm>
            <a:off x="609600" y="530087"/>
            <a:ext cx="103366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Alternatives when the relationship isn’t linear…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0EFE8-45A5-83FF-AED9-F9BDA7835B7C}"/>
              </a:ext>
            </a:extLst>
          </p:cNvPr>
          <p:cNvSpPr txBox="1"/>
          <p:nvPr/>
        </p:nvSpPr>
        <p:spPr>
          <a:xfrm>
            <a:off x="609600" y="1489259"/>
            <a:ext cx="75537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the pattern between variables is monotonic but curved, a rank-based measure such as </a:t>
            </a:r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Spearman’s correlation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can be more appropriate.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173E0C-5477-6181-9116-734ACA635CCC}"/>
              </a:ext>
            </a:extLst>
          </p:cNvPr>
          <p:cNvSpPr txBox="1"/>
          <p:nvPr/>
        </p:nvSpPr>
        <p:spPr>
          <a:xfrm>
            <a:off x="609600" y="3063985"/>
            <a:ext cx="61357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Cramer’s V 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gives a sense of the strength of in situations where one variable is continuous and the other is binary—such as comparing average recovery time between two treatment groups—differences</a:t>
            </a:r>
          </a:p>
        </p:txBody>
      </p:sp>
    </p:spTree>
    <p:extLst>
      <p:ext uri="{BB962C8B-B14F-4D97-AF65-F5344CB8AC3E}">
        <p14:creationId xmlns:p14="http://schemas.microsoft.com/office/powerpoint/2010/main" val="3896979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01DD3E-618C-F683-449F-326F15DC87B8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components of correlation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0A45EF-1BA4-7AFA-1701-9385DB95243E}"/>
              </a:ext>
            </a:extLst>
          </p:cNvPr>
          <p:cNvSpPr txBox="1"/>
          <p:nvPr/>
        </p:nvSpPr>
        <p:spPr>
          <a:xfrm>
            <a:off x="649357" y="1877993"/>
            <a:ext cx="6096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noProof="0" dirty="0"/>
              <a:t>Estimating</a:t>
            </a:r>
            <a:r>
              <a:rPr lang="en-GB" sz="2400" noProof="0" dirty="0"/>
              <a:t>: the strength of association from a sample</a:t>
            </a:r>
          </a:p>
          <a:p>
            <a:endParaRPr lang="en-GB" sz="2400" noProof="0" dirty="0"/>
          </a:p>
          <a:p>
            <a:r>
              <a:rPr lang="en-GB" sz="2400" b="1" noProof="0" dirty="0"/>
              <a:t>Testing</a:t>
            </a:r>
            <a:r>
              <a:rPr lang="en-GB" sz="2400" noProof="0" dirty="0"/>
              <a:t>: whether that association is likely to be more than random variation</a:t>
            </a:r>
          </a:p>
        </p:txBody>
      </p:sp>
    </p:spTree>
    <p:extLst>
      <p:ext uri="{BB962C8B-B14F-4D97-AF65-F5344CB8AC3E}">
        <p14:creationId xmlns:p14="http://schemas.microsoft.com/office/powerpoint/2010/main" val="2264629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3EFF4-5D9D-4D21-1A1B-16BDBCF6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DB8C36-9C68-7CE0-B2DC-831C452D4F9B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Estimating the Pearson correlation</a:t>
            </a:r>
          </a:p>
        </p:txBody>
      </p:sp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8B4B655-70D3-43A5-BEC1-41F0517AA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37" y="1853185"/>
            <a:ext cx="6560976" cy="1573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3DA7F65-FFC9-29DF-D0BC-604D4D425584}"/>
              </a:ext>
            </a:extLst>
          </p:cNvPr>
          <p:cNvSpPr txBox="1"/>
          <p:nvPr/>
        </p:nvSpPr>
        <p:spPr>
          <a:xfrm>
            <a:off x="629952" y="4218147"/>
            <a:ext cx="71827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don’t need to memorise this formula, but it shows two important ideas: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is based on how variables vary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It is centred around the means of both variables</a:t>
            </a:r>
          </a:p>
        </p:txBody>
      </p:sp>
    </p:spTree>
    <p:extLst>
      <p:ext uri="{BB962C8B-B14F-4D97-AF65-F5344CB8AC3E}">
        <p14:creationId xmlns:p14="http://schemas.microsoft.com/office/powerpoint/2010/main" val="3489121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B8CEC-305E-7B01-58FE-DFCDAC5A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44D308-6231-37F0-3F20-06DDB57F4743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Hypotheses for correlation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E9336-F133-22C0-2338-62F771F368DB}"/>
              </a:ext>
            </a:extLst>
          </p:cNvPr>
          <p:cNvSpPr txBox="1"/>
          <p:nvPr/>
        </p:nvSpPr>
        <p:spPr>
          <a:xfrm>
            <a:off x="632455" y="3961703"/>
            <a:ext cx="718274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standard test evaluates whether the population correlation is zero. This corresponds to asking whether there is evidence of a linear association.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test statistic follows a t-distribution with n - 2 degrees of freedom under the null hypothesis.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889A801-E3AE-60A5-3806-C57BDAE76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004" y="1906759"/>
            <a:ext cx="2171599" cy="120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2E82414-0B8C-EE06-387C-A1D2BD47A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4061" y="1837240"/>
            <a:ext cx="271780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772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1A651-0F1A-EE0B-7727-B2D339563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93D8CB-0702-A89F-B4F1-F7B06F45981A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Hypotheses for correlation 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CE9A6C-1A96-6656-B182-9D5564BD9732}"/>
              </a:ext>
            </a:extLst>
          </p:cNvPr>
          <p:cNvSpPr txBox="1"/>
          <p:nvPr/>
        </p:nvSpPr>
        <p:spPr>
          <a:xfrm>
            <a:off x="649357" y="3429000"/>
            <a:ext cx="718274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with other statistical testing, we </a:t>
            </a:r>
            <a:r>
              <a:rPr lang="en-GB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look to the p-value to understand the chance of observing the correlation by chance.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p-value is the probability of observing a test statistic as extreme as the one calculated, assuming the true population correlation is zero, not the strength of the relationship.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33A79E6C-60BC-9773-64F0-FA31D0E811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57" y="1568112"/>
            <a:ext cx="6921500" cy="139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652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F67B-A0C6-8057-1CED-762FDB91F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0C5A94-1EAA-F2D7-3B8F-CBDEFF955396}"/>
              </a:ext>
            </a:extLst>
          </p:cNvPr>
          <p:cNvSpPr txBox="1"/>
          <p:nvPr/>
        </p:nvSpPr>
        <p:spPr>
          <a:xfrm>
            <a:off x="649357" y="543339"/>
            <a:ext cx="7566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What assumptions are necessary?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AC4E81-BA4C-EF16-AF43-B31231F7EE56}"/>
              </a:ext>
            </a:extLst>
          </p:cNvPr>
          <p:cNvSpPr txBox="1"/>
          <p:nvPr/>
        </p:nvSpPr>
        <p:spPr>
          <a:xfrm>
            <a:off x="649357" y="1536174"/>
            <a:ext cx="71827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For this the sample size ‘n’ matters a lot.</a:t>
            </a:r>
          </a:p>
          <a:p>
            <a:endParaRPr lang="en-GB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large samples, very small correlations can be statistically significant.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small samples, meaningful associations may fail to reach significance.</a:t>
            </a:r>
          </a:p>
          <a:p>
            <a:endParaRPr lang="en-GB" sz="2400" noProof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sz="2400" noProof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interpret p-values alongside effect size and context.</a:t>
            </a:r>
          </a:p>
        </p:txBody>
      </p:sp>
    </p:spTree>
    <p:extLst>
      <p:ext uri="{BB962C8B-B14F-4D97-AF65-F5344CB8AC3E}">
        <p14:creationId xmlns:p14="http://schemas.microsoft.com/office/powerpoint/2010/main" val="395572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32147-E62F-27A8-8B11-1F8CEC7B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AE7D90-F368-4DD5-59E2-07DE50455E82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4.3 Thinking causally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230686E1-B47B-B70D-9591-65F8A3DE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63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9DC9D7-151B-A2B0-C1CE-727C17BFDFE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Why this matters in health and social care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9F6C9E-3BBC-17C2-43C4-2BFB2E28057F}"/>
              </a:ext>
            </a:extLst>
          </p:cNvPr>
          <p:cNvSpPr txBox="1"/>
          <p:nvPr/>
        </p:nvSpPr>
        <p:spPr>
          <a:xfrm>
            <a:off x="715618" y="2140633"/>
            <a:ext cx="63074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Evidence beyond association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Interventions and policy decisions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Even strong statistical relationships can arise without any causal link.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Relying on correlation alone risks incorrect conclusions about treatments, interventions, and policy.</a:t>
            </a:r>
          </a:p>
        </p:txBody>
      </p:sp>
    </p:spTree>
    <p:extLst>
      <p:ext uri="{BB962C8B-B14F-4D97-AF65-F5344CB8AC3E}">
        <p14:creationId xmlns:p14="http://schemas.microsoft.com/office/powerpoint/2010/main" val="30172564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5F3A6-5E87-92BA-42B7-499C2C8F9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97CAD-558A-4443-EC25-4A3F033C3A1A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Two broad reasons correlation fails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31A51-AD21-E90A-3CE4-C71B22FE2AE5}"/>
              </a:ext>
            </a:extLst>
          </p:cNvPr>
          <p:cNvSpPr txBox="1"/>
          <p:nvPr/>
        </p:nvSpPr>
        <p:spPr>
          <a:xfrm>
            <a:off x="602716" y="1905505"/>
            <a:ext cx="630749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There are two main reasons correlation does not imply causation: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1. Different causal mechanisms can generate the same correlation</a:t>
            </a:r>
            <a:b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2. Correlations can arise from data structure rather than genuine relationships</a:t>
            </a:r>
          </a:p>
        </p:txBody>
      </p:sp>
    </p:spTree>
    <p:extLst>
      <p:ext uri="{BB962C8B-B14F-4D97-AF65-F5344CB8AC3E}">
        <p14:creationId xmlns:p14="http://schemas.microsoft.com/office/powerpoint/2010/main" val="3441941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65CAB-CE85-F49A-A92B-C09215ACB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67D54-2AC2-5840-306E-781CC6CD62AD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Directed acyclic graphs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E5A88-BE7F-2D62-0D05-E0E61AD544F0}"/>
              </a:ext>
            </a:extLst>
          </p:cNvPr>
          <p:cNvSpPr txBox="1"/>
          <p:nvPr/>
        </p:nvSpPr>
        <p:spPr>
          <a:xfrm>
            <a:off x="742121" y="1748545"/>
            <a:ext cx="29223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Arrows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Causal pathways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14CD3E0-5E6A-1359-F82D-AB57D288BF8D}"/>
              </a:ext>
            </a:extLst>
          </p:cNvPr>
          <p:cNvSpPr/>
          <p:nvPr/>
        </p:nvSpPr>
        <p:spPr>
          <a:xfrm>
            <a:off x="1131024" y="3763617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FB4092-5FF2-24F3-D184-A89D15AEC106}"/>
              </a:ext>
            </a:extLst>
          </p:cNvPr>
          <p:cNvSpPr/>
          <p:nvPr/>
        </p:nvSpPr>
        <p:spPr>
          <a:xfrm>
            <a:off x="4783281" y="3763617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6FD3961-E6E4-1353-4D62-2B93F851F839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931024" y="4663617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653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1C6A7-37DF-09CA-9CEA-A2AEE98B2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54CAE-28BE-6237-698E-DC4EAFFC4597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Confounding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5B0349-63D9-6A99-36AD-F5D8A91B3D4B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3B47E8-E8B5-5C77-4D59-BA532D98725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DE862EB-4D7C-AED2-7F65-2CEC0D7EEB4D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18E59C6-5C69-826E-C941-D769EBD06CD9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D672E08-DF1E-0373-151F-07E6B9C15E9B}"/>
              </a:ext>
            </a:extLst>
          </p:cNvPr>
          <p:cNvCxnSpPr>
            <a:cxnSpLocks/>
            <a:stCxn id="7" idx="3"/>
            <a:endCxn id="5" idx="7"/>
          </p:cNvCxnSpPr>
          <p:nvPr/>
        </p:nvCxnSpPr>
        <p:spPr>
          <a:xfrm flipH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E81244E-F234-7631-09CB-97F2CB5CC63B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CA59101-A31E-B9B3-1587-91A36612C9A2}"/>
              </a:ext>
            </a:extLst>
          </p:cNvPr>
          <p:cNvSpPr txBox="1"/>
          <p:nvPr/>
        </p:nvSpPr>
        <p:spPr>
          <a:xfrm>
            <a:off x="5789298" y="804052"/>
            <a:ext cx="51397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confounder is a variable that influences both the exposure and the outcome. If not accounted for, it can induce a correlation even when no direct causal effect exists.</a:t>
            </a:r>
          </a:p>
        </p:txBody>
      </p:sp>
    </p:spTree>
    <p:extLst>
      <p:ext uri="{BB962C8B-B14F-4D97-AF65-F5344CB8AC3E}">
        <p14:creationId xmlns:p14="http://schemas.microsoft.com/office/powerpoint/2010/main" val="15001798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9C5F4-71B5-3A1D-F5EC-BE9454FEB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B7C42A-1053-5DBE-A042-BC48586B7247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Confounding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57843A9-3FD1-E3F9-8251-5DFB4731B1FC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16884B-206C-FEFB-7E55-9480B032161C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4A96E4-10AB-379B-2820-C14871275E58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99EFEC03-3D1E-96E2-3137-0DF37518514B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DF476D-A47B-2CAF-5974-246CB22E7FB0}"/>
              </a:ext>
            </a:extLst>
          </p:cNvPr>
          <p:cNvCxnSpPr>
            <a:cxnSpLocks/>
            <a:stCxn id="7" idx="3"/>
            <a:endCxn id="5" idx="7"/>
          </p:cNvCxnSpPr>
          <p:nvPr/>
        </p:nvCxnSpPr>
        <p:spPr>
          <a:xfrm flipH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4D5A43-2EDC-B174-1AB0-959551EF064D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F671E5-58BE-1572-0070-4A90128ABDB2}"/>
                  </a:ext>
                </a:extLst>
              </p:cNvPr>
              <p:cNvSpPr txBox="1"/>
              <p:nvPr/>
            </p:nvSpPr>
            <p:spPr>
              <a:xfrm>
                <a:off x="6096000" y="787399"/>
                <a:ext cx="1800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X ←C →Y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2F671E5-58BE-1572-0070-4A90128AB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787399"/>
                <a:ext cx="1800000" cy="646331"/>
              </a:xfrm>
              <a:prstGeom prst="rect">
                <a:avLst/>
              </a:prstGeom>
              <a:blipFill>
                <a:blip r:embed="rId5"/>
                <a:stretch>
                  <a:fillRect l="-3521" r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A01DF4A-CA6D-3983-037C-69DCC3D59680}"/>
              </a:ext>
            </a:extLst>
          </p:cNvPr>
          <p:cNvSpPr txBox="1"/>
          <p:nvPr/>
        </p:nvSpPr>
        <p:spPr>
          <a:xfrm>
            <a:off x="6096000" y="1731401"/>
            <a:ext cx="4386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structure creates a backdoor path between X and Y.</a:t>
            </a:r>
          </a:p>
        </p:txBody>
      </p:sp>
    </p:spTree>
    <p:extLst>
      <p:ext uri="{BB962C8B-B14F-4D97-AF65-F5344CB8AC3E}">
        <p14:creationId xmlns:p14="http://schemas.microsoft.com/office/powerpoint/2010/main" val="413765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CAA47-16EE-415D-3D70-DA9D757D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CEF28-C18B-CCC2-EEBD-0E9F6D91257F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Mediators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6E24E8D-A3C8-0448-24CB-30CE1E0463B5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19E63E-DD99-C86B-BACD-D988061D046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B44615-FE6C-5746-6C77-9750A46E74AC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B797B9-9496-6B59-A80B-A058FC67EC60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1A94085-9243-4D29-3511-03DFD9CCA73B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25F297-30CA-4383-C419-05A25509C0EA}"/>
              </a:ext>
            </a:extLst>
          </p:cNvPr>
          <p:cNvSpPr txBox="1"/>
          <p:nvPr/>
        </p:nvSpPr>
        <p:spPr>
          <a:xfrm>
            <a:off x="5789298" y="804052"/>
            <a:ext cx="5139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mediator lies between the exposure and the outcome and transmits part or all of the causal effect.</a:t>
            </a:r>
          </a:p>
        </p:txBody>
      </p:sp>
    </p:spTree>
    <p:extLst>
      <p:ext uri="{BB962C8B-B14F-4D97-AF65-F5344CB8AC3E}">
        <p14:creationId xmlns:p14="http://schemas.microsoft.com/office/powerpoint/2010/main" val="35866889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0413C-47F5-8A1B-82CD-6749B03EC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16C92A-02A1-6789-537A-EBDD1E70074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Mediators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3A6EAB-E2A0-EAA0-023A-86219733B9FA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F63001-2900-92F6-5C9E-931975280CA0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56753F-F049-3554-93C7-1A222A9E7F98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B80636-44F0-59AA-76C7-73601A0BA8DD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994EEA5-2A5E-296A-D6E1-9EFE23E96F02}"/>
              </a:ext>
            </a:extLst>
          </p:cNvPr>
          <p:cNvCxnSpPr>
            <a:cxnSpLocks/>
            <a:stCxn id="7" idx="5"/>
            <a:endCxn id="6" idx="1"/>
          </p:cNvCxnSpPr>
          <p:nvPr/>
        </p:nvCxnSpPr>
        <p:spPr>
          <a:xfrm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5523F0-2619-9A57-B1F9-9222FD8DBDD4}"/>
                  </a:ext>
                </a:extLst>
              </p:cNvPr>
              <p:cNvSpPr txBox="1"/>
              <p:nvPr/>
            </p:nvSpPr>
            <p:spPr>
              <a:xfrm>
                <a:off x="5789298" y="804052"/>
                <a:ext cx="241379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X →M →Y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75523F0-2619-9A57-B1F9-9222FD8DB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298" y="804052"/>
                <a:ext cx="2413798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689AD57-7AAC-9F15-E836-C0EF620D3CC3}"/>
              </a:ext>
            </a:extLst>
          </p:cNvPr>
          <p:cNvSpPr txBox="1"/>
          <p:nvPr/>
        </p:nvSpPr>
        <p:spPr>
          <a:xfrm>
            <a:off x="6096000" y="1605078"/>
            <a:ext cx="43864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Here, the correlation between X and Y arises because changes in X influence Y through the mediator M.</a:t>
            </a:r>
          </a:p>
        </p:txBody>
      </p:sp>
    </p:spTree>
    <p:extLst>
      <p:ext uri="{BB962C8B-B14F-4D97-AF65-F5344CB8AC3E}">
        <p14:creationId xmlns:p14="http://schemas.microsoft.com/office/powerpoint/2010/main" val="41419433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1D4A-D61D-4A6D-BA2C-837D7FE65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3761F1-A9F4-F9EA-D9DC-E3D4C2A3349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Colliders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11E87C0-27F9-89A5-4AC2-2532550C956F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4C146C6-A914-776A-E149-53D70DF90EBF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6D41667-96A3-4798-4178-7DBEA6F84FD5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A305AB5-9759-FB55-F68F-71E9C65B7A72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4B5AC97-1A4D-47DB-644C-58CFD7F7FA38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62E06B-554B-B5FE-3855-F0E10EC97479}"/>
              </a:ext>
            </a:extLst>
          </p:cNvPr>
          <p:cNvSpPr txBox="1"/>
          <p:nvPr/>
        </p:nvSpPr>
        <p:spPr>
          <a:xfrm>
            <a:off x="5789298" y="804052"/>
            <a:ext cx="51397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collider is a variable that is caused by two other variables. Unlike confounders, colliders do not create associations on their own.</a:t>
            </a:r>
          </a:p>
        </p:txBody>
      </p:sp>
    </p:spTree>
    <p:extLst>
      <p:ext uri="{BB962C8B-B14F-4D97-AF65-F5344CB8AC3E}">
        <p14:creationId xmlns:p14="http://schemas.microsoft.com/office/powerpoint/2010/main" val="23777469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4B1F8-B0A5-74A1-86C9-9C3A1F34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A395F-4DC3-C167-963B-230872FE703B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Colliders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153333-3EC7-1D26-361F-9DF97E18F8EA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FC12EE-D0D6-E762-1154-3F9637EBE493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0D67AAB-E961-82C4-84D1-5D6C54A75A5A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876A165-8BB6-C203-C4DD-FBD1564BD282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773437" y="3458292"/>
            <a:ext cx="527208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6D51D7-14D1-0326-52C8-E3E24C527FBE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4573437" y="3458292"/>
            <a:ext cx="579465" cy="105926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5602DC-A4F2-E156-23A6-994FDB87B0F6}"/>
                  </a:ext>
                </a:extLst>
              </p:cNvPr>
              <p:cNvSpPr txBox="1"/>
              <p:nvPr/>
            </p:nvSpPr>
            <p:spPr>
              <a:xfrm>
                <a:off x="5789298" y="804052"/>
                <a:ext cx="20559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GB" sz="3600" i="0" smtClean="0">
                          <a:latin typeface="Cambria Math" panose="02040503050406030204" pitchFamily="18" charset="0"/>
                        </a:rPr>
                        <m:t>X →S ←Y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85602DC-A4F2-E156-23A6-994FDB87B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298" y="804052"/>
                <a:ext cx="2055989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CCD882A-97AE-E5D2-683A-30CD4B756CE3}"/>
              </a:ext>
            </a:extLst>
          </p:cNvPr>
          <p:cNvSpPr txBox="1"/>
          <p:nvPr/>
        </p:nvSpPr>
        <p:spPr>
          <a:xfrm>
            <a:off x="5883965" y="1605078"/>
            <a:ext cx="43864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structure does not induce association unless we condition on the collider.</a:t>
            </a:r>
          </a:p>
        </p:txBody>
      </p:sp>
    </p:spTree>
    <p:extLst>
      <p:ext uri="{BB962C8B-B14F-4D97-AF65-F5344CB8AC3E}">
        <p14:creationId xmlns:p14="http://schemas.microsoft.com/office/powerpoint/2010/main" val="3811204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6EE7-E45E-83C1-CC3E-4EB2DADC8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B212B1-64E7-A51E-79CD-D868FA5BB27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Applying this…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00A452-F8C6-EC11-6487-14061235FE37}"/>
              </a:ext>
            </a:extLst>
          </p:cNvPr>
          <p:cNvSpPr/>
          <p:nvPr/>
        </p:nvSpPr>
        <p:spPr>
          <a:xfrm>
            <a:off x="1237041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GDP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40EA505-EB27-756E-763C-E76ADCC7F30E}"/>
              </a:ext>
            </a:extLst>
          </p:cNvPr>
          <p:cNvSpPr/>
          <p:nvPr/>
        </p:nvSpPr>
        <p:spPr>
          <a:xfrm>
            <a:off x="4889298" y="4253948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Life Expectancy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892F53-9420-0922-9C54-206C4273AEFF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037041" y="5153948"/>
            <a:ext cx="1852257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2723BF5-AB5E-FAC2-8678-28497F9E3165}"/>
              </a:ext>
            </a:extLst>
          </p:cNvPr>
          <p:cNvSpPr/>
          <p:nvPr/>
        </p:nvSpPr>
        <p:spPr>
          <a:xfrm>
            <a:off x="3037041" y="1921896"/>
            <a:ext cx="1800000" cy="180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Schooling</a:t>
            </a:r>
          </a:p>
        </p:txBody>
      </p:sp>
      <p:pic>
        <p:nvPicPr>
          <p:cNvPr id="11" name="Picture 10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22BE6BE4-2666-1E40-082B-9AB9D2863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902" y="602572"/>
            <a:ext cx="6518097" cy="15316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57E9862-A933-96A4-846F-9AB93CFDC39A}"/>
              </a:ext>
            </a:extLst>
          </p:cNvPr>
          <p:cNvSpPr txBox="1"/>
          <p:nvPr/>
        </p:nvSpPr>
        <p:spPr>
          <a:xfrm>
            <a:off x="5152902" y="2305308"/>
            <a:ext cx="59084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establishes Schooling as a potential confounder, mediator and collider, because it is associated with both the exposure and the outcome.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9257C8-185F-F636-075D-2F128809319D}"/>
              </a:ext>
            </a:extLst>
          </p:cNvPr>
          <p:cNvSpPr txBox="1"/>
          <p:nvPr/>
        </p:nvSpPr>
        <p:spPr>
          <a:xfrm>
            <a:off x="2464248" y="3505637"/>
            <a:ext cx="52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?</a:t>
            </a:r>
          </a:p>
          <a:p>
            <a:endParaRPr lang="en-US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F9198-0168-0BE0-7BA3-3588BFC60483}"/>
              </a:ext>
            </a:extLst>
          </p:cNvPr>
          <p:cNvSpPr txBox="1"/>
          <p:nvPr/>
        </p:nvSpPr>
        <p:spPr>
          <a:xfrm>
            <a:off x="4732976" y="3633287"/>
            <a:ext cx="5224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?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463900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6121-A4A6-A826-4F21-EA1A14941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E95F46-33E4-2EE8-EA95-CADDB2E8E0E2}"/>
              </a:ext>
            </a:extLst>
          </p:cNvPr>
          <p:cNvSpPr txBox="1"/>
          <p:nvPr/>
        </p:nvSpPr>
        <p:spPr>
          <a:xfrm>
            <a:off x="569843" y="649357"/>
            <a:ext cx="78717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Non-linear relationships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3DD31C-6F41-9296-15CA-104BDBE9597D}"/>
              </a:ext>
            </a:extLst>
          </p:cNvPr>
          <p:cNvSpPr txBox="1"/>
          <p:nvPr/>
        </p:nvSpPr>
        <p:spPr>
          <a:xfrm>
            <a:off x="569843" y="1577008"/>
            <a:ext cx="7871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measures only linear dependence. Strong curved or threshold relationships can exist even when correlation is close to zero. </a:t>
            </a:r>
          </a:p>
        </p:txBody>
      </p:sp>
      <p:pic>
        <p:nvPicPr>
          <p:cNvPr id="11" name="Picture 10" descr="A graph with a blue line&#10;&#10;AI-generated content may be incorrect.">
            <a:extLst>
              <a:ext uri="{FF2B5EF4-FFF2-40B4-BE49-F238E27FC236}">
                <a16:creationId xmlns:a16="http://schemas.microsoft.com/office/drawing/2014/main" id="{655DE7F2-F10D-8C38-4615-1322A7B5C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4" y="3120213"/>
            <a:ext cx="4800424" cy="36003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CFBB5A-115C-59FC-FD8B-1A5612E46B83}"/>
              </a:ext>
            </a:extLst>
          </p:cNvPr>
          <p:cNvSpPr txBox="1"/>
          <p:nvPr/>
        </p:nvSpPr>
        <p:spPr>
          <a:xfrm>
            <a:off x="6281531" y="4403829"/>
            <a:ext cx="457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Although life expectancy increases with GDP, the relationship is clearly non-linear. Pearson’s correlation measures only linear association, so it cannot fully capture this curved pattern.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essential before interpreting correlation values.</a:t>
            </a:r>
          </a:p>
        </p:txBody>
      </p:sp>
    </p:spTree>
    <p:extLst>
      <p:ext uri="{BB962C8B-B14F-4D97-AF65-F5344CB8AC3E}">
        <p14:creationId xmlns:p14="http://schemas.microsoft.com/office/powerpoint/2010/main" val="33253587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7B586-01EA-1F78-D6E9-5973CD8D6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9CB5C3-8CCB-CACD-3BF4-C57817AD3781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Heterogeneous subgroups &amp; Simpson’s paradox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9E349E-2496-5AFD-2D52-37D9E5118E7C}"/>
              </a:ext>
            </a:extLst>
          </p:cNvPr>
          <p:cNvSpPr txBox="1"/>
          <p:nvPr/>
        </p:nvSpPr>
        <p:spPr>
          <a:xfrm>
            <a:off x="569842" y="1234132"/>
            <a:ext cx="10614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When data contain distinct subgroups, overall correlations can mask or even reverse subgroup-level patterns. The relationship between GDP and life expectancy differs by development status, illustrating how subgroup structure can distort interpretation — a key idea behind Simpson’s paradox.</a:t>
            </a:r>
          </a:p>
        </p:txBody>
      </p:sp>
      <p:pic>
        <p:nvPicPr>
          <p:cNvPr id="5" name="Picture 4" descr="A graph showing a red and blue line&#10;&#10;AI-generated content may be incorrect.">
            <a:extLst>
              <a:ext uri="{FF2B5EF4-FFF2-40B4-BE49-F238E27FC236}">
                <a16:creationId xmlns:a16="http://schemas.microsoft.com/office/drawing/2014/main" id="{F091E1DA-CA68-4FEA-AF32-6B8B4B7A8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3053953"/>
            <a:ext cx="4575075" cy="34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578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C0B19-5770-5E7B-8733-FBD53647B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5C611D-F80B-51F3-9C5C-6ADC098DFA86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Selection mechanisms and colliders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3EC600-86EA-9CB1-EADF-84FF276D5EA5}"/>
              </a:ext>
            </a:extLst>
          </p:cNvPr>
          <p:cNvSpPr txBox="1"/>
          <p:nvPr/>
        </p:nvSpPr>
        <p:spPr>
          <a:xfrm>
            <a:off x="569843" y="1577008"/>
            <a:ext cx="6294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Restricting analysis to selected groups can introduce spurious associations even when none exist in the population.</a:t>
            </a:r>
          </a:p>
        </p:txBody>
      </p:sp>
      <p:pic>
        <p:nvPicPr>
          <p:cNvPr id="7" name="Picture 6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03607E2-C3DC-2657-230F-C4293EB13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3120213"/>
            <a:ext cx="6836229" cy="341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0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3C797-3CAC-9B0F-C73A-5944BA3BB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F9F878-622F-425A-03BD-689372046DAB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Temporal trends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39FA33-D78F-BD48-02D6-7D05DB6C26FF}"/>
              </a:ext>
            </a:extLst>
          </p:cNvPr>
          <p:cNvSpPr txBox="1"/>
          <p:nvPr/>
        </p:nvSpPr>
        <p:spPr>
          <a:xfrm>
            <a:off x="569842" y="1538009"/>
            <a:ext cx="6294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time-series data, variables may correlate simply because they share a common trend over time, not because one influences the other.</a:t>
            </a:r>
          </a:p>
        </p:txBody>
      </p:sp>
      <p:pic>
        <p:nvPicPr>
          <p:cNvPr id="5" name="Picture 4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D757EB2-EC63-6026-AF29-58B2A721D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702" y="3042216"/>
            <a:ext cx="6133064" cy="3679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9F53C2-96E7-6C29-7E6D-BA09BE1E36B4}"/>
              </a:ext>
            </a:extLst>
          </p:cNvPr>
          <p:cNvSpPr txBox="1"/>
          <p:nvPr/>
        </p:nvSpPr>
        <p:spPr>
          <a:xfrm>
            <a:off x="7592684" y="4333461"/>
            <a:ext cx="3788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GDP and life expectancy both increase over time in many countries. This shared temporal structure can generate high correlations even when no direct causal relationship exists between short-term changes in the variables.</a:t>
            </a:r>
          </a:p>
        </p:txBody>
      </p:sp>
    </p:spTree>
    <p:extLst>
      <p:ext uri="{BB962C8B-B14F-4D97-AF65-F5344CB8AC3E}">
        <p14:creationId xmlns:p14="http://schemas.microsoft.com/office/powerpoint/2010/main" val="29257758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1FFF2-75F1-93D4-23BA-27B369DE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1CC8E2-CA29-6575-FA99-8CAC55CA76A6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Chance correlations in large datasets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461F4-C42C-FA09-D289-6E42399096FE}"/>
              </a:ext>
            </a:extLst>
          </p:cNvPr>
          <p:cNvSpPr txBox="1"/>
          <p:nvPr/>
        </p:nvSpPr>
        <p:spPr>
          <a:xfrm>
            <a:off x="569842" y="1405570"/>
            <a:ext cx="110187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As the number of variables increases, the probability of observing strong correlations by chance alone also increases.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A10A9C-FE55-A967-BDF3-42CD3F998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42" y="2408005"/>
            <a:ext cx="5667455" cy="425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5214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DC75-E95A-DD0F-A0BD-B2FE538FF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FE83F-59A5-C7EF-E83B-F59258FE6A23}"/>
              </a:ext>
            </a:extLst>
          </p:cNvPr>
          <p:cNvSpPr txBox="1"/>
          <p:nvPr/>
        </p:nvSpPr>
        <p:spPr>
          <a:xfrm>
            <a:off x="569842" y="649357"/>
            <a:ext cx="9037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Key message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C80EF-B660-0A86-9EAA-E01CCAA2CCDB}"/>
              </a:ext>
            </a:extLst>
          </p:cNvPr>
          <p:cNvSpPr txBox="1"/>
          <p:nvPr/>
        </p:nvSpPr>
        <p:spPr>
          <a:xfrm>
            <a:off x="569843" y="1577008"/>
            <a:ext cx="62947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≠ causation…</a:t>
            </a:r>
          </a:p>
          <a:p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Correlation is a powerful descriptive tool, but it cannot establish causal relationships on its own.</a:t>
            </a:r>
          </a:p>
        </p:txBody>
      </p:sp>
    </p:spTree>
    <p:extLst>
      <p:ext uri="{BB962C8B-B14F-4D97-AF65-F5344CB8AC3E}">
        <p14:creationId xmlns:p14="http://schemas.microsoft.com/office/powerpoint/2010/main" val="833529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E5477-25FD-7E79-1B57-705F3827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D008B5-7D66-403D-E952-E1B70DB55CC4}"/>
              </a:ext>
            </a:extLst>
          </p:cNvPr>
          <p:cNvSpPr txBox="1"/>
          <p:nvPr/>
        </p:nvSpPr>
        <p:spPr>
          <a:xfrm>
            <a:off x="623861" y="3095607"/>
            <a:ext cx="10944278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733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4.4 Formalising visualisation skills in R</a:t>
            </a:r>
          </a:p>
        </p:txBody>
      </p:sp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34280A4-0268-BDF1-53C8-D7C2A67AD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738" y="560999"/>
            <a:ext cx="3369733" cy="79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634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78EA1-56A6-40CC-A576-8852C3EF8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026A5F-DD46-0160-E5D7-21057A247C81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have already used R to turn data into visual evidence…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3240DD-3508-BC40-97B8-C8D75483103F}"/>
              </a:ext>
            </a:extLst>
          </p:cNvPr>
          <p:cNvSpPr/>
          <p:nvPr/>
        </p:nvSpPr>
        <p:spPr>
          <a:xfrm>
            <a:off x="569841" y="2600950"/>
            <a:ext cx="5526159" cy="12443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data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select(outcome, group)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filter(!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is.na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(outcome))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8DC05A-9969-0473-A9D1-CA06955C192C}"/>
              </a:ext>
            </a:extLst>
          </p:cNvPr>
          <p:cNvSpPr txBox="1"/>
          <p:nvPr/>
        </p:nvSpPr>
        <p:spPr>
          <a:xfrm>
            <a:off x="569841" y="1920179"/>
            <a:ext cx="6886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 we did something like this to prepare the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DF0E5-4DC9-93B0-B422-F5CC687754F8}"/>
              </a:ext>
            </a:extLst>
          </p:cNvPr>
          <p:cNvSpPr txBox="1"/>
          <p:nvPr/>
        </p:nvSpPr>
        <p:spPr>
          <a:xfrm>
            <a:off x="569840" y="4064411"/>
            <a:ext cx="68860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Then we may have done something like this…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F14FCD-4D15-497C-D10B-06EA85AC396A}"/>
              </a:ext>
            </a:extLst>
          </p:cNvPr>
          <p:cNvSpPr/>
          <p:nvPr/>
        </p:nvSpPr>
        <p:spPr>
          <a:xfrm>
            <a:off x="569841" y="4745182"/>
            <a:ext cx="5526159" cy="14634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group, y = outcome))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geom_boxplot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A6AF3B-A0BE-DB99-F068-3C903439F4AA}"/>
              </a:ext>
            </a:extLst>
          </p:cNvPr>
          <p:cNvSpPr txBox="1"/>
          <p:nvPr/>
        </p:nvSpPr>
        <p:spPr>
          <a:xfrm>
            <a:off x="6282536" y="5681095"/>
            <a:ext cx="38515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…but what did it all mean?</a:t>
            </a:r>
          </a:p>
        </p:txBody>
      </p:sp>
    </p:spTree>
    <p:extLst>
      <p:ext uri="{BB962C8B-B14F-4D97-AF65-F5344CB8AC3E}">
        <p14:creationId xmlns:p14="http://schemas.microsoft.com/office/powerpoint/2010/main" val="25022815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64D25-910B-0374-D016-50EA2CCBA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34EB2B-863F-C653-F3CA-E8625D0D5C75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ggplot2 uses a grammar to construct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visualisations</a:t>
            </a:r>
            <a:endParaRPr lang="en-US" sz="32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DAB2E4-1361-4EC4-F494-4A03FF87F039}"/>
              </a:ext>
            </a:extLst>
          </p:cNvPr>
          <p:cNvSpPr txBox="1"/>
          <p:nvPr/>
        </p:nvSpPr>
        <p:spPr>
          <a:xfrm>
            <a:off x="569842" y="1601429"/>
            <a:ext cx="754162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visualisation is not a single picture. It is a combination of components.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visualisation =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  data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aesthetic mappings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geometry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statistical transformations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scales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facets</a:t>
            </a: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+ labels and theme</a:t>
            </a:r>
          </a:p>
          <a:p>
            <a:pPr>
              <a:buNone/>
            </a:pPr>
            <a:endParaRPr lang="en-GB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ggplot2(), these components are combined using +. This means that we can construct, understand and modify a visualisation one component at a time.</a:t>
            </a:r>
          </a:p>
        </p:txBody>
      </p:sp>
    </p:spTree>
    <p:extLst>
      <p:ext uri="{BB962C8B-B14F-4D97-AF65-F5344CB8AC3E}">
        <p14:creationId xmlns:p14="http://schemas.microsoft.com/office/powerpoint/2010/main" val="2014849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EC7DB-8A17-DF50-DAC2-39247409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E7D53A-540F-97BB-7811-D11129358470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Every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begins with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003416-49EB-CAA3-DEE6-C9D8B740EBE2}"/>
              </a:ext>
            </a:extLst>
          </p:cNvPr>
          <p:cNvSpPr/>
          <p:nvPr/>
        </p:nvSpPr>
        <p:spPr>
          <a:xfrm>
            <a:off x="700468" y="1947808"/>
            <a:ext cx="5526159" cy="12443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57711-318B-5564-3179-76D088EAFAA2}"/>
              </a:ext>
            </a:extLst>
          </p:cNvPr>
          <p:cNvSpPr txBox="1"/>
          <p:nvPr/>
        </p:nvSpPr>
        <p:spPr>
          <a:xfrm>
            <a:off x="700468" y="3738381"/>
            <a:ext cx="71372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Read this as: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“Take </a:t>
            </a:r>
            <a:r>
              <a:rPr lang="en-GB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analysis_data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 and use it to begin a visualisation.”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At this stage, R knows which data to use—but not which variables to display or how to represent them.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b="1" i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dataset should already have been selected, filtered and checked.</a:t>
            </a:r>
          </a:p>
        </p:txBody>
      </p:sp>
    </p:spTree>
    <p:extLst>
      <p:ext uri="{BB962C8B-B14F-4D97-AF65-F5344CB8AC3E}">
        <p14:creationId xmlns:p14="http://schemas.microsoft.com/office/powerpoint/2010/main" val="1377445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48B0-8764-88B7-0D43-B5990D8CA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55868F-EF91-013C-1A87-D3BABD6E7FC4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Aesthetic mappings connect variables to visual properties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A0A17-5676-1447-FD10-5BE45FF6BC11}"/>
              </a:ext>
            </a:extLst>
          </p:cNvPr>
          <p:cNvSpPr/>
          <p:nvPr/>
        </p:nvSpPr>
        <p:spPr>
          <a:xfrm>
            <a:off x="700466" y="1982205"/>
            <a:ext cx="6797612" cy="1195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2D313-916E-911C-7F24-8ED0EB2F00FD}"/>
              </a:ext>
            </a:extLst>
          </p:cNvPr>
          <p:cNvSpPr txBox="1"/>
          <p:nvPr/>
        </p:nvSpPr>
        <p:spPr>
          <a:xfrm>
            <a:off x="700466" y="3926265"/>
            <a:ext cx="679761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gdp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determines horizontal position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Courier New" panose="02070309020205020404" pitchFamily="49" charset="0"/>
              </a:rPr>
              <a:t>life_expectancy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determines vertical position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aes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maps variables in the piped dataset to visual properties. Other possible aesthetics include: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colour     size     shape     transparency</a:t>
            </a:r>
          </a:p>
        </p:txBody>
      </p:sp>
    </p:spTree>
    <p:extLst>
      <p:ext uri="{BB962C8B-B14F-4D97-AF65-F5344CB8AC3E}">
        <p14:creationId xmlns:p14="http://schemas.microsoft.com/office/powerpoint/2010/main" val="400753511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3161-D396-B339-11DA-CEDBB9643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734935-26AD-B911-E061-E38254CC3EF2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Geometries determine how observations appear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908397-D444-A665-B6A3-C2E484A55388}"/>
              </a:ext>
            </a:extLst>
          </p:cNvPr>
          <p:cNvSpPr/>
          <p:nvPr/>
        </p:nvSpPr>
        <p:spPr>
          <a:xfrm>
            <a:off x="683048" y="1590319"/>
            <a:ext cx="7241751" cy="12748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08A80D-6A0A-AF75-2814-33DAEA85C73B}"/>
              </a:ext>
            </a:extLst>
          </p:cNvPr>
          <p:cNvSpPr txBox="1"/>
          <p:nvPr/>
        </p:nvSpPr>
        <p:spPr>
          <a:xfrm>
            <a:off x="683048" y="3221307"/>
            <a:ext cx="711982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represents every observation as a point.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Different questions require different geometries: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geom_histogram</a:t>
            </a:r>
            <a:r>
              <a:rPr lang="en-GB" dirty="0">
                <a:latin typeface="Courier New" panose="02070309020205020404" pitchFamily="49" charset="0"/>
              </a:rPr>
              <a:t>()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Distribution of one numerical variable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geom_boxplot</a:t>
            </a:r>
            <a:r>
              <a:rPr lang="en-GB" dirty="0">
                <a:latin typeface="Courier New" panose="02070309020205020404" pitchFamily="49" charset="0"/>
              </a:rPr>
              <a:t>()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Numerical outcome across groups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geom_point</a:t>
            </a:r>
            <a:r>
              <a:rPr lang="en-GB" dirty="0">
                <a:latin typeface="Courier New" panose="02070309020205020404" pitchFamily="49" charset="0"/>
              </a:rPr>
              <a:t>()  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Relationship between numerical variables</a:t>
            </a:r>
          </a:p>
          <a:p>
            <a:pPr>
              <a:buNone/>
            </a:pPr>
            <a:endParaRPr lang="en-GB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geom_line</a:t>
            </a:r>
            <a:r>
              <a:rPr lang="en-GB" dirty="0">
                <a:latin typeface="Courier New" panose="02070309020205020404" pitchFamily="49" charset="0"/>
              </a:rPr>
              <a:t>()       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Values ordered across time</a:t>
            </a:r>
          </a:p>
        </p:txBody>
      </p:sp>
    </p:spTree>
    <p:extLst>
      <p:ext uri="{BB962C8B-B14F-4D97-AF65-F5344CB8AC3E}">
        <p14:creationId xmlns:p14="http://schemas.microsoft.com/office/powerpoint/2010/main" val="2993533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341EA-E4B1-9D5D-DDE2-AF38EC5C7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E2DA3-C019-5D08-6570-9EE3111E497D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Layers combine different representations of the same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FDA274-2171-C58A-264B-B5F88E0F5633}"/>
              </a:ext>
            </a:extLst>
          </p:cNvPr>
          <p:cNvSpPr/>
          <p:nvPr/>
        </p:nvSpPr>
        <p:spPr>
          <a:xfrm>
            <a:off x="683048" y="1786694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3B4858-A300-99F6-7480-E553B6D64449}"/>
              </a:ext>
            </a:extLst>
          </p:cNvPr>
          <p:cNvSpPr txBox="1"/>
          <p:nvPr/>
        </p:nvSpPr>
        <p:spPr>
          <a:xfrm>
            <a:off x="683048" y="3753394"/>
            <a:ext cx="68948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pipe passes the dataset into the visualisation.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first graphical layer displays the observations.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second graphical layer summarises the pattern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data |&gt; visualisation + points + trend</a:t>
            </a:r>
          </a:p>
        </p:txBody>
      </p:sp>
    </p:spTree>
    <p:extLst>
      <p:ext uri="{BB962C8B-B14F-4D97-AF65-F5344CB8AC3E}">
        <p14:creationId xmlns:p14="http://schemas.microsoft.com/office/powerpoint/2010/main" val="3309793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17497-1821-C946-CC7A-196A67AC0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7A00D8-A516-1827-A026-D3FCCEF796B4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Statistical transformations add summaries and trends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568A89-D681-3745-7BD5-7CF61FA0C340}"/>
              </a:ext>
            </a:extLst>
          </p:cNvPr>
          <p:cNvSpPr/>
          <p:nvPr/>
        </p:nvSpPr>
        <p:spPr>
          <a:xfrm>
            <a:off x="683048" y="1917322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method = "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", se = TRUE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8596E6-9252-56A5-62EE-59D10513A00E}"/>
              </a:ext>
            </a:extLst>
          </p:cNvPr>
          <p:cNvSpPr txBox="1"/>
          <p:nvPr/>
        </p:nvSpPr>
        <p:spPr>
          <a:xfrm>
            <a:off x="683048" y="4014651"/>
            <a:ext cx="765483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 err="1">
                <a:latin typeface="Courier New" panose="02070309020205020404" pitchFamily="49" charset="0"/>
              </a:rPr>
              <a:t>geom_smooth</a:t>
            </a:r>
            <a:r>
              <a:rPr lang="en-GB" dirty="0">
                <a:latin typeface="Courier New" panose="02070309020205020404" pitchFamily="49" charset="0"/>
              </a:rPr>
              <a:t>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estimates a relationship between the mapped variables.</a:t>
            </a:r>
          </a:p>
          <a:p>
            <a:pPr>
              <a:buNone/>
            </a:pPr>
            <a:endParaRPr lang="en-GB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method = "</a:t>
            </a:r>
            <a:r>
              <a:rPr lang="en-GB" dirty="0" err="1">
                <a:latin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</a:rPr>
              <a:t>"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fits a straight regression line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>
                <a:latin typeface="Courier New" panose="02070309020205020404" pitchFamily="49" charset="0"/>
              </a:rPr>
              <a:t>se = TRUE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uncertainty around the estimated line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A fitted line summarises an association. It does not demonstrate causation.</a:t>
            </a:r>
          </a:p>
        </p:txBody>
      </p:sp>
    </p:spTree>
    <p:extLst>
      <p:ext uri="{BB962C8B-B14F-4D97-AF65-F5344CB8AC3E}">
        <p14:creationId xmlns:p14="http://schemas.microsoft.com/office/powerpoint/2010/main" val="15569413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A51E-8BBD-5559-64D3-6CDBE33C2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6DC9E-6FE5-9F43-BD40-B49C826C1683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Scales control how data values are displayed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89EA6A-DBB9-8805-98D7-AD1EE6CA1A01}"/>
              </a:ext>
            </a:extLst>
          </p:cNvPr>
          <p:cNvSpPr/>
          <p:nvPr/>
        </p:nvSpPr>
        <p:spPr>
          <a:xfrm>
            <a:off x="700466" y="1795402"/>
            <a:ext cx="7241751" cy="14141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scale_x_log10()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9852F-A2C2-8ACD-C7F7-9AFB12BB6995}"/>
              </a:ext>
            </a:extLst>
          </p:cNvPr>
          <p:cNvSpPr txBox="1"/>
          <p:nvPr/>
        </p:nvSpPr>
        <p:spPr>
          <a:xfrm>
            <a:off x="700466" y="3881190"/>
            <a:ext cx="71236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Courier New" panose="02070309020205020404" pitchFamily="49" charset="0"/>
              </a:rPr>
              <a:t>scale_x_log10()</a:t>
            </a:r>
            <a:r>
              <a:rPr lang="en-GB" dirty="0"/>
              <a:t> </a:t>
            </a: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displays GDP using a logarithmic horizontal scale.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observations have not changed. The scale changes how their values are positioned on the graph.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Scale choices can make patterns easier, or harder, to see so they should always be reported clearly.</a:t>
            </a:r>
          </a:p>
        </p:txBody>
      </p:sp>
    </p:spTree>
    <p:extLst>
      <p:ext uri="{BB962C8B-B14F-4D97-AF65-F5344CB8AC3E}">
        <p14:creationId xmlns:p14="http://schemas.microsoft.com/office/powerpoint/2010/main" val="15889305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E4352-FD26-DCA7-5DFE-9ACD6C1E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B3D95F-22BF-FB2A-648D-EB6DA09DB7AE}"/>
              </a:ext>
            </a:extLst>
          </p:cNvPr>
          <p:cNvSpPr txBox="1"/>
          <p:nvPr/>
        </p:nvSpPr>
        <p:spPr>
          <a:xfrm>
            <a:off x="569842" y="64935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Facets apply the same </a:t>
            </a:r>
            <a:r>
              <a:rPr lang="en-US" sz="32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visualisation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different subgroups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528256-E2D1-237F-16B7-D37181BCAC2D}"/>
              </a:ext>
            </a:extLst>
          </p:cNvPr>
          <p:cNvSpPr/>
          <p:nvPr/>
        </p:nvSpPr>
        <p:spPr>
          <a:xfrm>
            <a:off x="700466" y="1795401"/>
            <a:ext cx="7241751" cy="16335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+</a:t>
            </a:r>
          </a:p>
          <a:p>
            <a:pPr lvl="1"/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facet_wrap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(~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development_status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140B1-2778-C196-15E5-513D04CDA8BB}"/>
              </a:ext>
            </a:extLst>
          </p:cNvPr>
          <p:cNvSpPr txBox="1"/>
          <p:nvPr/>
        </p:nvSpPr>
        <p:spPr>
          <a:xfrm>
            <a:off x="700465" y="3824626"/>
            <a:ext cx="724175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Faceting divides the piped dataset into subgroups and constructs the same visualisation for each one.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allows us to ask:</a:t>
            </a:r>
          </a:p>
          <a:p>
            <a:pPr>
              <a:buNone/>
            </a:pPr>
            <a:endParaRPr lang="en-GB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None/>
            </a:pPr>
            <a:r>
              <a:rPr lang="en-GB" dirty="0">
                <a:latin typeface="Source Sans Pro" panose="020B0503030403020204" pitchFamily="34" charset="0"/>
                <a:ea typeface="Source Sans Pro" panose="020B0503030403020204" pitchFamily="34" charset="0"/>
              </a:rPr>
              <a:t>Does the overall relationship also appear within each subgroup?</a:t>
            </a:r>
          </a:p>
        </p:txBody>
      </p:sp>
    </p:spTree>
    <p:extLst>
      <p:ext uri="{BB962C8B-B14F-4D97-AF65-F5344CB8AC3E}">
        <p14:creationId xmlns:p14="http://schemas.microsoft.com/office/powerpoint/2010/main" val="4084771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DC82-51FF-C637-2688-23FB8800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0FBF76-E8D8-A53D-6F3C-A7C2D24C9DFB}"/>
              </a:ext>
            </a:extLst>
          </p:cNvPr>
          <p:cNvSpPr txBox="1"/>
          <p:nvPr/>
        </p:nvSpPr>
        <p:spPr>
          <a:xfrm>
            <a:off x="666093" y="44789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Caution: sometimes the pipe isn’t your friend!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F34A3-8BB8-204D-D32C-9B6C2228FFD5}"/>
              </a:ext>
            </a:extLst>
          </p:cNvPr>
          <p:cNvSpPr/>
          <p:nvPr/>
        </p:nvSpPr>
        <p:spPr>
          <a:xfrm>
            <a:off x="666093" y="1379854"/>
            <a:ext cx="8452577" cy="1753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cor.test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analysis_data$gdp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analysis_data$life_expectancy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pearson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F75DA-C8D4-1695-4F6C-3B69DF435836}"/>
              </a:ext>
            </a:extLst>
          </p:cNvPr>
          <p:cNvSpPr txBox="1"/>
          <p:nvPr/>
        </p:nvSpPr>
        <p:spPr>
          <a:xfrm>
            <a:off x="666093" y="3611191"/>
            <a:ext cx="9231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cor.test</a:t>
            </a:r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() returns several pieces of information and stores them together.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6DEAF-0E68-FD19-59C5-7A9FD0AB8F99}"/>
              </a:ext>
            </a:extLst>
          </p:cNvPr>
          <p:cNvSpPr/>
          <p:nvPr/>
        </p:nvSpPr>
        <p:spPr>
          <a:xfrm>
            <a:off x="666093" y="4327705"/>
            <a:ext cx="8452577" cy="17530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correlation_result$estimate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correlation_result$conf.int</a:t>
            </a:r>
            <a:endParaRPr lang="en-GB" dirty="0">
              <a:solidFill>
                <a:srgbClr val="031D42"/>
              </a:solidFill>
              <a:latin typeface="Aptos Mono" panose="020B0009020202020204" pitchFamily="49" charset="0"/>
            </a:endParaRPr>
          </a:p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correlation_result$p.value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6809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EA62-FB37-8369-3093-453BB496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5241A5-1378-91AE-A316-C4B3523C1995}"/>
              </a:ext>
            </a:extLst>
          </p:cNvPr>
          <p:cNvSpPr txBox="1"/>
          <p:nvPr/>
        </p:nvSpPr>
        <p:spPr>
          <a:xfrm>
            <a:off x="666093" y="447897"/>
            <a:ext cx="11033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Analysis results can be used in captions of figures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36BF6-AD18-1482-9B50-26DF1757C8ED}"/>
              </a:ext>
            </a:extLst>
          </p:cNvPr>
          <p:cNvSpPr/>
          <p:nvPr/>
        </p:nvSpPr>
        <p:spPr>
          <a:xfrm>
            <a:off x="378710" y="1378680"/>
            <a:ext cx="6126594" cy="11107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caption_text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&lt;- paste(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"Pearson r =",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round(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correlation_result$estimate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2))</a:t>
            </a:r>
            <a:endParaRPr lang="en-GB" b="1" dirty="0">
              <a:solidFill>
                <a:srgbClr val="031D42"/>
              </a:solidFill>
              <a:latin typeface="Aptos Mono" panose="020B000902020202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D38070-E994-1475-47AE-5CAAD7F76009}"/>
              </a:ext>
            </a:extLst>
          </p:cNvPr>
          <p:cNvSpPr txBox="1"/>
          <p:nvPr/>
        </p:nvSpPr>
        <p:spPr>
          <a:xfrm>
            <a:off x="6675007" y="1342174"/>
            <a:ext cx="52818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Here: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$estimate retrieves the correlation coefficient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round() rounds it to two decimal places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paste() combines text and a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678268-52FB-1634-57B5-A537ED747367}"/>
              </a:ext>
            </a:extLst>
          </p:cNvPr>
          <p:cNvSpPr/>
          <p:nvPr/>
        </p:nvSpPr>
        <p:spPr>
          <a:xfrm>
            <a:off x="378710" y="2835485"/>
            <a:ext cx="8452577" cy="29754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analysis_data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|&gt;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ggplot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aes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(x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gdp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, y =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life_expectancy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geom_point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geom_smooth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(method = "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lm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", se = TRUE)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labs(x = "GDP per person",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	    y = "Life expectancy (years)",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     </a:t>
            </a:r>
            <a:r>
              <a:rPr lang="en-GB" b="1" dirty="0">
                <a:solidFill>
                  <a:srgbClr val="031D42"/>
                </a:solidFill>
                <a:latin typeface="Aptos Mono" panose="020B0009020202020204" pitchFamily="49" charset="0"/>
              </a:rPr>
              <a:t>caption = </a:t>
            </a:r>
            <a:r>
              <a:rPr lang="en-GB" b="1" dirty="0" err="1">
                <a:solidFill>
                  <a:srgbClr val="031D42"/>
                </a:solidFill>
                <a:latin typeface="Aptos Mono" panose="020B0009020202020204" pitchFamily="49" charset="0"/>
              </a:rPr>
              <a:t>caption_text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) +</a:t>
            </a:r>
          </a:p>
          <a:p>
            <a:pPr lvl="1"/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  </a:t>
            </a:r>
            <a:r>
              <a:rPr lang="en-GB" dirty="0" err="1">
                <a:solidFill>
                  <a:srgbClr val="031D42"/>
                </a:solidFill>
                <a:latin typeface="Aptos Mono" panose="020B0009020202020204" pitchFamily="49" charset="0"/>
              </a:rPr>
              <a:t>theme_minimal</a:t>
            </a:r>
            <a:r>
              <a:rPr lang="en-GB" dirty="0">
                <a:solidFill>
                  <a:srgbClr val="031D42"/>
                </a:solidFill>
                <a:latin typeface="Aptos Mono" panose="020B0009020202020204" pitchFamily="49" charset="0"/>
              </a:rPr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5524BC-4BD2-CD30-D2C2-76928E601D02}"/>
              </a:ext>
            </a:extLst>
          </p:cNvPr>
          <p:cNvSpPr txBox="1"/>
          <p:nvPr/>
        </p:nvSpPr>
        <p:spPr>
          <a:xfrm>
            <a:off x="286303" y="6055072"/>
            <a:ext cx="8536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Because the caption uses the saved result, it will update if the analysis changes.</a:t>
            </a:r>
          </a:p>
        </p:txBody>
      </p:sp>
    </p:spTree>
    <p:extLst>
      <p:ext uri="{BB962C8B-B14F-4D97-AF65-F5344CB8AC3E}">
        <p14:creationId xmlns:p14="http://schemas.microsoft.com/office/powerpoint/2010/main" val="2406651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1D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FE9BF-930E-0A88-049A-8C6D658D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B87C5B-C1E1-586C-4DF8-4AD6AB15B5B4}"/>
              </a:ext>
            </a:extLst>
          </p:cNvPr>
          <p:cNvSpPr txBox="1"/>
          <p:nvPr/>
        </p:nvSpPr>
        <p:spPr>
          <a:xfrm>
            <a:off x="500743" y="463485"/>
            <a:ext cx="58782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What you need to do next…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9FBF80-4DB0-FFED-AB2E-F97CFA3B6861}"/>
              </a:ext>
            </a:extLst>
          </p:cNvPr>
          <p:cNvSpPr txBox="1"/>
          <p:nvPr/>
        </p:nvSpPr>
        <p:spPr>
          <a:xfrm>
            <a:off x="576944" y="1339463"/>
            <a:ext cx="836086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Calibri"/>
              </a:rPr>
              <a:t>We have discussed a lot this week about correlation and causation, and in particular correlation testing. We’re going to move onto implementing this in R and making good visualisations which help us think about these concepts.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4048D93-CE3B-2C04-DE0A-2C7A2ADB27C0}"/>
              </a:ext>
            </a:extLst>
          </p:cNvPr>
          <p:cNvCxnSpPr>
            <a:cxnSpLocks/>
          </p:cNvCxnSpPr>
          <p:nvPr/>
        </p:nvCxnSpPr>
        <p:spPr>
          <a:xfrm>
            <a:off x="7391399" y="6232360"/>
            <a:ext cx="3923373" cy="0"/>
          </a:xfrm>
          <a:prstGeom prst="straightConnector1">
            <a:avLst/>
          </a:prstGeom>
          <a:ln w="762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606799-C9AB-D73E-8140-7F2FF5803538}"/>
              </a:ext>
            </a:extLst>
          </p:cNvPr>
          <p:cNvSpPr txBox="1"/>
          <p:nvPr/>
        </p:nvSpPr>
        <p:spPr>
          <a:xfrm>
            <a:off x="7391399" y="5669037"/>
            <a:ext cx="36506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noProof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To the code-along…</a:t>
            </a:r>
            <a:endParaRPr lang="en-GB" sz="2800" noProof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4582</TotalTime>
  <Words>2203</Words>
  <Application>Microsoft Macintosh PowerPoint</Application>
  <PresentationFormat>Widescreen</PresentationFormat>
  <Paragraphs>297</Paragraphs>
  <Slides>50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Aptos</vt:lpstr>
      <vt:lpstr>Aptos Display</vt:lpstr>
      <vt:lpstr>Aptos Mono</vt:lpstr>
      <vt:lpstr>Arial</vt:lpstr>
      <vt:lpstr>Cambria Math</vt:lpstr>
      <vt:lpstr>Courier New</vt:lpstr>
      <vt:lpstr>Source Sans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Oldnall</dc:creator>
  <cp:lastModifiedBy>Chris Oldnall</cp:lastModifiedBy>
  <cp:revision>34</cp:revision>
  <cp:lastPrinted>2026-04-30T09:46:23Z</cp:lastPrinted>
  <dcterms:created xsi:type="dcterms:W3CDTF">2026-04-30T09:42:16Z</dcterms:created>
  <dcterms:modified xsi:type="dcterms:W3CDTF">2026-08-10T15:48:39Z</dcterms:modified>
</cp:coreProperties>
</file>