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72" r:id="rId2"/>
    <p:sldId id="273" r:id="rId3"/>
    <p:sldId id="278" r:id="rId4"/>
    <p:sldId id="280" r:id="rId5"/>
    <p:sldId id="339" r:id="rId6"/>
    <p:sldId id="340" r:id="rId7"/>
    <p:sldId id="341" r:id="rId8"/>
    <p:sldId id="342" r:id="rId9"/>
    <p:sldId id="295" r:id="rId10"/>
    <p:sldId id="284" r:id="rId11"/>
    <p:sldId id="352" r:id="rId12"/>
    <p:sldId id="353" r:id="rId13"/>
    <p:sldId id="296" r:id="rId14"/>
    <p:sldId id="301" r:id="rId15"/>
    <p:sldId id="359" r:id="rId16"/>
    <p:sldId id="281" r:id="rId17"/>
    <p:sldId id="343" r:id="rId18"/>
    <p:sldId id="344" r:id="rId19"/>
    <p:sldId id="346" r:id="rId20"/>
    <p:sldId id="360" r:id="rId21"/>
    <p:sldId id="347" r:id="rId22"/>
    <p:sldId id="348" r:id="rId23"/>
    <p:sldId id="349" r:id="rId24"/>
    <p:sldId id="350" r:id="rId25"/>
    <p:sldId id="351" r:id="rId26"/>
    <p:sldId id="361" r:id="rId27"/>
    <p:sldId id="298" r:id="rId28"/>
    <p:sldId id="299" r:id="rId29"/>
    <p:sldId id="300" r:id="rId30"/>
    <p:sldId id="362" r:id="rId31"/>
    <p:sldId id="279" r:id="rId32"/>
    <p:sldId id="354" r:id="rId33"/>
    <p:sldId id="358" r:id="rId34"/>
    <p:sldId id="355" r:id="rId35"/>
    <p:sldId id="356" r:id="rId36"/>
    <p:sldId id="363" r:id="rId37"/>
    <p:sldId id="364" r:id="rId38"/>
    <p:sldId id="357" r:id="rId39"/>
    <p:sldId id="286" r:id="rId40"/>
    <p:sldId id="326" r:id="rId41"/>
    <p:sldId id="331" r:id="rId42"/>
    <p:sldId id="332" r:id="rId43"/>
    <p:sldId id="333" r:id="rId44"/>
    <p:sldId id="334" r:id="rId45"/>
    <p:sldId id="335" r:id="rId46"/>
    <p:sldId id="336" r:id="rId47"/>
    <p:sldId id="327" r:id="rId48"/>
    <p:sldId id="328" r:id="rId49"/>
    <p:sldId id="337" r:id="rId50"/>
    <p:sldId id="338" r:id="rId51"/>
    <p:sldId id="32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66"/>
    <p:restoredTop sz="92877"/>
  </p:normalViewPr>
  <p:slideViewPr>
    <p:cSldViewPr snapToGrid="0">
      <p:cViewPr varScale="1">
        <p:scale>
          <a:sx n="110" d="100"/>
          <a:sy n="110" d="100"/>
        </p:scale>
        <p:origin x="2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586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CBA39-A74C-B90E-7446-9FF5B47A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22CB4-9438-BB20-EA43-89DAB288F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F2AA5-737E-C953-24A2-55942A67F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B82AC-85F0-0238-EE8F-CEC7DFDFD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F0BE6-861C-D94F-85E2-FD6AEED56CF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13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6: Regression for fair comparison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What about confounding?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664964"/>
            <a:ext cx="95653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Last week, we compared the risk of disease between patients receiving treatment and those receiving usual care. But what if the groups were already different?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Patients receiving treatment might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severely unwell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likely to have other health conditions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characteristics could influence both: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a patient receives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they develop the disease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observed difference in disease risk may therefore reflect a mixture of the treatment and these pre-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exisiting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differences. Regression allows us to account for measured differences between patients and make a fairer comparison.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Univariable regression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Assumptions of regression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Multivariable regression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Working with objects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321278" y="6232360"/>
            <a:ext cx="599349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321278" y="5669037"/>
            <a:ext cx="5720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6.1 Univariate regression</a:t>
            </a:r>
          </a:p>
          <a:p>
            <a:endParaRPr lang="en-GB" sz="2800" b="1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6.1 Univariable regression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9F991-41C2-FC6F-306D-78125A7A26E2}"/>
              </a:ext>
            </a:extLst>
          </p:cNvPr>
          <p:cNvSpPr txBox="1"/>
          <p:nvPr/>
        </p:nvSpPr>
        <p:spPr>
          <a:xfrm>
            <a:off x="569843" y="665609"/>
            <a:ext cx="10264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Regression quantifies a relationship between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B641C-E285-ED96-E0FA-781B8BB9A0A5}"/>
              </a:ext>
            </a:extLst>
          </p:cNvPr>
          <p:cNvSpPr txBox="1"/>
          <p:nvPr/>
        </p:nvSpPr>
        <p:spPr>
          <a:xfrm>
            <a:off x="569843" y="1517160"/>
            <a:ext cx="80374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health and social care, we often want to know:</a:t>
            </a:r>
          </a:p>
          <a:p>
            <a:r>
              <a:rPr lang="en-GB" sz="2800" b="1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much does an outcome change when a predictor changes?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Regression allows us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Explicitly define explanatory variables (A) and outcomes (Y)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Estimate the direction and size of their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Express the association using regression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Quantify the uncertainty around those estimates</a:t>
            </a:r>
          </a:p>
        </p:txBody>
      </p:sp>
    </p:spTree>
    <p:extLst>
      <p:ext uri="{BB962C8B-B14F-4D97-AF65-F5344CB8AC3E}">
        <p14:creationId xmlns:p14="http://schemas.microsoft.com/office/powerpoint/2010/main" val="289644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2C29-3768-80BA-05A9-16C9CA5E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14D510-CDB7-54EA-FB69-915B75E9E2FA}"/>
              </a:ext>
            </a:extLst>
          </p:cNvPr>
          <p:cNvSpPr txBox="1"/>
          <p:nvPr/>
        </p:nvSpPr>
        <p:spPr>
          <a:xfrm>
            <a:off x="569843" y="649357"/>
            <a:ext cx="9627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regression line describes the average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D2A5E5-97E6-FD59-0D6D-9EE414CFB290}"/>
                  </a:ext>
                </a:extLst>
              </p:cNvPr>
              <p:cNvSpPr txBox="1"/>
              <p:nvPr/>
            </p:nvSpPr>
            <p:spPr>
              <a:xfrm>
                <a:off x="569843" y="1603510"/>
                <a:ext cx="9627102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Simple linear regression represents the relationship using a straight line: Predicted outcome = Intercept + (Slope x Variable)</a:t>
                </a: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Mathematically we write:</a:t>
                </a: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2400" b="0" i="1" dirty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Where:</a:t>
                </a: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Y = outcome </a:t>
                </a: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= explanatory variable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slope</a:t>
                </a: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D2A5E5-97E6-FD59-0D6D-9EE414CF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603510"/>
                <a:ext cx="9627102" cy="4893647"/>
              </a:xfrm>
              <a:prstGeom prst="rect">
                <a:avLst/>
              </a:prstGeom>
              <a:blipFill>
                <a:blip r:embed="rId4"/>
                <a:stretch>
                  <a:fillRect l="-921" t="-10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9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276A1-2328-83BF-720C-17856B4D25FE}"/>
              </a:ext>
            </a:extLst>
          </p:cNvPr>
          <p:cNvSpPr txBox="1"/>
          <p:nvPr/>
        </p:nvSpPr>
        <p:spPr>
          <a:xfrm>
            <a:off x="569843" y="712235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are the intercepts and slope?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C17AD2-2B24-5EF4-4826-276FB9D41359}"/>
                  </a:ext>
                </a:extLst>
              </p:cNvPr>
              <p:cNvSpPr txBox="1"/>
              <p:nvPr/>
            </p:nvSpPr>
            <p:spPr>
              <a:xfrm>
                <a:off x="569843" y="2021560"/>
                <a:ext cx="844163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Intercept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1" i="1" dirty="0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GB" sz="28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GB" sz="2800" b="1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Predicted value of Y when A = 0</a:t>
                </a: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May not always be meaningful but positions the line.</a:t>
                </a:r>
              </a:p>
              <a:p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8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dirty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GB" sz="28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8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Expected change in Y for a one-unit increase in A</a:t>
                </a: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Positive slope → outcome increases</a:t>
                </a: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Negative slope → outcome decreases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C17AD2-2B24-5EF4-4826-276FB9D41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2021560"/>
                <a:ext cx="8441635" cy="3539430"/>
              </a:xfrm>
              <a:prstGeom prst="rect">
                <a:avLst/>
              </a:prstGeom>
              <a:blipFill>
                <a:blip r:embed="rId4"/>
                <a:stretch>
                  <a:fillRect l="-1351" t="-1792" b="-3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736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0567-2AC2-C9AF-A6B3-C3D5EB51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3C7D4-79D3-F1EF-1CD8-7AB983E6C186}"/>
              </a:ext>
            </a:extLst>
          </p:cNvPr>
          <p:cNvSpPr txBox="1"/>
          <p:nvPr/>
        </p:nvSpPr>
        <p:spPr>
          <a:xfrm>
            <a:off x="569843" y="821215"/>
            <a:ext cx="9377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Observations rarely lie perfectly on the fitted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F24241-82A7-D04A-C1A2-4ABA0933B06E}"/>
                  </a:ext>
                </a:extLst>
              </p:cNvPr>
              <p:cNvSpPr txBox="1"/>
              <p:nvPr/>
            </p:nvSpPr>
            <p:spPr>
              <a:xfrm>
                <a:off x="569842" y="1651701"/>
                <a:ext cx="9377721" cy="4843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each patient, the model produces a fitted, or predicted, outcome. This is almost impossible to get perfect, so we introduce an error term:</a:t>
                </a:r>
              </a:p>
              <a:p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GB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2800" b="0" i="1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is called </a:t>
                </a:r>
                <a:r>
                  <a:rPr lang="en-GB" sz="28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residual.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Residual = Observed outcome − Fitted outcome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GB" sz="2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8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b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GB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(each individual has a residual based on their actual outcome and their predicted outcome)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F24241-82A7-D04A-C1A2-4ABA0933B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651701"/>
                <a:ext cx="9377721" cy="4843634"/>
              </a:xfrm>
              <a:prstGeom prst="rect">
                <a:avLst/>
              </a:prstGeom>
              <a:blipFill>
                <a:blip r:embed="rId4"/>
                <a:stretch>
                  <a:fillRect l="-1216" t="-1571" b="-2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35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7AD9-339F-30FB-6432-E7326391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8A00F4-D4FC-BFEE-EE2A-D3B65D32DF86}"/>
              </a:ext>
            </a:extLst>
          </p:cNvPr>
          <p:cNvSpPr txBox="1"/>
          <p:nvPr/>
        </p:nvSpPr>
        <p:spPr>
          <a:xfrm>
            <a:off x="569843" y="369332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 intuition on what is happening…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5034A3-5CA0-EA1C-C5F3-EB254E1D19D7}"/>
                  </a:ext>
                </a:extLst>
              </p:cNvPr>
              <p:cNvSpPr txBox="1"/>
              <p:nvPr/>
            </p:nvSpPr>
            <p:spPr>
              <a:xfrm>
                <a:off x="569843" y="1315585"/>
                <a:ext cx="9350012" cy="5173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regression line is estimated using Ordinary Least Squares (OLS).</a:t>
                </a: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Each observation has a residual:</a:t>
                </a: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1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GB" sz="2400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OLS chooses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GB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minimise the sum of squared residuals:</a:t>
                </a:r>
              </a:p>
              <a:p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SSR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sz="24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 dirty="0" err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i="1" dirty="0" err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GB" sz="2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sz="24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i="1" dirty="0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GB" sz="2400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Squaring the residuals: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Penalises large errors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Ensures a unique “best-fitting” line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5034A3-5CA0-EA1C-C5F3-EB254E1D1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315585"/>
                <a:ext cx="9350012" cy="5173083"/>
              </a:xfrm>
              <a:prstGeom prst="rect">
                <a:avLst/>
              </a:prstGeom>
              <a:blipFill>
                <a:blip r:embed="rId5"/>
                <a:stretch>
                  <a:fillRect l="-950" t="-980" b="-127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210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7FBB-E61B-5471-E486-3040891C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17886-8857-100A-8FE3-8997BE3E1E88}"/>
              </a:ext>
            </a:extLst>
          </p:cNvPr>
          <p:cNvSpPr txBox="1"/>
          <p:nvPr/>
        </p:nvSpPr>
        <p:spPr>
          <a:xfrm>
            <a:off x="569843" y="649357"/>
            <a:ext cx="9710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R² describes how much variation the model explains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59750-1BDF-5DB6-A5D3-6F8A9BD87023}"/>
              </a:ext>
            </a:extLst>
          </p:cNvPr>
          <p:cNvSpPr txBox="1"/>
          <p:nvPr/>
        </p:nvSpPr>
        <p:spPr>
          <a:xfrm>
            <a:off x="569843" y="1826390"/>
            <a:ext cx="89343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Patients of the same age will not all have the same blood pressure.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R² describes the proportion of observed variation in the outcome explained by the fitted model.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Values range from 0 to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R² = 0     The model explains none of the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R² = 1     The model explains all the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Conceptually like variance explained in ANOVA</a:t>
            </a:r>
          </a:p>
        </p:txBody>
      </p:sp>
    </p:spTree>
    <p:extLst>
      <p:ext uri="{BB962C8B-B14F-4D97-AF65-F5344CB8AC3E}">
        <p14:creationId xmlns:p14="http://schemas.microsoft.com/office/powerpoint/2010/main" val="361224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F82A-0EDE-C8C8-B7C0-DAEC994A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6EB452-51D2-5EF4-5FFE-7CD9AD10A2DA}"/>
              </a:ext>
            </a:extLst>
          </p:cNvPr>
          <p:cNvSpPr txBox="1"/>
          <p:nvPr/>
        </p:nvSpPr>
        <p:spPr>
          <a:xfrm>
            <a:off x="689114" y="1537253"/>
            <a:ext cx="97849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Linear regression is designed for a continuous outcome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Blood pressure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Recovery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Symptom score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 clinical outcomes have only two possibilities: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or no disease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Readmitted or not readmitted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Recovered or not recovered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a binary outcome, we want to estimate a probability between 0 and 1. 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straight linear model can produce impossible predicted probabilities below 0 or above 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D11E3-D3F9-AC62-97A4-1EF3E0909076}"/>
              </a:ext>
            </a:extLst>
          </p:cNvPr>
          <p:cNvSpPr txBox="1"/>
          <p:nvPr/>
        </p:nvSpPr>
        <p:spPr>
          <a:xfrm>
            <a:off x="569842" y="649357"/>
            <a:ext cx="9904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 clinical outcomes require a different model</a:t>
            </a:r>
          </a:p>
        </p:txBody>
      </p:sp>
    </p:spTree>
    <p:extLst>
      <p:ext uri="{BB962C8B-B14F-4D97-AF65-F5344CB8AC3E}">
        <p14:creationId xmlns:p14="http://schemas.microsoft.com/office/powerpoint/2010/main" val="127079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683E-1700-D98F-7C17-3F319DD6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0370CA-4B42-71BE-6246-0BF172158515}"/>
                  </a:ext>
                </a:extLst>
              </p:cNvPr>
              <p:cNvSpPr txBox="1"/>
              <p:nvPr/>
            </p:nvSpPr>
            <p:spPr>
              <a:xfrm>
                <a:off x="569842" y="1843858"/>
                <a:ext cx="9607827" cy="4364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Logistic regression models probabilities, not raw outcomes</a:t>
                </a: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It assumes a linear relationship on the log-odds (logit) scale:</a:t>
                </a: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0" dirty="0" err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dirty="0" err="1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sepChr m:val="∣"/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left-hand side is called the logit!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0370CA-4B42-71BE-6246-0BF172158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843858"/>
                <a:ext cx="9607827" cy="4364785"/>
              </a:xfrm>
              <a:prstGeom prst="rect">
                <a:avLst/>
              </a:prstGeom>
              <a:blipFill>
                <a:blip r:embed="rId4"/>
                <a:stretch>
                  <a:fillRect l="-1187" t="-1159" b="-3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2B18242-097D-597D-94E2-40C4FB574426}"/>
              </a:ext>
            </a:extLst>
          </p:cNvPr>
          <p:cNvSpPr txBox="1"/>
          <p:nvPr/>
        </p:nvSpPr>
        <p:spPr>
          <a:xfrm>
            <a:off x="569842" y="649357"/>
            <a:ext cx="10042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Logistic regression models the probability of an event</a:t>
            </a:r>
          </a:p>
        </p:txBody>
      </p:sp>
    </p:spTree>
    <p:extLst>
      <p:ext uri="{BB962C8B-B14F-4D97-AF65-F5344CB8AC3E}">
        <p14:creationId xmlns:p14="http://schemas.microsoft.com/office/powerpoint/2010/main" val="376732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8C85-C925-3349-394E-83501964D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25F98-EDA7-AE7F-EBB8-9FF74ED87486}"/>
              </a:ext>
            </a:extLst>
          </p:cNvPr>
          <p:cNvSpPr txBox="1"/>
          <p:nvPr/>
        </p:nvSpPr>
        <p:spPr>
          <a:xfrm>
            <a:off x="569843" y="649357"/>
            <a:ext cx="9117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do we interpret logistic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27D0A3-A561-A87F-1768-DC44AA18DC77}"/>
                  </a:ext>
                </a:extLst>
              </p:cNvPr>
              <p:cNvSpPr txBox="1"/>
              <p:nvPr/>
            </p:nvSpPr>
            <p:spPr>
              <a:xfrm>
                <a:off x="569843" y="1680925"/>
                <a:ext cx="8546448" cy="4063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recover probabilities, we apply the inverse logit:</a:t>
                </a: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2800" i="0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800" i="1" dirty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transformation ensures: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Predictions lie between 0 and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relationship is non-linear on the probability scale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resulting curve is S-shaped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27D0A3-A561-A87F-1768-DC44AA18D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680925"/>
                <a:ext cx="8546448" cy="4063420"/>
              </a:xfrm>
              <a:prstGeom prst="rect">
                <a:avLst/>
              </a:prstGeom>
              <a:blipFill>
                <a:blip r:embed="rId4"/>
                <a:stretch>
                  <a:fillRect l="-1335" t="-1558" b="-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6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91A57-DF02-41CF-5875-DA2F31A2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FBC9C-0913-DC11-3EF2-27029D9C7938}"/>
              </a:ext>
            </a:extLst>
          </p:cNvPr>
          <p:cNvSpPr txBox="1"/>
          <p:nvPr/>
        </p:nvSpPr>
        <p:spPr>
          <a:xfrm>
            <a:off x="569843" y="649357"/>
            <a:ext cx="9117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do we interpret logistic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39300E-A75B-3EB8-A4C7-BD4A80252360}"/>
                  </a:ext>
                </a:extLst>
              </p:cNvPr>
              <p:cNvSpPr txBox="1"/>
              <p:nvPr/>
            </p:nvSpPr>
            <p:spPr>
              <a:xfrm>
                <a:off x="569843" y="1609536"/>
                <a:ext cx="943795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Coefficients are estimated on the log-odds scale; one-unit increase in X changes the log-odds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8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make interpretation easier, we exponentiate:</a:t>
                </a: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Odds Ratio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Interpretation:</a:t>
                </a: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•	OR &gt; 1 → increased odds</a:t>
                </a: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•	OR &lt; 1 → decreased odds</a:t>
                </a: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•	OR = 1 → no association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39300E-A75B-3EB8-A4C7-BD4A80252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609536"/>
                <a:ext cx="9437957" cy="4832092"/>
              </a:xfrm>
              <a:prstGeom prst="rect">
                <a:avLst/>
              </a:prstGeom>
              <a:blipFill>
                <a:blip r:embed="rId4"/>
                <a:stretch>
                  <a:fillRect l="-1208" t="-1309" b="-2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169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F375-60AD-6AA7-B666-D5075E02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1F92F-FDCD-49D8-508F-954D173AFDEB}"/>
              </a:ext>
            </a:extLst>
          </p:cNvPr>
          <p:cNvSpPr txBox="1"/>
          <p:nvPr/>
        </p:nvSpPr>
        <p:spPr>
          <a:xfrm>
            <a:off x="569843" y="552988"/>
            <a:ext cx="10517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Linear and logistic regression follow the same framework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4A8188-0BE3-96B5-E769-835EA2AD2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73734"/>
              </p:ext>
            </p:extLst>
          </p:nvPr>
        </p:nvGraphicFramePr>
        <p:xfrm>
          <a:off x="569843" y="1435432"/>
          <a:ext cx="10065501" cy="2194560"/>
        </p:xfrm>
        <a:graphic>
          <a:graphicData uri="http://schemas.openxmlformats.org/drawingml/2006/table">
            <a:tbl>
              <a:tblPr/>
              <a:tblGrid>
                <a:gridCol w="3355167">
                  <a:extLst>
                    <a:ext uri="{9D8B030D-6E8A-4147-A177-3AD203B41FA5}">
                      <a16:colId xmlns:a16="http://schemas.microsoft.com/office/drawing/2014/main" val="4066918778"/>
                    </a:ext>
                  </a:extLst>
                </a:gridCol>
                <a:gridCol w="3355167">
                  <a:extLst>
                    <a:ext uri="{9D8B030D-6E8A-4147-A177-3AD203B41FA5}">
                      <a16:colId xmlns:a16="http://schemas.microsoft.com/office/drawing/2014/main" val="1851478381"/>
                    </a:ext>
                  </a:extLst>
                </a:gridCol>
                <a:gridCol w="3355167">
                  <a:extLst>
                    <a:ext uri="{9D8B030D-6E8A-4147-A177-3AD203B41FA5}">
                      <a16:colId xmlns:a16="http://schemas.microsoft.com/office/drawing/2014/main" val="1374193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6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Binary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057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Blood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Disease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188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Model estimates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Average outcome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Difference in log-odds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76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Common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Regression 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Odds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330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Fitted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Any numerical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Probability between 0 and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628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4F0677-B377-C682-9921-DDDE32ADE871}"/>
              </a:ext>
            </a:extLst>
          </p:cNvPr>
          <p:cNvSpPr txBox="1"/>
          <p:nvPr/>
        </p:nvSpPr>
        <p:spPr>
          <a:xfrm>
            <a:off x="569842" y="4003072"/>
            <a:ext cx="72896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Both models: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Define an outcome and explanatory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Estimate regression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Produce fitted values and residuals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Rely on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be extended to include additional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74025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66588" y="3095607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6.2 Assumptions of regression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9F991-41C2-FC6F-306D-78125A7A26E2}"/>
              </a:ext>
            </a:extLst>
          </p:cNvPr>
          <p:cNvSpPr txBox="1"/>
          <p:nvPr/>
        </p:nvSpPr>
        <p:spPr>
          <a:xfrm>
            <a:off x="675861" y="640393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can we test within a linear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6FE5F-4166-54FF-D1F8-6B83F10A2085}"/>
                  </a:ext>
                </a:extLst>
              </p:cNvPr>
              <p:cNvSpPr txBox="1"/>
              <p:nvPr/>
            </p:nvSpPr>
            <p:spPr>
              <a:xfrm>
                <a:off x="675861" y="1784755"/>
                <a:ext cx="7447722" cy="4242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Each regression coefficient is estimated with uncertainty: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test the null hypothesis: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asks:</a:t>
                </a:r>
              </a:p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there evidence of an association between the predictor and the outcome?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6FE5F-4166-54FF-D1F8-6B83F10A2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1" y="1784755"/>
                <a:ext cx="7447722" cy="4242828"/>
              </a:xfrm>
              <a:prstGeom prst="rect">
                <a:avLst/>
              </a:prstGeom>
              <a:blipFill>
                <a:blip r:embed="rId4"/>
                <a:stretch>
                  <a:fillRect l="-1363" t="-1194" r="-1193" b="-20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10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F454-5493-5D7E-8760-8C7A76C1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965495-A760-ADEB-53AA-13B095632C88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can we test within a normal linear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B75E50-BD27-95A3-C3EE-3EEC6A7F826D}"/>
                  </a:ext>
                </a:extLst>
              </p:cNvPr>
              <p:cNvSpPr txBox="1"/>
              <p:nvPr/>
            </p:nvSpPr>
            <p:spPr>
              <a:xfrm>
                <a:off x="569842" y="1496391"/>
                <a:ext cx="7447722" cy="5062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each coefficient, we compute a t-statistic: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SE</m:t>
                          </m:r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dirty="0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 dirty="0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a simple regression with one predictor, this is compared with a t-distribution with n-2 degrees of freedom. The corresponding p-value quantifies evidence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Interpretation: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Small p-value → evidence of an association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Large p-value → insufficient evidence</a:t>
                </a:r>
                <a:endParaRPr 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B75E50-BD27-95A3-C3EE-3EEC6A7F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496391"/>
                <a:ext cx="7447722" cy="5062861"/>
              </a:xfrm>
              <a:prstGeom prst="rect">
                <a:avLst/>
              </a:prstGeom>
              <a:blipFill>
                <a:blip r:embed="rId4"/>
                <a:stretch>
                  <a:fillRect l="-1190" t="-1000" r="-850" b="-1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33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75C6-41CA-299F-8A0C-B3030AC5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A8D24-3D9D-EB75-6EC3-1BC576B34F89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Naturally, we have some assumptions…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24BFF-27A5-9C0F-14DF-80DF8E07437F}"/>
              </a:ext>
            </a:extLst>
          </p:cNvPr>
          <p:cNvSpPr txBox="1"/>
          <p:nvPr/>
        </p:nvSpPr>
        <p:spPr>
          <a:xfrm>
            <a:off x="569842" y="1549857"/>
            <a:ext cx="80004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intervals and p-values depend on assumptions about how the model relates to the data.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a linear regression model, we consider: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Constant residual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distribution of the residuals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Unusual or influential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They are not ‘pass’ or ‘fail’. Assumptions require some subjective judgement.</a:t>
            </a:r>
          </a:p>
        </p:txBody>
      </p:sp>
    </p:spTree>
    <p:extLst>
      <p:ext uri="{BB962C8B-B14F-4D97-AF65-F5344CB8AC3E}">
        <p14:creationId xmlns:p14="http://schemas.microsoft.com/office/powerpoint/2010/main" val="4281143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9B8E2-6BDE-CA85-B374-D4FDCA9E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6EA92-B13E-886F-E61E-54711DD03B34}"/>
              </a:ext>
            </a:extLst>
          </p:cNvPr>
          <p:cNvSpPr txBox="1"/>
          <p:nvPr/>
        </p:nvSpPr>
        <p:spPr>
          <a:xfrm>
            <a:off x="569842" y="712110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assumptions concern the residuals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00A60-7C9F-BA5A-41D6-18AE58524D35}"/>
              </a:ext>
            </a:extLst>
          </p:cNvPr>
          <p:cNvSpPr txBox="1"/>
          <p:nvPr/>
        </p:nvSpPr>
        <p:spPr>
          <a:xfrm>
            <a:off x="569842" y="1799280"/>
            <a:ext cx="80004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residual is the difference between an observed and predicted outcome: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Residual = observed outcome − predicted outcome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residuals represent what the model has not explained. Many regression assumptions therefore concern the pattern and distribution of the residuals.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explanatory variable and outcome themselves do not need to be normally distributed.</a:t>
            </a:r>
          </a:p>
        </p:txBody>
      </p:sp>
    </p:spTree>
    <p:extLst>
      <p:ext uri="{BB962C8B-B14F-4D97-AF65-F5344CB8AC3E}">
        <p14:creationId xmlns:p14="http://schemas.microsoft.com/office/powerpoint/2010/main" val="1413363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92597-04B1-977F-5D63-4EEB9FA2B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FE894-1C56-9D6D-1A36-FBEA97CF08AD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Linearity</a:t>
            </a:r>
          </a:p>
        </p:txBody>
      </p:sp>
      <p:pic>
        <p:nvPicPr>
          <p:cNvPr id="4" name="Picture 3" descr="A graph of a scatter plot with a blue line&#10;&#10;AI-generated content may be incorrect.">
            <a:extLst>
              <a:ext uri="{FF2B5EF4-FFF2-40B4-BE49-F238E27FC236}">
                <a16:creationId xmlns:a16="http://schemas.microsoft.com/office/drawing/2014/main" id="{6CA249CD-7AAD-FBBB-7133-263660963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809" y="383945"/>
            <a:ext cx="4542182" cy="4542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6DFA4-38F1-A38E-AC05-476D363DA55C}"/>
                  </a:ext>
                </a:extLst>
              </p:cNvPr>
              <p:cNvSpPr txBox="1"/>
              <p:nvPr/>
            </p:nvSpPr>
            <p:spPr>
              <a:xfrm>
                <a:off x="569842" y="1735255"/>
                <a:ext cx="4905643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expected value of Y is linear in X: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sepChr m:val="∣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20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GB" sz="20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means, the average relationship follows a straight line.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Checked using: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Scatter plot with fitted line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(or Residuals vs predictor plot)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Violation → biased estimates and misleading inference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6DFA4-38F1-A38E-AC05-476D363DA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735255"/>
                <a:ext cx="4905643" cy="4093428"/>
              </a:xfrm>
              <a:prstGeom prst="rect">
                <a:avLst/>
              </a:prstGeom>
              <a:blipFill>
                <a:blip r:embed="rId5"/>
                <a:stretch>
                  <a:fillRect l="-1289" t="-929" r="-2062" b="-18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591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9F54-3AE6-BBD7-37F3-12A92EA8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8DC83-A0C7-1AE7-418D-10A933AECF38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Constant Variability</a:t>
            </a:r>
          </a:p>
        </p:txBody>
      </p:sp>
      <p:pic>
        <p:nvPicPr>
          <p:cNvPr id="5" name="Picture 4" descr="A graph showing a diagram of a certain value&#10;&#10;AI-generated content may be incorrect.">
            <a:extLst>
              <a:ext uri="{FF2B5EF4-FFF2-40B4-BE49-F238E27FC236}">
                <a16:creationId xmlns:a16="http://schemas.microsoft.com/office/drawing/2014/main" id="{AF83ABB0-E6FD-0B47-3E10-BA130B55E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33" y="349104"/>
            <a:ext cx="5032513" cy="5032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3F7F65-FA29-8747-BE00-EAA5E38BF520}"/>
                  </a:ext>
                </a:extLst>
              </p:cNvPr>
              <p:cNvSpPr txBox="1"/>
              <p:nvPr/>
            </p:nvSpPr>
            <p:spPr>
              <a:xfrm>
                <a:off x="662608" y="1709530"/>
                <a:ext cx="439348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variance of the residuals is constant: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 smtClean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Var</m:t>
                    </m:r>
                    <m:d>
                      <m:dPr>
                        <m:sepChr m:val="∣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Residuals should have: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Similar spread across all values of A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Checked using: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Residuals vs fitted values plot</a:t>
                </a:r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Violation → standard errors become unreliable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3F7F65-FA29-8747-BE00-EAA5E38BF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" y="1709530"/>
                <a:ext cx="4393486" cy="4093428"/>
              </a:xfrm>
              <a:prstGeom prst="rect">
                <a:avLst/>
              </a:prstGeom>
              <a:blipFill>
                <a:blip r:embed="rId5"/>
                <a:stretch>
                  <a:fillRect l="-1445" t="-619" b="-18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865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2D68-7975-7369-F5FC-CFD9E5C1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A3D781-A786-CDC3-E25E-1A3294B688A0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Independence of Observations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3C48C7-BEDC-D00E-830D-054AE0E8D75D}"/>
                  </a:ext>
                </a:extLst>
              </p:cNvPr>
              <p:cNvSpPr txBox="1"/>
              <p:nvPr/>
            </p:nvSpPr>
            <p:spPr>
              <a:xfrm>
                <a:off x="569842" y="1463509"/>
                <a:ext cx="6679097" cy="496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Residuals are independent: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 dirty="0" err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=0 </m:t>
                    </m:r>
                    <m:r>
                      <m:rPr>
                        <m:nor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for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	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This is a study design assumption, not something we can “fix” statistically.</a:t>
                </a:r>
              </a:p>
              <a:p>
                <a:r>
                  <a:rPr lang="en-US" sz="2400" dirty="0"/>
                  <a:t>	</a:t>
                </a:r>
              </a:p>
              <a:p>
                <a:r>
                  <a:rPr lang="en-US" sz="2400" dirty="0"/>
                  <a:t>Violated by: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Repeated measurements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Time-series data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Clustered observations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Violation → invalid hypothesis tests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3C48C7-BEDC-D00E-830D-054AE0E8D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463509"/>
                <a:ext cx="6679097" cy="4963346"/>
              </a:xfrm>
              <a:prstGeom prst="rect">
                <a:avLst/>
              </a:prstGeom>
              <a:blipFill>
                <a:blip r:embed="rId5"/>
                <a:stretch>
                  <a:fillRect l="-1328" t="-1023" r="-1328" b="-2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60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F9E0-F23B-47D1-F47E-0A4D0B27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9771D0-D933-9534-863F-46DC3066985D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Normality of Residuals</a:t>
            </a:r>
          </a:p>
        </p:txBody>
      </p:sp>
      <p:pic>
        <p:nvPicPr>
          <p:cNvPr id="4" name="Picture 3" descr="A graph of a normal distribution with Ryugyong Hotel in the background&#10;&#10;AI-generated content may be incorrect.">
            <a:extLst>
              <a:ext uri="{FF2B5EF4-FFF2-40B4-BE49-F238E27FC236}">
                <a16:creationId xmlns:a16="http://schemas.microsoft.com/office/drawing/2014/main" id="{C35C8096-A413-C0B6-A249-39A3D0338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294" y="382520"/>
            <a:ext cx="4480588" cy="4480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362F49-9EFC-6C68-51B5-E455E4A5AD1E}"/>
                  </a:ext>
                </a:extLst>
              </p:cNvPr>
              <p:cNvSpPr txBox="1"/>
              <p:nvPr/>
            </p:nvSpPr>
            <p:spPr>
              <a:xfrm>
                <a:off x="569842" y="1683026"/>
                <a:ext cx="4784035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Residuals are normally distributed: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Normality is required for:</a:t>
                </a:r>
              </a:p>
              <a:p>
                <a:r>
                  <a:rPr lang="en-US" dirty="0"/>
                  <a:t>Valid t-tests</a:t>
                </a:r>
              </a:p>
              <a:p>
                <a:r>
                  <a:rPr lang="en-US" dirty="0"/>
                  <a:t>Confidence intervals</a:t>
                </a:r>
              </a:p>
              <a:p>
                <a:endParaRPr lang="en-US" dirty="0"/>
              </a:p>
              <a:p>
                <a:r>
                  <a:rPr lang="en-US" dirty="0"/>
                  <a:t>Checked using: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Histogram of residuals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Q–Q plot</a:t>
                </a:r>
              </a:p>
              <a:p>
                <a:endParaRPr lang="en-US" dirty="0"/>
              </a:p>
              <a:p>
                <a:r>
                  <a:rPr lang="en-US" dirty="0"/>
                  <a:t>Important:</a:t>
                </a:r>
              </a:p>
              <a:p>
                <a:r>
                  <a:rPr lang="en-US" dirty="0"/>
                  <a:t>Large samples reduce sensitivity to this assumption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362F49-9EFC-6C68-51B5-E455E4A5A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683026"/>
                <a:ext cx="4784035" cy="4247317"/>
              </a:xfrm>
              <a:prstGeom prst="rect">
                <a:avLst/>
              </a:prstGeom>
              <a:blipFill>
                <a:blip r:embed="rId5"/>
                <a:stretch>
                  <a:fillRect l="-1058" t="-595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962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FBCD-C5B2-6488-9571-D76AEEF2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52FE8-F77A-CC0A-6ED4-5619A5E3953C}"/>
              </a:ext>
            </a:extLst>
          </p:cNvPr>
          <p:cNvSpPr txBox="1"/>
          <p:nvPr/>
        </p:nvSpPr>
        <p:spPr>
          <a:xfrm>
            <a:off x="569842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565B85-CAEF-6713-4416-E955A8F59E65}"/>
                  </a:ext>
                </a:extLst>
              </p:cNvPr>
              <p:cNvSpPr txBox="1"/>
              <p:nvPr/>
            </p:nvSpPr>
            <p:spPr>
              <a:xfrm>
                <a:off x="795130" y="1577009"/>
                <a:ext cx="8044070" cy="4543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Outliers are observations with: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Large residuals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High leverage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They can distort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by either inflating or deflating significance.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Detected using: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Residual plots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Influence measures (e.g. Cook’s distance)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Outliers should be investigated, not automatically removed.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565B85-CAEF-6713-4416-E955A8F5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0" y="1577009"/>
                <a:ext cx="8044070" cy="4543873"/>
              </a:xfrm>
              <a:prstGeom prst="rect">
                <a:avLst/>
              </a:prstGeom>
              <a:blipFill>
                <a:blip r:embed="rId4"/>
                <a:stretch>
                  <a:fillRect l="-1104" t="-1117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024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A829-7A59-E035-4048-4A637770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3C209-8A2A-1B5E-C25B-1F00874495C0}"/>
              </a:ext>
            </a:extLst>
          </p:cNvPr>
          <p:cNvSpPr txBox="1"/>
          <p:nvPr/>
        </p:nvSpPr>
        <p:spPr>
          <a:xfrm>
            <a:off x="462265" y="649357"/>
            <a:ext cx="873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Reading diagnostic plots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7E9CB-3E3E-D75A-B4AF-0290EA0F257C}"/>
              </a:ext>
            </a:extLst>
          </p:cNvPr>
          <p:cNvSpPr txBox="1"/>
          <p:nvPr/>
        </p:nvSpPr>
        <p:spPr>
          <a:xfrm>
            <a:off x="557887" y="4835108"/>
            <a:ext cx="80440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single plot proves that a model is valid.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build an overall judgement from the data, plots, study design and clinical context.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E800FB-CD32-697D-9451-EF2F30D39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024394"/>
              </p:ext>
            </p:extLst>
          </p:nvPr>
        </p:nvGraphicFramePr>
        <p:xfrm>
          <a:off x="569842" y="1708740"/>
          <a:ext cx="7675874" cy="2651760"/>
        </p:xfrm>
        <a:graphic>
          <a:graphicData uri="http://schemas.openxmlformats.org/drawingml/2006/table">
            <a:tbl>
              <a:tblPr/>
              <a:tblGrid>
                <a:gridCol w="3837937">
                  <a:extLst>
                    <a:ext uri="{9D8B030D-6E8A-4147-A177-3AD203B41FA5}">
                      <a16:colId xmlns:a16="http://schemas.microsoft.com/office/drawing/2014/main" val="2229488635"/>
                    </a:ext>
                  </a:extLst>
                </a:gridCol>
                <a:gridCol w="3837937">
                  <a:extLst>
                    <a:ext uri="{9D8B030D-6E8A-4147-A177-3AD203B41FA5}">
                      <a16:colId xmlns:a16="http://schemas.microsoft.com/office/drawing/2014/main" val="3866058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Check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363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Residuals versus fitted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Is there curvature or changing variability?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7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Normal Q–Q plot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Are the residuals approximately normally distributed?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34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Residuals versus leverage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Are any observations unusually influential?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966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Study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Are the observations independent?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7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917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F10B-E482-7FB6-DC78-76781C86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FE80D-5EEE-88FE-90DF-BDDF27C790B8}"/>
              </a:ext>
            </a:extLst>
          </p:cNvPr>
          <p:cNvSpPr txBox="1"/>
          <p:nvPr/>
        </p:nvSpPr>
        <p:spPr>
          <a:xfrm>
            <a:off x="569843" y="649357"/>
            <a:ext cx="9117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Inference in logistic regression</a:t>
            </a:r>
            <a:endParaRPr lang="en-US" sz="32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3D446-EBDB-CD9C-2539-38F83A8EF477}"/>
              </a:ext>
            </a:extLst>
          </p:cNvPr>
          <p:cNvSpPr txBox="1"/>
          <p:nvPr/>
        </p:nvSpPr>
        <p:spPr>
          <a:xfrm>
            <a:off x="569843" y="1684328"/>
            <a:ext cx="71694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Logistic regression coefficients are estimated using </a:t>
            </a:r>
            <a:r>
              <a:rPr lang="en-US" sz="2400" b="1"/>
              <a:t>maximum likelihood</a:t>
            </a:r>
            <a:r>
              <a:rPr lang="en-US" sz="2400"/>
              <a:t>.</a:t>
            </a:r>
          </a:p>
          <a:p>
            <a:endParaRPr lang="en-US" sz="2400"/>
          </a:p>
          <a:p>
            <a:r>
              <a:rPr lang="en-US" sz="2400"/>
              <a:t>For each predictor, software commonly reports:</a:t>
            </a:r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estimated coefficient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Its standard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 z-statistic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 p-value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 confidence interval</a:t>
            </a:r>
          </a:p>
          <a:p>
            <a:endParaRPr lang="en-US" sz="2400"/>
          </a:p>
          <a:p>
            <a:r>
              <a:rPr lang="en-US" sz="2400"/>
              <a:t>The coefficient is measured on the log-odds scale.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4214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ACBA5-53CF-E47C-B506-50E2382D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A55CE-30F4-66B5-6D74-B8AF67827D93}"/>
              </a:ext>
            </a:extLst>
          </p:cNvPr>
          <p:cNvSpPr txBox="1"/>
          <p:nvPr/>
        </p:nvSpPr>
        <p:spPr>
          <a:xfrm>
            <a:off x="569843" y="649357"/>
            <a:ext cx="9117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Logistic regression has different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93F441-AD69-D08D-DDDF-F0702FA74EF5}"/>
                  </a:ext>
                </a:extLst>
              </p:cNvPr>
              <p:cNvSpPr txBox="1"/>
              <p:nvPr/>
            </p:nvSpPr>
            <p:spPr>
              <a:xfrm>
                <a:off x="569843" y="1616765"/>
                <a:ext cx="6334539" cy="4220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1. Correct functional form: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80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m:rPr>
                        <m:nor/>
                      </m:rPr>
                      <a:rPr lang="en-US" sz="2800" i="0" dirty="0" smtClean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 is linear in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</a:t>
                </a: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2. Independence of observations</a:t>
                </a: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3. No complete separation in the data</a:t>
                </a:r>
              </a:p>
              <a:p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Notably: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 assumption of normal residuals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 constant variance assumption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93F441-AD69-D08D-DDDF-F0702FA74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616765"/>
                <a:ext cx="6334539" cy="4220899"/>
              </a:xfrm>
              <a:prstGeom prst="rect">
                <a:avLst/>
              </a:prstGeom>
              <a:blipFill>
                <a:blip r:embed="rId4"/>
                <a:stretch>
                  <a:fillRect l="-1800" t="-1502" b="-30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154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81B5-B23A-40BF-783F-534BD661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4B3D5-E149-322A-E58B-84FCAB961FF7}"/>
              </a:ext>
            </a:extLst>
          </p:cNvPr>
          <p:cNvSpPr txBox="1"/>
          <p:nvPr/>
        </p:nvSpPr>
        <p:spPr>
          <a:xfrm>
            <a:off x="569843" y="649357"/>
            <a:ext cx="9117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assumptions of logistic regression.</a:t>
            </a: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7D28EB87-0E05-8D82-232E-8F257F8E2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3" y="1736034"/>
            <a:ext cx="3935896" cy="3935896"/>
          </a:xfrm>
          <a:prstGeom prst="rect">
            <a:avLst/>
          </a:prstGeom>
        </p:spPr>
      </p:pic>
      <p:pic>
        <p:nvPicPr>
          <p:cNvPr id="6" name="Picture 5" descr="A graph with black dots&#10;&#10;AI-generated content may be incorrect.">
            <a:extLst>
              <a:ext uri="{FF2B5EF4-FFF2-40B4-BE49-F238E27FC236}">
                <a16:creationId xmlns:a16="http://schemas.microsoft.com/office/drawing/2014/main" id="{9CA24B99-22FD-436B-3062-D16AD256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617" y="1842051"/>
            <a:ext cx="3829879" cy="38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63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350A-2D55-E9B8-B32A-191CCC74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A6A38-C08F-B932-7D0F-B3063530C35A}"/>
              </a:ext>
            </a:extLst>
          </p:cNvPr>
          <p:cNvSpPr txBox="1"/>
          <p:nvPr/>
        </p:nvSpPr>
        <p:spPr>
          <a:xfrm>
            <a:off x="569842" y="649357"/>
            <a:ext cx="1037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should we do when assumptions are questionable?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2D3F4-B5FE-7019-30A5-F26BF86A732F}"/>
              </a:ext>
            </a:extLst>
          </p:cNvPr>
          <p:cNvSpPr txBox="1"/>
          <p:nvPr/>
        </p:nvSpPr>
        <p:spPr>
          <a:xfrm>
            <a:off x="569842" y="1616765"/>
            <a:ext cx="787491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assumption concern does not automatically mean that the analysis must be abandoned.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may indicate that we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 the data and 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Reconsider the shape of the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Investigate influential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Report the limitation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Examine whether the conclusion is sensitive to different modelling choices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appropriate response depends on the problem identified.</a:t>
            </a:r>
          </a:p>
        </p:txBody>
      </p:sp>
    </p:spTree>
    <p:extLst>
      <p:ext uri="{BB962C8B-B14F-4D97-AF65-F5344CB8AC3E}">
        <p14:creationId xmlns:p14="http://schemas.microsoft.com/office/powerpoint/2010/main" val="3959751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6.3 Multivariable regression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9F991-41C2-FC6F-306D-78125A7A26E2}"/>
              </a:ext>
            </a:extLst>
          </p:cNvPr>
          <p:cNvSpPr txBox="1"/>
          <p:nvPr/>
        </p:nvSpPr>
        <p:spPr>
          <a:xfrm>
            <a:off x="606239" y="625970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Sometimes (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ie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. always) things aren’t that simple…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CE366-BEC3-59C9-A01C-D1D94FA8F032}"/>
              </a:ext>
            </a:extLst>
          </p:cNvPr>
          <p:cNvSpPr txBox="1"/>
          <p:nvPr/>
        </p:nvSpPr>
        <p:spPr>
          <a:xfrm>
            <a:off x="606239" y="1569214"/>
            <a:ext cx="92500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clinical outcome may be associated with several patient characteristics.</a:t>
            </a:r>
          </a:p>
          <a:p>
            <a:endParaRPr lang="en-US" sz="2400" dirty="0"/>
          </a:p>
          <a:p>
            <a:r>
              <a:rPr lang="en-US" sz="2400" dirty="0"/>
              <a:t>For example, blood pressure may be related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Body mass index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Medication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Other health conditions</a:t>
            </a:r>
          </a:p>
          <a:p>
            <a:endParaRPr lang="en-US" sz="2400" dirty="0"/>
          </a:p>
          <a:p>
            <a:r>
              <a:rPr lang="en-US" sz="2400" dirty="0"/>
              <a:t>A model containing only one predictor may provide an incomplete account of these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974360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47785-BA3E-0FB0-BF83-5E0F3E4B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CD96503F-F18E-021C-0A91-5F0BA7C1EFAA}"/>
              </a:ext>
            </a:extLst>
          </p:cNvPr>
          <p:cNvSpPr txBox="1">
            <a:spLocks/>
          </p:cNvSpPr>
          <p:nvPr/>
        </p:nvSpPr>
        <p:spPr>
          <a:xfrm>
            <a:off x="1154596" y="787734"/>
            <a:ext cx="9882808" cy="650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do we ‘adjust’ for confounding in a model?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045AF-7CCC-C181-D7E8-65BA66DE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0" y="1707435"/>
            <a:ext cx="8340437" cy="46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58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9999-F60B-AEF5-A26E-01274B8B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BF5A2-D2D9-35E1-0E15-4D41278650B9}"/>
              </a:ext>
            </a:extLst>
          </p:cNvPr>
          <p:cNvSpPr txBox="1"/>
          <p:nvPr/>
        </p:nvSpPr>
        <p:spPr>
          <a:xfrm>
            <a:off x="569842" y="649357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does this look then?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CF9AC-3127-3B0A-1525-A05A84442A83}"/>
              </a:ext>
            </a:extLst>
          </p:cNvPr>
          <p:cNvSpPr txBox="1"/>
          <p:nvPr/>
        </p:nvSpPr>
        <p:spPr>
          <a:xfrm>
            <a:off x="3154017" y="477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F80CB5-8B29-5701-F8DA-2B7EC9031549}"/>
                  </a:ext>
                </a:extLst>
              </p:cNvPr>
              <p:cNvSpPr txBox="1"/>
              <p:nvPr/>
            </p:nvSpPr>
            <p:spPr>
              <a:xfrm>
                <a:off x="569842" y="1626070"/>
                <a:ext cx="9674088" cy="360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Multivariable (multiple) regression extends the linear model: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Y is the outcome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/>
                  <a:t> are multiple predictors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Each coefficient has its own interpretation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F80CB5-8B29-5701-F8DA-2B7EC9031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626070"/>
                <a:ext cx="9674088" cy="3605859"/>
              </a:xfrm>
              <a:prstGeom prst="rect">
                <a:avLst/>
              </a:prstGeom>
              <a:blipFill>
                <a:blip r:embed="rId4"/>
                <a:stretch>
                  <a:fillRect l="-1180" t="-2113" b="-3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61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B2AD-A832-C96F-6FB5-269F05D1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BBAE0D-16A7-6AD2-BDDB-B665DD40AE75}"/>
              </a:ext>
            </a:extLst>
          </p:cNvPr>
          <p:cNvSpPr txBox="1"/>
          <p:nvPr/>
        </p:nvSpPr>
        <p:spPr>
          <a:xfrm>
            <a:off x="569842" y="649357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the important interpretation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2151F-043A-15E4-00D0-8026A63A3EF2}"/>
              </a:ext>
            </a:extLst>
          </p:cNvPr>
          <p:cNvSpPr txBox="1"/>
          <p:nvPr/>
        </p:nvSpPr>
        <p:spPr>
          <a:xfrm>
            <a:off x="3154017" y="477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E26DA5-1887-391F-2EFB-7F6CD922A2AB}"/>
                  </a:ext>
                </a:extLst>
              </p:cNvPr>
              <p:cNvSpPr txBox="1"/>
              <p:nvPr/>
            </p:nvSpPr>
            <p:spPr>
              <a:xfrm>
                <a:off x="569842" y="1616765"/>
                <a:ext cx="9250017" cy="4554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multivariate regression: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expected change in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 for a one−unit increase in </m:t>
                      </m:r>
                      <m:sSub>
                        <m:sSubPr>
                          <m:ctrlP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holding all other predictors constant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This is the key shift:</a:t>
                </a:r>
              </a:p>
              <a:p>
                <a:r>
                  <a:rPr lang="en-US" sz="2400" dirty="0"/>
                  <a:t>From marginal relationships…to adjusted relationships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Allows us to: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Control for confounding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 more meaningful effects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E26DA5-1887-391F-2EFB-7F6CD922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2" y="1616765"/>
                <a:ext cx="9250017" cy="4554067"/>
              </a:xfrm>
              <a:prstGeom prst="rect">
                <a:avLst/>
              </a:prstGeom>
              <a:blipFill>
                <a:blip r:embed="rId4"/>
                <a:stretch>
                  <a:fillRect l="-959" t="-1114" b="-2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665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C47-8B9D-D779-ADAC-950F9E98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E905E-E15A-5C91-E00A-E2BE45B3B01D}"/>
              </a:ext>
            </a:extLst>
          </p:cNvPr>
          <p:cNvSpPr txBox="1"/>
          <p:nvPr/>
        </p:nvSpPr>
        <p:spPr>
          <a:xfrm>
            <a:off x="569842" y="649357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might the coefficient change?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12051-31CC-08EA-493A-57F5951F3A92}"/>
              </a:ext>
            </a:extLst>
          </p:cNvPr>
          <p:cNvSpPr txBox="1"/>
          <p:nvPr/>
        </p:nvSpPr>
        <p:spPr>
          <a:xfrm>
            <a:off x="3154017" y="477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82020-D618-1882-0F69-1E1327CA9F0C}"/>
              </a:ext>
            </a:extLst>
          </p:cNvPr>
          <p:cNvSpPr txBox="1"/>
          <p:nvPr/>
        </p:nvSpPr>
        <p:spPr>
          <a:xfrm>
            <a:off x="569842" y="1616765"/>
            <a:ext cx="107585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first model the association between physical activity and blood pressure:</a:t>
            </a:r>
          </a:p>
          <a:p>
            <a:r>
              <a:rPr lang="en-US" sz="2400" dirty="0"/>
              <a:t>Blood pressure ~ physical activity</a:t>
            </a:r>
          </a:p>
          <a:p>
            <a:endParaRPr lang="en-US" sz="2400" dirty="0"/>
          </a:p>
          <a:p>
            <a:r>
              <a:rPr lang="en-US" sz="2400" dirty="0"/>
              <a:t>We then account for age:</a:t>
            </a:r>
          </a:p>
          <a:p>
            <a:r>
              <a:rPr lang="en-US" sz="2400" dirty="0"/>
              <a:t>Blood pressure ~ physical activity + age</a:t>
            </a:r>
          </a:p>
          <a:p>
            <a:endParaRPr lang="en-US" sz="2400" dirty="0"/>
          </a:p>
          <a:p>
            <a:r>
              <a:rPr lang="en-US" sz="2400" dirty="0"/>
              <a:t>The physical-activity coefficient may </a:t>
            </a:r>
            <a:br>
              <a:rPr lang="en-US" sz="2400" dirty="0"/>
            </a:br>
            <a:r>
              <a:rPr lang="en-US" sz="2400" dirty="0"/>
              <a:t>change because age is related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Blood pressure</a:t>
            </a:r>
          </a:p>
          <a:p>
            <a:endParaRPr lang="en-US" sz="2400" dirty="0"/>
          </a:p>
          <a:p>
            <a:r>
              <a:rPr lang="en-US" sz="2400" dirty="0"/>
              <a:t>Part of the original association may therefore have reflected differences in age.</a:t>
            </a:r>
          </a:p>
        </p:txBody>
      </p:sp>
    </p:spTree>
    <p:extLst>
      <p:ext uri="{BB962C8B-B14F-4D97-AF65-F5344CB8AC3E}">
        <p14:creationId xmlns:p14="http://schemas.microsoft.com/office/powerpoint/2010/main" val="2885596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9C12-4256-5CF3-4ECB-7C24AB23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BE49E-946D-4CEE-20B2-8A7C28920F56}"/>
              </a:ext>
            </a:extLst>
          </p:cNvPr>
          <p:cNvSpPr txBox="1"/>
          <p:nvPr/>
        </p:nvSpPr>
        <p:spPr>
          <a:xfrm>
            <a:off x="569842" y="649357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Adjustment does not solve everything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93C1D-DCAB-6032-D4BD-D179D2FE7E0D}"/>
              </a:ext>
            </a:extLst>
          </p:cNvPr>
          <p:cNvSpPr txBox="1"/>
          <p:nvPr/>
        </p:nvSpPr>
        <p:spPr>
          <a:xfrm>
            <a:off x="3154017" y="477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4F567-057E-6B86-A693-7B09BE57E021}"/>
              </a:ext>
            </a:extLst>
          </p:cNvPr>
          <p:cNvSpPr txBox="1"/>
          <p:nvPr/>
        </p:nvSpPr>
        <p:spPr>
          <a:xfrm>
            <a:off x="569842" y="1684328"/>
            <a:ext cx="10758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Regression can adjust only for characteristics that were: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Measured with reasonable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Represented appropriately in the model</a:t>
            </a:r>
          </a:p>
          <a:p>
            <a:endParaRPr lang="en-US" sz="2400" dirty="0"/>
          </a:p>
          <a:p>
            <a:r>
              <a:rPr lang="en-US" sz="2400" dirty="0"/>
              <a:t>An adjusted result may still be affected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Unmeasured confounding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Poor measurement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Incorrect model specification</a:t>
            </a:r>
          </a:p>
          <a:p>
            <a:endParaRPr lang="en-US" sz="2400" dirty="0"/>
          </a:p>
          <a:p>
            <a:r>
              <a:rPr lang="en-US" sz="2400" dirty="0"/>
              <a:t>“Adjusted” does not mean “free from bias”.</a:t>
            </a:r>
          </a:p>
        </p:txBody>
      </p:sp>
    </p:spTree>
    <p:extLst>
      <p:ext uri="{BB962C8B-B14F-4D97-AF65-F5344CB8AC3E}">
        <p14:creationId xmlns:p14="http://schemas.microsoft.com/office/powerpoint/2010/main" val="260773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922B-62FC-28B5-08AD-BC13A93E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BA93E-11EA-4E63-DE20-00585F6207D9}"/>
              </a:ext>
            </a:extLst>
          </p:cNvPr>
          <p:cNvSpPr txBox="1"/>
          <p:nvPr/>
        </p:nvSpPr>
        <p:spPr>
          <a:xfrm>
            <a:off x="569842" y="649357"/>
            <a:ext cx="9674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 what is a regression model?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977CE-9617-4452-48C5-F657F2CA8523}"/>
              </a:ext>
            </a:extLst>
          </p:cNvPr>
          <p:cNvSpPr txBox="1"/>
          <p:nvPr/>
        </p:nvSpPr>
        <p:spPr>
          <a:xfrm>
            <a:off x="3154017" y="477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6A824-445B-663C-491C-E39B4A3A947D}"/>
              </a:ext>
            </a:extLst>
          </p:cNvPr>
          <p:cNvSpPr txBox="1"/>
          <p:nvPr/>
        </p:nvSpPr>
        <p:spPr>
          <a:xfrm>
            <a:off x="569842" y="1807438"/>
            <a:ext cx="89551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regression model is a statistical representation of how an outcome varies with explanatory variables.</a:t>
            </a:r>
          </a:p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combines: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Assumptions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Interpretation</a:t>
            </a:r>
          </a:p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Regression is not just a test, it is a modelling framework for explanation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4162239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6.4 Working with objects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ED34B9-EB8A-8715-BCA6-F040128F57EA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You have already created many 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91667-35AA-A45B-7BA9-2011942D3620}"/>
              </a:ext>
            </a:extLst>
          </p:cNvPr>
          <p:cNvSpPr txBox="1"/>
          <p:nvPr/>
        </p:nvSpPr>
        <p:spPr>
          <a:xfrm>
            <a:off x="459341" y="1287905"/>
            <a:ext cx="8251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previous weeks you created objects already!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22ADE-95D4-55A4-47CF-4BA4241EBB52}"/>
              </a:ext>
            </a:extLst>
          </p:cNvPr>
          <p:cNvSpPr/>
          <p:nvPr/>
        </p:nvSpPr>
        <p:spPr>
          <a:xfrm>
            <a:off x="459341" y="2221186"/>
            <a:ext cx="7241751" cy="16001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select(age, treatment, outcome)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filter(!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is.na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(outcome))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A1771-05B2-71B5-8EE9-A602BDE772CB}"/>
              </a:ext>
            </a:extLst>
          </p:cNvPr>
          <p:cNvSpPr txBox="1"/>
          <p:nvPr/>
        </p:nvSpPr>
        <p:spPr>
          <a:xfrm>
            <a:off x="459341" y="4363492"/>
            <a:ext cx="7117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you were aware of it or not, maybe were told it by a tutor or figured it out yourself the ‘&lt;-’ saves (or assigns) the result of the process on the right into an object, the thing named on the left.</a:t>
            </a:r>
          </a:p>
        </p:txBody>
      </p:sp>
    </p:spTree>
    <p:extLst>
      <p:ext uri="{BB962C8B-B14F-4D97-AF65-F5344CB8AC3E}">
        <p14:creationId xmlns:p14="http://schemas.microsoft.com/office/powerpoint/2010/main" val="938356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7B23-35A8-A324-1FE3-730F12BC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BFF661-DEFB-9913-4A72-C5D60CE73A82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Assignment stores the result of an instruction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28F05-759F-5D04-FC07-46A4AF3C41B9}"/>
              </a:ext>
            </a:extLst>
          </p:cNvPr>
          <p:cNvSpPr txBox="1"/>
          <p:nvPr/>
        </p:nvSpPr>
        <p:spPr>
          <a:xfrm>
            <a:off x="459341" y="3907392"/>
            <a:ext cx="66163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 performs the instruction on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&lt;- assigns the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mean_age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becomes the object’s 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Typing the name retrieves the stored value.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F3BFC-E308-7E04-B0A2-7A2147325558}"/>
              </a:ext>
            </a:extLst>
          </p:cNvPr>
          <p:cNvSpPr/>
          <p:nvPr/>
        </p:nvSpPr>
        <p:spPr>
          <a:xfrm>
            <a:off x="459341" y="1693843"/>
            <a:ext cx="7241751" cy="16001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mean_age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mean(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patient_data$age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na.rm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TRUE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0319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4F42-4CC9-7B9D-ABB0-B57E2660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CD6533-D8C7-4F47-85ED-65291C1891AC}"/>
              </a:ext>
            </a:extLst>
          </p:cNvPr>
          <p:cNvSpPr txBox="1"/>
          <p:nvPr/>
        </p:nvSpPr>
        <p:spPr>
          <a:xfrm>
            <a:off x="437570" y="663238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Objects can contain different kinds of information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C2B8DD-1B12-745F-126A-0F0159350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116864"/>
              </p:ext>
            </p:extLst>
          </p:nvPr>
        </p:nvGraphicFramePr>
        <p:xfrm>
          <a:off x="546426" y="1565071"/>
          <a:ext cx="7206344" cy="2194560"/>
        </p:xfrm>
        <a:graphic>
          <a:graphicData uri="http://schemas.openxmlformats.org/drawingml/2006/table">
            <a:tbl>
              <a:tblPr/>
              <a:tblGrid>
                <a:gridCol w="3603172">
                  <a:extLst>
                    <a:ext uri="{9D8B030D-6E8A-4147-A177-3AD203B41FA5}">
                      <a16:colId xmlns:a16="http://schemas.microsoft.com/office/drawing/2014/main" val="1565645133"/>
                    </a:ext>
                  </a:extLst>
                </a:gridCol>
                <a:gridCol w="3603172">
                  <a:extLst>
                    <a:ext uri="{9D8B030D-6E8A-4147-A177-3AD203B41FA5}">
                      <a16:colId xmlns:a16="http://schemas.microsoft.com/office/drawing/2014/main" val="971129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What it contains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108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Courier New" panose="02070309020205020404" pitchFamily="49" charset="0"/>
                        </a:rPr>
                        <a:t>mean_age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One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46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Courier New" panose="02070309020205020404" pitchFamily="49" charset="0"/>
                        </a:rPr>
                        <a:t>patient_data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data 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055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risk_table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table of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655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correlation_result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Results from a statistical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269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Courier New" panose="02070309020205020404" pitchFamily="49" charset="0"/>
                        </a:rPr>
                        <a:t>linear_model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fitted statistical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8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271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D733-059F-CEFD-138D-0F82128F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BD7AD8-E5AA-00FE-E459-C5E5D7CCEDC1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Complex objects contain named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FFC0B-80F6-D5B6-2661-C41DF58EDA1F}"/>
              </a:ext>
            </a:extLst>
          </p:cNvPr>
          <p:cNvSpPr txBox="1"/>
          <p:nvPr/>
        </p:nvSpPr>
        <p:spPr>
          <a:xfrm>
            <a:off x="459341" y="3808346"/>
            <a:ext cx="67796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utilise the names() function to look what might be inside an object. In the example above, we’d expect to see…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p.value</a:t>
            </a: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conf.int</a:t>
            </a: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data.name</a:t>
            </a: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331F2-EC9C-787B-CC11-65DC2A6FFEB4}"/>
              </a:ext>
            </a:extLst>
          </p:cNvPr>
          <p:cNvSpPr/>
          <p:nvPr/>
        </p:nvSpPr>
        <p:spPr>
          <a:xfrm>
            <a:off x="459341" y="1284587"/>
            <a:ext cx="7241751" cy="2245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patient_data$age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patient_data$blood_pressure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names(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2697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73B5-7F36-A4EB-F272-0A338B9E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2BC67-3800-F6DF-07BF-F1F6C176E72F}"/>
              </a:ext>
            </a:extLst>
          </p:cNvPr>
          <p:cNvSpPr txBox="1"/>
          <p:nvPr/>
        </p:nvSpPr>
        <p:spPr>
          <a:xfrm>
            <a:off x="459341" y="564914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$ operator retrieves one component of an object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74FAC-03C2-2B62-37AA-3B8E1D729800}"/>
              </a:ext>
            </a:extLst>
          </p:cNvPr>
          <p:cNvSpPr txBox="1"/>
          <p:nvPr/>
        </p:nvSpPr>
        <p:spPr>
          <a:xfrm>
            <a:off x="459341" y="3099948"/>
            <a:ext cx="6953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should be read as…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“From this object, retrieve this named component.”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2C680C-7819-877F-084F-652980AEFD01}"/>
              </a:ext>
            </a:extLst>
          </p:cNvPr>
          <p:cNvSpPr/>
          <p:nvPr/>
        </p:nvSpPr>
        <p:spPr>
          <a:xfrm>
            <a:off x="459341" y="1828872"/>
            <a:ext cx="7241751" cy="7836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object$component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503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30F9-1AA1-2087-E2F2-0B71A289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ED105F-0E1F-A3AC-213E-82E8FC831613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output of one function can become the input to another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4EC94-13D2-DA56-A95E-0248CDD8EECF}"/>
              </a:ext>
            </a:extLst>
          </p:cNvPr>
          <p:cNvSpPr txBox="1"/>
          <p:nvPr/>
        </p:nvSpPr>
        <p:spPr>
          <a:xfrm>
            <a:off x="459341" y="1361991"/>
            <a:ext cx="8251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Remember when we made a nice caption…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A86D22-7683-4B03-78F7-781CB298D381}"/>
              </a:ext>
            </a:extLst>
          </p:cNvPr>
          <p:cNvSpPr/>
          <p:nvPr/>
        </p:nvSpPr>
        <p:spPr>
          <a:xfrm>
            <a:off x="459341" y="2167319"/>
            <a:ext cx="7241751" cy="14259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caption_text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paste("Pearson r =",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round(correlation_result$estimate,2)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3C68D-C643-A7A6-3F04-0B95EE2BBD04}"/>
              </a:ext>
            </a:extLst>
          </p:cNvPr>
          <p:cNvSpPr txBox="1"/>
          <p:nvPr/>
        </p:nvSpPr>
        <p:spPr>
          <a:xfrm>
            <a:off x="459341" y="4054567"/>
            <a:ext cx="55604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Here: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correlation_result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stores the test.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$estimate retrieves one component.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round() formats the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paste() combines it with text.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result is stored as </a:t>
            </a: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caption_text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396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19FE-6262-6254-B1CC-A7FE97D21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C4BD1-8599-F95C-9DA7-9B01BF1343AC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fitted regression model is a complex object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81812-6431-23FE-7BCB-965DF5E82F46}"/>
              </a:ext>
            </a:extLst>
          </p:cNvPr>
          <p:cNvSpPr txBox="1"/>
          <p:nvPr/>
        </p:nvSpPr>
        <p:spPr>
          <a:xfrm>
            <a:off x="404912" y="1419234"/>
            <a:ext cx="9207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order to fit the regression models we have to use the </a:t>
            </a: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lm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command.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7A78E-667D-93D0-621A-4DC8733D88E7}"/>
              </a:ext>
            </a:extLst>
          </p:cNvPr>
          <p:cNvSpPr/>
          <p:nvPr/>
        </p:nvSpPr>
        <p:spPr>
          <a:xfrm>
            <a:off x="459340" y="2281805"/>
            <a:ext cx="7241751" cy="14477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blood_pressure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~ treatment,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354D-0356-9623-5260-F8CA0F2BFF6A}"/>
              </a:ext>
            </a:extLst>
          </p:cNvPr>
          <p:cNvSpPr txBox="1"/>
          <p:nvPr/>
        </p:nvSpPr>
        <p:spPr>
          <a:xfrm>
            <a:off x="404912" y="4093812"/>
            <a:ext cx="72417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lm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does not simply print an answer. It creates a model object containing many related results.</a:t>
            </a:r>
          </a:p>
        </p:txBody>
      </p:sp>
    </p:spTree>
    <p:extLst>
      <p:ext uri="{BB962C8B-B14F-4D97-AF65-F5344CB8AC3E}">
        <p14:creationId xmlns:p14="http://schemas.microsoft.com/office/powerpoint/2010/main" val="361921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8531-0B9E-FF17-1297-1DDA5F75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FA949-3C06-D6D3-9691-C9966E3CDCB2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+ symbol adds variables to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7ECA8-B157-BE8F-C4AB-53ED394B8F6E}"/>
              </a:ext>
            </a:extLst>
          </p:cNvPr>
          <p:cNvSpPr txBox="1"/>
          <p:nvPr/>
        </p:nvSpPr>
        <p:spPr>
          <a:xfrm>
            <a:off x="459341" y="1368023"/>
            <a:ext cx="825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Within a model formula, + tells R to include another explanatory variable.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D6275-D03B-17DA-93F9-F613882713FC}"/>
              </a:ext>
            </a:extLst>
          </p:cNvPr>
          <p:cNvSpPr/>
          <p:nvPr/>
        </p:nvSpPr>
        <p:spPr>
          <a:xfrm>
            <a:off x="459341" y="2087050"/>
            <a:ext cx="7241751" cy="30225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unadjusted_model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blood_pressure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~ treatment,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adjusted_model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blood_pressure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~ treatment + age +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bmi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4F0AB-8032-7707-31B2-03F5C1D6B50D}"/>
              </a:ext>
            </a:extLst>
          </p:cNvPr>
          <p:cNvSpPr txBox="1"/>
          <p:nvPr/>
        </p:nvSpPr>
        <p:spPr>
          <a:xfrm>
            <a:off x="459341" y="5748486"/>
            <a:ext cx="825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does not mean that R is adding the values of the variables together.</a:t>
            </a:r>
          </a:p>
        </p:txBody>
      </p:sp>
    </p:spTree>
    <p:extLst>
      <p:ext uri="{BB962C8B-B14F-4D97-AF65-F5344CB8AC3E}">
        <p14:creationId xmlns:p14="http://schemas.microsoft.com/office/powerpoint/2010/main" val="65979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4C45-0FA0-1048-4342-3EB4C34E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9E95DC-8F5F-CCB6-0E2D-3070785219D0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outcome determines whether we use lm() or glm()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5C7B6-4C40-0FD4-E82E-DE6D290BECAB}"/>
              </a:ext>
            </a:extLst>
          </p:cNvPr>
          <p:cNvSpPr txBox="1"/>
          <p:nvPr/>
        </p:nvSpPr>
        <p:spPr>
          <a:xfrm>
            <a:off x="459341" y="1287905"/>
            <a:ext cx="825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lm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models differences in the average value of a continuous outcome.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EB71A-64E6-7575-C403-D2FCD033667A}"/>
              </a:ext>
            </a:extLst>
          </p:cNvPr>
          <p:cNvSpPr/>
          <p:nvPr/>
        </p:nvSpPr>
        <p:spPr>
          <a:xfrm>
            <a:off x="459341" y="1828873"/>
            <a:ext cx="7241751" cy="16001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blood_pressure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~ treatment + age,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EBC4B-19A6-369F-BD0A-D9B10439DC45}"/>
              </a:ext>
            </a:extLst>
          </p:cNvPr>
          <p:cNvSpPr/>
          <p:nvPr/>
        </p:nvSpPr>
        <p:spPr>
          <a:xfrm>
            <a:off x="459340" y="4555161"/>
            <a:ext cx="7241751" cy="20298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logistic_model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disease ~ treatment + age,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family = binomial()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DED94-BF5D-B6AB-6276-CA25A5A4B5CB}"/>
              </a:ext>
            </a:extLst>
          </p:cNvPr>
          <p:cNvSpPr txBox="1"/>
          <p:nvPr/>
        </p:nvSpPr>
        <p:spPr>
          <a:xfrm>
            <a:off x="459340" y="3668915"/>
            <a:ext cx="672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</a:rPr>
              <a:t>glm</a:t>
            </a:r>
            <a:r>
              <a:rPr lang="en-GB" dirty="0">
                <a:latin typeface="Courier New" panose="02070309020205020404" pitchFamily="49" charset="0"/>
              </a:rPr>
              <a:t>(..., family = binomial())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models the probability of a binary outcome.</a:t>
            </a:r>
          </a:p>
        </p:txBody>
      </p:sp>
    </p:spTree>
    <p:extLst>
      <p:ext uri="{BB962C8B-B14F-4D97-AF65-F5344CB8AC3E}">
        <p14:creationId xmlns:p14="http://schemas.microsoft.com/office/powerpoint/2010/main" val="38288737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6C9E-4D0C-2833-48F1-FA69B720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69A37C-F9B3-FD5D-DBE7-D228E0A37768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Helper functions retrieve useful model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B7063-4EA9-5B46-0D95-DED401E1DF0E}"/>
              </a:ext>
            </a:extLst>
          </p:cNvPr>
          <p:cNvSpPr txBox="1"/>
          <p:nvPr/>
        </p:nvSpPr>
        <p:spPr>
          <a:xfrm>
            <a:off x="459341" y="4398437"/>
            <a:ext cx="75743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Rather than having to navigate every single internal component of an object, there are some other built in R functions which allow us to access the important things within a linear model.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BA5E65-7EA4-7405-ED35-B57866DECC63}"/>
              </a:ext>
            </a:extLst>
          </p:cNvPr>
          <p:cNvSpPr/>
          <p:nvPr/>
        </p:nvSpPr>
        <p:spPr>
          <a:xfrm>
            <a:off x="459341" y="1567138"/>
            <a:ext cx="8554030" cy="2245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summary(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		# Model overview</a:t>
            </a: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coef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		# Estimated coefficients</a:t>
            </a: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confint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		# Cis for coefficients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fitted(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		# Fitted outcome values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residuals(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		# Residual/errors per value</a:t>
            </a:r>
          </a:p>
        </p:txBody>
      </p:sp>
    </p:spTree>
    <p:extLst>
      <p:ext uri="{BB962C8B-B14F-4D97-AF65-F5344CB8AC3E}">
        <p14:creationId xmlns:p14="http://schemas.microsoft.com/office/powerpoint/2010/main" val="2123911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8C03-7665-CAB0-E1C5-1130BFB8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5E33B4-2AF5-5399-C89B-47047244C624}"/>
              </a:ext>
            </a:extLst>
          </p:cNvPr>
          <p:cNvSpPr txBox="1"/>
          <p:nvPr/>
        </p:nvSpPr>
        <p:spPr>
          <a:xfrm>
            <a:off x="459341" y="495109"/>
            <a:ext cx="1078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Model output can be converted into a tidy 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7E93B2-36A3-9A12-A57F-0988E5E97BCA}"/>
              </a:ext>
            </a:extLst>
          </p:cNvPr>
          <p:cNvSpPr/>
          <p:nvPr/>
        </p:nvSpPr>
        <p:spPr>
          <a:xfrm>
            <a:off x="459341" y="2019146"/>
            <a:ext cx="7241751" cy="1708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model_results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broom::tidy(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linear_model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conf.int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TRUE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84BE9-2AAC-286B-8C3F-46EC1ECE0B48}"/>
              </a:ext>
            </a:extLst>
          </p:cNvPr>
          <p:cNvSpPr txBox="1"/>
          <p:nvPr/>
        </p:nvSpPr>
        <p:spPr>
          <a:xfrm>
            <a:off x="383141" y="4265577"/>
            <a:ext cx="7317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tidy() function from the broom package converts model coefficients into a data frame.</a:t>
            </a:r>
          </a:p>
        </p:txBody>
      </p:sp>
    </p:spTree>
    <p:extLst>
      <p:ext uri="{BB962C8B-B14F-4D97-AF65-F5344CB8AC3E}">
        <p14:creationId xmlns:p14="http://schemas.microsoft.com/office/powerpoint/2010/main" val="5675788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222860"/>
            <a:ext cx="1046512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explored how regression can be used to describe relationships and make fairer comparisons by accounting for differences between patients.</a:t>
            </a: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also considered: univariable and multivariable regression (linear and logistic), along with their assumptions; as well as how model results are stored and retrieved in 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6958</TotalTime>
  <Words>2658</Words>
  <Application>Microsoft Macintosh PowerPoint</Application>
  <PresentationFormat>Widescreen</PresentationFormat>
  <Paragraphs>481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Aptos</vt:lpstr>
      <vt:lpstr>Aptos Display</vt:lpstr>
      <vt:lpstr>Aptos Mono</vt:lpstr>
      <vt:lpstr>Arial</vt:lpstr>
      <vt:lpstr>Cambria Math</vt:lpstr>
      <vt:lpstr>Courier New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48</cp:revision>
  <cp:lastPrinted>2026-04-30T09:46:23Z</cp:lastPrinted>
  <dcterms:created xsi:type="dcterms:W3CDTF">2026-04-30T09:42:16Z</dcterms:created>
  <dcterms:modified xsi:type="dcterms:W3CDTF">2026-08-20T16:13:49Z</dcterms:modified>
</cp:coreProperties>
</file>