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72" r:id="rId2"/>
    <p:sldId id="273" r:id="rId3"/>
    <p:sldId id="278" r:id="rId4"/>
    <p:sldId id="280" r:id="rId5"/>
    <p:sldId id="327" r:id="rId6"/>
    <p:sldId id="328" r:id="rId7"/>
    <p:sldId id="329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281" r:id="rId16"/>
    <p:sldId id="337" r:id="rId17"/>
    <p:sldId id="338" r:id="rId18"/>
    <p:sldId id="339" r:id="rId19"/>
    <p:sldId id="340" r:id="rId20"/>
    <p:sldId id="341" r:id="rId21"/>
    <p:sldId id="342" r:id="rId22"/>
    <p:sldId id="343" r:id="rId23"/>
    <p:sldId id="344" r:id="rId24"/>
    <p:sldId id="345" r:id="rId25"/>
    <p:sldId id="279" r:id="rId26"/>
    <p:sldId id="346" r:id="rId27"/>
    <p:sldId id="347" r:id="rId28"/>
    <p:sldId id="348" r:id="rId29"/>
    <p:sldId id="349" r:id="rId30"/>
    <p:sldId id="350" r:id="rId31"/>
    <p:sldId id="351" r:id="rId32"/>
    <p:sldId id="352" r:id="rId33"/>
    <p:sldId id="353" r:id="rId34"/>
    <p:sldId id="354" r:id="rId35"/>
    <p:sldId id="355" r:id="rId36"/>
    <p:sldId id="356" r:id="rId37"/>
    <p:sldId id="286" r:id="rId38"/>
    <p:sldId id="326" r:id="rId39"/>
    <p:sldId id="357" r:id="rId40"/>
    <p:sldId id="358" r:id="rId41"/>
    <p:sldId id="359" r:id="rId42"/>
    <p:sldId id="360" r:id="rId43"/>
    <p:sldId id="361" r:id="rId44"/>
    <p:sldId id="363" r:id="rId45"/>
    <p:sldId id="362" r:id="rId46"/>
    <p:sldId id="365" r:id="rId47"/>
    <p:sldId id="366" r:id="rId48"/>
    <p:sldId id="364" r:id="rId49"/>
    <p:sldId id="325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D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77"/>
    <p:restoredTop sz="93156"/>
  </p:normalViewPr>
  <p:slideViewPr>
    <p:cSldViewPr snapToGrid="0">
      <p:cViewPr varScale="1">
        <p:scale>
          <a:sx n="116" d="100"/>
          <a:sy n="116" d="100"/>
        </p:scale>
        <p:origin x="5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1FE25-85C4-1244-BCDC-A22C8126A90B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FE25D-C5C3-B245-93C4-8392A840C4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17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575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505C6-39F5-4F27-D40D-0C552DF32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1C3FD-A143-13ED-C3DE-44269DB22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0D406-68E3-A6FF-0717-9682B50F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C4169-2998-760E-F009-BA73C15FB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D6149-715F-CBD8-1BC1-252FDECF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64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C0FC7-4CB5-1110-8068-A272DE62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B6E31-BCA2-19C4-F10D-E116793D1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A4E93-D777-2A92-CC0B-8E93D4CC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74C13-0EDE-16CA-1A7F-A3081BB79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B55D2-EA13-82B7-61DD-36323F207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409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0CC5-DAAD-5017-7875-018654CB4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23382-1E94-3453-4D25-9D42A769D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C57F6-8D3F-49A9-0449-5DCF99AC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602CD-213C-78F1-9445-9442CD9E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9E4FD-7B5C-A4EC-CDE4-934A146EB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89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62C21-3C92-73D8-73F7-5A7F6353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CE01-0E6F-9333-9288-5177AAB21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AE897-528F-B3AB-369F-8F922D5DA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A2E7C-3000-46E3-1557-0A2A5989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C56C4-1833-19A9-A856-1362253B8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17E1E-D416-F9E1-AA74-7A63174E2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74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A7B0F-AF3B-22D6-59DA-187835703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EFC78-D38A-CD38-4C31-12AD35B53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DF4DE-FFB5-E407-7FDD-317522B9B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658F7-4D59-1FC7-B0D5-D814BFB54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149413-0679-DAD6-D1A8-7984ECDCA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B7FDA1-F7BD-9471-B19E-0F3380F2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E888D-6D81-9C6F-CBB7-3BD89D5A7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89F34B-BC78-7478-2C5C-05DFF5BF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00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8A18-8C50-2B7C-124F-FC2D75B8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CB492-845D-F323-F212-4ABE54B0A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933A63-D9EE-8652-2DB1-2F724A0F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AB4C0-8DCE-9C75-29FC-A2B90EEC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7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C090E-1783-2F69-2F60-354C5B1FC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191562-6997-5ADA-B8AD-237FD9642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4520F-211E-9BBA-C4D4-EC317AFF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77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A2A3C-FEC4-3066-32AD-66066DE30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D78B6-3242-CFA7-AD59-D982A2F22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B09B6-B1DE-85B8-9FDF-DD7E79B60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EF645-FB11-0E66-BEC1-1F5E9C0C4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95CB1-8DEA-15F4-C397-F8224C5A4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42B52-20D6-2E65-938B-960A5C559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065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16B90-FC20-FA7D-3342-B206F308D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4BBA3-031C-687D-BEE1-D7E4912E8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0E133-E815-97FC-CA2D-322B2AACD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53E93-530E-54E2-FA19-BBF652B1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4B090-851C-580D-F20E-33624283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AEBB-FEE3-D746-FA37-DE33B848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473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F3C5-9215-5C7B-D4F0-F26B882CC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610E7-A0D9-CF06-B540-497A78168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B22E8-0BDA-D4B9-84B0-029693CD3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A19D-4A77-4412-B6B5-9BF62B826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E568E-0D09-699C-341E-7FBE1E8A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976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2FBFA-D8C3-8A98-5DE5-6BF9F2951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89761-4252-46DF-BE0E-D4F201C4E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35D4C-5533-2CC4-1F64-BD58C2420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36BBC-1218-5CF6-5FBD-4A0B5853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CCAA5-73AC-5BD8-340C-A97B105A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88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6271B1-6719-4EB1-EAE0-3C9E560E9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D6A9E-EA6D-5B12-1AFD-5663E3A6A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0E9A7-AABF-56CA-B7EE-B52C7F5FE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F6BED-B3FB-8548-A220-F135D64A6F38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888E3-25B4-73F3-4668-8B2ED1101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94BD5-47DC-7819-F9FA-149765A0E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673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4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F5E2EF-FD9E-B482-DEAD-AB4626EE6F93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Topic 5: How do we measure risk?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69DFD77-03D5-E162-AFB9-0D5714BC6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492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9CDCC65B-C285-5408-6FD6-A502E5C0AE3D}"/>
              </a:ext>
            </a:extLst>
          </p:cNvPr>
          <p:cNvSpPr txBox="1">
            <a:spLocks/>
          </p:cNvSpPr>
          <p:nvPr/>
        </p:nvSpPr>
        <p:spPr>
          <a:xfrm>
            <a:off x="416822" y="484055"/>
            <a:ext cx="10117640" cy="6699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From association to risk…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768708-309E-85E8-D513-913B4FDBDC39}"/>
              </a:ext>
            </a:extLst>
          </p:cNvPr>
          <p:cNvSpPr txBox="1"/>
          <p:nvPr/>
        </p:nvSpPr>
        <p:spPr>
          <a:xfrm>
            <a:off x="416822" y="1357537"/>
            <a:ext cx="956537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Last week, we examined whether an exposure and an outcome were associated and why an association alone does not establish causation.</a:t>
            </a:r>
          </a:p>
          <a:p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health and social care, outcomes are often events:</a:t>
            </a:r>
          </a:p>
          <a:p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Did the patient develop the disease?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Were they readmitted?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Did they recover?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Did they experience an adverse effect?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changes the question from:</a:t>
            </a:r>
          </a:p>
          <a:p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 these variables move together?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to:</a:t>
            </a:r>
          </a:p>
          <a:p>
            <a:r>
              <a:rPr lang="en-US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How likely is the outcome, and how does that likelihood differ between groups?</a:t>
            </a:r>
          </a:p>
        </p:txBody>
      </p:sp>
    </p:spTree>
    <p:extLst>
      <p:ext uri="{BB962C8B-B14F-4D97-AF65-F5344CB8AC3E}">
        <p14:creationId xmlns:p14="http://schemas.microsoft.com/office/powerpoint/2010/main" val="1127349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7A4882-6016-04E4-C16B-380D29551A36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This topic…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8F128-6E60-8FCA-F828-497A6279C073}"/>
              </a:ext>
            </a:extLst>
          </p:cNvPr>
          <p:cNvSpPr txBox="1"/>
          <p:nvPr/>
        </p:nvSpPr>
        <p:spPr>
          <a:xfrm>
            <a:off x="500744" y="1328577"/>
            <a:ext cx="836086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Measuring and comparing risk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Odds and odds ratios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Reporting and communicating risk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Transforming data in 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4201F3-6770-3B8B-D596-D8E7D2E3DDAE}"/>
              </a:ext>
            </a:extLst>
          </p:cNvPr>
          <p:cNvCxnSpPr>
            <a:cxnSpLocks/>
          </p:cNvCxnSpPr>
          <p:nvPr/>
        </p:nvCxnSpPr>
        <p:spPr>
          <a:xfrm>
            <a:off x="5321278" y="6232360"/>
            <a:ext cx="5993494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6219C6-14A1-1B48-5A50-CB68B1A38433}"/>
              </a:ext>
            </a:extLst>
          </p:cNvPr>
          <p:cNvSpPr txBox="1"/>
          <p:nvPr/>
        </p:nvSpPr>
        <p:spPr>
          <a:xfrm>
            <a:off x="5321278" y="5669037"/>
            <a:ext cx="57207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5.1 Measuring and comparing risk</a:t>
            </a:r>
          </a:p>
        </p:txBody>
      </p:sp>
    </p:spTree>
    <p:extLst>
      <p:ext uri="{BB962C8B-B14F-4D97-AF65-F5344CB8AC3E}">
        <p14:creationId xmlns:p14="http://schemas.microsoft.com/office/powerpoint/2010/main" val="1839011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84D1A1-4766-28B4-B84C-B00BC312E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18EE5A-8EAF-D775-559F-62EBE5883B70}"/>
              </a:ext>
            </a:extLst>
          </p:cNvPr>
          <p:cNvSpPr txBox="1"/>
          <p:nvPr/>
        </p:nvSpPr>
        <p:spPr>
          <a:xfrm>
            <a:off x="594044" y="2688102"/>
            <a:ext cx="8082817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5.1 Measuring and comparing risk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9801A6C-1B88-9796-06C1-B2575F81E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045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7C9578-BFDC-CC11-D6AA-EE51C48CF1E3}"/>
              </a:ext>
            </a:extLst>
          </p:cNvPr>
          <p:cNvSpPr txBox="1"/>
          <p:nvPr/>
        </p:nvSpPr>
        <p:spPr>
          <a:xfrm>
            <a:off x="500743" y="463485"/>
            <a:ext cx="78594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A clinical question about treatment and disease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9B1F0E-C8D1-366D-5B71-3C1203AA0D89}"/>
              </a:ext>
            </a:extLst>
          </p:cNvPr>
          <p:cNvSpPr txBox="1"/>
          <p:nvPr/>
        </p:nvSpPr>
        <p:spPr>
          <a:xfrm>
            <a:off x="500743" y="1346652"/>
            <a:ext cx="956537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Imagine a trial of a preventative treatment.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 patients receive the treatment.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 patients receive usual care.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After one year, we record whether each patient has developed the disease.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outcome has two possibilities: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Disease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 disease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How likely was disease in each treatment group?</a:t>
            </a:r>
          </a:p>
        </p:txBody>
      </p:sp>
    </p:spTree>
    <p:extLst>
      <p:ext uri="{BB962C8B-B14F-4D97-AF65-F5344CB8AC3E}">
        <p14:creationId xmlns:p14="http://schemas.microsoft.com/office/powerpoint/2010/main" val="350727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567EB-0ED1-2943-0BA8-05923F776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9809E8-1DA4-373F-78C8-983AC9F992C6}"/>
              </a:ext>
            </a:extLst>
          </p:cNvPr>
          <p:cNvSpPr txBox="1"/>
          <p:nvPr/>
        </p:nvSpPr>
        <p:spPr>
          <a:xfrm>
            <a:off x="500743" y="539685"/>
            <a:ext cx="78594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We start by counting clinical outcomes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2183E5-AD40-A27C-F004-9929376235FE}"/>
              </a:ext>
            </a:extLst>
          </p:cNvPr>
          <p:cNvSpPr txBox="1"/>
          <p:nvPr/>
        </p:nvSpPr>
        <p:spPr>
          <a:xfrm>
            <a:off x="500743" y="5487318"/>
            <a:ext cx="98951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Each patient contributes to one treatment group and one clinical outcome.</a:t>
            </a: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These counts provide the information needed to calculate risk.</a:t>
            </a:r>
            <a:endParaRPr lang="en-US" sz="24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132172-2A06-6EC3-0A78-39EAB3E24E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652729"/>
              </p:ext>
            </p:extLst>
          </p:nvPr>
        </p:nvGraphicFramePr>
        <p:xfrm>
          <a:off x="609601" y="1409717"/>
          <a:ext cx="7369628" cy="3730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2407">
                  <a:extLst>
                    <a:ext uri="{9D8B030D-6E8A-4147-A177-3AD203B41FA5}">
                      <a16:colId xmlns:a16="http://schemas.microsoft.com/office/drawing/2014/main" val="3919858500"/>
                    </a:ext>
                  </a:extLst>
                </a:gridCol>
                <a:gridCol w="1842407">
                  <a:extLst>
                    <a:ext uri="{9D8B030D-6E8A-4147-A177-3AD203B41FA5}">
                      <a16:colId xmlns:a16="http://schemas.microsoft.com/office/drawing/2014/main" val="2988846851"/>
                    </a:ext>
                  </a:extLst>
                </a:gridCol>
                <a:gridCol w="1842407">
                  <a:extLst>
                    <a:ext uri="{9D8B030D-6E8A-4147-A177-3AD203B41FA5}">
                      <a16:colId xmlns:a16="http://schemas.microsoft.com/office/drawing/2014/main" val="2508849316"/>
                    </a:ext>
                  </a:extLst>
                </a:gridCol>
                <a:gridCol w="1842407">
                  <a:extLst>
                    <a:ext uri="{9D8B030D-6E8A-4147-A177-3AD203B41FA5}">
                      <a16:colId xmlns:a16="http://schemas.microsoft.com/office/drawing/2014/main" val="761536250"/>
                    </a:ext>
                  </a:extLst>
                </a:gridCol>
              </a:tblGrid>
              <a:tr h="93269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anchor="ctr"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Disease</a:t>
                      </a:r>
                    </a:p>
                  </a:txBody>
                  <a:tcPr anchor="ctr"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No disease</a:t>
                      </a:r>
                    </a:p>
                  </a:txBody>
                  <a:tcPr anchor="ctr"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</a:t>
                      </a:r>
                    </a:p>
                  </a:txBody>
                  <a:tcPr anchor="ctr">
                    <a:solidFill>
                      <a:srgbClr val="031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55081"/>
                  </a:ext>
                </a:extLst>
              </a:tr>
              <a:tr h="932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i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Treatment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3080916"/>
                  </a:ext>
                </a:extLst>
              </a:tr>
              <a:tr h="932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i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Usual care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97512"/>
                  </a:ext>
                </a:extLst>
              </a:tr>
              <a:tr h="932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i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186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3399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194B0-66A1-5780-5759-5417B7823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834FE9-1B0F-CFE7-F342-502C80C1659E}"/>
              </a:ext>
            </a:extLst>
          </p:cNvPr>
          <p:cNvSpPr txBox="1"/>
          <p:nvPr/>
        </p:nvSpPr>
        <p:spPr>
          <a:xfrm>
            <a:off x="500743" y="539685"/>
            <a:ext cx="84690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Risk is the probability of disease in a defined group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F1E48F-A87B-C42D-443E-3365945A0D69}"/>
              </a:ext>
            </a:extLst>
          </p:cNvPr>
          <p:cNvSpPr txBox="1"/>
          <p:nvPr/>
        </p:nvSpPr>
        <p:spPr>
          <a:xfrm>
            <a:off x="500743" y="1405176"/>
            <a:ext cx="8360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Risk describes the proportion of initially disease-free patients who develop the disease during a specified period.</a:t>
            </a:r>
            <a:endParaRPr lang="en-US" sz="24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FFF570-5FC4-EB5C-51F9-B668886B93CD}"/>
                  </a:ext>
                </a:extLst>
              </p:cNvPr>
              <p:cNvSpPr txBox="1"/>
              <p:nvPr/>
            </p:nvSpPr>
            <p:spPr>
              <a:xfrm>
                <a:off x="500743" y="2875002"/>
                <a:ext cx="7294061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Patients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who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develop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disease</m:t>
                      </m:r>
                    </m:oMath>
                  </m:oMathPara>
                </a14:m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Risk</m:t>
                      </m:r>
                      <m:r>
                        <a:rPr lang="en-GB" sz="2400" i="0">
                          <a:latin typeface="Cambria Math" panose="02040503050406030204" pitchFamily="18" charset="0"/>
                        </a:rPr>
                        <m:t>=─────────────────────────────</m:t>
                      </m:r>
                    </m:oMath>
                  </m:oMathPara>
                </a14:m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Patients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initially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at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risk</m:t>
                      </m:r>
                    </m:oMath>
                  </m:oMathPara>
                </a14:m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FFF570-5FC4-EB5C-51F9-B668886B9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743" y="2875002"/>
                <a:ext cx="7294061" cy="1107996"/>
              </a:xfrm>
              <a:prstGeom prst="rect">
                <a:avLst/>
              </a:prstGeom>
              <a:blipFill>
                <a:blip r:embed="rId4"/>
                <a:stretch>
                  <a:fillRect t="-7955" b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ADFF47F-BC59-841D-0EFE-2B2F6660093A}"/>
              </a:ext>
            </a:extLst>
          </p:cNvPr>
          <p:cNvSpPr txBox="1"/>
          <p:nvPr/>
        </p:nvSpPr>
        <p:spPr>
          <a:xfrm>
            <a:off x="609600" y="4748655"/>
            <a:ext cx="40930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risk should always refer to: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defined group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defined clinical event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defined period of time</a:t>
            </a:r>
          </a:p>
        </p:txBody>
      </p:sp>
    </p:spTree>
    <p:extLst>
      <p:ext uri="{BB962C8B-B14F-4D97-AF65-F5344CB8AC3E}">
        <p14:creationId xmlns:p14="http://schemas.microsoft.com/office/powerpoint/2010/main" val="3868736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DCECE-5018-6581-4D22-4E997987B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B71C40-52F2-4C3C-4634-835012DF9A7B}"/>
              </a:ext>
            </a:extLst>
          </p:cNvPr>
          <p:cNvSpPr txBox="1"/>
          <p:nvPr/>
        </p:nvSpPr>
        <p:spPr>
          <a:xfrm>
            <a:off x="500743" y="539685"/>
            <a:ext cx="84690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Calculate risk separately for each treatment group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81B59B-7C47-5EF5-A0CF-59AB80303563}"/>
              </a:ext>
            </a:extLst>
          </p:cNvPr>
          <p:cNvSpPr txBox="1"/>
          <p:nvPr/>
        </p:nvSpPr>
        <p:spPr>
          <a:xfrm>
            <a:off x="500743" y="1437833"/>
            <a:ext cx="8360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Treatment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BB3116-0164-186B-771F-3A6711EADF0F}"/>
              </a:ext>
            </a:extLst>
          </p:cNvPr>
          <p:cNvSpPr txBox="1"/>
          <p:nvPr/>
        </p:nvSpPr>
        <p:spPr>
          <a:xfrm>
            <a:off x="500743" y="3957802"/>
            <a:ext cx="8360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Usual-care Group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CF8D7B-74E9-A518-8B35-C771189A1527}"/>
                  </a:ext>
                </a:extLst>
              </p:cNvPr>
              <p:cNvSpPr txBox="1"/>
              <p:nvPr/>
            </p:nvSpPr>
            <p:spPr>
              <a:xfrm>
                <a:off x="676254" y="2535229"/>
                <a:ext cx="7138108" cy="8937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10 patients developed disease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100 patients received treatment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=0.10=10%</m:t>
                      </m:r>
                    </m:oMath>
                  </m:oMathPara>
                </a14:m>
                <a:endParaRPr lang="en-GB" sz="28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CF8D7B-74E9-A518-8B35-C771189A1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254" y="2535229"/>
                <a:ext cx="7138108" cy="893771"/>
              </a:xfrm>
              <a:prstGeom prst="rect">
                <a:avLst/>
              </a:prstGeom>
              <a:blipFill>
                <a:blip r:embed="rId4"/>
                <a:stretch>
                  <a:fillRect l="-888" t="-15278" r="-888" b="-208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191BF5-C0D7-0E20-C02D-8DB683B2801C}"/>
                  </a:ext>
                </a:extLst>
              </p:cNvPr>
              <p:cNvSpPr txBox="1"/>
              <p:nvPr/>
            </p:nvSpPr>
            <p:spPr>
              <a:xfrm>
                <a:off x="676254" y="4794395"/>
                <a:ext cx="7182992" cy="8937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800" b="0" i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0 patients developed disease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100 patients received </m:t>
                          </m:r>
                          <m:r>
                            <m:rPr>
                              <m:sty m:val="p"/>
                            </m:rPr>
                            <a:rPr lang="en-GB" sz="2800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usual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2800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care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=0.20=20%</m:t>
                      </m:r>
                    </m:oMath>
                  </m:oMathPara>
                </a14:m>
                <a:endParaRPr lang="en-GB" sz="28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191BF5-C0D7-0E20-C02D-8DB683B28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254" y="4794395"/>
                <a:ext cx="7182992" cy="893771"/>
              </a:xfrm>
              <a:prstGeom prst="rect">
                <a:avLst/>
              </a:prstGeom>
              <a:blipFill>
                <a:blip r:embed="rId5"/>
                <a:stretch>
                  <a:fillRect l="-883" t="-15493" r="-883" b="-225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9365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0A2CB-70BA-EDE1-22A2-89686B18B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A3585B-7B21-0B8A-5456-1B34DBCF2548}"/>
              </a:ext>
            </a:extLst>
          </p:cNvPr>
          <p:cNvSpPr txBox="1"/>
          <p:nvPr/>
        </p:nvSpPr>
        <p:spPr>
          <a:xfrm>
            <a:off x="500743" y="539685"/>
            <a:ext cx="84690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Absolute risk keeps the clinical frequency visible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7E48C0-2835-3D5B-3D66-801A3856E504}"/>
              </a:ext>
            </a:extLst>
          </p:cNvPr>
          <p:cNvSpPr txBox="1"/>
          <p:nvPr/>
        </p:nvSpPr>
        <p:spPr>
          <a:xfrm>
            <a:off x="500743" y="1564697"/>
            <a:ext cx="63790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Absolute risk describes the probability of disease within one group.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this trial: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 out of every 100 treated patients developed disease.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20 out of every 100 usual-care patients developed disease.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Absolute risk tells patients what happened in each group before we calculate a comparison between them.</a:t>
            </a:r>
          </a:p>
        </p:txBody>
      </p:sp>
    </p:spTree>
    <p:extLst>
      <p:ext uri="{BB962C8B-B14F-4D97-AF65-F5344CB8AC3E}">
        <p14:creationId xmlns:p14="http://schemas.microsoft.com/office/powerpoint/2010/main" val="3223102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72B9F-EC19-AC69-0390-CD4A4F956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0E6FCE-D8F6-D008-7B6B-431E6A4A60D6}"/>
              </a:ext>
            </a:extLst>
          </p:cNvPr>
          <p:cNvSpPr txBox="1"/>
          <p:nvPr/>
        </p:nvSpPr>
        <p:spPr>
          <a:xfrm>
            <a:off x="500743" y="539685"/>
            <a:ext cx="84690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Risk difference compares the absolute risks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A301CF-15B7-591D-02C1-04FEA196DB1D}"/>
              </a:ext>
            </a:extLst>
          </p:cNvPr>
          <p:cNvSpPr txBox="1"/>
          <p:nvPr/>
        </p:nvSpPr>
        <p:spPr>
          <a:xfrm>
            <a:off x="500744" y="1573132"/>
            <a:ext cx="8229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Risk difference = Risk with treatment − Risk with usual care</a:t>
            </a: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		  = 10% - 20%</a:t>
            </a: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		  = -10%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treatment group experienced an absolute reduction of 10%. This is equivalent to: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 fewer cases of disease for every 100 patients treated.</a:t>
            </a:r>
          </a:p>
        </p:txBody>
      </p:sp>
    </p:spTree>
    <p:extLst>
      <p:ext uri="{BB962C8B-B14F-4D97-AF65-F5344CB8AC3E}">
        <p14:creationId xmlns:p14="http://schemas.microsoft.com/office/powerpoint/2010/main" val="330750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F95FE-D384-C8E7-D451-94C408B08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82FB7A-D036-58BE-1A07-CF45D9F4D690}"/>
              </a:ext>
            </a:extLst>
          </p:cNvPr>
          <p:cNvSpPr txBox="1"/>
          <p:nvPr/>
        </p:nvSpPr>
        <p:spPr>
          <a:xfrm>
            <a:off x="500742" y="539685"/>
            <a:ext cx="9329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The sign of the risk difference depends on the calculation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5EAFE7-D178-1E76-2FB4-9AB23727B376}"/>
              </a:ext>
            </a:extLst>
          </p:cNvPr>
          <p:cNvSpPr txBox="1"/>
          <p:nvPr/>
        </p:nvSpPr>
        <p:spPr>
          <a:xfrm>
            <a:off x="500744" y="1573132"/>
            <a:ext cx="8229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We calculated: Treatment risk − Usual-care risk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Therefore: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Risk difference below zero: lower risk with treatment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Risk difference equal to zero: no difference in risk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Risk difference above zero: higher risk with treatment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order of subtraction must be stated clearly.</a:t>
            </a:r>
          </a:p>
        </p:txBody>
      </p:sp>
    </p:spTree>
    <p:extLst>
      <p:ext uri="{BB962C8B-B14F-4D97-AF65-F5344CB8AC3E}">
        <p14:creationId xmlns:p14="http://schemas.microsoft.com/office/powerpoint/2010/main" val="222585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D71F9-AEA1-2B53-2C45-B0DFA7C60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0523EF-1F22-2FC4-140C-C05E7968CAA3}"/>
              </a:ext>
            </a:extLst>
          </p:cNvPr>
          <p:cNvSpPr txBox="1"/>
          <p:nvPr/>
        </p:nvSpPr>
        <p:spPr>
          <a:xfrm>
            <a:off x="511628" y="583228"/>
            <a:ext cx="9329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Relative risk compares the risks as a ratio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C10244-4801-F88B-7A96-AE01C5F70585}"/>
                  </a:ext>
                </a:extLst>
              </p:cNvPr>
              <p:cNvSpPr txBox="1"/>
              <p:nvPr/>
            </p:nvSpPr>
            <p:spPr>
              <a:xfrm>
                <a:off x="500742" y="1894070"/>
                <a:ext cx="8204875" cy="8197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sz="2800" b="0" i="1" smtClean="0">
                          <a:latin typeface="Cambria Math" panose="02040503050406030204" pitchFamily="18" charset="0"/>
                        </a:rPr>
                        <m:t>Relative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800" b="0" i="1" smtClean="0">
                          <a:latin typeface="Cambria Math" panose="02040503050406030204" pitchFamily="18" charset="0"/>
                        </a:rPr>
                        <m:t>Risk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Ris</m:t>
                          </m:r>
                          <m:r>
                            <m:rPr>
                              <m:sty m:val="p"/>
                            </m:rPr>
                            <a:rPr lang="en-GB" sz="2800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k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2800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with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2800" b="0" i="1" smtClean="0"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treatment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8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Risk with usual care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=0.1/0.2=0.5</m:t>
                      </m:r>
                    </m:oMath>
                  </m:oMathPara>
                </a14:m>
                <a:endParaRPr lang="en-GB" sz="28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C10244-4801-F88B-7A96-AE01C5F70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742" y="1894070"/>
                <a:ext cx="8204875" cy="819712"/>
              </a:xfrm>
              <a:prstGeom prst="rect">
                <a:avLst/>
              </a:prstGeom>
              <a:blipFill>
                <a:blip r:embed="rId5"/>
                <a:stretch>
                  <a:fillRect l="-618" t="-7692" r="-618" b="-323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D05016B-96B0-21F0-C461-85B7351CF9D4}"/>
              </a:ext>
            </a:extLst>
          </p:cNvPr>
          <p:cNvSpPr txBox="1"/>
          <p:nvPr/>
        </p:nvSpPr>
        <p:spPr>
          <a:xfrm>
            <a:off x="500742" y="3827974"/>
            <a:ext cx="72825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Patients receiving treatment experienced half the risk of disease seen with usual care.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 risk describes a proportional comparison rather than the number of patients affected.</a:t>
            </a:r>
          </a:p>
        </p:txBody>
      </p:sp>
    </p:spTree>
    <p:extLst>
      <p:ext uri="{BB962C8B-B14F-4D97-AF65-F5344CB8AC3E}">
        <p14:creationId xmlns:p14="http://schemas.microsoft.com/office/powerpoint/2010/main" val="224260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688ED-F69A-1C81-6C11-C03675491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0B6E66-AF13-9D83-4D01-8BE59795BD84}"/>
              </a:ext>
            </a:extLst>
          </p:cNvPr>
          <p:cNvSpPr txBox="1"/>
          <p:nvPr/>
        </p:nvSpPr>
        <p:spPr>
          <a:xfrm>
            <a:off x="511628" y="746513"/>
            <a:ext cx="9329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Relative risk is interpreted around 1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2B7422-9305-D0B0-FFEB-B65122431EBD}"/>
              </a:ext>
            </a:extLst>
          </p:cNvPr>
          <p:cNvSpPr txBox="1"/>
          <p:nvPr/>
        </p:nvSpPr>
        <p:spPr>
          <a:xfrm>
            <a:off x="511628" y="1772253"/>
            <a:ext cx="728254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 risk = 1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Disease risk is the same with treatment and usual care.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 risk below 1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Disease risk is lower with treatment.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 risk above 1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Disease risk is higher with treatment.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further the relative risk is from 1, the larger the relative association.</a:t>
            </a:r>
          </a:p>
        </p:txBody>
      </p:sp>
    </p:spTree>
    <p:extLst>
      <p:ext uri="{BB962C8B-B14F-4D97-AF65-F5344CB8AC3E}">
        <p14:creationId xmlns:p14="http://schemas.microsoft.com/office/powerpoint/2010/main" val="2691190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41EBC-7998-3F3F-FE61-DBFE4307A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554311-B3D2-C085-1796-EC29A956DF8B}"/>
              </a:ext>
            </a:extLst>
          </p:cNvPr>
          <p:cNvSpPr txBox="1"/>
          <p:nvPr/>
        </p:nvSpPr>
        <p:spPr>
          <a:xfrm>
            <a:off x="511628" y="746513"/>
            <a:ext cx="9329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Absolute and relative measures tell different stories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9E4C77-9AE7-DF7A-B4FD-18A13DA773AB}"/>
              </a:ext>
            </a:extLst>
          </p:cNvPr>
          <p:cNvSpPr txBox="1"/>
          <p:nvPr/>
        </p:nvSpPr>
        <p:spPr>
          <a:xfrm>
            <a:off x="511628" y="1826682"/>
            <a:ext cx="856705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same result can be described accurately in two ways.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Absolute comparison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Disease risk fell from 20% to 10%.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 fewer cases for every 100 patients treated.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 comparison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 risk = 0.50.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Treated patients experienced half the risk.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relative comparison does not communicate the baseline risk. Clinical interpretation needs both.</a:t>
            </a:r>
          </a:p>
        </p:txBody>
      </p:sp>
    </p:spTree>
    <p:extLst>
      <p:ext uri="{BB962C8B-B14F-4D97-AF65-F5344CB8AC3E}">
        <p14:creationId xmlns:p14="http://schemas.microsoft.com/office/powerpoint/2010/main" val="2319722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07C101-AC8D-22F3-CDE2-9952DB49D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743FA7-F3D4-F343-457C-F097AFEF3C84}"/>
              </a:ext>
            </a:extLst>
          </p:cNvPr>
          <p:cNvSpPr txBox="1"/>
          <p:nvPr/>
        </p:nvSpPr>
        <p:spPr>
          <a:xfrm>
            <a:off x="574165" y="2578341"/>
            <a:ext cx="85102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5.2 Odds and odds ratios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861E90F-0966-58D9-AF11-FE3C43D28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153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58FEB-69EB-EDF0-8B9C-571032128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C2C941-0B13-0D87-64D2-1A855970BCE0}"/>
              </a:ext>
            </a:extLst>
          </p:cNvPr>
          <p:cNvSpPr txBox="1"/>
          <p:nvPr/>
        </p:nvSpPr>
        <p:spPr>
          <a:xfrm>
            <a:off x="511628" y="586904"/>
            <a:ext cx="9329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Risk and odds describe the same event differently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783EF0-685E-A2BB-76C9-561B27A3FBDA}"/>
              </a:ext>
            </a:extLst>
          </p:cNvPr>
          <p:cNvSpPr txBox="1"/>
          <p:nvPr/>
        </p:nvSpPr>
        <p:spPr>
          <a:xfrm>
            <a:off x="511628" y="1637924"/>
            <a:ext cx="757645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We have already calculated the risk of disease in each treatment group.</a:t>
            </a:r>
          </a:p>
          <a:p>
            <a:pPr>
              <a:buNone/>
            </a:pPr>
            <a:endParaRPr lang="en-GB" sz="24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Risk: Disease compared with everyone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Risk compares patients who develop disease with all patients initially at risk.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Odds: Disease compared with no disease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Odds compare patients who develop disease with patients who do not develop disease.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numerator is the same, but the denominator changes.</a:t>
            </a:r>
          </a:p>
        </p:txBody>
      </p:sp>
    </p:spTree>
    <p:extLst>
      <p:ext uri="{BB962C8B-B14F-4D97-AF65-F5344CB8AC3E}">
        <p14:creationId xmlns:p14="http://schemas.microsoft.com/office/powerpoint/2010/main" val="308332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0959A-DBA6-9C9A-7DE4-A26D906BA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472540-E788-C28D-8E35-7CF5E017294F}"/>
              </a:ext>
            </a:extLst>
          </p:cNvPr>
          <p:cNvSpPr txBox="1"/>
          <p:nvPr/>
        </p:nvSpPr>
        <p:spPr>
          <a:xfrm>
            <a:off x="511628" y="586904"/>
            <a:ext cx="9329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Odds compare events with non-events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793795-28F1-A6A1-44DB-DD8D2D7176F5}"/>
              </a:ext>
            </a:extLst>
          </p:cNvPr>
          <p:cNvSpPr txBox="1"/>
          <p:nvPr/>
        </p:nvSpPr>
        <p:spPr>
          <a:xfrm>
            <a:off x="511628" y="3663591"/>
            <a:ext cx="834912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Odds can range from zero to infinity.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Odds below 1: disease is less common than no disease.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Odds equal to 1: disease and no disease are equally common.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Odds above 1: disease is more common than no disease.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Odds of 1 correspond to a risk of 50%.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E8E947-521E-7B70-1644-99173ADF56C0}"/>
                  </a:ext>
                </a:extLst>
              </p:cNvPr>
              <p:cNvSpPr txBox="1"/>
              <p:nvPr/>
            </p:nvSpPr>
            <p:spPr>
              <a:xfrm>
                <a:off x="609382" y="1832859"/>
                <a:ext cx="7294061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Patients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who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develop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disease</m:t>
                      </m:r>
                    </m:oMath>
                  </m:oMathPara>
                </a14:m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Odds</m:t>
                      </m:r>
                      <m:r>
                        <a:rPr lang="en-GB" sz="2400" i="0">
                          <a:latin typeface="Cambria Math" panose="02040503050406030204" pitchFamily="18" charset="0"/>
                        </a:rPr>
                        <m:t>=─────────────────────────────</m:t>
                      </m:r>
                    </m:oMath>
                  </m:oMathPara>
                </a14:m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Patients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w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ho do not develop disease</m:t>
                      </m:r>
                    </m:oMath>
                  </m:oMathPara>
                </a14:m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E8E947-521E-7B70-1644-99173ADF5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82" y="1832859"/>
                <a:ext cx="7294061" cy="1107996"/>
              </a:xfrm>
              <a:prstGeom prst="rect">
                <a:avLst/>
              </a:prstGeom>
              <a:blipFill>
                <a:blip r:embed="rId5"/>
                <a:stretch>
                  <a:fillRect t="-7955" b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7697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38805-0468-043B-708D-04E08A29E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A3303C-7F55-5F75-0DF2-34645ABC8C5F}"/>
              </a:ext>
            </a:extLst>
          </p:cNvPr>
          <p:cNvSpPr txBox="1"/>
          <p:nvPr/>
        </p:nvSpPr>
        <p:spPr>
          <a:xfrm>
            <a:off x="511628" y="586904"/>
            <a:ext cx="9329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Calculate the odds of disease with treatment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129B67-F04E-FAEF-2798-DCD4D6D2DE1B}"/>
              </a:ext>
            </a:extLst>
          </p:cNvPr>
          <p:cNvSpPr txBox="1"/>
          <p:nvPr/>
        </p:nvSpPr>
        <p:spPr>
          <a:xfrm>
            <a:off x="511628" y="1536604"/>
            <a:ext cx="83491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the treatment group: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 patients developed disease.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90 patients did not develop disease.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9FF31A-D51F-C1BD-F566-4C7C5E945A58}"/>
                  </a:ext>
                </a:extLst>
              </p:cNvPr>
              <p:cNvSpPr txBox="1"/>
              <p:nvPr/>
            </p:nvSpPr>
            <p:spPr>
              <a:xfrm>
                <a:off x="609382" y="3751737"/>
                <a:ext cx="5410418" cy="6938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sz="2400" i="0" dirty="0" smtClean="0">
                          <a:latin typeface="Cambria Math" panose="02040503050406030204" pitchFamily="18" charset="0"/>
                        </a:rPr>
                        <m:t>Odds</m:t>
                      </m:r>
                      <m:r>
                        <m:rPr>
                          <m:nor/>
                        </m:rPr>
                        <a:rPr lang="en-GB" sz="24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dirty="0" smtClean="0">
                          <a:latin typeface="Cambria Math" panose="02040503050406030204" pitchFamily="18" charset="0"/>
                        </a:rPr>
                        <m:t>with</m:t>
                      </m:r>
                      <m:r>
                        <m:rPr>
                          <m:nor/>
                        </m:rPr>
                        <a:rPr lang="en-GB" sz="24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dirty="0" smtClean="0">
                          <a:latin typeface="Cambria Math" panose="02040503050406030204" pitchFamily="18" charset="0"/>
                        </a:rPr>
                        <m:t>treatement</m:t>
                      </m:r>
                      <m:r>
                        <a:rPr lang="en-GB" sz="240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0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0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GB" sz="2400" i="0" dirty="0" smtClean="0">
                              <a:latin typeface="Cambria Math" panose="02040503050406030204" pitchFamily="18" charset="0"/>
                            </a:rPr>
                            <m:t>90</m:t>
                          </m:r>
                        </m:den>
                      </m:f>
                      <m:r>
                        <a:rPr lang="en-GB" sz="2400" i="0" dirty="0" smtClean="0">
                          <a:latin typeface="Cambria Math" panose="02040503050406030204" pitchFamily="18" charset="0"/>
                        </a:rPr>
                        <m:t>=0.11</m:t>
                      </m:r>
                    </m:oMath>
                  </m:oMathPara>
                </a14:m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9FF31A-D51F-C1BD-F566-4C7C5E945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82" y="3751737"/>
                <a:ext cx="5410418" cy="693844"/>
              </a:xfrm>
              <a:prstGeom prst="rect">
                <a:avLst/>
              </a:prstGeom>
              <a:blipFill>
                <a:blip r:embed="rId5"/>
                <a:stretch>
                  <a:fillRect b="-1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23BB83A-661D-EAA0-74AC-0CEA97CA87D6}"/>
              </a:ext>
            </a:extLst>
          </p:cNvPr>
          <p:cNvSpPr txBox="1"/>
          <p:nvPr/>
        </p:nvSpPr>
        <p:spPr>
          <a:xfrm>
            <a:off x="511628" y="5070767"/>
            <a:ext cx="94381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can be expressed 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 disease cases for every 90 patients who did not develop disease.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Or odds of 1 to 9.</a:t>
            </a:r>
          </a:p>
        </p:txBody>
      </p:sp>
    </p:spTree>
    <p:extLst>
      <p:ext uri="{BB962C8B-B14F-4D97-AF65-F5344CB8AC3E}">
        <p14:creationId xmlns:p14="http://schemas.microsoft.com/office/powerpoint/2010/main" val="2711214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6AA93-FE38-2523-6163-04A5CE1F6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460C6D-A5D6-8B0F-FDDA-FCA1AFA93AF7}"/>
              </a:ext>
            </a:extLst>
          </p:cNvPr>
          <p:cNvSpPr txBox="1"/>
          <p:nvPr/>
        </p:nvSpPr>
        <p:spPr>
          <a:xfrm>
            <a:off x="511628" y="586904"/>
            <a:ext cx="9329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Calculate the odds of disease with usual care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BF9D21-C805-0284-13F2-217942D23AAA}"/>
              </a:ext>
            </a:extLst>
          </p:cNvPr>
          <p:cNvSpPr txBox="1"/>
          <p:nvPr/>
        </p:nvSpPr>
        <p:spPr>
          <a:xfrm>
            <a:off x="511628" y="1536604"/>
            <a:ext cx="83491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the usual-care group: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20 patients developed disease.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80 patients did not develop disease.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0CCDE5-BB65-96BE-4A81-E0399B4D2A17}"/>
                  </a:ext>
                </a:extLst>
              </p:cNvPr>
              <p:cNvSpPr txBox="1"/>
              <p:nvPr/>
            </p:nvSpPr>
            <p:spPr>
              <a:xfrm>
                <a:off x="609382" y="3751737"/>
                <a:ext cx="5410418" cy="6938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sz="2400" i="0" dirty="0" smtClean="0">
                          <a:latin typeface="Cambria Math" panose="02040503050406030204" pitchFamily="18" charset="0"/>
                        </a:rPr>
                        <m:t>Odds</m:t>
                      </m:r>
                      <m:r>
                        <m:rPr>
                          <m:nor/>
                        </m:rPr>
                        <a:rPr lang="en-GB" sz="24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dirty="0" smtClean="0">
                          <a:latin typeface="Cambria Math" panose="02040503050406030204" pitchFamily="18" charset="0"/>
                        </a:rPr>
                        <m:t>with</m:t>
                      </m:r>
                      <m:r>
                        <m:rPr>
                          <m:nor/>
                        </m:rPr>
                        <a:rPr lang="en-GB" sz="2400" b="0" i="0" dirty="0" smtClean="0">
                          <a:latin typeface="Cambria Math" panose="02040503050406030204" pitchFamily="18" charset="0"/>
                        </a:rPr>
                        <m:t> usual care</m:t>
                      </m:r>
                      <m:r>
                        <a:rPr lang="en-GB" sz="240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0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400" i="0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GB" sz="2400" b="0" i="0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2400" i="0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2400" i="0" dirty="0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GB" sz="2400" b="0" i="0" dirty="0" smtClean="0"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0CCDE5-BB65-96BE-4A81-E0399B4D2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82" y="3751737"/>
                <a:ext cx="5410418" cy="693844"/>
              </a:xfrm>
              <a:prstGeom prst="rect">
                <a:avLst/>
              </a:prstGeom>
              <a:blipFill>
                <a:blip r:embed="rId5"/>
                <a:stretch>
                  <a:fillRect b="-1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129C7C9-D233-8B0A-AF9A-4F8C5B8D203C}"/>
              </a:ext>
            </a:extLst>
          </p:cNvPr>
          <p:cNvSpPr txBox="1"/>
          <p:nvPr/>
        </p:nvSpPr>
        <p:spPr>
          <a:xfrm>
            <a:off x="511628" y="5070767"/>
            <a:ext cx="94381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can be expressed 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20 disease cases for every 80 patients who did not develop disease.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Or odds of 1 to 4.</a:t>
            </a:r>
          </a:p>
        </p:txBody>
      </p:sp>
    </p:spTree>
    <p:extLst>
      <p:ext uri="{BB962C8B-B14F-4D97-AF65-F5344CB8AC3E}">
        <p14:creationId xmlns:p14="http://schemas.microsoft.com/office/powerpoint/2010/main" val="1178981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E85B3-FFB6-CC1C-6DB4-39394C832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3743F7-5ABE-4C22-7EED-E62F8D926F58}"/>
              </a:ext>
            </a:extLst>
          </p:cNvPr>
          <p:cNvSpPr txBox="1"/>
          <p:nvPr/>
        </p:nvSpPr>
        <p:spPr>
          <a:xfrm>
            <a:off x="511628" y="586904"/>
            <a:ext cx="9329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An odds ratio compares the odds between groups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6F7807-DBF8-BE99-4981-4C6A2025F486}"/>
                  </a:ext>
                </a:extLst>
              </p:cNvPr>
              <p:cNvSpPr txBox="1"/>
              <p:nvPr/>
            </p:nvSpPr>
            <p:spPr>
              <a:xfrm>
                <a:off x="511628" y="1787233"/>
                <a:ext cx="5410418" cy="7014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sz="2400" i="0" dirty="0" smtClean="0">
                          <a:latin typeface="Cambria Math" panose="02040503050406030204" pitchFamily="18" charset="0"/>
                        </a:rPr>
                        <m:t>Odds</m:t>
                      </m:r>
                      <m:r>
                        <m:rPr>
                          <m:nor/>
                        </m:rPr>
                        <a:rPr lang="en-GB" sz="24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dirty="0" smtClean="0">
                          <a:latin typeface="Cambria Math" panose="02040503050406030204" pitchFamily="18" charset="0"/>
                        </a:rPr>
                        <m:t>ratio=</m:t>
                      </m:r>
                      <m:f>
                        <m:fPr>
                          <m:ctrlPr>
                            <a:rPr lang="en-GB" sz="2400" i="0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400" i="0" dirty="0" smtClean="0">
                              <a:latin typeface="Cambria Math" panose="02040503050406030204" pitchFamily="18" charset="0"/>
                            </a:rPr>
                            <m:t>Odds</m:t>
                          </m:r>
                          <m:r>
                            <m:rPr>
                              <m:nor/>
                            </m:rPr>
                            <a:rPr lang="en-GB" sz="24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i="0" dirty="0" smtClean="0">
                              <a:latin typeface="Cambria Math" panose="02040503050406030204" pitchFamily="18" charset="0"/>
                            </a:rPr>
                            <m:t>with</m:t>
                          </m:r>
                          <m:r>
                            <m:rPr>
                              <m:nor/>
                            </m:rPr>
                            <a:rPr lang="en-GB" sz="24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i="0" dirty="0" smtClean="0">
                              <a:latin typeface="Cambria Math" panose="02040503050406030204" pitchFamily="18" charset="0"/>
                            </a:rPr>
                            <m:t>treatment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400" i="0" dirty="0" smtClean="0">
                              <a:latin typeface="Cambria Math" panose="02040503050406030204" pitchFamily="18" charset="0"/>
                            </a:rPr>
                            <m:t>Odds</m:t>
                          </m:r>
                          <m:r>
                            <m:rPr>
                              <m:nor/>
                            </m:rPr>
                            <a:rPr lang="en-GB" sz="24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i="0" dirty="0" smtClean="0">
                              <a:latin typeface="Cambria Math" panose="02040503050406030204" pitchFamily="18" charset="0"/>
                            </a:rPr>
                            <m:t>with</m:t>
                          </m:r>
                          <m:r>
                            <m:rPr>
                              <m:nor/>
                            </m:rPr>
                            <a:rPr lang="en-GB" sz="24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i="0" dirty="0" smtClean="0">
                              <a:latin typeface="Cambria Math" panose="02040503050406030204" pitchFamily="18" charset="0"/>
                            </a:rPr>
                            <m:t>usual</m:t>
                          </m:r>
                          <m:r>
                            <m:rPr>
                              <m:nor/>
                            </m:rPr>
                            <a:rPr lang="en-GB" sz="24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i="0" dirty="0" smtClean="0">
                              <a:latin typeface="Cambria Math" panose="02040503050406030204" pitchFamily="18" charset="0"/>
                            </a:rPr>
                            <m:t>care</m:t>
                          </m:r>
                        </m:den>
                      </m:f>
                    </m:oMath>
                  </m:oMathPara>
                </a14:m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6F7807-DBF8-BE99-4981-4C6A2025F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28" y="1787233"/>
                <a:ext cx="5410418" cy="701410"/>
              </a:xfrm>
              <a:prstGeom prst="rect">
                <a:avLst/>
              </a:prstGeom>
              <a:blipFill>
                <a:blip r:embed="rId5"/>
                <a:stretch>
                  <a:fillRect t="-8929" b="-303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7668D97-7B77-5214-0D8D-5F0CB44550D0}"/>
              </a:ext>
            </a:extLst>
          </p:cNvPr>
          <p:cNvSpPr txBox="1"/>
          <p:nvPr/>
        </p:nvSpPr>
        <p:spPr>
          <a:xfrm>
            <a:off x="518312" y="4701436"/>
            <a:ext cx="94381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odds of the disease in the treatment group were approximately 0.44 times the odds with usual care.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Alternatively: Treatment was associated with 56% lower odds of disease.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C53FFB-E867-24D0-43B4-75116859A567}"/>
              </a:ext>
            </a:extLst>
          </p:cNvPr>
          <p:cNvSpPr txBox="1"/>
          <p:nvPr/>
        </p:nvSpPr>
        <p:spPr>
          <a:xfrm>
            <a:off x="2369681" y="2764523"/>
            <a:ext cx="20238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0.11 / 0.25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0.44</a:t>
            </a:r>
          </a:p>
        </p:txBody>
      </p:sp>
    </p:spTree>
    <p:extLst>
      <p:ext uri="{BB962C8B-B14F-4D97-AF65-F5344CB8AC3E}">
        <p14:creationId xmlns:p14="http://schemas.microsoft.com/office/powerpoint/2010/main" val="2080535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D5703-39C5-A43E-3A04-817B61D3B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01096F-50EC-12D7-EC91-4D70A8428E59}"/>
              </a:ext>
            </a:extLst>
          </p:cNvPr>
          <p:cNvSpPr txBox="1"/>
          <p:nvPr/>
        </p:nvSpPr>
        <p:spPr>
          <a:xfrm>
            <a:off x="511628" y="586904"/>
            <a:ext cx="9329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Odds ratios are interpreted around 1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798F96-BD2B-9E66-CF52-4EF4036467F2}"/>
              </a:ext>
            </a:extLst>
          </p:cNvPr>
          <p:cNvSpPr txBox="1"/>
          <p:nvPr/>
        </p:nvSpPr>
        <p:spPr>
          <a:xfrm>
            <a:off x="511628" y="1658531"/>
            <a:ext cx="730415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Odds ratio = 1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odds of disease are the same with treatment and usual care.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Odds ratio below 1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odds of disease are lower with treatment.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Odds ratio above 1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odds of disease are higher with treatment.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comparison groups and clinical outcome must always be stated.</a:t>
            </a:r>
          </a:p>
        </p:txBody>
      </p:sp>
    </p:spTree>
    <p:extLst>
      <p:ext uri="{BB962C8B-B14F-4D97-AF65-F5344CB8AC3E}">
        <p14:creationId xmlns:p14="http://schemas.microsoft.com/office/powerpoint/2010/main" val="1335384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1DC24-875F-E8C1-074A-3DA10D0CC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12513C-1634-E7DC-2D5C-87365141DE2A}"/>
              </a:ext>
            </a:extLst>
          </p:cNvPr>
          <p:cNvSpPr txBox="1"/>
          <p:nvPr/>
        </p:nvSpPr>
        <p:spPr>
          <a:xfrm>
            <a:off x="511628" y="586904"/>
            <a:ext cx="9329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Risk ratios and odds ratios are not interchangeable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F338E-DE3E-E9FD-DFE9-A0D43514F0FB}"/>
              </a:ext>
            </a:extLst>
          </p:cNvPr>
          <p:cNvSpPr txBox="1"/>
          <p:nvPr/>
        </p:nvSpPr>
        <p:spPr>
          <a:xfrm>
            <a:off x="511628" y="3224108"/>
            <a:ext cx="776670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These values differ because risk and odds use different denominators.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 risk compares disease cases with all patients.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Odds ratio compares disease cases with non-cases.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 odds ratio of 0.44 does not mean that the risk was reduced by 56%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E155ED-9277-F804-C435-44FCF0CC842E}"/>
              </a:ext>
            </a:extLst>
          </p:cNvPr>
          <p:cNvSpPr txBox="1"/>
          <p:nvPr/>
        </p:nvSpPr>
        <p:spPr>
          <a:xfrm>
            <a:off x="511628" y="1664736"/>
            <a:ext cx="60997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 risk = 0.50</a:t>
            </a:r>
          </a:p>
          <a:p>
            <a:pPr>
              <a:buNone/>
            </a:pPr>
            <a:endParaRPr lang="en-GB" sz="24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Odds ratio = 0.44</a:t>
            </a:r>
          </a:p>
        </p:txBody>
      </p:sp>
    </p:spTree>
    <p:extLst>
      <p:ext uri="{BB962C8B-B14F-4D97-AF65-F5344CB8AC3E}">
        <p14:creationId xmlns:p14="http://schemas.microsoft.com/office/powerpoint/2010/main" val="2087477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FDF5D-D5FD-79CF-3A25-E884E966B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42222C-AC04-8D89-323B-FFC561EED305}"/>
              </a:ext>
            </a:extLst>
          </p:cNvPr>
          <p:cNvSpPr txBox="1"/>
          <p:nvPr/>
        </p:nvSpPr>
        <p:spPr>
          <a:xfrm>
            <a:off x="511628" y="586904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Odds ratios can exaggerate the apparent size of an association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12D231-1D77-84AC-1311-7530029F95C0}"/>
              </a:ext>
            </a:extLst>
          </p:cNvPr>
          <p:cNvSpPr txBox="1"/>
          <p:nvPr/>
        </p:nvSpPr>
        <p:spPr>
          <a:xfrm>
            <a:off x="511628" y="1573727"/>
            <a:ext cx="776670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When disease is uncommon, the number of patients with disease is small compared with the number without disease.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this situation: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Odds ratio ≈ Relative risk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As disease becomes more common, odds and risk become increasingly different.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odds ratio therefore tends to appear further from 1 than the corresponding relative risk.</a:t>
            </a:r>
          </a:p>
        </p:txBody>
      </p:sp>
    </p:spTree>
    <p:extLst>
      <p:ext uri="{BB962C8B-B14F-4D97-AF65-F5344CB8AC3E}">
        <p14:creationId xmlns:p14="http://schemas.microsoft.com/office/powerpoint/2010/main" val="12994226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BCF81-DDFD-BA3E-95AD-58DADEA55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403CB7-F548-AD6A-D3A4-68BCEEE7F3AF}"/>
              </a:ext>
            </a:extLst>
          </p:cNvPr>
          <p:cNvSpPr txBox="1"/>
          <p:nvPr/>
        </p:nvSpPr>
        <p:spPr>
          <a:xfrm>
            <a:off x="511628" y="586904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Why are odds ratios used?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ACBC3B-9975-654C-12E8-A2B6BDAB3920}"/>
              </a:ext>
            </a:extLst>
          </p:cNvPr>
          <p:cNvSpPr txBox="1"/>
          <p:nvPr/>
        </p:nvSpPr>
        <p:spPr>
          <a:xfrm>
            <a:off x="511628" y="1377449"/>
            <a:ext cx="776670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Odds ratios are commonly reported in: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Case-control studies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Logistic regression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Systematic reviews and meta-analyses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Clinical research papers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a case-control study, researchers deliberately select people with and without disease.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Because the numbers with and without disease are fixed by the study design, disease risk cannot usually be calculated directly, but an odds ratio can.</a:t>
            </a:r>
          </a:p>
        </p:txBody>
      </p:sp>
    </p:spTree>
    <p:extLst>
      <p:ext uri="{BB962C8B-B14F-4D97-AF65-F5344CB8AC3E}">
        <p14:creationId xmlns:p14="http://schemas.microsoft.com/office/powerpoint/2010/main" val="38526349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32147-E62F-27A8-8B11-1F8CEC7B5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AE7D90-F368-4DD5-59E2-07DE50455E82}"/>
              </a:ext>
            </a:extLst>
          </p:cNvPr>
          <p:cNvSpPr txBox="1"/>
          <p:nvPr/>
        </p:nvSpPr>
        <p:spPr>
          <a:xfrm>
            <a:off x="460575" y="2911734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5.3 Reporting and communicating risk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30686E1-B47B-B70D-9591-65F8A3DE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1636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46FEDC-625D-7B9F-9230-32D74397E51F}"/>
              </a:ext>
            </a:extLst>
          </p:cNvPr>
          <p:cNvSpPr txBox="1"/>
          <p:nvPr/>
        </p:nvSpPr>
        <p:spPr>
          <a:xfrm>
            <a:off x="511628" y="586904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Correct calculations can still be communicated badly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C04FEF-9B9A-D8B0-C1D2-10E9D8DF38DC}"/>
              </a:ext>
            </a:extLst>
          </p:cNvPr>
          <p:cNvSpPr txBox="1"/>
          <p:nvPr/>
        </p:nvSpPr>
        <p:spPr>
          <a:xfrm>
            <a:off x="511628" y="1377449"/>
            <a:ext cx="745034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way risk is presented can change how large or important a treatment effect appears.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Compare: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“Treatment reduces disease by 50%.”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with: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“Disease occurred in 10% of treated patients and 20% of patients receiving usual care.”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Both statements describe the same study, but the first hides the baseline risk.</a:t>
            </a:r>
          </a:p>
        </p:txBody>
      </p:sp>
    </p:spTree>
    <p:extLst>
      <p:ext uri="{BB962C8B-B14F-4D97-AF65-F5344CB8AC3E}">
        <p14:creationId xmlns:p14="http://schemas.microsoft.com/office/powerpoint/2010/main" val="8089032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C64D6-C6B1-CA89-B584-4993F63CE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967E90-937F-7290-8BDB-099C77BDF74A}"/>
              </a:ext>
            </a:extLst>
          </p:cNvPr>
          <p:cNvSpPr txBox="1"/>
          <p:nvPr/>
        </p:nvSpPr>
        <p:spPr>
          <a:xfrm>
            <a:off x="511628" y="519996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Always report the risk in both groups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D7E9D5-DF2A-E903-C00D-F81F2476DFCA}"/>
              </a:ext>
            </a:extLst>
          </p:cNvPr>
          <p:cNvSpPr txBox="1"/>
          <p:nvPr/>
        </p:nvSpPr>
        <p:spPr>
          <a:xfrm>
            <a:off x="511628" y="1332845"/>
            <a:ext cx="747264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Avoid reporting only the treatment group or only the relative comparison.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Instead, report: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Risk with treatment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Risk with usual care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Absolute difference between the risks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 comparison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Time period over which disease was measured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For example: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Over one year, disease occurred in 10% of treated patients and 20% of patients receiving usual care.</a:t>
            </a:r>
          </a:p>
        </p:txBody>
      </p:sp>
    </p:spTree>
    <p:extLst>
      <p:ext uri="{BB962C8B-B14F-4D97-AF65-F5344CB8AC3E}">
        <p14:creationId xmlns:p14="http://schemas.microsoft.com/office/powerpoint/2010/main" val="34929238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B36C7-E9B4-93AA-4A76-43ED63C64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6EAAFB-FB0C-71B1-4E2D-4EBB059DB98B}"/>
              </a:ext>
            </a:extLst>
          </p:cNvPr>
          <p:cNvSpPr txBox="1"/>
          <p:nvPr/>
        </p:nvSpPr>
        <p:spPr>
          <a:xfrm>
            <a:off x="511628" y="519996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Absolute and relative effects should be reported together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ABA924-F689-BCA9-3956-9B44D3D96223}"/>
              </a:ext>
            </a:extLst>
          </p:cNvPr>
          <p:cNvSpPr txBox="1"/>
          <p:nvPr/>
        </p:nvSpPr>
        <p:spPr>
          <a:xfrm>
            <a:off x="522513" y="1444357"/>
            <a:ext cx="747264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Risk with treatment = 10%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Risk with usual care = 20%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Risk difference = −10 percentage points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 risk = 0.50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balanced report would be: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Treatment was associated with 10 fewer cases per 100 patients over one year, corresponding to half the risk seen with usual care.</a:t>
            </a:r>
          </a:p>
        </p:txBody>
      </p:sp>
    </p:spTree>
    <p:extLst>
      <p:ext uri="{BB962C8B-B14F-4D97-AF65-F5344CB8AC3E}">
        <p14:creationId xmlns:p14="http://schemas.microsoft.com/office/powerpoint/2010/main" val="39843253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94EDE-BA50-C0A8-F33D-406012494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D1F0DC-CDA4-B061-A58E-EABE66DFEF0C}"/>
              </a:ext>
            </a:extLst>
          </p:cNvPr>
          <p:cNvSpPr txBox="1"/>
          <p:nvPr/>
        </p:nvSpPr>
        <p:spPr>
          <a:xfrm>
            <a:off x="511628" y="519996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Percentage and percentage-point changes are different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EA7332-60CF-991B-E69D-BBF5CFF4B76C}"/>
              </a:ext>
            </a:extLst>
          </p:cNvPr>
          <p:cNvSpPr txBox="1"/>
          <p:nvPr/>
        </p:nvSpPr>
        <p:spPr>
          <a:xfrm>
            <a:off x="522513" y="1444357"/>
            <a:ext cx="747264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Disease risk fell from 20% to 10%.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Percentage-point change: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20% − 10% = 10 percentage points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 percentage reduction: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(20% − 10%) ÷ 20% = 50%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It is incorrect to say that risk fell by “10%” if we mean a change from 20% to 10%.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absolute reduction is 10 percentage points.</a:t>
            </a:r>
            <a:b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relative reduction is 50%.</a:t>
            </a:r>
            <a:endParaRPr lang="en-GB" sz="2400" b="1" i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3244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7BCE3-134E-01C0-46B2-22F6D58CF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9AAD65-2748-AE80-4A95-448BD38BF4D8}"/>
              </a:ext>
            </a:extLst>
          </p:cNvPr>
          <p:cNvSpPr txBox="1"/>
          <p:nvPr/>
        </p:nvSpPr>
        <p:spPr>
          <a:xfrm>
            <a:off x="511628" y="519996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Use the same denominator when comparing groups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E84024-4B3E-27AC-F990-77164A835B22}"/>
              </a:ext>
            </a:extLst>
          </p:cNvPr>
          <p:cNvSpPr txBox="1"/>
          <p:nvPr/>
        </p:nvSpPr>
        <p:spPr>
          <a:xfrm>
            <a:off x="522513" y="1444357"/>
            <a:ext cx="747264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comparison is easy to understand: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 out of 100 with treatment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20 out of 100 with usual care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comparison is harder to interpret: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out of 10 with treatment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20 out of 100 with usual care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Although the values are mathematically equivalent, changing denominators makes comparison more difficult.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 consistent denominators wherever possible.</a:t>
            </a:r>
            <a:endParaRPr lang="en-GB" sz="2400" b="1" i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0135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4D072-7D1D-5FD9-8F55-477B9EEFA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25B84E-0F2B-3DD7-FE1B-01FEF5D0B6B6}"/>
              </a:ext>
            </a:extLst>
          </p:cNvPr>
          <p:cNvSpPr txBox="1"/>
          <p:nvPr/>
        </p:nvSpPr>
        <p:spPr>
          <a:xfrm>
            <a:off x="511628" y="519996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Positive and negative framing can influence decisions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BFB70E-EA74-C472-F438-5C6708A195A6}"/>
              </a:ext>
            </a:extLst>
          </p:cNvPr>
          <p:cNvSpPr txBox="1"/>
          <p:nvPr/>
        </p:nvSpPr>
        <p:spPr>
          <a:xfrm>
            <a:off x="511628" y="1814471"/>
            <a:ext cx="842554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same treatment outcome can be framed in different ways.</a:t>
            </a:r>
          </a:p>
          <a:p>
            <a:pPr>
              <a:buNone/>
            </a:pPr>
            <a:endParaRPr lang="en-GB" sz="24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Negative framing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 out of 100 treated patients developed disease.</a:t>
            </a:r>
          </a:p>
          <a:p>
            <a:pPr>
              <a:buNone/>
            </a:pPr>
            <a:endParaRPr lang="en-GB" sz="24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Positive framing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90 out of 100 treated patients remained disease-free.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Both are correct, but they may create different impressions. Where appropriate, present both the chance of the event and the chance of avoiding it.</a:t>
            </a:r>
          </a:p>
        </p:txBody>
      </p:sp>
    </p:spTree>
    <p:extLst>
      <p:ext uri="{BB962C8B-B14F-4D97-AF65-F5344CB8AC3E}">
        <p14:creationId xmlns:p14="http://schemas.microsoft.com/office/powerpoint/2010/main" val="40234572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EE9C8-26B4-9573-4422-2BCFE86AD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6DA18D-5A83-82BC-BC77-CAA416C6582D}"/>
              </a:ext>
            </a:extLst>
          </p:cNvPr>
          <p:cNvSpPr txBox="1"/>
          <p:nvPr/>
        </p:nvSpPr>
        <p:spPr>
          <a:xfrm>
            <a:off x="511628" y="519996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Number needed to treat uses the absolute risk reduction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93EEE6-A81A-D8CC-9241-EA0C4EBD5340}"/>
              </a:ext>
            </a:extLst>
          </p:cNvPr>
          <p:cNvSpPr txBox="1"/>
          <p:nvPr/>
        </p:nvSpPr>
        <p:spPr>
          <a:xfrm>
            <a:off x="511628" y="1582977"/>
            <a:ext cx="84255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number needed to treat—or NNT—estimates how many patients need to receive treatment for one additional patient to avoid the disease.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6BDBBF-0F49-E031-7072-DEAC76576FD1}"/>
              </a:ext>
            </a:extLst>
          </p:cNvPr>
          <p:cNvSpPr txBox="1"/>
          <p:nvPr/>
        </p:nvSpPr>
        <p:spPr>
          <a:xfrm>
            <a:off x="511628" y="4782107"/>
            <a:ext cx="75096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Ten patients would need to receive treatment for one additional patient to avoid disease over one year.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time period must always accompany the NNT.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2D4063-CD71-2E0E-2554-D94E18AA37A9}"/>
                  </a:ext>
                </a:extLst>
              </p:cNvPr>
              <p:cNvSpPr txBox="1"/>
              <p:nvPr/>
            </p:nvSpPr>
            <p:spPr>
              <a:xfrm>
                <a:off x="586023" y="3042017"/>
                <a:ext cx="4138377" cy="6939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sz="2400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NNT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400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Absolute risk reduction</m:t>
                          </m:r>
                        </m:den>
                      </m:f>
                    </m:oMath>
                  </m:oMathPara>
                </a14:m>
                <a:endParaRPr lang="en-GB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2D4063-CD71-2E0E-2554-D94E18AA3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023" y="3042017"/>
                <a:ext cx="4138377" cy="693908"/>
              </a:xfrm>
              <a:prstGeom prst="rect">
                <a:avLst/>
              </a:prstGeom>
              <a:blipFill>
                <a:blip r:embed="rId5"/>
                <a:stretch>
                  <a:fillRect b="-32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28579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B4D1A-657B-9455-B44D-0C632D5B8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25B7FA-CC45-6610-445C-0B8E28CABA8E}"/>
              </a:ext>
            </a:extLst>
          </p:cNvPr>
          <p:cNvSpPr txBox="1"/>
          <p:nvPr/>
        </p:nvSpPr>
        <p:spPr>
          <a:xfrm>
            <a:off x="511628" y="519996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Benefits and harms should use comparable formats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75B561-0AFB-C848-4CB5-18AB946D9827}"/>
              </a:ext>
            </a:extLst>
          </p:cNvPr>
          <p:cNvSpPr txBox="1"/>
          <p:nvPr/>
        </p:nvSpPr>
        <p:spPr>
          <a:xfrm>
            <a:off x="511628" y="1270461"/>
            <a:ext cx="842554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treatment may reduce the risk of disease while increasing the risk of an adverse effect.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Benefit: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 fewer disease cases per 100 patients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Harm: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additional serious adverse effects per 100 patients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Presenting benefits and harms using the same denominator and time period makes the trade-off easier to assess.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 benefits should not be compared with absolute harms—or vice versa.</a:t>
            </a:r>
          </a:p>
        </p:txBody>
      </p:sp>
    </p:spTree>
    <p:extLst>
      <p:ext uri="{BB962C8B-B14F-4D97-AF65-F5344CB8AC3E}">
        <p14:creationId xmlns:p14="http://schemas.microsoft.com/office/powerpoint/2010/main" val="1666742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1B2DC-2370-4E0B-7CD3-D916FDC1F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A5B88C-7B9A-7767-3486-10F11EEFC0CE}"/>
              </a:ext>
            </a:extLst>
          </p:cNvPr>
          <p:cNvSpPr txBox="1"/>
          <p:nvPr/>
        </p:nvSpPr>
        <p:spPr>
          <a:xfrm>
            <a:off x="287039" y="1213441"/>
            <a:ext cx="1066467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study provides an average result for a particular population.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 individual patient’s risk may differ because of: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Existing disease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Disease severity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Other treatments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Lifestyle and social circumstances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Length of follow-up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When communicating evidence, ask:</a:t>
            </a: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How similar is this patient to the people included in the study?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study result informs the conversation; it does not determine the decision.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DBE4C8-7BBF-A51F-930C-DCFA2FC693E5}"/>
              </a:ext>
            </a:extLst>
          </p:cNvPr>
          <p:cNvSpPr txBox="1"/>
          <p:nvPr/>
        </p:nvSpPr>
        <p:spPr>
          <a:xfrm>
            <a:off x="287039" y="381580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Study results do not give every patient the same risk</a:t>
            </a:r>
          </a:p>
        </p:txBody>
      </p:sp>
    </p:spTree>
    <p:extLst>
      <p:ext uri="{BB962C8B-B14F-4D97-AF65-F5344CB8AC3E}">
        <p14:creationId xmlns:p14="http://schemas.microsoft.com/office/powerpoint/2010/main" val="37711759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06CD8-7825-2C50-E9D7-E30D16D06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3487E6-7A3F-79FD-073F-270794B8D4C0}"/>
              </a:ext>
            </a:extLst>
          </p:cNvPr>
          <p:cNvSpPr txBox="1"/>
          <p:nvPr/>
        </p:nvSpPr>
        <p:spPr>
          <a:xfrm>
            <a:off x="459342" y="1405946"/>
            <a:ext cx="781422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observed risk difference or relative risk is calculated from a sample. Another sample would probably produce a slightly different result. Confidence intervals communicate the range of effect sizes compatible with the data.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complete report should therefore include: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estimated effect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Its confidence interval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treatment and comparison groups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clinical outcome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follow-up period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Avoid presenting a risk estimate as an exact prediction.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B04F0D-171A-E0C9-0B9B-0A35A07449C5}"/>
              </a:ext>
            </a:extLst>
          </p:cNvPr>
          <p:cNvSpPr txBox="1"/>
          <p:nvPr/>
        </p:nvSpPr>
        <p:spPr>
          <a:xfrm>
            <a:off x="459342" y="558407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Risk estimates contain uncertainty</a:t>
            </a:r>
          </a:p>
        </p:txBody>
      </p:sp>
    </p:spTree>
    <p:extLst>
      <p:ext uri="{BB962C8B-B14F-4D97-AF65-F5344CB8AC3E}">
        <p14:creationId xmlns:p14="http://schemas.microsoft.com/office/powerpoint/2010/main" val="28498239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EA4B9-77FF-B2AB-8937-277D34BB5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4E6DF4-9643-CC13-72EA-F28A57018181}"/>
              </a:ext>
            </a:extLst>
          </p:cNvPr>
          <p:cNvSpPr txBox="1"/>
          <p:nvPr/>
        </p:nvSpPr>
        <p:spPr>
          <a:xfrm>
            <a:off x="459341" y="1213441"/>
            <a:ext cx="1081825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Describe the outcome</a:t>
            </a:r>
            <a:b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“We are considering the chance of developing the disease.”</a:t>
            </a:r>
          </a:p>
          <a:p>
            <a:pPr marL="457200" indent="-457200">
              <a:buFont typeface="+mj-lt"/>
              <a:buAutoNum type="arabicPeriod"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Give the baseline risk</a:t>
            </a:r>
            <a:b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“With usual care, around 20 out of 100 patients develop it within one year.”</a:t>
            </a:r>
          </a:p>
          <a:p>
            <a:pPr marL="457200" indent="-457200">
              <a:buFont typeface="+mj-lt"/>
              <a:buAutoNum type="arabicPeriod"/>
            </a:pPr>
            <a:endParaRPr lang="en-GB" sz="24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Give the risk with treatment</a:t>
            </a:r>
            <a:b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“With treatment, around 10 out of 100 develop it.”</a:t>
            </a:r>
          </a:p>
          <a:p>
            <a:pPr marL="457200" indent="-457200">
              <a:buFont typeface="+mj-lt"/>
              <a:buAutoNum type="arabicPeriod"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Describe the difference</a:t>
            </a:r>
            <a:b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“That is approximately 10 fewer cases per 100 patients.”</a:t>
            </a:r>
          </a:p>
          <a:p>
            <a:pPr marL="457200" indent="-457200">
              <a:buFont typeface="+mj-lt"/>
              <a:buAutoNum type="arabicPeriod"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Discuss uncertainty, benefits and harms</a:t>
            </a:r>
            <a:b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“The result is an estimate, and treatment may also cause adverse effects.”</a:t>
            </a:r>
            <a:endParaRPr lang="en-GB" sz="24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028083-FDD4-E59E-C10E-A0EA369A0B5B}"/>
              </a:ext>
            </a:extLst>
          </p:cNvPr>
          <p:cNvSpPr txBox="1"/>
          <p:nvPr/>
        </p:nvSpPr>
        <p:spPr>
          <a:xfrm>
            <a:off x="459341" y="495109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A practical structure for communicating risk</a:t>
            </a:r>
          </a:p>
        </p:txBody>
      </p:sp>
    </p:spTree>
    <p:extLst>
      <p:ext uri="{BB962C8B-B14F-4D97-AF65-F5344CB8AC3E}">
        <p14:creationId xmlns:p14="http://schemas.microsoft.com/office/powerpoint/2010/main" val="7616100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E5477-25FD-7E79-1B57-705F3827E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D008B5-7D66-403D-E952-E1B70DB55CC4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5.4 Transforming data in R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34280A4-0268-BDF1-53C8-D7C2A67AD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6344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ED34B9-EB8A-8715-BCA6-F040128F57EA}"/>
              </a:ext>
            </a:extLst>
          </p:cNvPr>
          <p:cNvSpPr txBox="1"/>
          <p:nvPr/>
        </p:nvSpPr>
        <p:spPr>
          <a:xfrm>
            <a:off x="459341" y="495109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You can already prepare an analysis dataset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291667-35AA-A45B-7BA9-2011942D3620}"/>
              </a:ext>
            </a:extLst>
          </p:cNvPr>
          <p:cNvSpPr txBox="1"/>
          <p:nvPr/>
        </p:nvSpPr>
        <p:spPr>
          <a:xfrm>
            <a:off x="459341" y="1287905"/>
            <a:ext cx="8251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So far, we have used tidyverse functions to choose the data required for an analysis.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722ADE-95D4-55A4-47CF-4BA4241EBB52}"/>
              </a:ext>
            </a:extLst>
          </p:cNvPr>
          <p:cNvSpPr/>
          <p:nvPr/>
        </p:nvSpPr>
        <p:spPr>
          <a:xfrm>
            <a:off x="459341" y="1828872"/>
            <a:ext cx="7241751" cy="22458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patient_data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select(age, treatment,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recovery_time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filter(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  age &gt;= 18,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  !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is.na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recovery_time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FAE74F-551C-3A0A-227B-381EBA2CB45B}"/>
              </a:ext>
            </a:extLst>
          </p:cNvPr>
          <p:cNvSpPr txBox="1"/>
          <p:nvPr/>
        </p:nvSpPr>
        <p:spPr>
          <a:xfrm>
            <a:off x="491426" y="4246330"/>
            <a:ext cx="679169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We can already:</a:t>
            </a:r>
          </a:p>
          <a:p>
            <a:pPr>
              <a:buNone/>
            </a:pP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pass data between functions using</a:t>
            </a:r>
            <a:r>
              <a:rPr lang="en-GB" dirty="0"/>
              <a:t> </a:t>
            </a:r>
            <a:r>
              <a:rPr lang="en-GB" dirty="0">
                <a:latin typeface="Courier New" panose="02070309020205020404" pitchFamily="49" charset="0"/>
              </a:rPr>
              <a:t>|&gt;</a:t>
            </a:r>
            <a:endParaRPr lang="en-GB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choose variables using </a:t>
            </a:r>
            <a:r>
              <a:rPr lang="en-GB" dirty="0">
                <a:latin typeface="Courier New" panose="02070309020205020404" pitchFamily="49" charset="0"/>
              </a:rPr>
              <a:t>select()</a:t>
            </a:r>
            <a:endParaRPr lang="en-GB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choose observations using </a:t>
            </a:r>
            <a:r>
              <a:rPr lang="en-GB" dirty="0">
                <a:latin typeface="Courier New" panose="02070309020205020404" pitchFamily="49" charset="0"/>
              </a:rPr>
              <a:t>filter()</a:t>
            </a:r>
            <a:endParaRPr lang="en-GB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identify missing values using </a:t>
            </a:r>
            <a:r>
              <a:rPr lang="en-GB" dirty="0" err="1">
                <a:latin typeface="Courier New" panose="02070309020205020404" pitchFamily="49" charset="0"/>
              </a:rPr>
              <a:t>is.na</a:t>
            </a:r>
            <a:r>
              <a:rPr lang="en-GB" dirty="0">
                <a:latin typeface="Courier New" panose="02070309020205020404" pitchFamily="49" charset="0"/>
              </a:rPr>
              <a:t>()</a:t>
            </a:r>
          </a:p>
          <a:p>
            <a:pPr lvl="0"/>
            <a:endParaRPr lang="en-GB" dirty="0"/>
          </a:p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next step is to create new variables.</a:t>
            </a:r>
          </a:p>
        </p:txBody>
      </p:sp>
    </p:spTree>
    <p:extLst>
      <p:ext uri="{BB962C8B-B14F-4D97-AF65-F5344CB8AC3E}">
        <p14:creationId xmlns:p14="http://schemas.microsoft.com/office/powerpoint/2010/main" val="9383568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53DBE-368B-2461-1FB0-CEAE89358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AFD578-3A13-BF3F-5641-B80FFAE1AEA8}"/>
              </a:ext>
            </a:extLst>
          </p:cNvPr>
          <p:cNvSpPr txBox="1"/>
          <p:nvPr/>
        </p:nvSpPr>
        <p:spPr>
          <a:xfrm>
            <a:off x="459341" y="495109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mutate() creates a new variable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33F023-A76D-040A-2CD1-5100DD501CFC}"/>
              </a:ext>
            </a:extLst>
          </p:cNvPr>
          <p:cNvSpPr/>
          <p:nvPr/>
        </p:nvSpPr>
        <p:spPr>
          <a:xfrm>
            <a:off x="459341" y="1315524"/>
            <a:ext cx="7241751" cy="10266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patient_data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mutate(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age_in_decades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= age / 10)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BC0A7B-7D9B-1051-9DE3-F238020F911E}"/>
              </a:ext>
            </a:extLst>
          </p:cNvPr>
          <p:cNvSpPr txBox="1"/>
          <p:nvPr/>
        </p:nvSpPr>
        <p:spPr>
          <a:xfrm>
            <a:off x="459340" y="2880293"/>
            <a:ext cx="80590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“Take </a:t>
            </a:r>
            <a:r>
              <a:rPr lang="en-GB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patient_data</a:t>
            </a: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and create a new variable called </a:t>
            </a:r>
            <a:r>
              <a:rPr lang="en-GB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age_in_decades</a:t>
            </a: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0E83B-6A2D-09C7-DD4D-FA5E6B5A6ABB}"/>
              </a:ext>
            </a:extLst>
          </p:cNvPr>
          <p:cNvSpPr txBox="1"/>
          <p:nvPr/>
        </p:nvSpPr>
        <p:spPr>
          <a:xfrm>
            <a:off x="459340" y="3808346"/>
            <a:ext cx="700196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Before mutate():</a:t>
            </a:r>
          </a:p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one row per patient</a:t>
            </a:r>
          </a:p>
          <a:p>
            <a:pPr>
              <a:buNone/>
            </a:pPr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Inside mutate(): </a:t>
            </a:r>
          </a:p>
          <a:p>
            <a:pPr>
              <a:buNone/>
            </a:pPr>
            <a:r>
              <a:rPr lang="en-GB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new_variable</a:t>
            </a: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= calculation</a:t>
            </a:r>
          </a:p>
          <a:p>
            <a:pPr>
              <a:buNone/>
            </a:pPr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After mutate():</a:t>
            </a:r>
          </a:p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one row per patient, with an additional column</a:t>
            </a:r>
          </a:p>
        </p:txBody>
      </p:sp>
    </p:spTree>
    <p:extLst>
      <p:ext uri="{BB962C8B-B14F-4D97-AF65-F5344CB8AC3E}">
        <p14:creationId xmlns:p14="http://schemas.microsoft.com/office/powerpoint/2010/main" val="24783136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7B4BB-D089-5735-ABA4-01199A4FD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711036-0C81-1365-F48E-B6EC0844A952}"/>
              </a:ext>
            </a:extLst>
          </p:cNvPr>
          <p:cNvSpPr txBox="1"/>
          <p:nvPr/>
        </p:nvSpPr>
        <p:spPr>
          <a:xfrm>
            <a:off x="459341" y="495109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Logical expressions can also create variables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6F0BCC-BB6F-C25D-8516-FF8EBDEDE857}"/>
              </a:ext>
            </a:extLst>
          </p:cNvPr>
          <p:cNvSpPr/>
          <p:nvPr/>
        </p:nvSpPr>
        <p:spPr>
          <a:xfrm>
            <a:off x="459340" y="2197158"/>
            <a:ext cx="7241751" cy="10266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patient_data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mutate(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older_adult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= age &gt;= 65)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C6DDBF-84EA-FE9F-1502-D31B59491481}"/>
              </a:ext>
            </a:extLst>
          </p:cNvPr>
          <p:cNvSpPr txBox="1"/>
          <p:nvPr/>
        </p:nvSpPr>
        <p:spPr>
          <a:xfrm>
            <a:off x="459340" y="1376911"/>
            <a:ext cx="80590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logical expression produces either TRUE or FALSE.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FC3EE2-F91C-AB1A-9F9B-ECF39BC6730E}"/>
              </a:ext>
            </a:extLst>
          </p:cNvPr>
          <p:cNvSpPr txBox="1"/>
          <p:nvPr/>
        </p:nvSpPr>
        <p:spPr>
          <a:xfrm>
            <a:off x="459340" y="3685235"/>
            <a:ext cx="897341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For each patient, R asks: “Is age greater than or equal to 65?”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resulting variable contains:</a:t>
            </a: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TRUE     if the condition is met</a:t>
            </a: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FALSE    if the condition is not met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Logical variables can later be counted or used to filter observations.</a:t>
            </a:r>
          </a:p>
        </p:txBody>
      </p:sp>
    </p:spTree>
    <p:extLst>
      <p:ext uri="{BB962C8B-B14F-4D97-AF65-F5344CB8AC3E}">
        <p14:creationId xmlns:p14="http://schemas.microsoft.com/office/powerpoint/2010/main" val="20623813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37D08-CAB3-5524-2147-8A701B7FC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519CC8-6C16-A314-8763-8C8E84311358}"/>
              </a:ext>
            </a:extLst>
          </p:cNvPr>
          <p:cNvSpPr txBox="1"/>
          <p:nvPr/>
        </p:nvSpPr>
        <p:spPr>
          <a:xfrm>
            <a:off x="459341" y="495109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if_else() creates labelled categories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DFC3F5-96F2-2629-3690-952F9B3BE726}"/>
              </a:ext>
            </a:extLst>
          </p:cNvPr>
          <p:cNvSpPr/>
          <p:nvPr/>
        </p:nvSpPr>
        <p:spPr>
          <a:xfrm>
            <a:off x="459339" y="2197158"/>
            <a:ext cx="9085714" cy="15406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patient_data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mutate(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age_group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= 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	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if_else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(age &gt;= 65, "65 years and over", "Under 65 years"))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A3BB9E-E359-5629-2EF7-A11A9E7F67FF}"/>
              </a:ext>
            </a:extLst>
          </p:cNvPr>
          <p:cNvSpPr txBox="1"/>
          <p:nvPr/>
        </p:nvSpPr>
        <p:spPr>
          <a:xfrm>
            <a:off x="459340" y="1376911"/>
            <a:ext cx="103530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if_else</a:t>
            </a: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() assigns one value when a condition is true and another when it is false.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B4E9A3-2672-1095-5A68-D14BDBEBEC0A}"/>
              </a:ext>
            </a:extLst>
          </p:cNvPr>
          <p:cNvSpPr txBox="1"/>
          <p:nvPr/>
        </p:nvSpPr>
        <p:spPr>
          <a:xfrm>
            <a:off x="403192" y="5901226"/>
            <a:ext cx="89734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Text values must be placed inside quotation marks.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8000CF-EC4A-0672-5AE2-2A1504E16BF8}"/>
              </a:ext>
            </a:extLst>
          </p:cNvPr>
          <p:cNvSpPr/>
          <p:nvPr/>
        </p:nvSpPr>
        <p:spPr>
          <a:xfrm>
            <a:off x="403192" y="4780893"/>
            <a:ext cx="7489524" cy="82024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if_else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(condition,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value_if_true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value_if_false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2E0FF-5193-87D1-3630-3343955E5C2B}"/>
              </a:ext>
            </a:extLst>
          </p:cNvPr>
          <p:cNvSpPr txBox="1"/>
          <p:nvPr/>
        </p:nvSpPr>
        <p:spPr>
          <a:xfrm>
            <a:off x="403192" y="4028519"/>
            <a:ext cx="89734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structure is:</a:t>
            </a:r>
          </a:p>
        </p:txBody>
      </p:sp>
    </p:spTree>
    <p:extLst>
      <p:ext uri="{BB962C8B-B14F-4D97-AF65-F5344CB8AC3E}">
        <p14:creationId xmlns:p14="http://schemas.microsoft.com/office/powerpoint/2010/main" val="15249738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95A9-622C-258C-59D2-9B80AC1D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63AE22-B98A-5220-FEF0-6A42456F711E}"/>
              </a:ext>
            </a:extLst>
          </p:cNvPr>
          <p:cNvSpPr txBox="1"/>
          <p:nvPr/>
        </p:nvSpPr>
        <p:spPr>
          <a:xfrm>
            <a:off x="459341" y="495109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group_by() performs calculations separately within groups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552FE4-901E-85A4-B992-01F71393F91C}"/>
              </a:ext>
            </a:extLst>
          </p:cNvPr>
          <p:cNvSpPr/>
          <p:nvPr/>
        </p:nvSpPr>
        <p:spPr>
          <a:xfrm>
            <a:off x="459339" y="1841142"/>
            <a:ext cx="9085714" cy="195774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patient_data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group_by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(treatment)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summarise(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  patients = n(),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mean_age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= mean(age,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na.rm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= TRUE)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7FC855-A073-15F2-2F43-355D426D041A}"/>
              </a:ext>
            </a:extLst>
          </p:cNvPr>
          <p:cNvSpPr txBox="1"/>
          <p:nvPr/>
        </p:nvSpPr>
        <p:spPr>
          <a:xfrm>
            <a:off x="459339" y="1198903"/>
            <a:ext cx="112733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group_by</a:t>
            </a: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() divides the observations into categories before another function is applied.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4C88B6-810B-537F-BF1B-B11469B19A35}"/>
              </a:ext>
            </a:extLst>
          </p:cNvPr>
          <p:cNvSpPr txBox="1"/>
          <p:nvPr/>
        </p:nvSpPr>
        <p:spPr>
          <a:xfrm>
            <a:off x="459339" y="3979463"/>
            <a:ext cx="812318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Read this as: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“Divide patients by treatment, then calculate the number of patients and mean age separately for each treatment group.”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group_by</a:t>
            </a: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() does not calculate a result by itself. It changes how subsequent functions behave.</a:t>
            </a:r>
          </a:p>
        </p:txBody>
      </p:sp>
    </p:spTree>
    <p:extLst>
      <p:ext uri="{BB962C8B-B14F-4D97-AF65-F5344CB8AC3E}">
        <p14:creationId xmlns:p14="http://schemas.microsoft.com/office/powerpoint/2010/main" val="3676078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D2F97-9122-28DD-1DD0-126F65889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82F7D2-3AD8-C458-857D-2FF47168E503}"/>
              </a:ext>
            </a:extLst>
          </p:cNvPr>
          <p:cNvSpPr txBox="1"/>
          <p:nvPr/>
        </p:nvSpPr>
        <p:spPr>
          <a:xfrm>
            <a:off x="459341" y="495109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Grouped summaries produce one row per group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2A17EF-7231-47B9-F4BD-1700FBD47D68}"/>
              </a:ext>
            </a:extLst>
          </p:cNvPr>
          <p:cNvSpPr txBox="1"/>
          <p:nvPr/>
        </p:nvSpPr>
        <p:spPr>
          <a:xfrm>
            <a:off x="459339" y="1198903"/>
            <a:ext cx="112733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Before grouping: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99C856A-F171-514D-765B-20E0A5991A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142689"/>
              </p:ext>
            </p:extLst>
          </p:nvPr>
        </p:nvGraphicFramePr>
        <p:xfrm>
          <a:off x="613610" y="1841142"/>
          <a:ext cx="5482389" cy="1828800"/>
        </p:xfrm>
        <a:graphic>
          <a:graphicData uri="http://schemas.openxmlformats.org/drawingml/2006/table">
            <a:tbl>
              <a:tblPr/>
              <a:tblGrid>
                <a:gridCol w="1827463">
                  <a:extLst>
                    <a:ext uri="{9D8B030D-6E8A-4147-A177-3AD203B41FA5}">
                      <a16:colId xmlns:a16="http://schemas.microsoft.com/office/drawing/2014/main" val="181934637"/>
                    </a:ext>
                  </a:extLst>
                </a:gridCol>
                <a:gridCol w="1827463">
                  <a:extLst>
                    <a:ext uri="{9D8B030D-6E8A-4147-A177-3AD203B41FA5}">
                      <a16:colId xmlns:a16="http://schemas.microsoft.com/office/drawing/2014/main" val="3207178997"/>
                    </a:ext>
                  </a:extLst>
                </a:gridCol>
                <a:gridCol w="1827463">
                  <a:extLst>
                    <a:ext uri="{9D8B030D-6E8A-4147-A177-3AD203B41FA5}">
                      <a16:colId xmlns:a16="http://schemas.microsoft.com/office/drawing/2014/main" val="36052051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bg1"/>
                          </a:solidFill>
                        </a:rPr>
                        <a:t>patient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treatment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31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153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Treatment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7331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Usual care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7107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Treatment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4629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Usual care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2618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84D0F18-B19C-E0C8-D693-7D3E11E12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179747"/>
              </p:ext>
            </p:extLst>
          </p:nvPr>
        </p:nvGraphicFramePr>
        <p:xfrm>
          <a:off x="613609" y="4625498"/>
          <a:ext cx="5482389" cy="1097280"/>
        </p:xfrm>
        <a:graphic>
          <a:graphicData uri="http://schemas.openxmlformats.org/drawingml/2006/table">
            <a:tbl>
              <a:tblPr/>
              <a:tblGrid>
                <a:gridCol w="1827463">
                  <a:extLst>
                    <a:ext uri="{9D8B030D-6E8A-4147-A177-3AD203B41FA5}">
                      <a16:colId xmlns:a16="http://schemas.microsoft.com/office/drawing/2014/main" val="1147774894"/>
                    </a:ext>
                  </a:extLst>
                </a:gridCol>
                <a:gridCol w="1827463">
                  <a:extLst>
                    <a:ext uri="{9D8B030D-6E8A-4147-A177-3AD203B41FA5}">
                      <a16:colId xmlns:a16="http://schemas.microsoft.com/office/drawing/2014/main" val="1310437682"/>
                    </a:ext>
                  </a:extLst>
                </a:gridCol>
                <a:gridCol w="1827463">
                  <a:extLst>
                    <a:ext uri="{9D8B030D-6E8A-4147-A177-3AD203B41FA5}">
                      <a16:colId xmlns:a16="http://schemas.microsoft.com/office/drawing/2014/main" val="24963738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bg1"/>
                          </a:solidFill>
                        </a:rPr>
                        <a:t>treatment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bg1"/>
                          </a:solidFill>
                        </a:rPr>
                        <a:t>patients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>
                          <a:solidFill>
                            <a:schemeClr val="bg1"/>
                          </a:solidFill>
                        </a:rPr>
                        <a:t>mean_age</a:t>
                      </a:r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31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728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Treatment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6254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Usual care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748660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273C75B-7E5C-B66A-DC46-5CA7E2A76340}"/>
              </a:ext>
            </a:extLst>
          </p:cNvPr>
          <p:cNvSpPr txBox="1"/>
          <p:nvPr/>
        </p:nvSpPr>
        <p:spPr>
          <a:xfrm>
            <a:off x="459339" y="6037552"/>
            <a:ext cx="104875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/>
              <a:t>Individual patient records have been transformed into group-level information.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F3F96E-DF36-8C9E-D96E-C0CAD55DB25C}"/>
              </a:ext>
            </a:extLst>
          </p:cNvPr>
          <p:cNvSpPr txBox="1"/>
          <p:nvPr/>
        </p:nvSpPr>
        <p:spPr>
          <a:xfrm>
            <a:off x="459339" y="384906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After grouping and summarising:</a:t>
            </a:r>
          </a:p>
        </p:txBody>
      </p:sp>
    </p:spTree>
    <p:extLst>
      <p:ext uri="{BB962C8B-B14F-4D97-AF65-F5344CB8AC3E}">
        <p14:creationId xmlns:p14="http://schemas.microsoft.com/office/powerpoint/2010/main" val="24410671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3EA53-0C4D-173F-C49F-804C4D7D5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80EC20-3406-6EAB-A738-850A6C44128B}"/>
              </a:ext>
            </a:extLst>
          </p:cNvPr>
          <p:cNvSpPr txBox="1"/>
          <p:nvPr/>
        </p:nvSpPr>
        <p:spPr>
          <a:xfrm>
            <a:off x="459341" y="495109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We can also usefully create tables of clinical counts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0DB9DE-4683-BA5D-AE92-1C4B96829F3D}"/>
              </a:ext>
            </a:extLst>
          </p:cNvPr>
          <p:cNvSpPr txBox="1"/>
          <p:nvPr/>
        </p:nvSpPr>
        <p:spPr>
          <a:xfrm>
            <a:off x="459339" y="1492682"/>
            <a:ext cx="112733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Begin with one row per patient: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DD3A3D0-CB28-C943-6B02-27C60AE67F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954740"/>
              </p:ext>
            </p:extLst>
          </p:nvPr>
        </p:nvGraphicFramePr>
        <p:xfrm>
          <a:off x="613610" y="2482826"/>
          <a:ext cx="5482389" cy="1463040"/>
        </p:xfrm>
        <a:graphic>
          <a:graphicData uri="http://schemas.openxmlformats.org/drawingml/2006/table">
            <a:tbl>
              <a:tblPr/>
              <a:tblGrid>
                <a:gridCol w="1827463">
                  <a:extLst>
                    <a:ext uri="{9D8B030D-6E8A-4147-A177-3AD203B41FA5}">
                      <a16:colId xmlns:a16="http://schemas.microsoft.com/office/drawing/2014/main" val="181934637"/>
                    </a:ext>
                  </a:extLst>
                </a:gridCol>
                <a:gridCol w="1827463">
                  <a:extLst>
                    <a:ext uri="{9D8B030D-6E8A-4147-A177-3AD203B41FA5}">
                      <a16:colId xmlns:a16="http://schemas.microsoft.com/office/drawing/2014/main" val="3207178997"/>
                    </a:ext>
                  </a:extLst>
                </a:gridCol>
                <a:gridCol w="1827463">
                  <a:extLst>
                    <a:ext uri="{9D8B030D-6E8A-4147-A177-3AD203B41FA5}">
                      <a16:colId xmlns:a16="http://schemas.microsoft.com/office/drawing/2014/main" val="36052051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bg1"/>
                          </a:solidFill>
                        </a:rPr>
                        <a:t>patient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bg1"/>
                          </a:solidFill>
                        </a:rPr>
                        <a:t>treatment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disease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31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153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Treatment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No disease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7331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Usual care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Disease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7107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Treatment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No disease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462971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5FE9BBD9-8A09-AD41-110C-2FA9E8DDE0BC}"/>
              </a:ext>
            </a:extLst>
          </p:cNvPr>
          <p:cNvSpPr txBox="1"/>
          <p:nvPr/>
        </p:nvSpPr>
        <p:spPr>
          <a:xfrm>
            <a:off x="459339" y="4441989"/>
            <a:ext cx="92942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 count() to summarise the combinations of treatment and disease: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13A65E-6925-89E0-0772-044A57261BC2}"/>
              </a:ext>
            </a:extLst>
          </p:cNvPr>
          <p:cNvSpPr/>
          <p:nvPr/>
        </p:nvSpPr>
        <p:spPr>
          <a:xfrm>
            <a:off x="459339" y="5062458"/>
            <a:ext cx="9085714" cy="8648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risk_counts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patient_data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count(treatment, disease, name = "patients")</a:t>
            </a:r>
          </a:p>
        </p:txBody>
      </p:sp>
    </p:spTree>
    <p:extLst>
      <p:ext uri="{BB962C8B-B14F-4D97-AF65-F5344CB8AC3E}">
        <p14:creationId xmlns:p14="http://schemas.microsoft.com/office/powerpoint/2010/main" val="4332312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91B72-1513-4F54-A4F2-6FC9A1463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4FC2A2-B4CA-714A-ED2C-0CED7E2166E2}"/>
              </a:ext>
            </a:extLst>
          </p:cNvPr>
          <p:cNvSpPr txBox="1"/>
          <p:nvPr/>
        </p:nvSpPr>
        <p:spPr>
          <a:xfrm>
            <a:off x="459341" y="495109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The main tidyverse verbs so far…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4F1BC6-C026-9BE3-E151-14E7EDFDB45F}"/>
              </a:ext>
            </a:extLst>
          </p:cNvPr>
          <p:cNvSpPr txBox="1"/>
          <p:nvPr/>
        </p:nvSpPr>
        <p:spPr>
          <a:xfrm>
            <a:off x="459341" y="1836821"/>
            <a:ext cx="687190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select()      Which variables do I need?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filter()      Which observations do I need?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mutate()      Which new variables do I need?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group_by</a:t>
            </a: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()    Within which groups should I calculate?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summarise()   Which summary values do I need?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count()       How often does each category occur?</a:t>
            </a:r>
          </a:p>
        </p:txBody>
      </p:sp>
    </p:spTree>
    <p:extLst>
      <p:ext uri="{BB962C8B-B14F-4D97-AF65-F5344CB8AC3E}">
        <p14:creationId xmlns:p14="http://schemas.microsoft.com/office/powerpoint/2010/main" val="19182521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59EBD-9357-0B7C-FB52-ED6879588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1F74C2-95B7-AD72-453F-9AE4CEF0D112}"/>
              </a:ext>
            </a:extLst>
          </p:cNvPr>
          <p:cNvSpPr txBox="1"/>
          <p:nvPr/>
        </p:nvSpPr>
        <p:spPr>
          <a:xfrm>
            <a:off x="459342" y="495109"/>
            <a:ext cx="7690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xtabs() turns summary counts into a 2 × 2 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200855-1772-609B-68F7-AA5BB12B8BEB}"/>
              </a:ext>
            </a:extLst>
          </p:cNvPr>
          <p:cNvSpPr txBox="1"/>
          <p:nvPr/>
        </p:nvSpPr>
        <p:spPr>
          <a:xfrm>
            <a:off x="459342" y="1383014"/>
            <a:ext cx="74494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Some epidemiological functions expect counts arranged as a contingency table.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EC5D70-9178-3DBA-5597-F5F1BF9FF5D9}"/>
              </a:ext>
            </a:extLst>
          </p:cNvPr>
          <p:cNvSpPr/>
          <p:nvPr/>
        </p:nvSpPr>
        <p:spPr>
          <a:xfrm>
            <a:off x="459342" y="2578697"/>
            <a:ext cx="7690048" cy="170060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risk_table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xtabs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patients ~ treatment + disease,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data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risk_counts</a:t>
            </a:r>
            <a:endParaRPr lang="en-GB" dirty="0">
              <a:solidFill>
                <a:srgbClr val="031D42"/>
              </a:solidFill>
              <a:latin typeface="Aptos Mono" panose="020B0009020202020204" pitchFamily="49" charset="0"/>
            </a:endParaRP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26550E-C474-9264-A67E-BFA5C087FC4C}"/>
              </a:ext>
            </a:extLst>
          </p:cNvPr>
          <p:cNvSpPr txBox="1"/>
          <p:nvPr/>
        </p:nvSpPr>
        <p:spPr>
          <a:xfrm>
            <a:off x="459341" y="4820470"/>
            <a:ext cx="91819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formula describes how the table should be arranged: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cell frequency ~ row variable + column variable</a:t>
            </a:r>
          </a:p>
        </p:txBody>
      </p:sp>
    </p:spTree>
    <p:extLst>
      <p:ext uri="{BB962C8B-B14F-4D97-AF65-F5344CB8AC3E}">
        <p14:creationId xmlns:p14="http://schemas.microsoft.com/office/powerpoint/2010/main" val="37780232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EEEB7-D887-EDFB-40B4-56A4D9C27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851A11-B69F-BD8F-0AA1-C5D8F41FC1D9}"/>
              </a:ext>
            </a:extLst>
          </p:cNvPr>
          <p:cNvSpPr txBox="1"/>
          <p:nvPr/>
        </p:nvSpPr>
        <p:spPr>
          <a:xfrm>
            <a:off x="459342" y="495109"/>
            <a:ext cx="7690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xtabs() turns summary counts into a 2 × 2 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27E4F3-23DD-9CE3-77AF-628140424BB5}"/>
              </a:ext>
            </a:extLst>
          </p:cNvPr>
          <p:cNvSpPr txBox="1"/>
          <p:nvPr/>
        </p:nvSpPr>
        <p:spPr>
          <a:xfrm>
            <a:off x="459341" y="1241862"/>
            <a:ext cx="74494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Inspect the result: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3DEEF9-5359-DFAA-B83C-7B6EBF1C5204}"/>
              </a:ext>
            </a:extLst>
          </p:cNvPr>
          <p:cNvSpPr/>
          <p:nvPr/>
        </p:nvSpPr>
        <p:spPr>
          <a:xfrm>
            <a:off x="459341" y="1902624"/>
            <a:ext cx="7690048" cy="6778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risk_table</a:t>
            </a:r>
            <a:endParaRPr lang="en-GB" dirty="0">
              <a:solidFill>
                <a:srgbClr val="031D42"/>
              </a:solidFill>
              <a:latin typeface="Aptos Mono" panose="020B0009020202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B3D0EE-60E6-E07F-ECFB-339D3F3716D4}"/>
              </a:ext>
            </a:extLst>
          </p:cNvPr>
          <p:cNvSpPr txBox="1"/>
          <p:nvPr/>
        </p:nvSpPr>
        <p:spPr>
          <a:xfrm>
            <a:off x="459341" y="5270284"/>
            <a:ext cx="91819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It’ll look something like this. Always check which treatment group forms the first row and which clinical outcome forms the first column.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284BF1-EE2A-E164-B3FB-D9B5633C8F52}"/>
              </a:ext>
            </a:extLst>
          </p:cNvPr>
          <p:cNvSpPr txBox="1"/>
          <p:nvPr/>
        </p:nvSpPr>
        <p:spPr>
          <a:xfrm>
            <a:off x="568697" y="3086029"/>
            <a:ext cx="50139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dirty="0">
                <a:latin typeface="Courier New" panose="02070309020205020404" pitchFamily="49" charset="0"/>
              </a:rPr>
              <a:t> disease</a:t>
            </a:r>
          </a:p>
          <a:p>
            <a:pPr>
              <a:buNone/>
            </a:pPr>
            <a:r>
              <a:rPr lang="en-GB" dirty="0">
                <a:latin typeface="Courier New" panose="02070309020205020404" pitchFamily="49" charset="0"/>
              </a:rPr>
              <a:t>treatment    Disease  No disease</a:t>
            </a:r>
          </a:p>
          <a:p>
            <a:pPr>
              <a:buNone/>
            </a:pPr>
            <a:endParaRPr lang="en-GB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GB" dirty="0">
                <a:latin typeface="Courier New" panose="02070309020205020404" pitchFamily="49" charset="0"/>
              </a:rPr>
              <a:t>Treatment         10          90</a:t>
            </a:r>
          </a:p>
          <a:p>
            <a:pPr>
              <a:buNone/>
            </a:pPr>
            <a:endParaRPr lang="en-GB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GB" dirty="0">
                <a:latin typeface="Courier New" panose="02070309020205020404" pitchFamily="49" charset="0"/>
              </a:rPr>
              <a:t>Usual care        20          80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37010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83A6C-E36D-70D4-3E38-3C1809CEF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D10561-54CF-E4E6-7D33-ABDDAC44CAA0}"/>
              </a:ext>
            </a:extLst>
          </p:cNvPr>
          <p:cNvSpPr txBox="1"/>
          <p:nvPr/>
        </p:nvSpPr>
        <p:spPr>
          <a:xfrm>
            <a:off x="459341" y="495109"/>
            <a:ext cx="10193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Sometimes tidyverse isn’t the answer…introducing epiR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14E8CE-ECCF-3C43-70C5-0296FDBE547C}"/>
              </a:ext>
            </a:extLst>
          </p:cNvPr>
          <p:cNvSpPr txBox="1"/>
          <p:nvPr/>
        </p:nvSpPr>
        <p:spPr>
          <a:xfrm>
            <a:off x="459339" y="1200540"/>
            <a:ext cx="76258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</a:t>
            </a:r>
            <a:r>
              <a:rPr lang="en-GB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epiR</a:t>
            </a: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package contains functions for analysing epidemiological data. We have to load it like tidyverse…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F4CDAF-BBA0-EA99-FBE3-3819625B7090}"/>
              </a:ext>
            </a:extLst>
          </p:cNvPr>
          <p:cNvSpPr txBox="1"/>
          <p:nvPr/>
        </p:nvSpPr>
        <p:spPr>
          <a:xfrm>
            <a:off x="459340" y="3198167"/>
            <a:ext cx="76258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epi.2by2() function analyses counts from a 2 × 2 table.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FD54A5-4630-C8BF-C491-96EDDAAB0DD6}"/>
              </a:ext>
            </a:extLst>
          </p:cNvPr>
          <p:cNvSpPr/>
          <p:nvPr/>
        </p:nvSpPr>
        <p:spPr>
          <a:xfrm>
            <a:off x="613610" y="2326126"/>
            <a:ext cx="3124201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library(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epiR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B9BCEA-4ECD-376B-5710-A34A35CC3B18}"/>
              </a:ext>
            </a:extLst>
          </p:cNvPr>
          <p:cNvSpPr/>
          <p:nvPr/>
        </p:nvSpPr>
        <p:spPr>
          <a:xfrm>
            <a:off x="603110" y="4103768"/>
            <a:ext cx="4953002" cy="20774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risk_results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epi.2by2(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dat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risk_table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method = "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cohort.count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",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outcome = "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as.columns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",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units = 100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69ECC8-9844-C480-195E-F4361E7D2B51}"/>
              </a:ext>
            </a:extLst>
          </p:cNvPr>
          <p:cNvSpPr txBox="1"/>
          <p:nvPr/>
        </p:nvSpPr>
        <p:spPr>
          <a:xfrm>
            <a:off x="5951621" y="4149896"/>
            <a:ext cx="563726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Here: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 err="1">
                <a:latin typeface="Courier New" panose="02070309020205020404" pitchFamily="49" charset="0"/>
              </a:rPr>
              <a:t>dat</a:t>
            </a:r>
            <a:r>
              <a:rPr lang="en-GB" dirty="0"/>
              <a:t>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supplies the 2 × 2 table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Courier New" panose="02070309020205020404" pitchFamily="49" charset="0"/>
              </a:rPr>
              <a:t>method = "</a:t>
            </a:r>
            <a:r>
              <a:rPr lang="en-GB" dirty="0" err="1">
                <a:latin typeface="Courier New" panose="02070309020205020404" pitchFamily="49" charset="0"/>
              </a:rPr>
              <a:t>cohort.count</a:t>
            </a:r>
            <a:r>
              <a:rPr lang="en-GB" dirty="0">
                <a:latin typeface="Courier New" panose="02070309020205020404" pitchFamily="49" charset="0"/>
              </a:rPr>
              <a:t>"</a:t>
            </a:r>
            <a:r>
              <a:rPr lang="en-GB" dirty="0"/>
              <a:t>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describes a cohort or trial using patient counts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Courier New" panose="02070309020205020404" pitchFamily="49" charset="0"/>
              </a:rPr>
              <a:t>outcome = "</a:t>
            </a:r>
            <a:r>
              <a:rPr lang="en-GB" dirty="0" err="1">
                <a:latin typeface="Courier New" panose="02070309020205020404" pitchFamily="49" charset="0"/>
              </a:rPr>
              <a:t>as.columns</a:t>
            </a:r>
            <a:r>
              <a:rPr lang="en-GB" dirty="0">
                <a:latin typeface="Courier New" panose="02070309020205020404" pitchFamily="49" charset="0"/>
              </a:rPr>
              <a:t>"</a:t>
            </a:r>
            <a:r>
              <a:rPr lang="en-GB" dirty="0"/>
              <a:t>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tells R that disease status forms the columns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Courier New" panose="02070309020205020404" pitchFamily="49" charset="0"/>
              </a:rPr>
              <a:t>units = 100</a:t>
            </a:r>
            <a:r>
              <a:rPr lang="en-GB" dirty="0"/>
              <a:t>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reports risks per 100 patients</a:t>
            </a:r>
          </a:p>
        </p:txBody>
      </p:sp>
    </p:spTree>
    <p:extLst>
      <p:ext uri="{BB962C8B-B14F-4D97-AF65-F5344CB8AC3E}">
        <p14:creationId xmlns:p14="http://schemas.microsoft.com/office/powerpoint/2010/main" val="30823694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FE9BF-930E-0A88-049A-8C6D658D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B87C5B-C1E1-586C-4DF8-4AD6AB15B5B4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What you need to do next…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FBF80-4DB0-FFED-AB2E-F97CFA3B6861}"/>
              </a:ext>
            </a:extLst>
          </p:cNvPr>
          <p:cNvSpPr txBox="1"/>
          <p:nvPr/>
        </p:nvSpPr>
        <p:spPr>
          <a:xfrm>
            <a:off x="576944" y="1323082"/>
            <a:ext cx="10465128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We have explored how the chance of disease can be described and compared using: absolute risk, risk difference, relative risk, odds and odds ratios. We have also introduced how individual patient records can be transformed into grouped counts and arranged as a 2 × 2 risk_table.</a:t>
            </a:r>
          </a:p>
          <a:p>
            <a:endParaRPr lang="en-GB" sz="24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/>
            </a:endParaRPr>
          </a:p>
          <a:p>
            <a:r>
              <a:rPr lang="en-GB" sz="2400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In the code-along, we will use R to prepare the data, construct the table, calculate measures of risk and translate the results into clear clinical language.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048D93-CE3B-2C04-DE0A-2C7A2ADB27C0}"/>
              </a:ext>
            </a:extLst>
          </p:cNvPr>
          <p:cNvCxnSpPr>
            <a:cxnSpLocks/>
          </p:cNvCxnSpPr>
          <p:nvPr/>
        </p:nvCxnSpPr>
        <p:spPr>
          <a:xfrm>
            <a:off x="7391399" y="6232360"/>
            <a:ext cx="3923373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606799-C9AB-D73E-8140-7F2FF5803538}"/>
              </a:ext>
            </a:extLst>
          </p:cNvPr>
          <p:cNvSpPr txBox="1"/>
          <p:nvPr/>
        </p:nvSpPr>
        <p:spPr>
          <a:xfrm>
            <a:off x="7391399" y="5669037"/>
            <a:ext cx="36506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 the code-along…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72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6180</TotalTime>
  <Words>2987</Words>
  <Application>Microsoft Macintosh PowerPoint</Application>
  <PresentationFormat>Widescreen</PresentationFormat>
  <Paragraphs>494</Paragraphs>
  <Slides>49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Aptos</vt:lpstr>
      <vt:lpstr>Aptos Display</vt:lpstr>
      <vt:lpstr>Aptos Mono</vt:lpstr>
      <vt:lpstr>Arial</vt:lpstr>
      <vt:lpstr>Cambria Math</vt:lpstr>
      <vt:lpstr>Courier New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Oldnall</dc:creator>
  <cp:lastModifiedBy>Chris Oldnall</cp:lastModifiedBy>
  <cp:revision>42</cp:revision>
  <cp:lastPrinted>2026-04-30T09:46:23Z</cp:lastPrinted>
  <dcterms:created xsi:type="dcterms:W3CDTF">2026-04-30T09:42:16Z</dcterms:created>
  <dcterms:modified xsi:type="dcterms:W3CDTF">2026-08-11T11:57:58Z</dcterms:modified>
</cp:coreProperties>
</file>