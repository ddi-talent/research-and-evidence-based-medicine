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72" r:id="rId2"/>
    <p:sldId id="273" r:id="rId3"/>
    <p:sldId id="278" r:id="rId4"/>
    <p:sldId id="280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281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279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286" r:id="rId38"/>
    <p:sldId id="326" r:id="rId39"/>
    <p:sldId id="357" r:id="rId40"/>
    <p:sldId id="358" r:id="rId41"/>
    <p:sldId id="359" r:id="rId42"/>
    <p:sldId id="360" r:id="rId43"/>
    <p:sldId id="361" r:id="rId44"/>
    <p:sldId id="363" r:id="rId45"/>
    <p:sldId id="362" r:id="rId46"/>
    <p:sldId id="365" r:id="rId47"/>
    <p:sldId id="366" r:id="rId48"/>
    <p:sldId id="364" r:id="rId49"/>
    <p:sldId id="32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8"/>
    <p:restoredTop sz="93174"/>
  </p:normalViewPr>
  <p:slideViewPr>
    <p:cSldViewPr snapToGrid="0">
      <p:cViewPr>
        <p:scale>
          <a:sx n="80" d="100"/>
          <a:sy n="80" d="100"/>
        </p:scale>
        <p:origin x="168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5: How do we measure risk?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5C482A6A-5D7A-C8F9-B9CF-21AD4BD0922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117640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From association to risk…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414E5FEC-2C8E-CC28-340D-D0D1E3F284C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7767" y="2459951"/>
            <a:ext cx="2504152" cy="2504152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57537"/>
            <a:ext cx="95653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Last week, we examined whether an exposure and an outcome were associated and why an association alone does not establish causation.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health and social care, outcomes are often events: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Did the patient develop the disease?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Were they readmitted?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Did they recover?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Did they experience an adverse effect?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changes the question from: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these variables move together?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to:</a:t>
            </a:r>
          </a:p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likely is the outcome, and how does that likelihood differ between groups?</a:t>
            </a:r>
          </a:p>
        </p:txBody>
      </p:sp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Measuring and comparing risk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Odds and odds ratios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Reporting and communicating risk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Transforming data in 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5321278" y="6232360"/>
            <a:ext cx="599349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5321278" y="5669037"/>
            <a:ext cx="5720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5.1 Measuring and comparing risk</a:t>
            </a: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9F7228E3-02AB-51A4-B205-7BD38F8BE1D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2457" y="238839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94044" y="2688102"/>
            <a:ext cx="808281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5.1 Measuring and comparing risk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055081A-4ECC-A0D9-92F1-1D818E35B25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7C9578-BFDC-CC11-D6AA-EE51C48CF1E3}"/>
              </a:ext>
            </a:extLst>
          </p:cNvPr>
          <p:cNvSpPr txBox="1"/>
          <p:nvPr/>
        </p:nvSpPr>
        <p:spPr>
          <a:xfrm>
            <a:off x="500743" y="463485"/>
            <a:ext cx="78594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clinical question about treatment and disease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B1F0E-C8D1-366D-5B71-3C1203AA0D89}"/>
              </a:ext>
            </a:extLst>
          </p:cNvPr>
          <p:cNvSpPr txBox="1"/>
          <p:nvPr/>
        </p:nvSpPr>
        <p:spPr>
          <a:xfrm>
            <a:off x="500743" y="1346652"/>
            <a:ext cx="95653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Imagine a trial of a preventative treatment.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 patients receive the treatment.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 patients receive usual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one year, we record whether each patient has developed the disease.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outcome has two possibilities: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disease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likely was disease in each treatment group?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06651BD6-1E83-F223-C304-1384BEBBEC9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0973" y="3736147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0727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67EB-0ED1-2943-0BA8-05923F77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809E8-1DA4-373F-78C8-983AC9F992C6}"/>
              </a:ext>
            </a:extLst>
          </p:cNvPr>
          <p:cNvSpPr txBox="1"/>
          <p:nvPr/>
        </p:nvSpPr>
        <p:spPr>
          <a:xfrm>
            <a:off x="500743" y="539685"/>
            <a:ext cx="78594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We start by counting clinical outcomes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183E5-AD40-A27C-F004-9929376235FE}"/>
              </a:ext>
            </a:extLst>
          </p:cNvPr>
          <p:cNvSpPr txBox="1"/>
          <p:nvPr/>
        </p:nvSpPr>
        <p:spPr>
          <a:xfrm>
            <a:off x="500743" y="5487318"/>
            <a:ext cx="9895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patient contributes to one treatment group and one clinical outcome.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counts provide the information needed to calculate risk.</a:t>
            </a:r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132172-2A06-6EC3-0A78-39EAB3E24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52729"/>
              </p:ext>
            </p:extLst>
          </p:nvPr>
        </p:nvGraphicFramePr>
        <p:xfrm>
          <a:off x="609601" y="1409717"/>
          <a:ext cx="7369628" cy="3730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407">
                  <a:extLst>
                    <a:ext uri="{9D8B030D-6E8A-4147-A177-3AD203B41FA5}">
                      <a16:colId xmlns:a16="http://schemas.microsoft.com/office/drawing/2014/main" val="3919858500"/>
                    </a:ext>
                  </a:extLst>
                </a:gridCol>
                <a:gridCol w="1842407">
                  <a:extLst>
                    <a:ext uri="{9D8B030D-6E8A-4147-A177-3AD203B41FA5}">
                      <a16:colId xmlns:a16="http://schemas.microsoft.com/office/drawing/2014/main" val="2988846851"/>
                    </a:ext>
                  </a:extLst>
                </a:gridCol>
                <a:gridCol w="1842407">
                  <a:extLst>
                    <a:ext uri="{9D8B030D-6E8A-4147-A177-3AD203B41FA5}">
                      <a16:colId xmlns:a16="http://schemas.microsoft.com/office/drawing/2014/main" val="2508849316"/>
                    </a:ext>
                  </a:extLst>
                </a:gridCol>
                <a:gridCol w="1842407">
                  <a:extLst>
                    <a:ext uri="{9D8B030D-6E8A-4147-A177-3AD203B41FA5}">
                      <a16:colId xmlns:a16="http://schemas.microsoft.com/office/drawing/2014/main" val="761536250"/>
                    </a:ext>
                  </a:extLst>
                </a:gridCol>
              </a:tblGrid>
              <a:tr h="9326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Disease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disease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5081"/>
                  </a:ext>
                </a:extLst>
              </a:tr>
              <a:tr h="93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i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080916"/>
                  </a:ext>
                </a:extLst>
              </a:tr>
              <a:tr h="93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i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Usual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7512"/>
                  </a:ext>
                </a:extLst>
              </a:tr>
              <a:tr h="93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i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186215"/>
                  </a:ext>
                </a:extLst>
              </a:tr>
            </a:tbl>
          </a:graphicData>
        </a:graphic>
      </p:graphicFrame>
      <p:pic>
        <p:nvPicPr>
          <p:cNvPr id="6" name="Camera 5">
            <a:extLst>
              <a:ext uri="{FF2B5EF4-FFF2-40B4-BE49-F238E27FC236}">
                <a16:creationId xmlns:a16="http://schemas.microsoft.com/office/drawing/2014/main" id="{A6F64EFC-FBDB-2826-386B-0BDF5401327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07287" y="2023036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6339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94B0-66A1-5780-5759-5417B782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34FE9-1B0F-CFE7-F342-502C80C1659E}"/>
              </a:ext>
            </a:extLst>
          </p:cNvPr>
          <p:cNvSpPr txBox="1"/>
          <p:nvPr/>
        </p:nvSpPr>
        <p:spPr>
          <a:xfrm>
            <a:off x="500743" y="539685"/>
            <a:ext cx="8469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is the probability of disease in a defined group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1E48F-A87B-C42D-443E-3365945A0D69}"/>
              </a:ext>
            </a:extLst>
          </p:cNvPr>
          <p:cNvSpPr txBox="1"/>
          <p:nvPr/>
        </p:nvSpPr>
        <p:spPr>
          <a:xfrm>
            <a:off x="500743" y="1405176"/>
            <a:ext cx="8360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describes the proportion of initially disease-free patients who develop the disease during a specified period.</a:t>
            </a:r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FF570-5FC4-EB5C-51F9-B668886B93CD}"/>
                  </a:ext>
                </a:extLst>
              </p:cNvPr>
              <p:cNvSpPr txBox="1"/>
              <p:nvPr/>
            </p:nvSpPr>
            <p:spPr>
              <a:xfrm>
                <a:off x="500743" y="2875002"/>
                <a:ext cx="7294061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Patients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who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develop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disease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Risk</m:t>
                      </m:r>
                      <m:r>
                        <a:rPr lang="en-GB" sz="2400" i="0">
                          <a:latin typeface="Cambria Math" panose="02040503050406030204" pitchFamily="18" charset="0"/>
                        </a:rPr>
                        <m:t>=─────────────────────────────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Patients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initially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risk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FF570-5FC4-EB5C-51F9-B668886B9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3" y="2875002"/>
                <a:ext cx="7294061" cy="1107996"/>
              </a:xfrm>
              <a:prstGeom prst="rect">
                <a:avLst/>
              </a:prstGeom>
              <a:blipFill>
                <a:blip r:embed="rId2"/>
                <a:stretch>
                  <a:fillRect t="-795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ADFF47F-BC59-841D-0EFE-2B2F6660093A}"/>
              </a:ext>
            </a:extLst>
          </p:cNvPr>
          <p:cNvSpPr txBox="1"/>
          <p:nvPr/>
        </p:nvSpPr>
        <p:spPr>
          <a:xfrm>
            <a:off x="609600" y="4748655"/>
            <a:ext cx="40930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risk should always refer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defined group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defined clinical event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defined period of time</a:t>
            </a:r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5A2D356E-A45C-1F16-DB5B-AFAAE658D51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873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CECE-5018-6581-4D22-4E997987B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B71C40-52F2-4C3C-4634-835012DF9A7B}"/>
              </a:ext>
            </a:extLst>
          </p:cNvPr>
          <p:cNvSpPr txBox="1"/>
          <p:nvPr/>
        </p:nvSpPr>
        <p:spPr>
          <a:xfrm>
            <a:off x="500743" y="539685"/>
            <a:ext cx="8469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Calculate risk separately for each treatment group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1B59B-7C47-5EF5-A0CF-59AB80303563}"/>
              </a:ext>
            </a:extLst>
          </p:cNvPr>
          <p:cNvSpPr txBox="1"/>
          <p:nvPr/>
        </p:nvSpPr>
        <p:spPr>
          <a:xfrm>
            <a:off x="500743" y="1437833"/>
            <a:ext cx="836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Treatment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B3116-0164-186B-771F-3A6711EADF0F}"/>
              </a:ext>
            </a:extLst>
          </p:cNvPr>
          <p:cNvSpPr txBox="1"/>
          <p:nvPr/>
        </p:nvSpPr>
        <p:spPr>
          <a:xfrm>
            <a:off x="500743" y="3957802"/>
            <a:ext cx="836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Usual-care 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CF8D7B-74E9-A518-8B35-C771189A1527}"/>
                  </a:ext>
                </a:extLst>
              </p:cNvPr>
              <p:cNvSpPr txBox="1"/>
              <p:nvPr/>
            </p:nvSpPr>
            <p:spPr>
              <a:xfrm>
                <a:off x="676254" y="2535229"/>
                <a:ext cx="7138108" cy="89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10 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patients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developed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disease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100 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patients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received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treatment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=0.10=10%</m:t>
                      </m:r>
                    </m:oMath>
                  </m:oMathPara>
                </a14:m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CF8D7B-74E9-A518-8B35-C771189A1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54" y="2535229"/>
                <a:ext cx="7138108" cy="893771"/>
              </a:xfrm>
              <a:prstGeom prst="rect">
                <a:avLst/>
              </a:prstGeom>
              <a:blipFill>
                <a:blip r:embed="rId2"/>
                <a:stretch>
                  <a:fillRect l="-888" t="-15278" r="-888" b="-208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191BF5-C0D7-0E20-C02D-8DB683B2801C}"/>
                  </a:ext>
                </a:extLst>
              </p:cNvPr>
              <p:cNvSpPr txBox="1"/>
              <p:nvPr/>
            </p:nvSpPr>
            <p:spPr>
              <a:xfrm>
                <a:off x="676254" y="4794395"/>
                <a:ext cx="7182992" cy="89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0 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patients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developed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disease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100 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patients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received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usual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care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=0.20=20%</m:t>
                      </m:r>
                    </m:oMath>
                  </m:oMathPara>
                </a14:m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191BF5-C0D7-0E20-C02D-8DB683B28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54" y="4794395"/>
                <a:ext cx="7182992" cy="893771"/>
              </a:xfrm>
              <a:prstGeom prst="rect">
                <a:avLst/>
              </a:prstGeom>
              <a:blipFill>
                <a:blip r:embed="rId3"/>
                <a:stretch>
                  <a:fillRect l="-883" t="-15493" r="-883" b="-225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amera 8">
            <a:extLst>
              <a:ext uri="{FF2B5EF4-FFF2-40B4-BE49-F238E27FC236}">
                <a16:creationId xmlns:a16="http://schemas.microsoft.com/office/drawing/2014/main" id="{4F83DD11-FEB7-6078-2D55-6013949B3A1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6327" y="2454351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7936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A2CB-70BA-EDE1-22A2-89686B18B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3585B-7B21-0B8A-5456-1B34DBCF2548}"/>
              </a:ext>
            </a:extLst>
          </p:cNvPr>
          <p:cNvSpPr txBox="1"/>
          <p:nvPr/>
        </p:nvSpPr>
        <p:spPr>
          <a:xfrm>
            <a:off x="500743" y="539685"/>
            <a:ext cx="8469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Absolute risk keeps the clinical frequency visible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E48C0-2835-3D5B-3D66-801A3856E504}"/>
              </a:ext>
            </a:extLst>
          </p:cNvPr>
          <p:cNvSpPr txBox="1"/>
          <p:nvPr/>
        </p:nvSpPr>
        <p:spPr>
          <a:xfrm>
            <a:off x="500743" y="1564697"/>
            <a:ext cx="63790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risk describes the probability of disease within one group.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this trial: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out of every 100 treated patients developed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out of every 100 usual-care patients developed disease.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risk tells patients what happened in each group before we calculate a comparison between them.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46C3BEBC-A9BC-5822-EAE3-E742CD4DB33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7753" y="3283689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23102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2B9F-EC19-AC69-0390-CD4A4F95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E6FCE-D8F6-D008-7B6B-431E6A4A60D6}"/>
              </a:ext>
            </a:extLst>
          </p:cNvPr>
          <p:cNvSpPr txBox="1"/>
          <p:nvPr/>
        </p:nvSpPr>
        <p:spPr>
          <a:xfrm>
            <a:off x="500743" y="539685"/>
            <a:ext cx="8469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compares the absolute risks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301CF-15B7-591D-02C1-04FEA196DB1D}"/>
              </a:ext>
            </a:extLst>
          </p:cNvPr>
          <p:cNvSpPr txBox="1"/>
          <p:nvPr/>
        </p:nvSpPr>
        <p:spPr>
          <a:xfrm>
            <a:off x="500744" y="1573132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= Risk with treatment − Risk with usual care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  = 10% - 20%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  = -10%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treatment group experienced an absolute reduction of 10%. This is equivalent to: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fewer cases of disease for every 100 patients treated.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83DA96BA-4F8C-9B83-67A2-80FFB70FF02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53924" y="368646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0750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F95FE-D384-C8E7-D451-94C408B0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82FB7A-D036-58BE-1A07-CF45D9F4D690}"/>
              </a:ext>
            </a:extLst>
          </p:cNvPr>
          <p:cNvSpPr txBox="1"/>
          <p:nvPr/>
        </p:nvSpPr>
        <p:spPr>
          <a:xfrm>
            <a:off x="500742" y="539685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sign of the risk difference depends on the calculation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EAFE7-D178-1E76-2FB4-9AB23727B376}"/>
              </a:ext>
            </a:extLst>
          </p:cNvPr>
          <p:cNvSpPr txBox="1"/>
          <p:nvPr/>
        </p:nvSpPr>
        <p:spPr>
          <a:xfrm>
            <a:off x="500744" y="1573132"/>
            <a:ext cx="8229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calculated: Treatment risk − Usual-care risk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Therefore: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below zero: lower risk with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equal to zero: no difference in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above zero: higher risk with treatment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order of subtraction must be stated clearly.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6C195A22-18DE-0BA8-6B98-2C97CC35A73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53924" y="368646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258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71F9-AEA1-2B53-2C45-B0DFA7C60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0523EF-1F22-2FC4-140C-C05E7968CAA3}"/>
              </a:ext>
            </a:extLst>
          </p:cNvPr>
          <p:cNvSpPr txBox="1"/>
          <p:nvPr/>
        </p:nvSpPr>
        <p:spPr>
          <a:xfrm>
            <a:off x="511628" y="583228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compares the risks as a ratio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A3DDA543-D864-038E-4786-94E04C83E70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53924" y="3686460"/>
            <a:ext cx="2504152" cy="2504152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C10244-4801-F88B-7A96-AE01C5F70585}"/>
                  </a:ext>
                </a:extLst>
              </p:cNvPr>
              <p:cNvSpPr txBox="1"/>
              <p:nvPr/>
            </p:nvSpPr>
            <p:spPr>
              <a:xfrm>
                <a:off x="500742" y="1894070"/>
                <a:ext cx="8204875" cy="819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 b="0" i="1" smtClean="0">
                          <a:latin typeface="+mj-lt"/>
                        </a:rPr>
                        <m:t>Relative</m:t>
                      </m:r>
                      <m:r>
                        <a:rPr lang="en-GB" sz="2800" b="0" i="1" smtClean="0">
                          <a:latin typeface="+mj-lt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800" b="0" i="1" smtClean="0">
                          <a:latin typeface="+mj-lt"/>
                        </a:rPr>
                        <m:t>Risk</m:t>
                      </m:r>
                      <m:r>
                        <a:rPr lang="en-GB" sz="2800" b="0" i="1" smtClean="0">
                          <a:latin typeface="+mj-lt"/>
                        </a:rPr>
                        <m:t> = </m:t>
                      </m:r>
                      <m:f>
                        <m:fPr>
                          <m:ctrlPr>
                            <a:rPr lang="en-GB" sz="2800" b="0" i="1" smtClean="0">
                              <a:latin typeface="+mj-lt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Ris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+mj-lt"/>
                              <a:ea typeface="Source Sans Pro" panose="020B0503030403020204" pitchFamily="34" charset="0"/>
                            </a:rPr>
                            <m:t>k</m:t>
                          </m:r>
                          <m:r>
                            <a:rPr lang="en-GB" sz="2800" b="0" i="1" smtClean="0">
                              <a:latin typeface="+mj-lt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+mj-lt"/>
                              <a:ea typeface="Source Sans Pro" panose="020B0503030403020204" pitchFamily="34" charset="0"/>
                            </a:rPr>
                            <m:t>with</m:t>
                          </m:r>
                          <m:r>
                            <a:rPr lang="en-GB" sz="2800" b="0" i="1" smtClean="0">
                              <a:latin typeface="+mj-lt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+mj-lt"/>
                              <a:ea typeface="Source Sans Pro" panose="020B0503030403020204" pitchFamily="34" charset="0"/>
                            </a:rPr>
                            <m:t>treatment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Risk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with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usual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care</m:t>
                          </m:r>
                        </m:den>
                      </m:f>
                      <m:r>
                        <a:rPr lang="en-GB" sz="2800" b="0" i="1" smtClean="0">
                          <a:latin typeface="+mj-lt"/>
                        </a:rPr>
                        <m:t>=0.1/0.2=0.5</m:t>
                      </m:r>
                    </m:oMath>
                  </m:oMathPara>
                </a14:m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C10244-4801-F88B-7A96-AE01C5F70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2" y="1894070"/>
                <a:ext cx="8204875" cy="819712"/>
              </a:xfrm>
              <a:prstGeom prst="rect">
                <a:avLst/>
              </a:prstGeom>
              <a:blipFill>
                <a:blip r:embed="rId3"/>
                <a:stretch>
                  <a:fillRect l="-618" t="-7692" r="-618" b="-3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D05016B-96B0-21F0-C461-85B7351CF9D4}"/>
              </a:ext>
            </a:extLst>
          </p:cNvPr>
          <p:cNvSpPr txBox="1"/>
          <p:nvPr/>
        </p:nvSpPr>
        <p:spPr>
          <a:xfrm>
            <a:off x="500742" y="3827974"/>
            <a:ext cx="72825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Patients receiving treatment experienced half the risk of disease seen with usual care.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describes a proportional comparison rather than the number of patients affected.</a:t>
            </a:r>
          </a:p>
        </p:txBody>
      </p:sp>
    </p:spTree>
    <p:extLst>
      <p:ext uri="{BB962C8B-B14F-4D97-AF65-F5344CB8AC3E}">
        <p14:creationId xmlns:p14="http://schemas.microsoft.com/office/powerpoint/2010/main" val="224260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688ED-F69A-1C81-6C11-C0367549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0B6E66-AF13-9D83-4D01-8BE59795BD84}"/>
              </a:ext>
            </a:extLst>
          </p:cNvPr>
          <p:cNvSpPr txBox="1"/>
          <p:nvPr/>
        </p:nvSpPr>
        <p:spPr>
          <a:xfrm>
            <a:off x="511628" y="746513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is interpreted around 1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9B22BFAD-6978-A996-8E2F-53ECCBED63D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05581" y="3259800"/>
            <a:ext cx="2504152" cy="2504152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2B7422-9305-D0B0-FFEB-B65122431EBD}"/>
              </a:ext>
            </a:extLst>
          </p:cNvPr>
          <p:cNvSpPr txBox="1"/>
          <p:nvPr/>
        </p:nvSpPr>
        <p:spPr>
          <a:xfrm>
            <a:off x="511628" y="1772253"/>
            <a:ext cx="72825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=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is the same with treatment and usual care.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below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is lower with treatment.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above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is higher with treatment.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further the relative risk is from 1, the larger the relative association.</a:t>
            </a:r>
          </a:p>
        </p:txBody>
      </p:sp>
    </p:spTree>
    <p:extLst>
      <p:ext uri="{BB962C8B-B14F-4D97-AF65-F5344CB8AC3E}">
        <p14:creationId xmlns:p14="http://schemas.microsoft.com/office/powerpoint/2010/main" val="2691190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1EBC-7998-3F3F-FE61-DBFE4307A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54311-B3D2-C085-1796-EC29A956DF8B}"/>
              </a:ext>
            </a:extLst>
          </p:cNvPr>
          <p:cNvSpPr txBox="1"/>
          <p:nvPr/>
        </p:nvSpPr>
        <p:spPr>
          <a:xfrm>
            <a:off x="511628" y="746513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Absolute and relative measures tell different stories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12A04492-ECFF-5DC2-C246-D287F45A5D3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1523" y="2378056"/>
            <a:ext cx="2504152" cy="2504152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9E4C77-9AE7-DF7A-B4FD-18A13DA773AB}"/>
              </a:ext>
            </a:extLst>
          </p:cNvPr>
          <p:cNvSpPr txBox="1"/>
          <p:nvPr/>
        </p:nvSpPr>
        <p:spPr>
          <a:xfrm>
            <a:off x="511628" y="1826682"/>
            <a:ext cx="85670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same result can be described accurately in two ways.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comparison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fell from 20% to 10%.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fewer cases for every 100 patients treated.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comparison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= 0.50.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Treated patients experienced half the risk.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relative comparison does not communicate the baseline risk. Clinical interpretation needs both.</a:t>
            </a:r>
          </a:p>
        </p:txBody>
      </p:sp>
    </p:spTree>
    <p:extLst>
      <p:ext uri="{BB962C8B-B14F-4D97-AF65-F5344CB8AC3E}">
        <p14:creationId xmlns:p14="http://schemas.microsoft.com/office/powerpoint/2010/main" val="2319722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574165" y="2578341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5.2 Odds and odds ratios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144DCD3D-B1BB-4DEE-554D-6A885F75298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5948" y="361287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8FEB-69EB-EDF0-8B9C-57103212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C2C941-0B13-0D87-64D2-1A855970BCE0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and odds describe the same event differently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4CD1C79B-64A2-82A8-CD94-564FA1026F9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1523" y="2648005"/>
            <a:ext cx="2504152" cy="2504152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783EF0-685E-A2BB-76C9-561B27A3FBDA}"/>
              </a:ext>
            </a:extLst>
          </p:cNvPr>
          <p:cNvSpPr txBox="1"/>
          <p:nvPr/>
        </p:nvSpPr>
        <p:spPr>
          <a:xfrm>
            <a:off x="511628" y="1637924"/>
            <a:ext cx="75764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have already calculated the risk of disease in each treatment group.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Risk: Disease compared with everyone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compares patients who develop disease with all patients initially at risk.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Odds: Disease compared with no disease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compare patients who develop disease with patients who do not develop disease.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numerator is the same, but the denominator changes.</a:t>
            </a:r>
          </a:p>
        </p:txBody>
      </p:sp>
    </p:spTree>
    <p:extLst>
      <p:ext uri="{BB962C8B-B14F-4D97-AF65-F5344CB8AC3E}">
        <p14:creationId xmlns:p14="http://schemas.microsoft.com/office/powerpoint/2010/main" val="308332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959A-DBA6-9C9A-7DE4-A26D906B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72540-E788-C28D-8E35-7CF5E017294F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Odds compare events with non-events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218179F7-9F15-A2B5-65FF-04C6D6528DA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8466" y="2321434"/>
            <a:ext cx="2504152" cy="2504152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793795-28F1-A6A1-44DB-DD8D2D7176F5}"/>
              </a:ext>
            </a:extLst>
          </p:cNvPr>
          <p:cNvSpPr txBox="1"/>
          <p:nvPr/>
        </p:nvSpPr>
        <p:spPr>
          <a:xfrm>
            <a:off x="511628" y="3663591"/>
            <a:ext cx="83491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can range from zero to infinity.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below 1: disease is less common than no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equal to 1: disease and no disease are equally common.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above 1: disease is more common than no disease.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of 1 correspond to a risk of 50%.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E8E947-521E-7B70-1644-99173ADF56C0}"/>
                  </a:ext>
                </a:extLst>
              </p:cNvPr>
              <p:cNvSpPr txBox="1"/>
              <p:nvPr/>
            </p:nvSpPr>
            <p:spPr>
              <a:xfrm>
                <a:off x="609382" y="1832859"/>
                <a:ext cx="7294061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Patients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who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develop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disease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Odds</m:t>
                      </m:r>
                      <m:r>
                        <a:rPr lang="en-GB" sz="2400" i="0">
                          <a:latin typeface="Cambria Math" panose="02040503050406030204" pitchFamily="18" charset="0"/>
                        </a:rPr>
                        <m:t>=─────────────────────────────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Patients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ho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do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not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develop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disease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E8E947-521E-7B70-1644-99173ADF5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2" y="1832859"/>
                <a:ext cx="7294061" cy="1107996"/>
              </a:xfrm>
              <a:prstGeom prst="rect">
                <a:avLst/>
              </a:prstGeom>
              <a:blipFill>
                <a:blip r:embed="rId3"/>
                <a:stretch>
                  <a:fillRect t="-795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697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38805-0468-043B-708D-04E08A29E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A3303C-7F55-5F75-0DF2-34645ABC8C5F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Calculate the odds of disease with treatment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3565AE99-5856-F8D1-E4D0-F871409CA17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08676" y="1875236"/>
            <a:ext cx="2504152" cy="2504152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129B67-F04E-FAEF-2798-DCD4D6D2DE1B}"/>
              </a:ext>
            </a:extLst>
          </p:cNvPr>
          <p:cNvSpPr txBox="1"/>
          <p:nvPr/>
        </p:nvSpPr>
        <p:spPr>
          <a:xfrm>
            <a:off x="511628" y="1536604"/>
            <a:ext cx="8349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treatment group: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patients developed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90 patients did not develop disease.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FF31A-D51F-C1BD-F566-4C7C5E945A58}"/>
                  </a:ext>
                </a:extLst>
              </p:cNvPr>
              <p:cNvSpPr txBox="1"/>
              <p:nvPr/>
            </p:nvSpPr>
            <p:spPr>
              <a:xfrm>
                <a:off x="609382" y="3751737"/>
                <a:ext cx="541041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treatement</m:t>
                      </m:r>
                      <m:r>
                        <a:rPr lang="en-GB" sz="24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2400" i="0" dirty="0" smtClean="0">
                          <a:latin typeface="Cambria Math" panose="02040503050406030204" pitchFamily="18" charset="0"/>
                        </a:rPr>
                        <m:t>=0.11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FF31A-D51F-C1BD-F566-4C7C5E945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2" y="3751737"/>
                <a:ext cx="5410418" cy="693844"/>
              </a:xfrm>
              <a:prstGeom prst="rect">
                <a:avLst/>
              </a:prstGeom>
              <a:blipFill>
                <a:blip r:embed="rId3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3BB83A-661D-EAA0-74AC-0CEA97CA87D6}"/>
              </a:ext>
            </a:extLst>
          </p:cNvPr>
          <p:cNvSpPr txBox="1"/>
          <p:nvPr/>
        </p:nvSpPr>
        <p:spPr>
          <a:xfrm>
            <a:off x="511628" y="5070767"/>
            <a:ext cx="9438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can be expressed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disease cases for every 90 patients who did not develop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 odds of 1 to 9.</a:t>
            </a:r>
          </a:p>
        </p:txBody>
      </p:sp>
    </p:spTree>
    <p:extLst>
      <p:ext uri="{BB962C8B-B14F-4D97-AF65-F5344CB8AC3E}">
        <p14:creationId xmlns:p14="http://schemas.microsoft.com/office/powerpoint/2010/main" val="2711214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6AA93-FE38-2523-6163-04A5CE1F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460C6D-A5D6-8B0F-FDDA-FCA1AFA93AF7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Calculate the odds of disease with usual care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4E5B3DB4-F80E-40C4-FBE3-0B59449839A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08676" y="1875236"/>
            <a:ext cx="2504152" cy="2504152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BF9D21-C805-0284-13F2-217942D23AAA}"/>
              </a:ext>
            </a:extLst>
          </p:cNvPr>
          <p:cNvSpPr txBox="1"/>
          <p:nvPr/>
        </p:nvSpPr>
        <p:spPr>
          <a:xfrm>
            <a:off x="511628" y="1536604"/>
            <a:ext cx="8349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usual-care group: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patients developed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 patients did not develop disease.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0CCDE5-BB65-96BE-4A81-E0399B4D2A17}"/>
                  </a:ext>
                </a:extLst>
              </p:cNvPr>
              <p:cNvSpPr txBox="1"/>
              <p:nvPr/>
            </p:nvSpPr>
            <p:spPr>
              <a:xfrm>
                <a:off x="609382" y="3751737"/>
                <a:ext cx="541041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usual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care</m:t>
                      </m:r>
                      <m:r>
                        <a:rPr lang="en-GB" sz="24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2400" i="0" dirty="0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0CCDE5-BB65-96BE-4A81-E0399B4D2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2" y="3751737"/>
                <a:ext cx="5410418" cy="693844"/>
              </a:xfrm>
              <a:prstGeom prst="rect">
                <a:avLst/>
              </a:prstGeom>
              <a:blipFill>
                <a:blip r:embed="rId3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129C7C9-D233-8B0A-AF9A-4F8C5B8D203C}"/>
              </a:ext>
            </a:extLst>
          </p:cNvPr>
          <p:cNvSpPr txBox="1"/>
          <p:nvPr/>
        </p:nvSpPr>
        <p:spPr>
          <a:xfrm>
            <a:off x="511628" y="5070767"/>
            <a:ext cx="9438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can be expressed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disease cases for every 80 patients who did not develop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 odds of 1 to 4.</a:t>
            </a:r>
          </a:p>
        </p:txBody>
      </p:sp>
    </p:spTree>
    <p:extLst>
      <p:ext uri="{BB962C8B-B14F-4D97-AF65-F5344CB8AC3E}">
        <p14:creationId xmlns:p14="http://schemas.microsoft.com/office/powerpoint/2010/main" val="1178981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E85B3-FFB6-CC1C-6DB4-39394C83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743F7-5ABE-4C22-7EED-E62F8D926F58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An odds ratio compares the odds between groups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9164ECB8-4DE3-F2F6-5713-728331B286A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88539" y="1658531"/>
            <a:ext cx="2504152" cy="2504152"/>
          </a:xfrm>
          <a:prstGeom prst="ellipse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6F7807-DBF8-BE99-4981-4C6A2025F486}"/>
                  </a:ext>
                </a:extLst>
              </p:cNvPr>
              <p:cNvSpPr txBox="1"/>
              <p:nvPr/>
            </p:nvSpPr>
            <p:spPr>
              <a:xfrm>
                <a:off x="511628" y="1787233"/>
                <a:ext cx="5410418" cy="701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ratio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Odds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treatment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Odds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usual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care</m:t>
                          </m:r>
                        </m:den>
                      </m:f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6F7807-DBF8-BE99-4981-4C6A2025F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28" y="1787233"/>
                <a:ext cx="5410418" cy="701410"/>
              </a:xfrm>
              <a:prstGeom prst="rect">
                <a:avLst/>
              </a:prstGeom>
              <a:blipFill>
                <a:blip r:embed="rId3"/>
                <a:stretch>
                  <a:fillRect t="-8929" b="-30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7668D97-7B77-5214-0D8D-5F0CB44550D0}"/>
              </a:ext>
            </a:extLst>
          </p:cNvPr>
          <p:cNvSpPr txBox="1"/>
          <p:nvPr/>
        </p:nvSpPr>
        <p:spPr>
          <a:xfrm>
            <a:off x="518312" y="4701436"/>
            <a:ext cx="94381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of the disease in the treatment group were approximately 0.44 times the odds with usual care.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Alternatively: Treatment was associated with 56% lower odds of disease.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53FFB-E867-24D0-43B4-75116859A567}"/>
              </a:ext>
            </a:extLst>
          </p:cNvPr>
          <p:cNvSpPr txBox="1"/>
          <p:nvPr/>
        </p:nvSpPr>
        <p:spPr>
          <a:xfrm>
            <a:off x="2369681" y="2764523"/>
            <a:ext cx="20238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0.11 / 0.25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0.44</a:t>
            </a:r>
          </a:p>
        </p:txBody>
      </p:sp>
    </p:spTree>
    <p:extLst>
      <p:ext uri="{BB962C8B-B14F-4D97-AF65-F5344CB8AC3E}">
        <p14:creationId xmlns:p14="http://schemas.microsoft.com/office/powerpoint/2010/main" val="2080535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5703-39C5-A43E-3A04-817B61D3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01096F-50EC-12D7-EC91-4D70A8428E59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Odds ratios are interpreted around 1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0E09473B-B5A6-5F68-BD80-5A004041722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446" y="2506023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798F96-BD2B-9E66-CF52-4EF4036467F2}"/>
              </a:ext>
            </a:extLst>
          </p:cNvPr>
          <p:cNvSpPr txBox="1"/>
          <p:nvPr/>
        </p:nvSpPr>
        <p:spPr>
          <a:xfrm>
            <a:off x="511628" y="1658531"/>
            <a:ext cx="73041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=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of disease are the same with treatment and usual care.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below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of disease are lower with treatment.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above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of disease are higher with treatment.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comparison groups and clinical outcome must always be stated.</a:t>
            </a:r>
          </a:p>
        </p:txBody>
      </p:sp>
    </p:spTree>
    <p:extLst>
      <p:ext uri="{BB962C8B-B14F-4D97-AF65-F5344CB8AC3E}">
        <p14:creationId xmlns:p14="http://schemas.microsoft.com/office/powerpoint/2010/main" val="1335384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DC24-875F-E8C1-074A-3DA10D0C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12513C-1634-E7DC-2D5C-87365141DE2A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ratios and odds ratios are not interchangeable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6975E330-039C-77A5-D2A8-E6CD1EA8694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88609" y="2506023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F338E-DE3E-E9FD-DFE9-A0D43514F0FB}"/>
              </a:ext>
            </a:extLst>
          </p:cNvPr>
          <p:cNvSpPr txBox="1"/>
          <p:nvPr/>
        </p:nvSpPr>
        <p:spPr>
          <a:xfrm>
            <a:off x="511628" y="3224108"/>
            <a:ext cx="776670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values differ because risk and odds use different denominators.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compares disease cases with all patients.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compares disease cases with non-cases.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 odds ratio of 0.44 does not mean that the risk was reduced by 56%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155ED-9277-F804-C435-44FCF0CC842E}"/>
              </a:ext>
            </a:extLst>
          </p:cNvPr>
          <p:cNvSpPr txBox="1"/>
          <p:nvPr/>
        </p:nvSpPr>
        <p:spPr>
          <a:xfrm>
            <a:off x="511628" y="1664736"/>
            <a:ext cx="6099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= 0.50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= 0.44</a:t>
            </a:r>
          </a:p>
        </p:txBody>
      </p:sp>
    </p:spTree>
    <p:extLst>
      <p:ext uri="{BB962C8B-B14F-4D97-AF65-F5344CB8AC3E}">
        <p14:creationId xmlns:p14="http://schemas.microsoft.com/office/powerpoint/2010/main" val="2087477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DF5D-D5FD-79CF-3A25-E884E966B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42222C-AC04-8D89-323B-FFC561EED305}"/>
              </a:ext>
            </a:extLst>
          </p:cNvPr>
          <p:cNvSpPr txBox="1"/>
          <p:nvPr/>
        </p:nvSpPr>
        <p:spPr>
          <a:xfrm>
            <a:off x="511628" y="586904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Odds ratios can exaggerate the apparent size of an association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DF4EDD7E-195F-D3B9-3CDA-47294661710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0121" y="2528326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12D231-1D77-84AC-1311-7530029F95C0}"/>
              </a:ext>
            </a:extLst>
          </p:cNvPr>
          <p:cNvSpPr txBox="1"/>
          <p:nvPr/>
        </p:nvSpPr>
        <p:spPr>
          <a:xfrm>
            <a:off x="511628" y="1573727"/>
            <a:ext cx="776670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disease is uncommon, the number of patients with disease is small compared with the number without disease.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this situation: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≈ Relative risk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 disease becomes more common, odds and risk become increasingly different.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ratio therefore tends to appear further from 1 than the corresponding relative risk.</a:t>
            </a:r>
          </a:p>
        </p:txBody>
      </p:sp>
    </p:spTree>
    <p:extLst>
      <p:ext uri="{BB962C8B-B14F-4D97-AF65-F5344CB8AC3E}">
        <p14:creationId xmlns:p14="http://schemas.microsoft.com/office/powerpoint/2010/main" val="1299422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BCF81-DDFD-BA3E-95AD-58DADEA55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403CB7-F548-AD6A-D3A4-68BCEEE7F3AF}"/>
              </a:ext>
            </a:extLst>
          </p:cNvPr>
          <p:cNvSpPr txBox="1"/>
          <p:nvPr/>
        </p:nvSpPr>
        <p:spPr>
          <a:xfrm>
            <a:off x="511628" y="586904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Why are odds ratios used?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25D675DA-B08E-AD3F-A07B-5CDBE223FBB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0121" y="2528326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ACBC3B-9975-654C-12E8-A2B6BDAB3920}"/>
              </a:ext>
            </a:extLst>
          </p:cNvPr>
          <p:cNvSpPr txBox="1"/>
          <p:nvPr/>
        </p:nvSpPr>
        <p:spPr>
          <a:xfrm>
            <a:off x="511628" y="1377449"/>
            <a:ext cx="776670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ratios are commonly reported in: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Case-control studies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Systematic reviews and meta-analyses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Clinical research papers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a case-control study, researchers deliberately select people with and without disease.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Because the numbers with and without disease are fixed by the study design, disease risk cannot usually be calculated directly, but an odds ratio can.</a:t>
            </a:r>
          </a:p>
        </p:txBody>
      </p:sp>
    </p:spTree>
    <p:extLst>
      <p:ext uri="{BB962C8B-B14F-4D97-AF65-F5344CB8AC3E}">
        <p14:creationId xmlns:p14="http://schemas.microsoft.com/office/powerpoint/2010/main" val="3852634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5.3 Reporting and communicating risk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AE683CFD-65EC-32CD-942E-1938FD91CC0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46FEDC-625D-7B9F-9230-32D74397E51F}"/>
              </a:ext>
            </a:extLst>
          </p:cNvPr>
          <p:cNvSpPr txBox="1"/>
          <p:nvPr/>
        </p:nvSpPr>
        <p:spPr>
          <a:xfrm>
            <a:off x="511628" y="586904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Correct calculations can still be communicated badly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22A98CC0-5998-9A03-0069-23C40A4676C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0121" y="2528326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C04FEF-9B9A-D8B0-C1D2-10E9D8DF38DC}"/>
              </a:ext>
            </a:extLst>
          </p:cNvPr>
          <p:cNvSpPr txBox="1"/>
          <p:nvPr/>
        </p:nvSpPr>
        <p:spPr>
          <a:xfrm>
            <a:off x="511628" y="1377449"/>
            <a:ext cx="745034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way risk is presented can change how large or important a treatment effect appears.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Compare: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“Treatment reduces disease by 50%.”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“Disease occurred in 10% of treated patients and 20% of patients receiving usual care.”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Both statements describe the same study, but the first hides the baseline risk.</a:t>
            </a:r>
          </a:p>
        </p:txBody>
      </p:sp>
    </p:spTree>
    <p:extLst>
      <p:ext uri="{BB962C8B-B14F-4D97-AF65-F5344CB8AC3E}">
        <p14:creationId xmlns:p14="http://schemas.microsoft.com/office/powerpoint/2010/main" val="808903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64D6-C6B1-CA89-B584-4993F63C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67E90-937F-7290-8BDB-099C77BDF74A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Always report the risk in both groups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6253EDBB-60C0-E484-8782-881D79A6D6B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0121" y="2528326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D7E9D5-DF2A-E903-C00D-F81F2476DFCA}"/>
              </a:ext>
            </a:extLst>
          </p:cNvPr>
          <p:cNvSpPr txBox="1"/>
          <p:nvPr/>
        </p:nvSpPr>
        <p:spPr>
          <a:xfrm>
            <a:off x="511628" y="1332845"/>
            <a:ext cx="747264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Avoid reporting only the treatment group or only the relative comparison.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Instead, report: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with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with usual 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difference between the risks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Time period over which disease was measured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example: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Over one year, disease occurred in 10% of treated patients and 20% of patients receiving usual care.</a:t>
            </a:r>
          </a:p>
        </p:txBody>
      </p:sp>
    </p:spTree>
    <p:extLst>
      <p:ext uri="{BB962C8B-B14F-4D97-AF65-F5344CB8AC3E}">
        <p14:creationId xmlns:p14="http://schemas.microsoft.com/office/powerpoint/2010/main" val="3492923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36C7-E9B4-93AA-4A76-43ED63C64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EAAFB-FB0C-71B1-4E2D-4EBB059DB98B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Absolute and relative effects should be reported together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43285263-A448-4E2B-6113-55B30BC5757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0121" y="2528326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ABA924-F689-BCA9-3956-9B44D3D96223}"/>
              </a:ext>
            </a:extLst>
          </p:cNvPr>
          <p:cNvSpPr txBox="1"/>
          <p:nvPr/>
        </p:nvSpPr>
        <p:spPr>
          <a:xfrm>
            <a:off x="522513" y="1444357"/>
            <a:ext cx="74726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with treatment = 10%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with usual care = 20%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= −10 percentage points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= 0.50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balanced report would be: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Treatment was associated with 10 fewer cases per 100 patients over one year, corresponding to half the risk seen with usual care.</a:t>
            </a:r>
          </a:p>
        </p:txBody>
      </p:sp>
    </p:spTree>
    <p:extLst>
      <p:ext uri="{BB962C8B-B14F-4D97-AF65-F5344CB8AC3E}">
        <p14:creationId xmlns:p14="http://schemas.microsoft.com/office/powerpoint/2010/main" val="3984325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94EDE-BA50-C0A8-F33D-40601249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D1F0DC-CDA4-B061-A58E-EABE66DFEF0C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Percentage and percentage-point changes are different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873C4046-C549-D80A-F2B3-F85E708ADDD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0121" y="2528326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EA7332-60CF-991B-E69D-BBF5CFF4B76C}"/>
              </a:ext>
            </a:extLst>
          </p:cNvPr>
          <p:cNvSpPr txBox="1"/>
          <p:nvPr/>
        </p:nvSpPr>
        <p:spPr>
          <a:xfrm>
            <a:off x="522513" y="1444357"/>
            <a:ext cx="74726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fell from 20% to 10%.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Percentage-point change: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20% − 10% = 10 percentage points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percentage reduction: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(20% − 10%) ÷ 20% = 50%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is incorrect to say that risk fell by “10%” if we mean a change from 20% to 10%.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absolute reduction is 10 percentage points.</a:t>
            </a:r>
            <a:b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relative reduction is 50%.</a:t>
            </a:r>
            <a:endParaRPr lang="en-GB" sz="2400" b="1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324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BCE3-134E-01C0-46B2-22F6D58C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9AAD65-2748-AE80-4A95-448BD38BF4D8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Use the same denominator when comparing groups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7C68FC32-9F24-6C96-2C17-C229F83FB9B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00121" y="2528326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E84024-4B3E-27AC-F990-77164A835B22}"/>
              </a:ext>
            </a:extLst>
          </p:cNvPr>
          <p:cNvSpPr txBox="1"/>
          <p:nvPr/>
        </p:nvSpPr>
        <p:spPr>
          <a:xfrm>
            <a:off x="522513" y="1444357"/>
            <a:ext cx="74726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comparison is easy to understand: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out of 100 with treatment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out of 100 with usual care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comparison is harder to interpret: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out of 10 with treatment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out of 100 with usual care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Although the values are mathematically equivalent, changing denominators makes comparison more difficult.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consistent denominators wherever possible.</a:t>
            </a:r>
            <a:endParaRPr lang="en-GB" sz="2400" b="1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13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D072-7D1D-5FD9-8F55-477B9EEF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25B84E-0F2B-3DD7-FE1B-01FEF5D0B6B6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Positive and negative framing can influence decisions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201DBC39-248A-22FA-CCA1-D189D5A26B2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6321" y="2277955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BFB70E-EA74-C472-F438-5C6708A195A6}"/>
              </a:ext>
            </a:extLst>
          </p:cNvPr>
          <p:cNvSpPr txBox="1"/>
          <p:nvPr/>
        </p:nvSpPr>
        <p:spPr>
          <a:xfrm>
            <a:off x="511628" y="1814471"/>
            <a:ext cx="84255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same treatment outcome can be framed in different ways.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Negative framing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out of 100 treated patients developed disease.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Positive framing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90 out of 100 treated patients remained disease-free.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Both are correct, but they may create different impressions. Where appropriate, present both the chance of the event and the chance of avoiding it.</a:t>
            </a:r>
          </a:p>
        </p:txBody>
      </p:sp>
    </p:spTree>
    <p:extLst>
      <p:ext uri="{BB962C8B-B14F-4D97-AF65-F5344CB8AC3E}">
        <p14:creationId xmlns:p14="http://schemas.microsoft.com/office/powerpoint/2010/main" val="4023457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E9C8-26B4-9573-4422-2BCFE86A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DA18D-5A83-82BC-BC77-CAA416C6582D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Number needed to treat uses the absolute risk reduction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54BF2997-1859-D98C-6CAC-8D4E74E24F8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9552" y="3323067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93EEE6-A81A-D8CC-9241-EA0C4EBD5340}"/>
              </a:ext>
            </a:extLst>
          </p:cNvPr>
          <p:cNvSpPr txBox="1"/>
          <p:nvPr/>
        </p:nvSpPr>
        <p:spPr>
          <a:xfrm>
            <a:off x="511628" y="1582977"/>
            <a:ext cx="8425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number needed to treat—or NNT—estimates how many patients need to receive treatment for one additional patient to avoid the disease.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BDBBF-0F49-E031-7072-DEAC76576FD1}"/>
              </a:ext>
            </a:extLst>
          </p:cNvPr>
          <p:cNvSpPr txBox="1"/>
          <p:nvPr/>
        </p:nvSpPr>
        <p:spPr>
          <a:xfrm>
            <a:off x="511628" y="4782107"/>
            <a:ext cx="7509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Ten patients would need to receive treatment for one additional patient to avoid disease over one year.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time period must always accompany the NNT.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2D4063-CD71-2E0E-2554-D94E18AA37A9}"/>
                  </a:ext>
                </a:extLst>
              </p:cNvPr>
              <p:cNvSpPr txBox="1"/>
              <p:nvPr/>
            </p:nvSpPr>
            <p:spPr>
              <a:xfrm>
                <a:off x="586023" y="3042017"/>
                <a:ext cx="4138377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NNT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4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Absolute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risk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reduction</m:t>
                          </m:r>
                        </m:den>
                      </m:f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2D4063-CD71-2E0E-2554-D94E18AA3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23" y="3042017"/>
                <a:ext cx="4138377" cy="693908"/>
              </a:xfrm>
              <a:prstGeom prst="rect">
                <a:avLst/>
              </a:prstGeom>
              <a:blipFill>
                <a:blip r:embed="rId3"/>
                <a:stretch>
                  <a:fillRect b="-32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857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4D1A-657B-9455-B44D-0C632D5B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5B7FA-CC45-6610-445C-0B8E28CABA8E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Benefits and harms should use comparable formats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BC479036-8ABB-1CB8-604F-F0D52F33E1D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72149" y="1843269"/>
            <a:ext cx="2504152" cy="2504152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75B561-0AFB-C848-4CB5-18AB946D9827}"/>
              </a:ext>
            </a:extLst>
          </p:cNvPr>
          <p:cNvSpPr txBox="1"/>
          <p:nvPr/>
        </p:nvSpPr>
        <p:spPr>
          <a:xfrm>
            <a:off x="511628" y="1270461"/>
            <a:ext cx="84255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treatment may reduce the risk of disease while increasing the risk of an adverse effect.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Benefit: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fewer disease cases per 100 patients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Harm: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additional serious adverse effects per 100 patients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Presenting benefits and harms using the same denominator and time period makes the trade-off easier to assess.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benefits should not be compared with absolute harms—or vice versa.</a:t>
            </a:r>
          </a:p>
        </p:txBody>
      </p:sp>
    </p:spTree>
    <p:extLst>
      <p:ext uri="{BB962C8B-B14F-4D97-AF65-F5344CB8AC3E}">
        <p14:creationId xmlns:p14="http://schemas.microsoft.com/office/powerpoint/2010/main" val="1666742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B2DC-2370-4E0B-7CD3-D916FDC1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5B88C-7B9A-7767-3486-10F11EEFC0CE}"/>
              </a:ext>
            </a:extLst>
          </p:cNvPr>
          <p:cNvSpPr txBox="1"/>
          <p:nvPr/>
        </p:nvSpPr>
        <p:spPr>
          <a:xfrm>
            <a:off x="287039" y="1213441"/>
            <a:ext cx="1066467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study provides an average result for a particular population.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 individual patient’s risk may differ because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Existing 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severity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 treatments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Lifestyle and social circumstances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Length of follow-up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communicating evidence, ask:</a:t>
            </a: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similar is this patient to the people included in the study?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study result informs the conversation; it does not determine the decision.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DBE4C8-7BBF-A51F-930C-DCFA2FC693E5}"/>
              </a:ext>
            </a:extLst>
          </p:cNvPr>
          <p:cNvSpPr txBox="1"/>
          <p:nvPr/>
        </p:nvSpPr>
        <p:spPr>
          <a:xfrm>
            <a:off x="287039" y="381580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Study results do not give every patient the same risk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5F5C380-E33D-9DC8-DFA6-A60F648BB01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03181" y="1907438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71175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06CD8-7825-2C50-E9D7-E30D16D0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487E6-7A3F-79FD-073F-270794B8D4C0}"/>
              </a:ext>
            </a:extLst>
          </p:cNvPr>
          <p:cNvSpPr txBox="1"/>
          <p:nvPr/>
        </p:nvSpPr>
        <p:spPr>
          <a:xfrm>
            <a:off x="459342" y="1405946"/>
            <a:ext cx="781422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observed risk difference or relative risk is calculated from a sample. Another sample would probably produce a slightly different result. Confidence intervals communicate the range of effect sizes compatible with the data.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complete report should therefore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estimated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Its confidence interval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treatment and comparison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clinical outcome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follow-up period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Avoid presenting a risk estimate as an exact prediction.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04F0D-171A-E0C9-0B9B-0A35A07449C5}"/>
              </a:ext>
            </a:extLst>
          </p:cNvPr>
          <p:cNvSpPr txBox="1"/>
          <p:nvPr/>
        </p:nvSpPr>
        <p:spPr>
          <a:xfrm>
            <a:off x="459342" y="558407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estimates contain uncertainty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42DCF51C-DE33-E28A-13A9-D5CCC09900F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3566" y="2337345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49823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A4B9-77FF-B2AB-8937-277D34BB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4E6DF4-9643-CC13-72EA-F28A57018181}"/>
              </a:ext>
            </a:extLst>
          </p:cNvPr>
          <p:cNvSpPr txBox="1"/>
          <p:nvPr/>
        </p:nvSpPr>
        <p:spPr>
          <a:xfrm>
            <a:off x="459341" y="1213441"/>
            <a:ext cx="1081825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Describe the outcome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“We are considering the chance of developing the disease.”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 the baseline risk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“With usual care, around 20 out of 100 patients develop it within one year.”</a:t>
            </a:r>
          </a:p>
          <a:p>
            <a:pPr marL="457200" indent="-457200">
              <a:buFont typeface="+mj-lt"/>
              <a:buAutoNum type="arabicPeriod"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 the risk with treatment</a:t>
            </a:r>
            <a:b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“With treatment, around 10 out of 100 develop it.”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Describe the difference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“That is approximately 10 fewer cases per 100 patients.”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uncertainty, benefits and harms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“The result is an estimate, and treatment may also cause adverse effects.”</a:t>
            </a: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28083-FDD4-E59E-C10E-A0EA369A0B5B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practical structure for communicating risk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D3A00801-AFBA-1E5E-6D9E-32DF3042FE7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3448" y="3299871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61610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5.4 Transforming data in 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1834EEE-96B8-DA2D-B804-0ED187DE0CE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3987" y="3792849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ED34B9-EB8A-8715-BCA6-F040128F57EA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You can already prepare an analysis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91667-35AA-A45B-7BA9-2011942D3620}"/>
              </a:ext>
            </a:extLst>
          </p:cNvPr>
          <p:cNvSpPr txBox="1"/>
          <p:nvPr/>
        </p:nvSpPr>
        <p:spPr>
          <a:xfrm>
            <a:off x="459341" y="1287905"/>
            <a:ext cx="825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 far, we have used tidyverse functions to choose the data required for an analysis.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22ADE-95D4-55A4-47CF-4BA4241EBB52}"/>
              </a:ext>
            </a:extLst>
          </p:cNvPr>
          <p:cNvSpPr/>
          <p:nvPr/>
        </p:nvSpPr>
        <p:spPr>
          <a:xfrm>
            <a:off x="459341" y="1828872"/>
            <a:ext cx="7241751" cy="22458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select(age, treatment,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recovery_time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filter(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age &gt;= 18,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!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is.na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recovery_time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AE74F-551C-3A0A-227B-381EBA2CB45B}"/>
              </a:ext>
            </a:extLst>
          </p:cNvPr>
          <p:cNvSpPr txBox="1"/>
          <p:nvPr/>
        </p:nvSpPr>
        <p:spPr>
          <a:xfrm>
            <a:off x="491426" y="4246330"/>
            <a:ext cx="67916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can already: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pass data between functions using</a:t>
            </a:r>
            <a:r>
              <a:rPr lang="en-GB" dirty="0"/>
              <a:t> </a:t>
            </a:r>
            <a:r>
              <a:rPr lang="en-GB" dirty="0">
                <a:latin typeface="Courier New" panose="02070309020205020404" pitchFamily="49" charset="0"/>
              </a:rPr>
              <a:t>|&gt;</a:t>
            </a: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variables using </a:t>
            </a:r>
            <a:r>
              <a:rPr lang="en-GB" dirty="0">
                <a:latin typeface="Courier New" panose="02070309020205020404" pitchFamily="49" charset="0"/>
              </a:rPr>
              <a:t>select()</a:t>
            </a: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observations using </a:t>
            </a:r>
            <a:r>
              <a:rPr lang="en-GB" dirty="0">
                <a:latin typeface="Courier New" panose="02070309020205020404" pitchFamily="49" charset="0"/>
              </a:rPr>
              <a:t>filter()</a:t>
            </a: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identify missing values using </a:t>
            </a:r>
            <a:r>
              <a:rPr lang="en-GB" dirty="0" err="1">
                <a:latin typeface="Courier New" panose="02070309020205020404" pitchFamily="49" charset="0"/>
              </a:rPr>
              <a:t>is.na</a:t>
            </a:r>
            <a:r>
              <a:rPr lang="en-GB" dirty="0">
                <a:latin typeface="Courier New" panose="02070309020205020404" pitchFamily="49" charset="0"/>
              </a:rPr>
              <a:t>()</a:t>
            </a:r>
          </a:p>
          <a:p>
            <a:pPr lvl="0"/>
            <a:endParaRPr lang="en-GB" dirty="0"/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next step is to create new variables.</a:t>
            </a:r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BB99147C-2F11-EB40-DF7A-3ABB0C4E1B8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8556" y="342900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383568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3DBE-368B-2461-1FB0-CEAE8935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AFD578-3A13-BF3F-5641-B80FFAE1AEA8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mutate() creates a new variable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33F023-A76D-040A-2CD1-5100DD501CFC}"/>
              </a:ext>
            </a:extLst>
          </p:cNvPr>
          <p:cNvSpPr/>
          <p:nvPr/>
        </p:nvSpPr>
        <p:spPr>
          <a:xfrm>
            <a:off x="459341" y="1315524"/>
            <a:ext cx="7241751" cy="10266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mutate(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age_in_decades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age / 10)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BC0A7B-7D9B-1051-9DE3-F238020F911E}"/>
              </a:ext>
            </a:extLst>
          </p:cNvPr>
          <p:cNvSpPr txBox="1"/>
          <p:nvPr/>
        </p:nvSpPr>
        <p:spPr>
          <a:xfrm>
            <a:off x="459340" y="2880293"/>
            <a:ext cx="80590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“Take </a:t>
            </a: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patient_data</a:t>
            </a: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create a new variable called </a:t>
            </a: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age_in_decades</a:t>
            </a: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0E83B-6A2D-09C7-DD4D-FA5E6B5A6ABB}"/>
              </a:ext>
            </a:extLst>
          </p:cNvPr>
          <p:cNvSpPr txBox="1"/>
          <p:nvPr/>
        </p:nvSpPr>
        <p:spPr>
          <a:xfrm>
            <a:off x="459340" y="3808346"/>
            <a:ext cx="70019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Before mutate():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one row per patient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Inside mutate(): </a:t>
            </a:r>
          </a:p>
          <a:p>
            <a:pPr>
              <a:buNone/>
            </a:pP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new_variable</a:t>
            </a: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calculation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mutate():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one row per patient, with an additional column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52E149B4-D675-1C85-3D6B-7F5973C6E99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3987" y="3792849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78313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7B4BB-D089-5735-ABA4-01199A4F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11036-0C81-1365-F48E-B6EC0844A952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Logical expressions can also create variables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6F0BCC-BB6F-C25D-8516-FF8EBDEDE857}"/>
              </a:ext>
            </a:extLst>
          </p:cNvPr>
          <p:cNvSpPr/>
          <p:nvPr/>
        </p:nvSpPr>
        <p:spPr>
          <a:xfrm>
            <a:off x="459340" y="2197158"/>
            <a:ext cx="7241751" cy="10266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mutate(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older_adult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age &gt;= 65)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6DDBF-84EA-FE9F-1502-D31B59491481}"/>
              </a:ext>
            </a:extLst>
          </p:cNvPr>
          <p:cNvSpPr txBox="1"/>
          <p:nvPr/>
        </p:nvSpPr>
        <p:spPr>
          <a:xfrm>
            <a:off x="459340" y="1376911"/>
            <a:ext cx="8059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logical expression produces either TRUE or FALSE.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C3EE2-F91C-AB1A-9F9B-ECF39BC6730E}"/>
              </a:ext>
            </a:extLst>
          </p:cNvPr>
          <p:cNvSpPr txBox="1"/>
          <p:nvPr/>
        </p:nvSpPr>
        <p:spPr>
          <a:xfrm>
            <a:off x="459340" y="3685235"/>
            <a:ext cx="89734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each patient, R asks: “Is age greater than or equal to 65?”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resulting variable contains:</a:t>
            </a: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TRUE     if the condition is met</a:t>
            </a: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FALSE    if the condition is not met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Logical variables can later be counted or used to filter observations.</a:t>
            </a: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2D321D77-471B-6B1C-A437-FEE94539693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91271" y="118108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623813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7D08-CAB3-5524-2147-8A701B7F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519CC8-6C16-A314-8763-8C8E84311358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if_else() creates labelled categories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DFC3F5-96F2-2629-3690-952F9B3BE726}"/>
              </a:ext>
            </a:extLst>
          </p:cNvPr>
          <p:cNvSpPr/>
          <p:nvPr/>
        </p:nvSpPr>
        <p:spPr>
          <a:xfrm>
            <a:off x="459339" y="2197158"/>
            <a:ext cx="9085714" cy="15406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mutate(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age_group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	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if_else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(age &gt;= 65, "65 years and over", "Under 65 years"))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A3BB9E-E359-5629-2EF7-A11A9E7F67FF}"/>
              </a:ext>
            </a:extLst>
          </p:cNvPr>
          <p:cNvSpPr txBox="1"/>
          <p:nvPr/>
        </p:nvSpPr>
        <p:spPr>
          <a:xfrm>
            <a:off x="459340" y="1376911"/>
            <a:ext cx="10353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if_else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assigns one value when a condition is true and another when it is false.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4E9A3-2672-1095-5A68-D14BDBEBEC0A}"/>
              </a:ext>
            </a:extLst>
          </p:cNvPr>
          <p:cNvSpPr txBox="1"/>
          <p:nvPr/>
        </p:nvSpPr>
        <p:spPr>
          <a:xfrm>
            <a:off x="403192" y="5901226"/>
            <a:ext cx="8973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Text values must be placed inside quotation marks.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000CF-EC4A-0672-5AE2-2A1504E16BF8}"/>
              </a:ext>
            </a:extLst>
          </p:cNvPr>
          <p:cNvSpPr/>
          <p:nvPr/>
        </p:nvSpPr>
        <p:spPr>
          <a:xfrm>
            <a:off x="403192" y="4780893"/>
            <a:ext cx="7489524" cy="8202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if_else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(condition,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value_if_true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value_if_false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2E0FF-5193-87D1-3630-3343955E5C2B}"/>
              </a:ext>
            </a:extLst>
          </p:cNvPr>
          <p:cNvSpPr txBox="1"/>
          <p:nvPr/>
        </p:nvSpPr>
        <p:spPr>
          <a:xfrm>
            <a:off x="403192" y="4028519"/>
            <a:ext cx="8973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structure is: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117E7033-775B-C062-94D1-3832269828D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7313" y="4028519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249738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95A9-622C-258C-59D2-9B80AC1D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63AE22-B98A-5220-FEF0-6A42456F711E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group_by() performs calculations separately within groups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52FE4-901E-85A4-B992-01F71393F91C}"/>
              </a:ext>
            </a:extLst>
          </p:cNvPr>
          <p:cNvSpPr/>
          <p:nvPr/>
        </p:nvSpPr>
        <p:spPr>
          <a:xfrm>
            <a:off x="459339" y="1841142"/>
            <a:ext cx="9085714" cy="19577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group_by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(treatment)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summarise(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patients = n(),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mean_age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mean(age,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na.rm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TRUE)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FC855-A073-15F2-2F43-355D426D041A}"/>
              </a:ext>
            </a:extLst>
          </p:cNvPr>
          <p:cNvSpPr txBox="1"/>
          <p:nvPr/>
        </p:nvSpPr>
        <p:spPr>
          <a:xfrm>
            <a:off x="459339" y="1198903"/>
            <a:ext cx="11273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group_by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divides the observations into categories before another function is applied.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C88B6-810B-537F-BF1B-B11469B19A35}"/>
              </a:ext>
            </a:extLst>
          </p:cNvPr>
          <p:cNvSpPr txBox="1"/>
          <p:nvPr/>
        </p:nvSpPr>
        <p:spPr>
          <a:xfrm>
            <a:off x="459339" y="3979463"/>
            <a:ext cx="81231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 this as: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“Divide patients by treatment, then calculate the number of patients and mean age separately for each treatment group.”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group_by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does not calculate a result by itself. It changes how subsequent functions behave.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818514EE-549E-801A-0B02-F91C0BD60BA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76" y="4066215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7607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D2F97-9122-28DD-1DD0-126F6588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82F7D2-3AD8-C458-857D-2FF47168E503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Grouped summaries produce one row per group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A17EF-7231-47B9-F4BD-1700FBD47D68}"/>
              </a:ext>
            </a:extLst>
          </p:cNvPr>
          <p:cNvSpPr txBox="1"/>
          <p:nvPr/>
        </p:nvSpPr>
        <p:spPr>
          <a:xfrm>
            <a:off x="459339" y="1198903"/>
            <a:ext cx="11273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Before grouping: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9C856A-F171-514D-765B-20E0A5991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142689"/>
              </p:ext>
            </p:extLst>
          </p:nvPr>
        </p:nvGraphicFramePr>
        <p:xfrm>
          <a:off x="613610" y="1841142"/>
          <a:ext cx="5482389" cy="1828800"/>
        </p:xfrm>
        <a:graphic>
          <a:graphicData uri="http://schemas.openxmlformats.org/drawingml/2006/table">
            <a:tbl>
              <a:tblPr/>
              <a:tblGrid>
                <a:gridCol w="1827463">
                  <a:extLst>
                    <a:ext uri="{9D8B030D-6E8A-4147-A177-3AD203B41FA5}">
                      <a16:colId xmlns:a16="http://schemas.microsoft.com/office/drawing/2014/main" val="18193463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20717899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605205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patient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15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33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107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629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2618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4D0F18-B19C-E0C8-D693-7D3E11E12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179747"/>
              </p:ext>
            </p:extLst>
          </p:nvPr>
        </p:nvGraphicFramePr>
        <p:xfrm>
          <a:off x="613609" y="4625498"/>
          <a:ext cx="5482389" cy="1097280"/>
        </p:xfrm>
        <a:graphic>
          <a:graphicData uri="http://schemas.openxmlformats.org/drawingml/2006/table">
            <a:tbl>
              <a:tblPr/>
              <a:tblGrid>
                <a:gridCol w="1827463">
                  <a:extLst>
                    <a:ext uri="{9D8B030D-6E8A-4147-A177-3AD203B41FA5}">
                      <a16:colId xmlns:a16="http://schemas.microsoft.com/office/drawing/2014/main" val="1147774894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1310437682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2496373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patients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solidFill>
                            <a:schemeClr val="bg1"/>
                          </a:solidFill>
                        </a:rPr>
                        <a:t>mean_age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2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254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48660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273C75B-7E5C-B66A-DC46-5CA7E2A76340}"/>
              </a:ext>
            </a:extLst>
          </p:cNvPr>
          <p:cNvSpPr txBox="1"/>
          <p:nvPr/>
        </p:nvSpPr>
        <p:spPr>
          <a:xfrm>
            <a:off x="459339" y="6037552"/>
            <a:ext cx="10487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Individual patient records have been transformed into group-level information.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F3F96E-DF36-8C9E-D96E-C0CAD55DB25C}"/>
              </a:ext>
            </a:extLst>
          </p:cNvPr>
          <p:cNvSpPr txBox="1"/>
          <p:nvPr/>
        </p:nvSpPr>
        <p:spPr>
          <a:xfrm>
            <a:off x="459339" y="38490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grouping and summarising:</a:t>
            </a:r>
          </a:p>
        </p:txBody>
      </p:sp>
      <p:pic>
        <p:nvPicPr>
          <p:cNvPr id="16" name="Camera 15">
            <a:extLst>
              <a:ext uri="{FF2B5EF4-FFF2-40B4-BE49-F238E27FC236}">
                <a16:creationId xmlns:a16="http://schemas.microsoft.com/office/drawing/2014/main" id="{6D07593E-4E98-9886-5949-1CD28893121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6299" y="1708716"/>
            <a:ext cx="3440568" cy="344056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41067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EA53-0C4D-173F-C49F-804C4D7D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80EC20-3406-6EAB-A738-850A6C44128B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We can also usefully create tables of clinical counts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DB9DE-4683-BA5D-AE92-1C4B96829F3D}"/>
              </a:ext>
            </a:extLst>
          </p:cNvPr>
          <p:cNvSpPr txBox="1"/>
          <p:nvPr/>
        </p:nvSpPr>
        <p:spPr>
          <a:xfrm>
            <a:off x="459339" y="1492682"/>
            <a:ext cx="11273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Begin with one row per patient: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D3A3D0-CB28-C943-6B02-27C60AE67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954740"/>
              </p:ext>
            </p:extLst>
          </p:nvPr>
        </p:nvGraphicFramePr>
        <p:xfrm>
          <a:off x="613610" y="2482826"/>
          <a:ext cx="5482389" cy="1463040"/>
        </p:xfrm>
        <a:graphic>
          <a:graphicData uri="http://schemas.openxmlformats.org/drawingml/2006/table">
            <a:tbl>
              <a:tblPr/>
              <a:tblGrid>
                <a:gridCol w="1827463">
                  <a:extLst>
                    <a:ext uri="{9D8B030D-6E8A-4147-A177-3AD203B41FA5}">
                      <a16:colId xmlns:a16="http://schemas.microsoft.com/office/drawing/2014/main" val="18193463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20717899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605205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patient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15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No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33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107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No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62971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FE9BBD9-8A09-AD41-110C-2FA9E8DDE0BC}"/>
              </a:ext>
            </a:extLst>
          </p:cNvPr>
          <p:cNvSpPr txBox="1"/>
          <p:nvPr/>
        </p:nvSpPr>
        <p:spPr>
          <a:xfrm>
            <a:off x="459339" y="4441989"/>
            <a:ext cx="9294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count() to summarise the combinations of treatment and disease:</a:t>
            </a:r>
          </a:p>
        </p:txBody>
      </p:sp>
      <p:pic>
        <p:nvPicPr>
          <p:cNvPr id="16" name="Camera 15">
            <a:extLst>
              <a:ext uri="{FF2B5EF4-FFF2-40B4-BE49-F238E27FC236}">
                <a16:creationId xmlns:a16="http://schemas.microsoft.com/office/drawing/2014/main" id="{E21EF1C6-DAF2-775D-05DA-EB37F0C54C5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706" y="756719"/>
            <a:ext cx="2253684" cy="2253684"/>
          </a:xfrm>
          <a:prstGeom prst="ellipse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13A65E-6925-89E0-0772-044A57261BC2}"/>
              </a:ext>
            </a:extLst>
          </p:cNvPr>
          <p:cNvSpPr/>
          <p:nvPr/>
        </p:nvSpPr>
        <p:spPr>
          <a:xfrm>
            <a:off x="459339" y="5062458"/>
            <a:ext cx="9085714" cy="864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risk_counts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count(treatment, disease, name = "patients")</a:t>
            </a:r>
          </a:p>
        </p:txBody>
      </p:sp>
    </p:spTree>
    <p:extLst>
      <p:ext uri="{BB962C8B-B14F-4D97-AF65-F5344CB8AC3E}">
        <p14:creationId xmlns:p14="http://schemas.microsoft.com/office/powerpoint/2010/main" val="4332312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1B72-1513-4F54-A4F2-6FC9A146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4FC2A2-B4CA-714A-ED2C-0CED7E2166E2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main tidyverse verbs so far…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4F1BC6-C026-9BE3-E151-14E7EDFDB45F}"/>
              </a:ext>
            </a:extLst>
          </p:cNvPr>
          <p:cNvSpPr txBox="1"/>
          <p:nvPr/>
        </p:nvSpPr>
        <p:spPr>
          <a:xfrm>
            <a:off x="459341" y="1836821"/>
            <a:ext cx="68719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select()      Which variables do I need?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filter()      Which observations do I need?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mutate()      Which new variables do I need?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group_by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   Within which groups should I calculate?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summarise()   Which summary values do I need?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count()       How often does each category occur?</a:t>
            </a:r>
          </a:p>
        </p:txBody>
      </p:sp>
      <p:pic>
        <p:nvPicPr>
          <p:cNvPr id="16" name="Camera 15">
            <a:extLst>
              <a:ext uri="{FF2B5EF4-FFF2-40B4-BE49-F238E27FC236}">
                <a16:creationId xmlns:a16="http://schemas.microsoft.com/office/drawing/2014/main" id="{4FDDA05E-C772-FCA5-F121-203E68499E0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5268" y="1981432"/>
            <a:ext cx="3440568" cy="344056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182521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9EBD-9357-0B7C-FB52-ED6879588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1F74C2-95B7-AD72-453F-9AE4CEF0D112}"/>
              </a:ext>
            </a:extLst>
          </p:cNvPr>
          <p:cNvSpPr txBox="1"/>
          <p:nvPr/>
        </p:nvSpPr>
        <p:spPr>
          <a:xfrm>
            <a:off x="459342" y="495109"/>
            <a:ext cx="7690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xtabs() turns summary counts into a 2 × 2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00855-1772-609B-68F7-AA5BB12B8BEB}"/>
              </a:ext>
            </a:extLst>
          </p:cNvPr>
          <p:cNvSpPr txBox="1"/>
          <p:nvPr/>
        </p:nvSpPr>
        <p:spPr>
          <a:xfrm>
            <a:off x="459342" y="1383014"/>
            <a:ext cx="74494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Some epidemiological functions expect counts arranged as a contingency table.</a:t>
            </a:r>
          </a:p>
        </p:txBody>
      </p:sp>
      <p:pic>
        <p:nvPicPr>
          <p:cNvPr id="16" name="Camera 15">
            <a:extLst>
              <a:ext uri="{FF2B5EF4-FFF2-40B4-BE49-F238E27FC236}">
                <a16:creationId xmlns:a16="http://schemas.microsoft.com/office/drawing/2014/main" id="{950D5923-6974-64B1-E51D-9E400ABD634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706" y="756719"/>
            <a:ext cx="2253684" cy="2253684"/>
          </a:xfrm>
          <a:prstGeom prst="ellipse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EC5D70-9178-3DBA-5597-F5F1BF9FF5D9}"/>
              </a:ext>
            </a:extLst>
          </p:cNvPr>
          <p:cNvSpPr/>
          <p:nvPr/>
        </p:nvSpPr>
        <p:spPr>
          <a:xfrm>
            <a:off x="459342" y="2578697"/>
            <a:ext cx="7690048" cy="17006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risk_table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xtabs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patients ~ treatment + disease,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data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risk_counts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6550E-C474-9264-A67E-BFA5C087FC4C}"/>
              </a:ext>
            </a:extLst>
          </p:cNvPr>
          <p:cNvSpPr txBox="1"/>
          <p:nvPr/>
        </p:nvSpPr>
        <p:spPr>
          <a:xfrm>
            <a:off x="459341" y="4820470"/>
            <a:ext cx="9181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formula describes how the table should be arranged: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cell frequency ~ row variable + column variable</a:t>
            </a:r>
          </a:p>
        </p:txBody>
      </p:sp>
    </p:spTree>
    <p:extLst>
      <p:ext uri="{BB962C8B-B14F-4D97-AF65-F5344CB8AC3E}">
        <p14:creationId xmlns:p14="http://schemas.microsoft.com/office/powerpoint/2010/main" val="377802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EEEB7-D887-EDFB-40B4-56A4D9C2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851A11-B69F-BD8F-0AA1-C5D8F41FC1D9}"/>
              </a:ext>
            </a:extLst>
          </p:cNvPr>
          <p:cNvSpPr txBox="1"/>
          <p:nvPr/>
        </p:nvSpPr>
        <p:spPr>
          <a:xfrm>
            <a:off x="459342" y="495109"/>
            <a:ext cx="7690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xtabs() turns summary counts into a 2 × 2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27E4F3-23DD-9CE3-77AF-628140424BB5}"/>
              </a:ext>
            </a:extLst>
          </p:cNvPr>
          <p:cNvSpPr txBox="1"/>
          <p:nvPr/>
        </p:nvSpPr>
        <p:spPr>
          <a:xfrm>
            <a:off x="459341" y="1241862"/>
            <a:ext cx="7449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Inspect the result:</a:t>
            </a:r>
          </a:p>
        </p:txBody>
      </p:sp>
      <p:pic>
        <p:nvPicPr>
          <p:cNvPr id="16" name="Camera 15">
            <a:extLst>
              <a:ext uri="{FF2B5EF4-FFF2-40B4-BE49-F238E27FC236}">
                <a16:creationId xmlns:a16="http://schemas.microsoft.com/office/drawing/2014/main" id="{D9E891D9-C89D-9DB1-9304-7DF2646FD64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706" y="756719"/>
            <a:ext cx="2253684" cy="2253684"/>
          </a:xfrm>
          <a:prstGeom prst="ellipse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3DEEF9-5359-DFAA-B83C-7B6EBF1C5204}"/>
              </a:ext>
            </a:extLst>
          </p:cNvPr>
          <p:cNvSpPr/>
          <p:nvPr/>
        </p:nvSpPr>
        <p:spPr>
          <a:xfrm>
            <a:off x="459341" y="1902624"/>
            <a:ext cx="7690048" cy="677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risk_table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3D0EE-60E6-E07F-ECFB-339D3F3716D4}"/>
              </a:ext>
            </a:extLst>
          </p:cNvPr>
          <p:cNvSpPr txBox="1"/>
          <p:nvPr/>
        </p:nvSpPr>
        <p:spPr>
          <a:xfrm>
            <a:off x="459341" y="5270284"/>
            <a:ext cx="9181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It’ll look something like this. Always check which treatment group forms the first row and which clinical outcome forms the first column.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84BF1-EE2A-E164-B3FB-D9B5633C8F52}"/>
              </a:ext>
            </a:extLst>
          </p:cNvPr>
          <p:cNvSpPr txBox="1"/>
          <p:nvPr/>
        </p:nvSpPr>
        <p:spPr>
          <a:xfrm>
            <a:off x="568697" y="3086029"/>
            <a:ext cx="50139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dirty="0">
                <a:latin typeface="Courier New" panose="02070309020205020404" pitchFamily="49" charset="0"/>
              </a:rPr>
              <a:t> disease</a:t>
            </a:r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treatment    Disease  No disease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Treatment         10          90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Usual care        20          80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7010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83A6C-E36D-70D4-3E38-3C1809CE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D10561-54CF-E4E6-7D33-ABDDAC44CAA0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Sometimes tidyverse isn’t the answer…introducing epiR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E8CE-ECCF-3C43-70C5-0296FDBE547C}"/>
              </a:ext>
            </a:extLst>
          </p:cNvPr>
          <p:cNvSpPr txBox="1"/>
          <p:nvPr/>
        </p:nvSpPr>
        <p:spPr>
          <a:xfrm>
            <a:off x="459339" y="1200540"/>
            <a:ext cx="762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epiR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package contains functions for analysing epidemiological data. We have to load it like tidyverse…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4CDAF-BBA0-EA99-FBE3-3819625B7090}"/>
              </a:ext>
            </a:extLst>
          </p:cNvPr>
          <p:cNvSpPr txBox="1"/>
          <p:nvPr/>
        </p:nvSpPr>
        <p:spPr>
          <a:xfrm>
            <a:off x="459340" y="3198167"/>
            <a:ext cx="7625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epi.2by2() function analyses counts from a 2 × 2 table.</a:t>
            </a:r>
          </a:p>
        </p:txBody>
      </p:sp>
      <p:pic>
        <p:nvPicPr>
          <p:cNvPr id="16" name="Camera 15">
            <a:extLst>
              <a:ext uri="{FF2B5EF4-FFF2-40B4-BE49-F238E27FC236}">
                <a16:creationId xmlns:a16="http://schemas.microsoft.com/office/drawing/2014/main" id="{8038B649-F2BA-2C32-C647-07B8E0FBDE8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706" y="1285727"/>
            <a:ext cx="2253684" cy="2253684"/>
          </a:xfrm>
          <a:prstGeom prst="ellipse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FD54A5-4630-C8BF-C491-96EDDAAB0DD6}"/>
              </a:ext>
            </a:extLst>
          </p:cNvPr>
          <p:cNvSpPr/>
          <p:nvPr/>
        </p:nvSpPr>
        <p:spPr>
          <a:xfrm>
            <a:off x="613610" y="2326126"/>
            <a:ext cx="3124201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library(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epiR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9BCEA-4ECD-376B-5710-A34A35CC3B18}"/>
              </a:ext>
            </a:extLst>
          </p:cNvPr>
          <p:cNvSpPr/>
          <p:nvPr/>
        </p:nvSpPr>
        <p:spPr>
          <a:xfrm>
            <a:off x="603110" y="4103768"/>
            <a:ext cx="4953002" cy="20774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risk_results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epi.2by2(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dat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risk_table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method =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cohort.count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outcome =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as.columns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units = 100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9ECC8-9844-C480-195E-F4361E7D2B51}"/>
              </a:ext>
            </a:extLst>
          </p:cNvPr>
          <p:cNvSpPr txBox="1"/>
          <p:nvPr/>
        </p:nvSpPr>
        <p:spPr>
          <a:xfrm>
            <a:off x="5951621" y="4149896"/>
            <a:ext cx="56372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 err="1">
                <a:latin typeface="Courier New" panose="02070309020205020404" pitchFamily="49" charset="0"/>
              </a:rPr>
              <a:t>dat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supplies the 2 × 2 table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method = "</a:t>
            </a:r>
            <a:r>
              <a:rPr lang="en-GB" dirty="0" err="1">
                <a:latin typeface="Courier New" panose="02070309020205020404" pitchFamily="49" charset="0"/>
              </a:rPr>
              <a:t>cohort.count</a:t>
            </a:r>
            <a:r>
              <a:rPr lang="en-GB" dirty="0">
                <a:latin typeface="Courier New" panose="02070309020205020404" pitchFamily="49" charset="0"/>
              </a:rPr>
              <a:t>"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describes a cohort or trial using patient counts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outcome = "</a:t>
            </a:r>
            <a:r>
              <a:rPr lang="en-GB" dirty="0" err="1">
                <a:latin typeface="Courier New" panose="02070309020205020404" pitchFamily="49" charset="0"/>
              </a:rPr>
              <a:t>as.columns</a:t>
            </a:r>
            <a:r>
              <a:rPr lang="en-GB" dirty="0">
                <a:latin typeface="Courier New" panose="02070309020205020404" pitchFamily="49" charset="0"/>
              </a:rPr>
              <a:t>"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tells R that disease status forms the columns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units = 100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reports risks per 100 patients</a:t>
            </a:r>
          </a:p>
        </p:txBody>
      </p:sp>
    </p:spTree>
    <p:extLst>
      <p:ext uri="{BB962C8B-B14F-4D97-AF65-F5344CB8AC3E}">
        <p14:creationId xmlns:p14="http://schemas.microsoft.com/office/powerpoint/2010/main" val="30823694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76944" y="1323082"/>
            <a:ext cx="1046512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have explored how the chance of disease can be described and compared using: absolute risk, risk difference, relative risk, odds and odds ratios. We have also introduced how individual patient records can be transformed into grouped counts and arranged as a 2 × 2 risk_table.</a:t>
            </a:r>
          </a:p>
          <a:p>
            <a:endParaRPr lang="en-GB" sz="24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 the code-along, we will use R to prepare the data, construct the table, calculate measures of risk and translate the results into clear clinical language.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E96FDCC2-E0E7-8269-B246-6FF7B9AF0A7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944" y="4337115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6129</TotalTime>
  <Words>2987</Words>
  <Application>Microsoft Macintosh PowerPoint</Application>
  <PresentationFormat>Widescreen</PresentationFormat>
  <Paragraphs>494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Aptos Display</vt:lpstr>
      <vt:lpstr>Aptos Mono</vt:lpstr>
      <vt:lpstr>Arial</vt:lpstr>
      <vt:lpstr>Cambria Math</vt:lpstr>
      <vt:lpstr>Courier New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36</cp:revision>
  <cp:lastPrinted>2026-04-30T09:46:23Z</cp:lastPrinted>
  <dcterms:created xsi:type="dcterms:W3CDTF">2026-04-30T09:42:16Z</dcterms:created>
  <dcterms:modified xsi:type="dcterms:W3CDTF">2026-07-23T16:22:11Z</dcterms:modified>
</cp:coreProperties>
</file>