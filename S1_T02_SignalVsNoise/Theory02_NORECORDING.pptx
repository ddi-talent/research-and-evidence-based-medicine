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72" r:id="rId2"/>
    <p:sldId id="273" r:id="rId3"/>
    <p:sldId id="278" r:id="rId4"/>
    <p:sldId id="279" r:id="rId5"/>
    <p:sldId id="258" r:id="rId6"/>
    <p:sldId id="257" r:id="rId7"/>
    <p:sldId id="261" r:id="rId8"/>
    <p:sldId id="264" r:id="rId9"/>
    <p:sldId id="280" r:id="rId10"/>
    <p:sldId id="288" r:id="rId11"/>
    <p:sldId id="309" r:id="rId12"/>
    <p:sldId id="297" r:id="rId13"/>
    <p:sldId id="262" r:id="rId14"/>
    <p:sldId id="263" r:id="rId15"/>
    <p:sldId id="289" r:id="rId16"/>
    <p:sldId id="266" r:id="rId17"/>
    <p:sldId id="290" r:id="rId18"/>
    <p:sldId id="274" r:id="rId19"/>
    <p:sldId id="296" r:id="rId20"/>
    <p:sldId id="268" r:id="rId21"/>
    <p:sldId id="293" r:id="rId22"/>
    <p:sldId id="294" r:id="rId23"/>
    <p:sldId id="271" r:id="rId24"/>
    <p:sldId id="275" r:id="rId25"/>
    <p:sldId id="310" r:id="rId26"/>
    <p:sldId id="311" r:id="rId27"/>
    <p:sldId id="312" r:id="rId28"/>
    <p:sldId id="281" r:id="rId29"/>
    <p:sldId id="304" r:id="rId30"/>
    <p:sldId id="305" r:id="rId31"/>
    <p:sldId id="265" r:id="rId32"/>
    <p:sldId id="267" r:id="rId33"/>
    <p:sldId id="270" r:id="rId34"/>
    <p:sldId id="306" r:id="rId35"/>
    <p:sldId id="308" r:id="rId36"/>
    <p:sldId id="286" r:id="rId37"/>
    <p:sldId id="302" r:id="rId38"/>
    <p:sldId id="303" r:id="rId39"/>
    <p:sldId id="298" r:id="rId40"/>
    <p:sldId id="299" r:id="rId41"/>
    <p:sldId id="300" r:id="rId42"/>
    <p:sldId id="301" r:id="rId43"/>
    <p:sldId id="31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63"/>
    <p:restoredTop sz="94693"/>
  </p:normalViewPr>
  <p:slideViewPr>
    <p:cSldViewPr snapToGrid="0">
      <p:cViewPr varScale="1">
        <p:scale>
          <a:sx n="115" d="100"/>
          <a:sy n="115" d="100"/>
        </p:scale>
        <p:origin x="24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070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FA9F3-A03E-9F40-A6F7-369BC48ABF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96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B4DE3-3F83-06DA-F18E-6D715BA7C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0106D-C094-4B45-69C7-34B1FF3BB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D2C00E-A924-EBB9-37E6-92EC0F8F8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45665-ADA1-BF74-A19B-CD71C0FE8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757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4F049-ED15-7DC6-77AE-4D9FCE3DC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9408F-0380-3AFD-F0D2-5B1598AEC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1136A-3715-CF39-10D3-822F77D5C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AA3B5-BAE8-9345-E68B-FAC0C7C30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838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02: Signal vs noise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384347"/>
            <a:ext cx="10117640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How do we utilise a sample vs a population?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7359F510-70A1-0934-F910-D45BA59409FD}"/>
              </a:ext>
            </a:extLst>
          </p:cNvPr>
          <p:cNvSpPr txBox="1">
            <a:spLocks/>
          </p:cNvSpPr>
          <p:nvPr/>
        </p:nvSpPr>
        <p:spPr>
          <a:xfrm>
            <a:off x="416822" y="933464"/>
            <a:ext cx="9055169" cy="55401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 medicine, we are rarely interested only in describing the data we have collected. Instead, we want to use data from a sample of individuals to learn something about a wider population.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0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means asking questions such as…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0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spcBef>
                <a:spcPts val="1200"/>
              </a:spcBef>
            </a:pP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Is this treatment actually effective?</a:t>
            </a:r>
          </a:p>
          <a:p>
            <a:pPr>
              <a:spcBef>
                <a:spcPts val="1200"/>
              </a:spcBef>
            </a:pP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Is this observed difference real or simply due to chance?</a:t>
            </a:r>
          </a:p>
          <a:p>
            <a:pPr>
              <a:spcBef>
                <a:spcPts val="1200"/>
              </a:spcBef>
            </a:pP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How much evidence do we need before drawing a conclusion?</a:t>
            </a:r>
          </a:p>
          <a:p>
            <a:pPr marL="0" indent="0">
              <a:spcBef>
                <a:spcPts val="1200"/>
              </a:spcBef>
              <a:buNone/>
            </a:pPr>
            <a:b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However, every dataset contains both </a:t>
            </a:r>
            <a:r>
              <a:rPr lang="en-GB" sz="20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signal</a:t>
            </a: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 (the underlying pattern we are interested in) and </a:t>
            </a:r>
            <a:r>
              <a:rPr lang="en-GB" sz="20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noise</a:t>
            </a: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 (the random variation that can obscure it). The challenge of statistical inference is separating one from the other.</a:t>
            </a:r>
          </a:p>
        </p:txBody>
      </p:sp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From Samples to Populations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Deciding Whether an Effect is Real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Can We Trust Our Conclusions?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Using R for Statistical Inference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5774635" y="6232360"/>
            <a:ext cx="554013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5685184" y="5669037"/>
            <a:ext cx="5356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2.1 From Samples to Populations</a:t>
            </a:r>
          </a:p>
        </p:txBody>
      </p:sp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2.1 From Samples to Populations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people connected to a circle&#10;&#10;Description automatically generated">
            <a:extLst>
              <a:ext uri="{FF2B5EF4-FFF2-40B4-BE49-F238E27FC236}">
                <a16:creationId xmlns:a16="http://schemas.microsoft.com/office/drawing/2014/main" id="{7CB1F357-7EC2-7372-ED82-75B43787A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19" y="631324"/>
            <a:ext cx="8242781" cy="45335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0094FC-59E9-3225-4F1D-A9A53BB1D20E}"/>
              </a:ext>
            </a:extLst>
          </p:cNvPr>
          <p:cNvSpPr txBox="1"/>
          <p:nvPr/>
        </p:nvSpPr>
        <p:spPr>
          <a:xfrm>
            <a:off x="4493109" y="4150928"/>
            <a:ext cx="43743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u="none" strike="noStrike" dirty="0">
                <a:effectLst/>
                <a:latin typeface="Söhne"/>
              </a:rPr>
              <a:t>How do we ensure that the descriptive statistics of the sample from the population are representative?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1477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E2C056-8864-6EED-6DCE-7B98A7B2C582}"/>
              </a:ext>
            </a:extLst>
          </p:cNvPr>
          <p:cNvSpPr txBox="1"/>
          <p:nvPr/>
        </p:nvSpPr>
        <p:spPr>
          <a:xfrm>
            <a:off x="484948" y="519919"/>
            <a:ext cx="1014633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0" i="0" u="none" strike="noStrike" dirty="0">
                <a:effectLst/>
                <a:latin typeface="Söhne"/>
              </a:rPr>
              <a:t>Inferential statistics, aims to </a:t>
            </a:r>
            <a:r>
              <a:rPr lang="en-GB" sz="2400" b="1" i="0" u="none" strike="noStrike" dirty="0">
                <a:effectLst/>
                <a:latin typeface="Söhne"/>
              </a:rPr>
              <a:t>make predictions or draw conclusions </a:t>
            </a:r>
            <a:r>
              <a:rPr lang="en-GB" sz="2400" b="0" i="0" u="none" strike="noStrike" dirty="0">
                <a:effectLst/>
                <a:latin typeface="Söhne"/>
              </a:rPr>
              <a:t>about a population based on a sample of data, using probability theory and statistical inference techniques like </a:t>
            </a:r>
            <a:r>
              <a:rPr lang="en-GB" sz="2400" b="1" i="1" u="none" strike="noStrike" dirty="0">
                <a:effectLst/>
                <a:latin typeface="Söhne"/>
              </a:rPr>
              <a:t>hypothesis testing and confidence intervals</a:t>
            </a:r>
            <a:r>
              <a:rPr lang="en-GB" sz="2400" b="0" i="0" u="none" strike="noStrike" dirty="0">
                <a:effectLst/>
                <a:latin typeface="Söhne"/>
              </a:rPr>
              <a:t>.</a:t>
            </a:r>
            <a:endParaRPr lang="en-GB" sz="2400" i="1" dirty="0">
              <a:latin typeface="Source Sans Pro"/>
              <a:ea typeface="Source Sans Pro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2589D-BECF-72E6-E04C-4E036C53EBF0}"/>
              </a:ext>
            </a:extLst>
          </p:cNvPr>
          <p:cNvSpPr txBox="1"/>
          <p:nvPr/>
        </p:nvSpPr>
        <p:spPr>
          <a:xfrm>
            <a:off x="484948" y="2083083"/>
            <a:ext cx="838440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effectLst/>
                <a:latin typeface="Söhne"/>
              </a:rPr>
              <a:t>Determine if a new treatment is more effective than a placebo.</a:t>
            </a:r>
            <a:br>
              <a:rPr lang="en-GB" sz="2400" b="0" i="0" u="none" strike="noStrike" dirty="0">
                <a:effectLst/>
                <a:latin typeface="Söhne"/>
              </a:rPr>
            </a:br>
            <a:endParaRPr lang="en-GB" sz="2400" b="0" i="0" u="none" strike="noStrike" dirty="0">
              <a:effectLst/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</a:rPr>
              <a:t>Estimate the average recovery time for patients after a specific surgery.</a:t>
            </a:r>
            <a:br>
              <a:rPr lang="en-GB" sz="2400" dirty="0">
                <a:latin typeface="Söhne"/>
              </a:rPr>
            </a:br>
            <a:endParaRPr lang="en-GB" sz="2400" dirty="0"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effectLst/>
                <a:latin typeface="Söhne"/>
              </a:rPr>
              <a:t>Investigate whether there’s a relationship between patient age and treatment success rates.</a:t>
            </a:r>
            <a:br>
              <a:rPr lang="en-GB" sz="2400" b="0" i="0" u="none" strike="noStrike" dirty="0">
                <a:effectLst/>
                <a:latin typeface="Söhne"/>
              </a:rPr>
            </a:br>
            <a:endParaRPr lang="en-GB" sz="2400" b="0" i="0" u="none" strike="noStrike" dirty="0">
              <a:effectLst/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  <a:ea typeface="Source Sans Pro"/>
                <a:cs typeface="Calibri"/>
              </a:rPr>
              <a:t>Ascertain whether some social policy test has had a positive health effect. </a:t>
            </a:r>
            <a:endParaRPr lang="en-GB" sz="2400" i="1" dirty="0">
              <a:latin typeface="Source Sans Pro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9065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8D2E81-F265-48C3-44F1-7FF7E8A5246D}"/>
              </a:ext>
            </a:extLst>
          </p:cNvPr>
          <p:cNvSpPr txBox="1"/>
          <p:nvPr/>
        </p:nvSpPr>
        <p:spPr>
          <a:xfrm>
            <a:off x="500743" y="479954"/>
            <a:ext cx="58782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Some common misconceptions…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E6D29-26A6-53F5-1855-C0D82C79B418}"/>
              </a:ext>
            </a:extLst>
          </p:cNvPr>
          <p:cNvSpPr txBox="1"/>
          <p:nvPr/>
        </p:nvSpPr>
        <p:spPr>
          <a:xfrm>
            <a:off x="500743" y="1328578"/>
            <a:ext cx="6531429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  <a:ea typeface="Source Sans Pro"/>
                <a:cs typeface="Calibri"/>
              </a:rPr>
              <a:t>I can change the level of confidence in my estimate and report the one which `actually’ tells me something. P-HACKING</a:t>
            </a:r>
          </a:p>
          <a:p>
            <a:endParaRPr lang="en-GB" sz="2400" dirty="0">
              <a:latin typeface="Söhne"/>
              <a:ea typeface="Source Sans Pro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  <a:ea typeface="Source Sans Pro"/>
                <a:cs typeface="Calibri"/>
              </a:rPr>
              <a:t>It is best to just keep performing tests until we find something interesting out. POOR SCIENCE</a:t>
            </a:r>
          </a:p>
          <a:p>
            <a:endParaRPr lang="en-GB" sz="2400" dirty="0">
              <a:latin typeface="Söhne"/>
              <a:ea typeface="Source Sans Pro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effectLst/>
                <a:latin typeface="Söhne"/>
              </a:rPr>
              <a:t>As long as I have 30 samples, my inference is great! NOT NECESSARILY!</a:t>
            </a:r>
            <a:br>
              <a:rPr lang="en-GB" sz="2400" b="0" i="0" u="none" strike="noStrike" dirty="0">
                <a:effectLst/>
                <a:latin typeface="Söhne"/>
              </a:rPr>
            </a:br>
            <a:endParaRPr lang="en-GB" sz="2400" b="0" i="0" u="none" strike="noStrike" dirty="0">
              <a:effectLst/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</a:rPr>
              <a:t>If assumptions of my tests and experiment aren’t met then my results are rubbish and should be discarded. MAY STILL BE USEFUL</a:t>
            </a:r>
            <a:endParaRPr lang="en-GB" sz="2400" b="0" i="0" u="none" strike="noStrike" dirty="0">
              <a:effectLst/>
              <a:latin typeface="Söhne"/>
            </a:endParaRPr>
          </a:p>
        </p:txBody>
      </p:sp>
      <p:pic>
        <p:nvPicPr>
          <p:cNvPr id="9" name="Picture 8" descr="Cartoon of a person holding a paper and looking at a person in a garment&#10;&#10;Description automatically generated">
            <a:extLst>
              <a:ext uri="{FF2B5EF4-FFF2-40B4-BE49-F238E27FC236}">
                <a16:creationId xmlns:a16="http://schemas.microsoft.com/office/drawing/2014/main" id="{78CD6402-DC22-0FE8-DCF8-4E6EEB20F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843" y="519919"/>
            <a:ext cx="3044475" cy="314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53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1B558-CA78-026A-E415-18785236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2AE3D5-B9FD-3261-75AD-4DEA708C4013}"/>
              </a:ext>
            </a:extLst>
          </p:cNvPr>
          <p:cNvSpPr txBox="1"/>
          <p:nvPr/>
        </p:nvSpPr>
        <p:spPr>
          <a:xfrm>
            <a:off x="464456" y="578058"/>
            <a:ext cx="36234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Some careful considerations…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DFB392-9E16-948F-635B-F219878CFDD9}"/>
              </a:ext>
            </a:extLst>
          </p:cNvPr>
          <p:cNvSpPr txBox="1"/>
          <p:nvPr/>
        </p:nvSpPr>
        <p:spPr>
          <a:xfrm>
            <a:off x="4779819" y="715520"/>
            <a:ext cx="6947725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  <a:ea typeface="Source Sans Pro"/>
                <a:cs typeface="Calibri"/>
              </a:rPr>
              <a:t>Sometimes our sample size may just be too small to be able to find anything ‘significant’.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Söhne"/>
              <a:ea typeface="Source Sans Pro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  <a:ea typeface="Source Sans Pro"/>
                <a:cs typeface="Calibri"/>
              </a:rPr>
              <a:t>Misinterpreting p-values as absolute proof of an effect or as a measure of practical significance is dangerous territory.</a:t>
            </a:r>
          </a:p>
          <a:p>
            <a:endParaRPr lang="en-GB" sz="2400" dirty="0">
              <a:latin typeface="Söhne"/>
              <a:ea typeface="Source Sans Pro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effectLst/>
                <a:latin typeface="Söhne"/>
              </a:rPr>
              <a:t>Misinterpretations or selective reporting of statistical findings can influence policy decisions, medical practices, or resource allocation unfairly.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</a:rPr>
              <a:t>Statistical outputs, such as p-values or confidence intervals, can be difficult for non-statistical audiences to interpret.</a:t>
            </a:r>
            <a:endParaRPr lang="en-GB" sz="2400" b="0" i="0" u="none" strike="noStrike" dirty="0">
              <a:effectLst/>
              <a:latin typeface="Söhne"/>
            </a:endParaRPr>
          </a:p>
        </p:txBody>
      </p:sp>
      <p:pic>
        <p:nvPicPr>
          <p:cNvPr id="3" name="Picture 2" descr="Cartoon of stick figures talking to a person&#10;&#10;Description automatically generated">
            <a:extLst>
              <a:ext uri="{FF2B5EF4-FFF2-40B4-BE49-F238E27FC236}">
                <a16:creationId xmlns:a16="http://schemas.microsoft.com/office/drawing/2014/main" id="{B2CB0E05-8BE2-A482-D2D4-BBAE6B530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56" y="1809938"/>
            <a:ext cx="3966028" cy="195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74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94044" y="2688102"/>
            <a:ext cx="8082817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2.2 Deciding Whether an Effect is Real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9D06A3-90D7-F385-031B-3A7740B0D37E}"/>
              </a:ext>
            </a:extLst>
          </p:cNvPr>
          <p:cNvSpPr txBox="1"/>
          <p:nvPr/>
        </p:nvSpPr>
        <p:spPr>
          <a:xfrm>
            <a:off x="706408" y="393715"/>
            <a:ext cx="8968652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How do we decide whether an observed difference is real?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E3A1CB-43DE-9C38-547A-E7515D353B75}"/>
              </a:ext>
            </a:extLst>
          </p:cNvPr>
          <p:cNvSpPr txBox="1"/>
          <p:nvPr/>
        </p:nvSpPr>
        <p:spPr>
          <a:xfrm>
            <a:off x="706408" y="2059923"/>
            <a:ext cx="695666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We must ask ourselves when we observe a difference is it: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Real biological/social effect?</a:t>
            </a:r>
          </a:p>
          <a:p>
            <a:pPr marL="342900" indent="-342900">
              <a:buFontTx/>
              <a:buChar char="-"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OR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Random chance?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We typically form a research questions which looks to answer the above about a specific medical scenario.</a:t>
            </a:r>
          </a:p>
        </p:txBody>
      </p:sp>
    </p:spTree>
    <p:extLst>
      <p:ext uri="{BB962C8B-B14F-4D97-AF65-F5344CB8AC3E}">
        <p14:creationId xmlns:p14="http://schemas.microsoft.com/office/powerpoint/2010/main" val="3904874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3086-F1AD-17A1-1C88-9D593EEA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A28E55-3E1E-C48D-A8D1-4B9AEFD2A940}"/>
              </a:ext>
            </a:extLst>
          </p:cNvPr>
          <p:cNvSpPr txBox="1"/>
          <p:nvPr/>
        </p:nvSpPr>
        <p:spPr>
          <a:xfrm>
            <a:off x="626895" y="930429"/>
            <a:ext cx="896865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The statistical inference pipeline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BDBDE0-5F90-5447-B382-45C797F84FB9}"/>
              </a:ext>
            </a:extLst>
          </p:cNvPr>
          <p:cNvSpPr txBox="1"/>
          <p:nvPr/>
        </p:nvSpPr>
        <p:spPr>
          <a:xfrm>
            <a:off x="626895" y="2387915"/>
            <a:ext cx="852704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1. State a hypothesis</a:t>
            </a:r>
          </a:p>
          <a:p>
            <a:r>
              <a:rPr lang="en-GB" sz="36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2. Pick an appropriate test and significance</a:t>
            </a:r>
          </a:p>
          <a:p>
            <a:r>
              <a:rPr lang="en-GB" sz="36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3. Calculate a test statistic and p-value</a:t>
            </a:r>
          </a:p>
          <a:p>
            <a:r>
              <a:rPr lang="en-GB" sz="36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4. Interpret findings</a:t>
            </a:r>
          </a:p>
          <a:p>
            <a:r>
              <a:rPr lang="en-GB" sz="36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5. Check assumptions</a:t>
            </a:r>
          </a:p>
          <a:p>
            <a:r>
              <a:rPr lang="en-GB" sz="36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5. Draw a conclusion</a:t>
            </a: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3035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C8D37-A2A6-FA05-C12D-B9A8B2CE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A78E6E-5CE7-663C-1B01-64F0E7F47316}"/>
              </a:ext>
            </a:extLst>
          </p:cNvPr>
          <p:cNvSpPr txBox="1"/>
          <p:nvPr/>
        </p:nvSpPr>
        <p:spPr>
          <a:xfrm>
            <a:off x="363718" y="837663"/>
            <a:ext cx="896865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How do I formulate a hypothesis?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A51BB-F6F8-8753-8B72-E711323C41B8}"/>
              </a:ext>
            </a:extLst>
          </p:cNvPr>
          <p:cNvSpPr txBox="1"/>
          <p:nvPr/>
        </p:nvSpPr>
        <p:spPr>
          <a:xfrm>
            <a:off x="612342" y="1820721"/>
            <a:ext cx="872002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H0: </a:t>
            </a:r>
            <a:r>
              <a:rPr lang="en-GB" sz="4400" dirty="0">
                <a:latin typeface="Source Sans Pro" panose="020B0503030403020204" pitchFamily="34" charset="0"/>
                <a:ea typeface="Source Sans Pro" panose="020B0503030403020204" pitchFamily="34" charset="0"/>
                <a:cs typeface="ADLaM Display" panose="02010000000000000000" pitchFamily="2" charset="77"/>
              </a:rPr>
              <a:t>The</a:t>
            </a:r>
            <a:r>
              <a:rPr lang="en-GB" sz="4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 current status quo is this.</a:t>
            </a:r>
          </a:p>
          <a:p>
            <a:r>
              <a:rPr lang="en-GB" sz="4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H1: I believe that it is this instead.</a:t>
            </a:r>
            <a:endParaRPr lang="en-GB" sz="3200" dirty="0"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20A3A-24A5-BD9F-9211-00E831774958}"/>
              </a:ext>
            </a:extLst>
          </p:cNvPr>
          <p:cNvSpPr txBox="1"/>
          <p:nvPr/>
        </p:nvSpPr>
        <p:spPr>
          <a:xfrm>
            <a:off x="612342" y="4358813"/>
            <a:ext cx="6097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Our goal is </a:t>
            </a:r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</a:t>
            </a: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prove H₁. Instead, we assess whether the observed data are compatible with H₀.</a:t>
            </a:r>
          </a:p>
        </p:txBody>
      </p:sp>
    </p:spTree>
    <p:extLst>
      <p:ext uri="{BB962C8B-B14F-4D97-AF65-F5344CB8AC3E}">
        <p14:creationId xmlns:p14="http://schemas.microsoft.com/office/powerpoint/2010/main" val="4196095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85C9C-19E4-E45A-0B42-7CD1CB077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F107E5-843E-0DDD-E125-890FF053C3A2}"/>
              </a:ext>
            </a:extLst>
          </p:cNvPr>
          <p:cNvSpPr txBox="1"/>
          <p:nvPr/>
        </p:nvSpPr>
        <p:spPr>
          <a:xfrm>
            <a:off x="531585" y="610377"/>
            <a:ext cx="740110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Choosing a significance level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A35EBB-154C-3D21-0688-BDA8D2179295}"/>
                  </a:ext>
                </a:extLst>
              </p:cNvPr>
              <p:cNvSpPr txBox="1"/>
              <p:nvPr/>
            </p:nvSpPr>
            <p:spPr>
              <a:xfrm>
                <a:off x="610360" y="2073325"/>
                <a:ext cx="7243557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significance level </a:t>
                </a:r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is the threshold at which we are willing to reject the null hypothesis. The most used value is</a:t>
                </a:r>
              </a:p>
              <a:p>
                <a:pPr algn="ctr"/>
                <a:br>
                  <a:rPr lang="en-US" sz="3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14:m>
                  <m:oMath xmlns:m="http://schemas.openxmlformats.org/officeDocument/2006/math">
                    <m:r>
                      <a:rPr lang="en-GB" sz="3600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GB" sz="3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3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3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3600" b="1" i="1" smtClean="0">
                        <a:latin typeface="Cambria Math" panose="02040503050406030204" pitchFamily="18" charset="0"/>
                      </a:rPr>
                      <m:t>𝟎𝟓</m:t>
                    </m:r>
                  </m:oMath>
                </a14:m>
                <a:r>
                  <a:rPr lang="en-US" sz="3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A35EBB-154C-3D21-0688-BDA8D2179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60" y="2073325"/>
                <a:ext cx="7243557" cy="3416320"/>
              </a:xfrm>
              <a:prstGeom prst="rect">
                <a:avLst/>
              </a:prstGeom>
              <a:blipFill>
                <a:blip r:embed="rId4"/>
                <a:stretch>
                  <a:fillRect l="-2627" t="-2593" r="-350" b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716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7A30-C390-AA04-C3BC-C40189F1F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3DC974-7634-B246-D93F-88030900F141}"/>
              </a:ext>
            </a:extLst>
          </p:cNvPr>
          <p:cNvSpPr txBox="1"/>
          <p:nvPr/>
        </p:nvSpPr>
        <p:spPr>
          <a:xfrm>
            <a:off x="531585" y="1080787"/>
            <a:ext cx="1129985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Selecting an appropriate test and test statistic.</a:t>
            </a:r>
            <a:endParaRPr lang="en-US" sz="40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624DE-2F09-900A-2B7E-90602EA95D68}"/>
              </a:ext>
            </a:extLst>
          </p:cNvPr>
          <p:cNvSpPr txBox="1"/>
          <p:nvPr/>
        </p:nvSpPr>
        <p:spPr>
          <a:xfrm>
            <a:off x="531585" y="2000022"/>
            <a:ext cx="813344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type of test you select entirely depends on the data and the research question. We will explore types of tests through this course.</a:t>
            </a:r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279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BB43-63BA-0C90-3F5E-0762D364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9B5934-B442-4193-272B-41ABCF2FFF65}"/>
              </a:ext>
            </a:extLst>
          </p:cNvPr>
          <p:cNvSpPr txBox="1"/>
          <p:nvPr/>
        </p:nvSpPr>
        <p:spPr>
          <a:xfrm>
            <a:off x="442154" y="622739"/>
            <a:ext cx="634519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Determining a p-value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535277-9D0F-9292-7158-42BBB4E78E78}"/>
                  </a:ext>
                </a:extLst>
              </p:cNvPr>
              <p:cNvSpPr txBox="1"/>
              <p:nvPr/>
            </p:nvSpPr>
            <p:spPr>
              <a:xfrm>
                <a:off x="761429" y="1751143"/>
                <a:ext cx="6911580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p-value represents the probability of observing data as extreme as the sample, assuming the null hypothesis is true. </a:t>
                </a:r>
              </a:p>
              <a:p>
                <a:endParaRPr lang="en-US" sz="32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32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 small p-value (less than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indicates that the observed data is unlikely under H0, and we reject the null hypothesis in-</a:t>
                </a:r>
                <a:r>
                  <a:rPr lang="en-US" sz="3200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favour</a:t>
                </a:r>
                <a:r>
                  <a:rPr lang="en-US" sz="32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of H1.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535277-9D0F-9292-7158-42BBB4E78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29" y="1751143"/>
                <a:ext cx="6911580" cy="4524315"/>
              </a:xfrm>
              <a:prstGeom prst="rect">
                <a:avLst/>
              </a:prstGeom>
              <a:blipFill>
                <a:blip r:embed="rId4"/>
                <a:stretch>
                  <a:fillRect l="-2202" t="-1681" r="-3303" b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364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16E0-09EA-4F71-1776-4FB7078CD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33A08-FD03-3BB2-62E8-B27B12EBC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273" y="578058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213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99BE-E3DE-E607-0C98-80B21F2D0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D86805-6382-E508-D97B-566C1C612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33" y="578058"/>
            <a:ext cx="7911047" cy="593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589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069C-24F1-56A8-3840-2ACD2A375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421F88-C7EE-4AA9-5AF1-C09064330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795" y="823384"/>
            <a:ext cx="4114800" cy="3086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43048A-E4BB-5939-1AAC-7736E8A5C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887" y="823384"/>
            <a:ext cx="4114800" cy="3086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510DD8-2C7C-547A-AC38-14D89AA2123A}"/>
              </a:ext>
            </a:extLst>
          </p:cNvPr>
          <p:cNvSpPr txBox="1"/>
          <p:nvPr/>
        </p:nvSpPr>
        <p:spPr>
          <a:xfrm>
            <a:off x="3898147" y="4221229"/>
            <a:ext cx="76592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When we look at this, we can notice that the two-tailed test is going to be more ‘conservative’ in rejecting the null, since the density of the rejection region is split into the two separate regions.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16371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CF528-ED85-7A54-55FC-2FBCC895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3E54B0-DD1D-F296-EF61-B309CD5D0A77}"/>
              </a:ext>
            </a:extLst>
          </p:cNvPr>
          <p:cNvSpPr txBox="1"/>
          <p:nvPr/>
        </p:nvSpPr>
        <p:spPr>
          <a:xfrm>
            <a:off x="464457" y="504436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Going back to p-values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Picture 2" descr="A diagram of a normal distribution&#10;&#10;Description automatically generated">
            <a:extLst>
              <a:ext uri="{FF2B5EF4-FFF2-40B4-BE49-F238E27FC236}">
                <a16:creationId xmlns:a16="http://schemas.microsoft.com/office/drawing/2014/main" id="{E0C6FCB2-5703-C691-4167-406C20E0D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42" b="10737"/>
          <a:stretch/>
        </p:blipFill>
        <p:spPr>
          <a:xfrm>
            <a:off x="464457" y="1798790"/>
            <a:ext cx="8506963" cy="455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064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2CDBB-5F71-78BB-3159-8DA93C93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2BE62F-DE72-1FE8-DF7C-A8CB7F61263B}"/>
              </a:ext>
            </a:extLst>
          </p:cNvPr>
          <p:cNvSpPr txBox="1"/>
          <p:nvPr/>
        </p:nvSpPr>
        <p:spPr>
          <a:xfrm>
            <a:off x="494275" y="496986"/>
            <a:ext cx="590652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Interpreting a p-value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E68BBC-B2D7-B993-D702-14776FEBF82A}"/>
                  </a:ext>
                </a:extLst>
              </p:cNvPr>
              <p:cNvSpPr txBox="1"/>
              <p:nvPr/>
            </p:nvSpPr>
            <p:spPr>
              <a:xfrm>
                <a:off x="636623" y="1562883"/>
                <a:ext cx="728863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If the p-value is less than the significance level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we reject H0. If the p-value is greater than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we fail to reject H0, meaning we do not have enough evidence to support H1.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E68BBC-B2D7-B993-D702-14776FEBF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23" y="1562883"/>
                <a:ext cx="7288639" cy="1569660"/>
              </a:xfrm>
              <a:prstGeom prst="rect">
                <a:avLst/>
              </a:prstGeom>
              <a:blipFill>
                <a:blip r:embed="rId4"/>
                <a:stretch>
                  <a:fillRect l="-1217" t="-2400"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EE03C42-C38B-287B-A9EF-4F4FFEB3E2EE}"/>
              </a:ext>
            </a:extLst>
          </p:cNvPr>
          <p:cNvSpPr txBox="1"/>
          <p:nvPr/>
        </p:nvSpPr>
        <p:spPr>
          <a:xfrm>
            <a:off x="1004371" y="3429000"/>
            <a:ext cx="10183258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8800" b="1" u="sng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REJECT</a:t>
            </a:r>
            <a:r>
              <a:rPr lang="en-GB" sz="88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 the </a:t>
            </a:r>
            <a:r>
              <a:rPr lang="en-GB" sz="8800" b="1" i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NULL if p &lt; 0.05</a:t>
            </a:r>
            <a:r>
              <a:rPr lang="en-GB" sz="88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 or </a:t>
            </a:r>
            <a:r>
              <a:rPr lang="en-GB" sz="8800" b="1" u="sng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NOTHING</a:t>
            </a:r>
          </a:p>
        </p:txBody>
      </p:sp>
    </p:spTree>
    <p:extLst>
      <p:ext uri="{BB962C8B-B14F-4D97-AF65-F5344CB8AC3E}">
        <p14:creationId xmlns:p14="http://schemas.microsoft.com/office/powerpoint/2010/main" val="3737210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3E3EE-DB90-063E-2700-AC5BC701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3C5014-B50B-8E7C-E146-787224B99BAE}"/>
              </a:ext>
            </a:extLst>
          </p:cNvPr>
          <p:cNvSpPr txBox="1"/>
          <p:nvPr/>
        </p:nvSpPr>
        <p:spPr>
          <a:xfrm>
            <a:off x="464457" y="578058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Confidence Intervals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Picture 2" descr="A green and red diagram&#10;&#10;Description automatically generated">
            <a:extLst>
              <a:ext uri="{FF2B5EF4-FFF2-40B4-BE49-F238E27FC236}">
                <a16:creationId xmlns:a16="http://schemas.microsoft.com/office/drawing/2014/main" id="{846D831A-381D-47B9-DC94-5B94182C1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44" y="1710303"/>
            <a:ext cx="6327142" cy="36220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E5CA88-A011-E62C-34D8-012A5FD13E1C}"/>
              </a:ext>
            </a:extLst>
          </p:cNvPr>
          <p:cNvSpPr txBox="1"/>
          <p:nvPr/>
        </p:nvSpPr>
        <p:spPr>
          <a:xfrm>
            <a:off x="609600" y="5695167"/>
            <a:ext cx="8305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rgbClr val="0E0E0E"/>
                </a:solidFill>
                <a:effectLst/>
                <a:latin typeface=".AppleSystemUIFont"/>
              </a:rPr>
              <a:t>A range of values likely to contain the true value.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B61918-F979-0912-AAA0-217232C017AE}"/>
              </a:ext>
            </a:extLst>
          </p:cNvPr>
          <p:cNvSpPr txBox="1"/>
          <p:nvPr/>
        </p:nvSpPr>
        <p:spPr>
          <a:xfrm>
            <a:off x="7017854" y="860888"/>
            <a:ext cx="45645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Hypothesis tests answer</a:t>
            </a: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there evidence of an effect?</a:t>
            </a:r>
          </a:p>
          <a:p>
            <a:pPr>
              <a:buNone/>
            </a:pP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Confidence intervals answer</a:t>
            </a: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large might that effect be?</a:t>
            </a:r>
          </a:p>
        </p:txBody>
      </p:sp>
    </p:spTree>
    <p:extLst>
      <p:ext uri="{BB962C8B-B14F-4D97-AF65-F5344CB8AC3E}">
        <p14:creationId xmlns:p14="http://schemas.microsoft.com/office/powerpoint/2010/main" val="360140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erson's body&#10;&#10;Description automatically generated">
            <a:extLst>
              <a:ext uri="{FF2B5EF4-FFF2-40B4-BE49-F238E27FC236}">
                <a16:creationId xmlns:a16="http://schemas.microsoft.com/office/drawing/2014/main" id="{BBE063EF-4364-E9C6-85B4-0505C39E0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684" y="1313624"/>
            <a:ext cx="7624032" cy="465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47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93C70D-F185-3E63-5643-E04C7DB8DD33}"/>
              </a:ext>
            </a:extLst>
          </p:cNvPr>
          <p:cNvSpPr txBox="1"/>
          <p:nvPr/>
        </p:nvSpPr>
        <p:spPr>
          <a:xfrm>
            <a:off x="898070" y="2911066"/>
            <a:ext cx="747848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95% CI for mean recovery time is [10.2, 12.8].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Interpretation: If we repeated the sampling, 95% of the intervals would contain the true mean.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Does not mean there’s a 95% probability the interval contains the true mean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995C2C-33A3-B8D5-1904-D9A6CE51063A}"/>
              </a:ext>
            </a:extLst>
          </p:cNvPr>
          <p:cNvSpPr txBox="1"/>
          <p:nvPr/>
        </p:nvSpPr>
        <p:spPr>
          <a:xfrm>
            <a:off x="898070" y="578058"/>
            <a:ext cx="6611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to Interpret Confidence Intervals</a:t>
            </a:r>
          </a:p>
        </p:txBody>
      </p:sp>
    </p:spTree>
    <p:extLst>
      <p:ext uri="{BB962C8B-B14F-4D97-AF65-F5344CB8AC3E}">
        <p14:creationId xmlns:p14="http://schemas.microsoft.com/office/powerpoint/2010/main" val="2993641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A177A39-1857-5FD8-E331-5034D8F970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4962477"/>
                  </p:ext>
                </p:extLst>
              </p:nvPr>
            </p:nvGraphicFramePr>
            <p:xfrm>
              <a:off x="701368" y="2133689"/>
              <a:ext cx="8127999" cy="38523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65706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84845020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168955759"/>
                        </a:ext>
                      </a:extLst>
                    </a:gridCol>
                  </a:tblGrid>
                  <a:tr h="1284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Null Hypothesis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True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False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3261290"/>
                      </a:ext>
                    </a:extLst>
                  </a:tr>
                  <a:tr h="1284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Rejected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Type I Error</a:t>
                          </a:r>
                        </a:p>
                        <a:p>
                          <a:pPr algn="ctr"/>
                          <a:r>
                            <a:rPr lang="en-US" i="1" dirty="0">
                              <a:solidFill>
                                <a:srgbClr val="C00000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False Positive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>
                            <a:latin typeface="Source Sans Pro" panose="020B0503030403020204" pitchFamily="34" charset="0"/>
                            <a:ea typeface="Source Sans Pro" panose="020B0503030403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Correct Decision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5712416"/>
                      </a:ext>
                    </a:extLst>
                  </a:tr>
                  <a:tr h="1284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Not Rejected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Correct Decision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Type II Error</a:t>
                          </a:r>
                        </a:p>
                        <a:p>
                          <a:pPr algn="ctr"/>
                          <a:r>
                            <a:rPr lang="en-US" i="1" dirty="0">
                              <a:solidFill>
                                <a:srgbClr val="C00000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False Negative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>
                            <a:latin typeface="Source Sans Pro" panose="020B0503030403020204" pitchFamily="34" charset="0"/>
                            <a:ea typeface="Source Sans Pro" panose="020B0503030403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754334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A177A39-1857-5FD8-E331-5034D8F970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4962477"/>
                  </p:ext>
                </p:extLst>
              </p:nvPr>
            </p:nvGraphicFramePr>
            <p:xfrm>
              <a:off x="701368" y="2133689"/>
              <a:ext cx="8127999" cy="38523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65706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84845020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168955759"/>
                        </a:ext>
                      </a:extLst>
                    </a:gridCol>
                  </a:tblGrid>
                  <a:tr h="1284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Null Hypothesis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True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False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3261290"/>
                      </a:ext>
                    </a:extLst>
                  </a:tr>
                  <a:tr h="1284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Rejected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939" t="-100000" r="-10140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Correct Decision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5712416"/>
                      </a:ext>
                    </a:extLst>
                  </a:tr>
                  <a:tr h="1284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Not Rejected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Correct Decision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201980" r="-935" b="-9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54334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29A19D0-5EA7-8AF9-6058-AC9817812256}"/>
              </a:ext>
            </a:extLst>
          </p:cNvPr>
          <p:cNvSpPr txBox="1"/>
          <p:nvPr/>
        </p:nvSpPr>
        <p:spPr>
          <a:xfrm>
            <a:off x="599896" y="627754"/>
            <a:ext cx="73613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But what if it was all wrong?</a:t>
            </a:r>
          </a:p>
        </p:txBody>
      </p:sp>
    </p:spTree>
    <p:extLst>
      <p:ext uri="{BB962C8B-B14F-4D97-AF65-F5344CB8AC3E}">
        <p14:creationId xmlns:p14="http://schemas.microsoft.com/office/powerpoint/2010/main" val="1020406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69840-0837-AA49-CE89-ACD563B05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B1E428-736E-AE30-5BCC-938904EC9CAF}"/>
              </a:ext>
            </a:extLst>
          </p:cNvPr>
          <p:cNvSpPr txBox="1"/>
          <p:nvPr/>
        </p:nvSpPr>
        <p:spPr>
          <a:xfrm>
            <a:off x="599896" y="627754"/>
            <a:ext cx="73613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Which one is worse?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9CEA8-D10F-19B2-52F5-CED356CF6544}"/>
              </a:ext>
            </a:extLst>
          </p:cNvPr>
          <p:cNvSpPr txBox="1"/>
          <p:nvPr/>
        </p:nvSpPr>
        <p:spPr>
          <a:xfrm>
            <a:off x="599896" y="1879830"/>
            <a:ext cx="825586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False Positive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Doctor prescribes an ineffective treatment.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False Negative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Doctor misses an effective treatment.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consequences of each error depend on the research question.</a:t>
            </a:r>
          </a:p>
          <a:p>
            <a:endParaRPr lang="en-US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Researchers therefore carefully balance the risks of both types of error.</a:t>
            </a:r>
          </a:p>
        </p:txBody>
      </p:sp>
    </p:spTree>
    <p:extLst>
      <p:ext uri="{BB962C8B-B14F-4D97-AF65-F5344CB8AC3E}">
        <p14:creationId xmlns:p14="http://schemas.microsoft.com/office/powerpoint/2010/main" val="2424388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6356-64C5-E85D-86AD-9007B846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50B3D6-62CE-10F1-FF75-E66F9E1C69EA}"/>
              </a:ext>
            </a:extLst>
          </p:cNvPr>
          <p:cNvSpPr txBox="1"/>
          <p:nvPr/>
        </p:nvSpPr>
        <p:spPr>
          <a:xfrm>
            <a:off x="599896" y="627754"/>
            <a:ext cx="73613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 Power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726FF-3233-A13F-B737-991F1F58342E}"/>
              </a:ext>
            </a:extLst>
          </p:cNvPr>
          <p:cNvSpPr txBox="1"/>
          <p:nvPr/>
        </p:nvSpPr>
        <p:spPr>
          <a:xfrm>
            <a:off x="599895" y="1580178"/>
            <a:ext cx="73613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 power is the probability of correctly detecting a genuine effect when one exists. A study with high power is less likely to miss an important finding.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Low statistical power increases the chance of making a Type II Error.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7789CD-7329-97BF-7F25-5497886EB9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26" r="19309" b="23683"/>
          <a:stretch>
            <a:fillRect/>
          </a:stretch>
        </p:blipFill>
        <p:spPr>
          <a:xfrm>
            <a:off x="2713383" y="3429000"/>
            <a:ext cx="3925956" cy="323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17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8A97-65B9-399A-DAC2-BA231EE9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FCB179-D0F2-6AFC-81BA-D38CD1184D52}"/>
              </a:ext>
            </a:extLst>
          </p:cNvPr>
          <p:cNvSpPr txBox="1"/>
          <p:nvPr/>
        </p:nvSpPr>
        <p:spPr>
          <a:xfrm>
            <a:off x="599896" y="627754"/>
            <a:ext cx="89814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influences statistical power?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D4A7E2-8802-17CE-259E-97102996AC22}"/>
              </a:ext>
            </a:extLst>
          </p:cNvPr>
          <p:cNvSpPr/>
          <p:nvPr/>
        </p:nvSpPr>
        <p:spPr>
          <a:xfrm>
            <a:off x="3230217" y="3429000"/>
            <a:ext cx="4045227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Higher Statistical Power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50C207B2-25C4-69D7-60D2-23D7C0400886}"/>
              </a:ext>
            </a:extLst>
          </p:cNvPr>
          <p:cNvSpPr/>
          <p:nvPr/>
        </p:nvSpPr>
        <p:spPr>
          <a:xfrm>
            <a:off x="6331225" y="4343400"/>
            <a:ext cx="288235" cy="13914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2F077E2F-83A7-3E83-BA30-A87024CD074C}"/>
              </a:ext>
            </a:extLst>
          </p:cNvPr>
          <p:cNvSpPr/>
          <p:nvPr/>
        </p:nvSpPr>
        <p:spPr>
          <a:xfrm flipH="1" flipV="1">
            <a:off x="3521763" y="2514600"/>
            <a:ext cx="288235" cy="914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0463019D-5E7E-9054-63E7-BB6F65FD57ED}"/>
              </a:ext>
            </a:extLst>
          </p:cNvPr>
          <p:cNvSpPr/>
          <p:nvPr/>
        </p:nvSpPr>
        <p:spPr>
          <a:xfrm flipH="1" flipV="1">
            <a:off x="5860772" y="2276060"/>
            <a:ext cx="288235" cy="11529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83E160-4040-18F8-17E2-BD3BC126DEE6}"/>
              </a:ext>
            </a:extLst>
          </p:cNvPr>
          <p:cNvSpPr txBox="1"/>
          <p:nvPr/>
        </p:nvSpPr>
        <p:spPr>
          <a:xfrm>
            <a:off x="2308224" y="1951432"/>
            <a:ext cx="2646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Larger sample size.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A5557-29C1-552C-128C-C9F866D7D35A}"/>
              </a:ext>
            </a:extLst>
          </p:cNvPr>
          <p:cNvSpPr txBox="1"/>
          <p:nvPr/>
        </p:nvSpPr>
        <p:spPr>
          <a:xfrm>
            <a:off x="5443878" y="1784577"/>
            <a:ext cx="3064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Larger true effect size.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6923F6-8C01-E835-AD5D-3AF029FE105C}"/>
              </a:ext>
            </a:extLst>
          </p:cNvPr>
          <p:cNvSpPr txBox="1"/>
          <p:nvPr/>
        </p:nvSpPr>
        <p:spPr>
          <a:xfrm>
            <a:off x="5327922" y="5913540"/>
            <a:ext cx="32694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Less variability in data.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B8450E-87C4-BBCD-0282-AE57A4473C50}"/>
              </a:ext>
            </a:extLst>
          </p:cNvPr>
          <p:cNvSpPr txBox="1"/>
          <p:nvPr/>
        </p:nvSpPr>
        <p:spPr>
          <a:xfrm>
            <a:off x="673511" y="5039139"/>
            <a:ext cx="32694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Well-powered studies provide more reliable evidence and reduce the chance of missing important findings.</a:t>
            </a:r>
          </a:p>
        </p:txBody>
      </p:sp>
    </p:spTree>
    <p:extLst>
      <p:ext uri="{BB962C8B-B14F-4D97-AF65-F5344CB8AC3E}">
        <p14:creationId xmlns:p14="http://schemas.microsoft.com/office/powerpoint/2010/main" val="481173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574165" y="2578341"/>
            <a:ext cx="85102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2.3 Assumptions in Statistical Inference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17D59-EBDC-2BBC-8128-BEB5914D1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B529B04F-0A3E-DEF9-755D-D67FA22EE742}"/>
              </a:ext>
            </a:extLst>
          </p:cNvPr>
          <p:cNvSpPr txBox="1">
            <a:spLocks/>
          </p:cNvSpPr>
          <p:nvPr/>
        </p:nvSpPr>
        <p:spPr>
          <a:xfrm>
            <a:off x="497154" y="516836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Why do assumptions matter?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177394E5-469F-2476-0357-CA307AE53F73}"/>
              </a:ext>
            </a:extLst>
          </p:cNvPr>
          <p:cNvSpPr txBox="1">
            <a:spLocks/>
          </p:cNvSpPr>
          <p:nvPr/>
        </p:nvSpPr>
        <p:spPr>
          <a:xfrm>
            <a:off x="497154" y="1510748"/>
            <a:ext cx="9700394" cy="48304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Even a well-powered study can produce misleading conclusions if the assumptions of the statistical test are not met.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Statistical tests are mathematical models. Like all models, they make assumptions. 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If those assumptions are badly violated, our conclusions may be unreliable.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4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Some assumptions include: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independence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equal variances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Normality</a:t>
            </a:r>
          </a:p>
        </p:txBody>
      </p:sp>
    </p:spTree>
    <p:extLst>
      <p:ext uri="{BB962C8B-B14F-4D97-AF65-F5344CB8AC3E}">
        <p14:creationId xmlns:p14="http://schemas.microsoft.com/office/powerpoint/2010/main" val="2327928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D85C-086C-5BF6-93E3-FA331B06E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1F4A2DE4-002F-1138-3B23-432B644E153C}"/>
              </a:ext>
            </a:extLst>
          </p:cNvPr>
          <p:cNvSpPr txBox="1">
            <a:spLocks/>
          </p:cNvSpPr>
          <p:nvPr/>
        </p:nvSpPr>
        <p:spPr>
          <a:xfrm>
            <a:off x="507093" y="57271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Why is normality particularly important?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4E712D9A-68DC-00C2-0FC5-A0296CFC4E17}"/>
              </a:ext>
            </a:extLst>
          </p:cNvPr>
          <p:cNvSpPr txBox="1">
            <a:spLocks/>
          </p:cNvSpPr>
          <p:nvPr/>
        </p:nvSpPr>
        <p:spPr>
          <a:xfrm>
            <a:off x="507093" y="1510747"/>
            <a:ext cx="7275246" cy="48801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Many tests we will be learning about assume that the </a:t>
            </a:r>
            <a:r>
              <a:rPr lang="en-GB" sz="24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sampling distribution </a:t>
            </a: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follows a Normal distribution.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4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central limit theorem tells us…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Regardless of population distribution, the sampling distribution of the sample mean approximates a normal distribution as the sample size increases.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4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Key Requirements: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Samples are independent.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Drawn from the same population.</a:t>
            </a:r>
          </a:p>
        </p:txBody>
      </p:sp>
    </p:spTree>
    <p:extLst>
      <p:ext uri="{BB962C8B-B14F-4D97-AF65-F5344CB8AC3E}">
        <p14:creationId xmlns:p14="http://schemas.microsoft.com/office/powerpoint/2010/main" val="408390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10A4AB-54F5-49E1-25B5-C66FC914460F}"/>
              </a:ext>
            </a:extLst>
          </p:cNvPr>
          <p:cNvSpPr txBox="1"/>
          <p:nvPr/>
        </p:nvSpPr>
        <p:spPr>
          <a:xfrm>
            <a:off x="841509" y="1351508"/>
            <a:ext cx="8475527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dirty="0">
                <a:latin typeface="Source Sans Pro"/>
                <a:ea typeface="Source Sans Pro"/>
                <a:cs typeface="Calibri"/>
              </a:rPr>
              <a:t>For many situations, once the sample size is reasonably large (often around 30 or more), the sampling distribution of the sample mean becomes approximately Normal.</a:t>
            </a:r>
            <a:endParaRPr lang="en-GB" sz="3200" dirty="0">
              <a:latin typeface="Source Sans Pro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2100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 of a distribution&#10;&#10;Description automatically generated">
            <a:extLst>
              <a:ext uri="{FF2B5EF4-FFF2-40B4-BE49-F238E27FC236}">
                <a16:creationId xmlns:a16="http://schemas.microsoft.com/office/drawing/2014/main" id="{FDB67CF3-3523-8C90-B527-395179DC5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657" y="1409204"/>
            <a:ext cx="7772400" cy="475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524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a red line&#10;&#10;AI-generated content may be incorrect.">
            <a:extLst>
              <a:ext uri="{FF2B5EF4-FFF2-40B4-BE49-F238E27FC236}">
                <a16:creationId xmlns:a16="http://schemas.microsoft.com/office/drawing/2014/main" id="{3F3CB74A-7471-1ACC-71D5-7F928814D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08" y="374754"/>
            <a:ext cx="6108492" cy="610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547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91F4D-4C59-F327-B7F3-EDBAAB0D9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E4FD8853-F44E-F081-D2CB-3B1EB5A457AA}"/>
              </a:ext>
            </a:extLst>
          </p:cNvPr>
          <p:cNvSpPr txBox="1">
            <a:spLocks/>
          </p:cNvSpPr>
          <p:nvPr/>
        </p:nvSpPr>
        <p:spPr>
          <a:xfrm>
            <a:off x="507093" y="57271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How do we assess normality?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20F3DC-5D25-BCC3-0E35-2A5FADE52376}"/>
              </a:ext>
            </a:extLst>
          </p:cNvPr>
          <p:cNvSpPr txBox="1"/>
          <p:nvPr/>
        </p:nvSpPr>
        <p:spPr>
          <a:xfrm>
            <a:off x="970717" y="5704684"/>
            <a:ext cx="419693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latin typeface="Source Sans Pro"/>
                <a:ea typeface="Source Sans Pro"/>
                <a:cs typeface="Calibri"/>
              </a:rPr>
              <a:t>Visual Methods</a:t>
            </a:r>
            <a:endParaRPr lang="en-GB" sz="3200" b="1" dirty="0">
              <a:latin typeface="Source Sans Pro"/>
              <a:ea typeface="Source Sans Pro"/>
              <a:cs typeface="Calibri"/>
            </a:endParaRPr>
          </a:p>
        </p:txBody>
      </p:sp>
      <p:pic>
        <p:nvPicPr>
          <p:cNvPr id="5" name="Picture 4" descr="A graph with a red line&#10;&#10;AI-generated content may be incorrect.">
            <a:extLst>
              <a:ext uri="{FF2B5EF4-FFF2-40B4-BE49-F238E27FC236}">
                <a16:creationId xmlns:a16="http://schemas.microsoft.com/office/drawing/2014/main" id="{30EAAC94-6C20-EB25-0D29-C91D4E18A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17" y="1365130"/>
            <a:ext cx="4196936" cy="4196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E75CD6-F0E0-2594-B312-AF6DB83F5321}"/>
              </a:ext>
            </a:extLst>
          </p:cNvPr>
          <p:cNvSpPr txBox="1"/>
          <p:nvPr/>
        </p:nvSpPr>
        <p:spPr>
          <a:xfrm>
            <a:off x="5522845" y="1719094"/>
            <a:ext cx="480391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dirty="0">
                <a:latin typeface="Source Sans Pro"/>
                <a:ea typeface="Source Sans Pro"/>
                <a:cs typeface="Calibri"/>
              </a:rPr>
              <a:t>Shapiro-Wilk Test</a:t>
            </a:r>
            <a:endParaRPr lang="en-GB" sz="3200" b="1" dirty="0">
              <a:latin typeface="Source Sans Pro"/>
              <a:ea typeface="Source Sans Pro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4BA7C-25FC-1708-9299-C68004CECFDB}"/>
              </a:ext>
            </a:extLst>
          </p:cNvPr>
          <p:cNvSpPr txBox="1"/>
          <p:nvPr/>
        </p:nvSpPr>
        <p:spPr>
          <a:xfrm>
            <a:off x="5433392" y="2685688"/>
            <a:ext cx="4803917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dirty="0">
                <a:latin typeface="Source Sans Pro"/>
                <a:ea typeface="Source Sans Pro"/>
                <a:cs typeface="Calibri"/>
              </a:rPr>
              <a:t>Kolmogorov-Smirnov Test</a:t>
            </a:r>
            <a:endParaRPr lang="en-GB" sz="3200" b="1" dirty="0">
              <a:latin typeface="Source Sans Pro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0160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1DD3E-55A6-56B7-2025-77983DB6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6FF12AA6-71A3-B981-0C57-5455BBF5544D}"/>
              </a:ext>
            </a:extLst>
          </p:cNvPr>
          <p:cNvSpPr txBox="1">
            <a:spLocks/>
          </p:cNvSpPr>
          <p:nvPr/>
        </p:nvSpPr>
        <p:spPr>
          <a:xfrm>
            <a:off x="507093" y="57271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Neither test is necessarily ‘better’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AC0603-A807-3B8C-7916-36F67C9C9F78}"/>
              </a:ext>
            </a:extLst>
          </p:cNvPr>
          <p:cNvSpPr txBox="1"/>
          <p:nvPr/>
        </p:nvSpPr>
        <p:spPr>
          <a:xfrm>
            <a:off x="507093" y="1655444"/>
            <a:ext cx="85474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Different methods assess Normality in different ways. As a result, they may not always lead to the same conclusion. Possible reasons include: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• Different statistical power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• Different sensitivity to departures from Normality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• Sample size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• Outliers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Good statistical practice combines graphical evidence, statistical tests and subject knowledge before deciding whether an assumption has been adequately met.</a:t>
            </a:r>
          </a:p>
        </p:txBody>
      </p:sp>
    </p:spTree>
    <p:extLst>
      <p:ext uri="{BB962C8B-B14F-4D97-AF65-F5344CB8AC3E}">
        <p14:creationId xmlns:p14="http://schemas.microsoft.com/office/powerpoint/2010/main" val="1240156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2.4 Using Packages and Functions in R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D46E7-1340-47CE-4EB0-21DDB880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C3CD5E11-45BB-1DEF-2A3B-BD4DFAE165A2}"/>
              </a:ext>
            </a:extLst>
          </p:cNvPr>
          <p:cNvSpPr txBox="1">
            <a:spLocks/>
          </p:cNvSpPr>
          <p:nvPr/>
        </p:nvSpPr>
        <p:spPr>
          <a:xfrm>
            <a:off x="427580" y="588635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Everything we do in R is built from functions.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E1B949C6-1F34-5B4C-1901-082BA1137F98}"/>
              </a:ext>
            </a:extLst>
          </p:cNvPr>
          <p:cNvSpPr txBox="1">
            <a:spLocks/>
          </p:cNvSpPr>
          <p:nvPr/>
        </p:nvSpPr>
        <p:spPr>
          <a:xfrm>
            <a:off x="427580" y="1399539"/>
            <a:ext cx="5842591" cy="10649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Functions are small pieces of reusable code that perform a specific task.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3AA63D-2BBE-020C-24C2-698D6E91FA5D}"/>
              </a:ext>
            </a:extLst>
          </p:cNvPr>
          <p:cNvSpPr/>
          <p:nvPr/>
        </p:nvSpPr>
        <p:spPr>
          <a:xfrm>
            <a:off x="514666" y="2625635"/>
            <a:ext cx="7854273" cy="18113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mean()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median()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summary()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head()</a:t>
            </a:r>
          </a:p>
        </p:txBody>
      </p:sp>
      <p:sp>
        <p:nvSpPr>
          <p:cNvPr id="5" name="Google Shape;116;p26">
            <a:extLst>
              <a:ext uri="{FF2B5EF4-FFF2-40B4-BE49-F238E27FC236}">
                <a16:creationId xmlns:a16="http://schemas.microsoft.com/office/drawing/2014/main" id="{71E71B60-B8B0-ECC0-D2EB-94DAB3CABDDB}"/>
              </a:ext>
            </a:extLst>
          </p:cNvPr>
          <p:cNvSpPr txBox="1">
            <a:spLocks/>
          </p:cNvSpPr>
          <p:nvPr/>
        </p:nvSpPr>
        <p:spPr>
          <a:xfrm>
            <a:off x="427580" y="4666079"/>
            <a:ext cx="7854272" cy="18944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Each function performs one job.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4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Rather than writing these calculations ourselves every time, we simply call the appropriate function.</a:t>
            </a:r>
          </a:p>
        </p:txBody>
      </p:sp>
    </p:spTree>
    <p:extLst>
      <p:ext uri="{BB962C8B-B14F-4D97-AF65-F5344CB8AC3E}">
        <p14:creationId xmlns:p14="http://schemas.microsoft.com/office/powerpoint/2010/main" val="35069932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282D5-2788-242B-D7C0-3036D037E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E7423023-6AE9-A16F-2F61-9260121C474B}"/>
              </a:ext>
            </a:extLst>
          </p:cNvPr>
          <p:cNvSpPr txBox="1">
            <a:spLocks/>
          </p:cNvSpPr>
          <p:nvPr/>
        </p:nvSpPr>
        <p:spPr>
          <a:xfrm>
            <a:off x="662711" y="618452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So wait what’s a package then again?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544399-23CA-DFF4-8678-C9112131D4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14" t="11969" r="11256" b="29335"/>
          <a:stretch>
            <a:fillRect/>
          </a:stretch>
        </p:blipFill>
        <p:spPr>
          <a:xfrm>
            <a:off x="626166" y="2146852"/>
            <a:ext cx="6321287" cy="3041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7738F8-8115-7BF9-B101-30C8C2123C8E}"/>
              </a:ext>
            </a:extLst>
          </p:cNvPr>
          <p:cNvSpPr txBox="1"/>
          <p:nvPr/>
        </p:nvSpPr>
        <p:spPr>
          <a:xfrm>
            <a:off x="772767" y="5739056"/>
            <a:ext cx="64032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Packages are collections of related functions.</a:t>
            </a:r>
          </a:p>
        </p:txBody>
      </p:sp>
    </p:spTree>
    <p:extLst>
      <p:ext uri="{BB962C8B-B14F-4D97-AF65-F5344CB8AC3E}">
        <p14:creationId xmlns:p14="http://schemas.microsoft.com/office/powerpoint/2010/main" val="3000349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9F9D7-A985-A90F-2DD2-609D3C27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BB3F1ECB-9F4E-2921-F977-1B3FC9226349}"/>
              </a:ext>
            </a:extLst>
          </p:cNvPr>
          <p:cNvSpPr txBox="1">
            <a:spLocks/>
          </p:cNvSpPr>
          <p:nvPr/>
        </p:nvSpPr>
        <p:spPr>
          <a:xfrm>
            <a:off x="427580" y="38434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Tidyverse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3DE61582-B7CA-4B0C-FA35-A8B82F8F76BE}"/>
              </a:ext>
            </a:extLst>
          </p:cNvPr>
          <p:cNvSpPr txBox="1">
            <a:spLocks/>
          </p:cNvSpPr>
          <p:nvPr/>
        </p:nvSpPr>
        <p:spPr>
          <a:xfrm>
            <a:off x="427580" y="858331"/>
            <a:ext cx="6311150" cy="57798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tidyverse is a collection of packages designed to make data analysis easier. It provides functions for: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importing data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cleaning data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manipulating data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summarising data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creating graphics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4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Nearly every analysis we perform throughout this course will make use of the tidyverse.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88A6C-57FB-E858-FF0D-CF55A12AAA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81" r="11403" b="23158"/>
          <a:stretch>
            <a:fillRect/>
          </a:stretch>
        </p:blipFill>
        <p:spPr>
          <a:xfrm>
            <a:off x="6398063" y="211960"/>
            <a:ext cx="4713376" cy="316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596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C62ED-7274-9E1D-A91B-7ADB8D6AD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58AA8B21-0033-F90B-4279-329B2F0986C2}"/>
              </a:ext>
            </a:extLst>
          </p:cNvPr>
          <p:cNvSpPr txBox="1">
            <a:spLocks/>
          </p:cNvSpPr>
          <p:nvPr/>
        </p:nvSpPr>
        <p:spPr>
          <a:xfrm>
            <a:off x="524604" y="346420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Functions all follow a similar pattern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1BB55385-BDE2-9FE9-3AF8-751CEDAA35D5}"/>
              </a:ext>
            </a:extLst>
          </p:cNvPr>
          <p:cNvSpPr txBox="1">
            <a:spLocks/>
          </p:cNvSpPr>
          <p:nvPr/>
        </p:nvSpPr>
        <p:spPr>
          <a:xfrm>
            <a:off x="427580" y="3314961"/>
            <a:ext cx="9222748" cy="7260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Every function has a name, brackets, something inside of the brackets.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B7954-3718-310B-04CA-795F3D1E8B4F}"/>
              </a:ext>
            </a:extLst>
          </p:cNvPr>
          <p:cNvSpPr/>
          <p:nvPr/>
        </p:nvSpPr>
        <p:spPr>
          <a:xfrm>
            <a:off x="524606" y="1310734"/>
            <a:ext cx="8152256" cy="18113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function_name(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input,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options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C5693-BCA4-515E-0FFD-67D29B8E31C6}"/>
              </a:ext>
            </a:extLst>
          </p:cNvPr>
          <p:cNvSpPr/>
          <p:nvPr/>
        </p:nvSpPr>
        <p:spPr>
          <a:xfrm>
            <a:off x="524604" y="4375299"/>
            <a:ext cx="9125723" cy="18113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mean(pulse)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summary(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nhanes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head(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nhanes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view(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nhanes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38000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F4B67-0342-1006-F170-EE684609B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26C53E6-FFBF-97DF-6F63-7C6E656891DF}"/>
              </a:ext>
            </a:extLst>
          </p:cNvPr>
          <p:cNvSpPr txBox="1">
            <a:spLocks/>
          </p:cNvSpPr>
          <p:nvPr/>
        </p:nvSpPr>
        <p:spPr>
          <a:xfrm>
            <a:off x="427580" y="38434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Using a package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9FC0C485-562A-358F-675A-32E14FD68D26}"/>
              </a:ext>
            </a:extLst>
          </p:cNvPr>
          <p:cNvSpPr txBox="1">
            <a:spLocks/>
          </p:cNvSpPr>
          <p:nvPr/>
        </p:nvSpPr>
        <p:spPr>
          <a:xfrm>
            <a:off x="524605" y="4825180"/>
            <a:ext cx="9222748" cy="10886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Sometimes you might need to install a package. To do this the syntax looks a bit different. We won’t really need to do this in our course, but its worth knowing!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B6EE17-3985-C48C-88CF-0C08AF2DB9F4}"/>
              </a:ext>
            </a:extLst>
          </p:cNvPr>
          <p:cNvSpPr/>
          <p:nvPr/>
        </p:nvSpPr>
        <p:spPr>
          <a:xfrm>
            <a:off x="524606" y="1310735"/>
            <a:ext cx="8102560" cy="726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library(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package_name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E73C4D-509B-5F9E-A325-1EC13F8460A7}"/>
              </a:ext>
            </a:extLst>
          </p:cNvPr>
          <p:cNvSpPr/>
          <p:nvPr/>
        </p:nvSpPr>
        <p:spPr>
          <a:xfrm>
            <a:off x="524605" y="3691114"/>
            <a:ext cx="8047187" cy="726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install.packages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(“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package_name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”)</a:t>
            </a:r>
          </a:p>
        </p:txBody>
      </p:sp>
      <p:sp>
        <p:nvSpPr>
          <p:cNvPr id="6" name="Google Shape;116;p26">
            <a:extLst>
              <a:ext uri="{FF2B5EF4-FFF2-40B4-BE49-F238E27FC236}">
                <a16:creationId xmlns:a16="http://schemas.microsoft.com/office/drawing/2014/main" id="{648CB0AE-E149-2C90-26F2-596BDC2AA370}"/>
              </a:ext>
            </a:extLst>
          </p:cNvPr>
          <p:cNvSpPr txBox="1">
            <a:spLocks/>
          </p:cNvSpPr>
          <p:nvPr/>
        </p:nvSpPr>
        <p:spPr>
          <a:xfrm>
            <a:off x="579980" y="2333772"/>
            <a:ext cx="8047186" cy="10886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Library is a function. We use it to load packages with other functions in them. You must do this once at the start of each analysis.</a:t>
            </a:r>
          </a:p>
        </p:txBody>
      </p:sp>
    </p:spTree>
    <p:extLst>
      <p:ext uri="{BB962C8B-B14F-4D97-AF65-F5344CB8AC3E}">
        <p14:creationId xmlns:p14="http://schemas.microsoft.com/office/powerpoint/2010/main" val="31169482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6542D-E3FF-D2BE-23FF-D18D05037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07052764-21C1-C10A-B76D-9F579A1FBE44}"/>
              </a:ext>
            </a:extLst>
          </p:cNvPr>
          <p:cNvSpPr txBox="1">
            <a:spLocks/>
          </p:cNvSpPr>
          <p:nvPr/>
        </p:nvSpPr>
        <p:spPr>
          <a:xfrm>
            <a:off x="427580" y="384349"/>
            <a:ext cx="10117640" cy="9176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So what functions are we using this week?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52C247-002A-DC2C-FFD1-624CF520EC71}"/>
              </a:ext>
            </a:extLst>
          </p:cNvPr>
          <p:cNvSpPr/>
          <p:nvPr/>
        </p:nvSpPr>
        <p:spPr>
          <a:xfrm>
            <a:off x="596347" y="1302027"/>
            <a:ext cx="9948873" cy="28856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📦 library()		# Loads a package into R.</a:t>
            </a:r>
          </a:p>
          <a:p>
            <a:pPr lvl="1"/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📊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qqnorm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		# Creates a Normal Q–Q plot.</a:t>
            </a:r>
          </a:p>
          <a:p>
            <a:pPr lvl="1"/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📈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qqline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		# Adds the reference line to a Q–Q plot.</a:t>
            </a:r>
          </a:p>
          <a:p>
            <a:pPr lvl="1"/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🧪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shapiro.test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		# Performs the Shapiro–Wilk Normality test.</a:t>
            </a:r>
          </a:p>
          <a:p>
            <a:pPr lvl="1"/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📋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ks.test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		# Performs the Kolmogorov–Smirnov test.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2F1B1-6F57-D8AF-BACE-7740854B9116}"/>
              </a:ext>
            </a:extLst>
          </p:cNvPr>
          <p:cNvSpPr txBox="1"/>
          <p:nvPr/>
        </p:nvSpPr>
        <p:spPr>
          <a:xfrm>
            <a:off x="596347" y="4587413"/>
            <a:ext cx="51087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We’ll use each of these functions in the upcoming code-along to assess whether data are approximately Normally distributed.</a:t>
            </a:r>
          </a:p>
        </p:txBody>
      </p:sp>
    </p:spTree>
    <p:extLst>
      <p:ext uri="{BB962C8B-B14F-4D97-AF65-F5344CB8AC3E}">
        <p14:creationId xmlns:p14="http://schemas.microsoft.com/office/powerpoint/2010/main" val="1355388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76944" y="1339463"/>
            <a:ext cx="836086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This week you’ve learn about the statistical inference pipeline and concepts about errors and power. It’s been very theory heavy right?</a:t>
            </a:r>
          </a:p>
          <a:p>
            <a:endParaRPr lang="en-GB" sz="24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Let’s go ahead and look in the code-along at some normality testing to make it more grounded.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3445</TotalTime>
  <Words>1679</Words>
  <Application>Microsoft Macintosh PowerPoint</Application>
  <PresentationFormat>Widescreen</PresentationFormat>
  <Paragraphs>211</Paragraphs>
  <Slides>43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.AppleSystemUIFont</vt:lpstr>
      <vt:lpstr>Aptos</vt:lpstr>
      <vt:lpstr>Aptos Display</vt:lpstr>
      <vt:lpstr>Aptos Mono</vt:lpstr>
      <vt:lpstr>Arial</vt:lpstr>
      <vt:lpstr>Calibri</vt:lpstr>
      <vt:lpstr>Cambria Math</vt:lpstr>
      <vt:lpstr>Söhne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20</cp:revision>
  <cp:lastPrinted>2026-04-30T09:46:23Z</cp:lastPrinted>
  <dcterms:created xsi:type="dcterms:W3CDTF">2026-04-30T09:42:16Z</dcterms:created>
  <dcterms:modified xsi:type="dcterms:W3CDTF">2026-08-05T10:43:47Z</dcterms:modified>
</cp:coreProperties>
</file>